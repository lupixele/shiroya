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259" r:id="rId2"/>
    <p:sldId id="256" r:id="rId3"/>
    <p:sldId id="260" r:id="rId4"/>
    <p:sldId id="313" r:id="rId5"/>
    <p:sldId id="257" r:id="rId6"/>
    <p:sldId id="312" r:id="rId7"/>
    <p:sldId id="261" r:id="rId8"/>
    <p:sldId id="262" r:id="rId9"/>
    <p:sldId id="263" r:id="rId10"/>
    <p:sldId id="264" r:id="rId11"/>
    <p:sldId id="265" r:id="rId12"/>
    <p:sldId id="266" r:id="rId13"/>
    <p:sldId id="268" r:id="rId14"/>
    <p:sldId id="269" r:id="rId15"/>
    <p:sldId id="270" r:id="rId16"/>
    <p:sldId id="314" r:id="rId17"/>
    <p:sldId id="271" r:id="rId18"/>
    <p:sldId id="272" r:id="rId19"/>
    <p:sldId id="273" r:id="rId20"/>
    <p:sldId id="274" r:id="rId21"/>
    <p:sldId id="275" r:id="rId22"/>
    <p:sldId id="276" r:id="rId23"/>
    <p:sldId id="277" r:id="rId24"/>
    <p:sldId id="278" r:id="rId25"/>
    <p:sldId id="279" r:id="rId26"/>
    <p:sldId id="280" r:id="rId27"/>
    <p:sldId id="287" r:id="rId28"/>
    <p:sldId id="293" r:id="rId29"/>
    <p:sldId id="292" r:id="rId30"/>
    <p:sldId id="283" r:id="rId31"/>
    <p:sldId id="284" r:id="rId32"/>
    <p:sldId id="286" r:id="rId33"/>
    <p:sldId id="285" r:id="rId34"/>
    <p:sldId id="288" r:id="rId35"/>
    <p:sldId id="289" r:id="rId36"/>
    <p:sldId id="290" r:id="rId37"/>
    <p:sldId id="291"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9" r:id="rId53"/>
    <p:sldId id="308" r:id="rId54"/>
    <p:sldId id="310" r:id="rId55"/>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2B3DC60-84EB-435A-8A29-FC0AC44BCA8C}" type="doc">
      <dgm:prSet loTypeId="urn:microsoft.com/office/officeart/2005/8/layout/hierarchy1" loCatId="hierarchy" qsTypeId="urn:microsoft.com/office/officeart/2005/8/quickstyle/simple1" qsCatId="simple" csTypeId="urn:microsoft.com/office/officeart/2005/8/colors/colorful2" csCatId="colorful" phldr="1"/>
      <dgm:spPr/>
      <dgm:t xml:space="preserve">
        <a:bodyPr/>
        <a:lstStyle/>
        <a:p>
          <a:endParaRPr lang="en-US"/>
        </a:p>
      </dgm:t>
    </dgm:pt>
    <dgm:pt modelId="{93935AEF-C7F7-4679-B4FD-3AC33B5BC37B}">
      <dgm:prSet/>
      <dgm:spPr/>
      <dgm:t xml:space="preserve">
        <a:bodyPr/>
        <a:lstStyle/>
        <a:p>
          <a:r>
            <a:rPr lang="en-US" b="1"/>
            <a:t>Linear Data Structures</a:t>
          </a:r>
          <a:endParaRPr lang="en-US"/>
        </a:p>
      </dgm:t>
    </dgm:pt>
    <dgm:pt modelId="{D929664A-A2F3-4F77-9932-298FCE9F8134}" type="parTrans" cxnId="{A0E52313-352D-43C0-B5A8-354B17B0560E}">
      <dgm:prSet/>
      <dgm:spPr/>
      <dgm:t xml:space="preserve">
        <a:bodyPr/>
        <a:lstStyle/>
        <a:p>
          <a:endParaRPr lang="en-US"/>
        </a:p>
      </dgm:t>
    </dgm:pt>
    <dgm:pt modelId="{13C8DA81-2FA9-4A20-B841-FAC62BCAA329}" type="sibTrans" cxnId="{A0E52313-352D-43C0-B5A8-354B17B0560E}">
      <dgm:prSet/>
      <dgm:spPr/>
      <dgm:t xml:space="preserve">
        <a:bodyPr/>
        <a:lstStyle/>
        <a:p>
          <a:endParaRPr lang="en-US"/>
        </a:p>
      </dgm:t>
    </dgm:pt>
    <dgm:pt modelId="{B984E88C-CC5F-442F-8102-CA89E9D3FC5A}">
      <dgm:prSet/>
      <dgm:spPr/>
      <dgm:t xml:space="preserve">
        <a:bodyPr/>
        <a:lstStyle/>
        <a:p>
          <a:r>
            <a:rPr lang="en-US" b="1"/>
            <a:t>Non-Linear Data Strctures</a:t>
          </a:r>
          <a:endParaRPr lang="en-US"/>
        </a:p>
      </dgm:t>
    </dgm:pt>
    <dgm:pt modelId="{C6D14417-8FDF-447E-A2BF-23515CFB42B4}" type="parTrans" cxnId="{BF0B3895-A4FE-4370-BD4E-6B4992E868F5}">
      <dgm:prSet/>
      <dgm:spPr/>
      <dgm:t xml:space="preserve">
        <a:bodyPr/>
        <a:lstStyle/>
        <a:p>
          <a:endParaRPr lang="en-US"/>
        </a:p>
      </dgm:t>
    </dgm:pt>
    <dgm:pt modelId="{A00067DA-A167-49CB-AF97-9B7CF082B346}" type="sibTrans" cxnId="{BF0B3895-A4FE-4370-BD4E-6B4992E868F5}">
      <dgm:prSet/>
      <dgm:spPr/>
      <dgm:t xml:space="preserve">
        <a:bodyPr/>
        <a:lstStyle/>
        <a:p>
          <a:endParaRPr lang="en-US"/>
        </a:p>
      </dgm:t>
    </dgm:pt>
    <dgm:pt modelId="{76DF7296-4F6D-4C00-99B7-F399827276DF}" type="pres">
      <dgm:prSet presAssocID="{02B3DC60-84EB-435A-8A29-FC0AC44BCA8C}" presName="hierChild1" presStyleCnt="0">
        <dgm:presLayoutVars>
          <dgm:chPref val="1"/>
          <dgm:dir/>
          <dgm:animOne val="branch"/>
          <dgm:animLvl val="lvl"/>
          <dgm:resizeHandles/>
        </dgm:presLayoutVars>
      </dgm:prSet>
      <dgm:spPr/>
    </dgm:pt>
    <dgm:pt modelId="{0BE5596F-66CC-4DE3-867F-6C6E58FDB407}" type="pres">
      <dgm:prSet presAssocID="{93935AEF-C7F7-4679-B4FD-3AC33B5BC37B}" presName="hierRoot1" presStyleCnt="0"/>
      <dgm:spPr/>
    </dgm:pt>
    <dgm:pt modelId="{DAB83858-40C0-4850-BC03-9B9EC50FDB14}" type="pres">
      <dgm:prSet presAssocID="{93935AEF-C7F7-4679-B4FD-3AC33B5BC37B}" presName="composite" presStyleCnt="0"/>
      <dgm:spPr/>
    </dgm:pt>
    <dgm:pt modelId="{0F5C293B-236B-448E-855C-D6CE51B98F7B}" type="pres">
      <dgm:prSet presAssocID="{93935AEF-C7F7-4679-B4FD-3AC33B5BC37B}" presName="background" presStyleLbl="node0" presStyleIdx="0" presStyleCnt="2"/>
      <dgm:spPr/>
    </dgm:pt>
    <dgm:pt modelId="{81CED9C6-072B-42F8-B330-AEC5BA2546C7}" type="pres">
      <dgm:prSet presAssocID="{93935AEF-C7F7-4679-B4FD-3AC33B5BC37B}" presName="text" presStyleLbl="fgAcc0" presStyleIdx="0" presStyleCnt="2">
        <dgm:presLayoutVars>
          <dgm:chPref val="3"/>
        </dgm:presLayoutVars>
      </dgm:prSet>
      <dgm:spPr/>
    </dgm:pt>
    <dgm:pt modelId="{B65F4A77-3EB7-40C4-BBA5-4117F49AC476}" type="pres">
      <dgm:prSet presAssocID="{93935AEF-C7F7-4679-B4FD-3AC33B5BC37B}" presName="hierChild2" presStyleCnt="0"/>
      <dgm:spPr/>
    </dgm:pt>
    <dgm:pt modelId="{C8B128AB-F447-4973-A46A-CAF8539C9584}" type="pres">
      <dgm:prSet presAssocID="{B984E88C-CC5F-442F-8102-CA89E9D3FC5A}" presName="hierRoot1" presStyleCnt="0"/>
      <dgm:spPr/>
    </dgm:pt>
    <dgm:pt modelId="{CFC9EC89-B108-4558-9BFC-72C8CB0A4169}" type="pres">
      <dgm:prSet presAssocID="{B984E88C-CC5F-442F-8102-CA89E9D3FC5A}" presName="composite" presStyleCnt="0"/>
      <dgm:spPr/>
    </dgm:pt>
    <dgm:pt modelId="{C58DF8BE-44A4-4FD4-9710-BBE14A124BE2}" type="pres">
      <dgm:prSet presAssocID="{B984E88C-CC5F-442F-8102-CA89E9D3FC5A}" presName="background" presStyleLbl="node0" presStyleIdx="1" presStyleCnt="2"/>
      <dgm:spPr/>
    </dgm:pt>
    <dgm:pt modelId="{8D326326-C3D7-4B29-9AC1-C03F50322A6D}" type="pres">
      <dgm:prSet presAssocID="{B984E88C-CC5F-442F-8102-CA89E9D3FC5A}" presName="text" presStyleLbl="fgAcc0" presStyleIdx="1" presStyleCnt="2">
        <dgm:presLayoutVars>
          <dgm:chPref val="3"/>
        </dgm:presLayoutVars>
      </dgm:prSet>
      <dgm:spPr/>
    </dgm:pt>
    <dgm:pt modelId="{C7449379-4FC3-4A54-B986-31D5A655FA14}" type="pres">
      <dgm:prSet presAssocID="{B984E88C-CC5F-442F-8102-CA89E9D3FC5A}" presName="hierChild2" presStyleCnt="0"/>
      <dgm:spPr/>
    </dgm:pt>
  </dgm:ptLst>
  <dgm:cxnLst>
    <dgm:cxn modelId="{44D15B08-948E-4A63-9A61-08DBD12C684B}" type="presOf" srcId="{02B3DC60-84EB-435A-8A29-FC0AC44BCA8C}" destId="{76DF7296-4F6D-4C00-99B7-F399827276DF}" srcOrd="0" destOrd="0" presId="urn:microsoft.com/office/officeart/2005/8/layout/hierarchy1"/>
    <dgm:cxn modelId="{A0E52313-352D-43C0-B5A8-354B17B0560E}" srcId="{02B3DC60-84EB-435A-8A29-FC0AC44BCA8C}" destId="{93935AEF-C7F7-4679-B4FD-3AC33B5BC37B}" srcOrd="0" destOrd="0" parTransId="{D929664A-A2F3-4F77-9932-298FCE9F8134}" sibTransId="{13C8DA81-2FA9-4A20-B841-FAC62BCAA329}"/>
    <dgm:cxn modelId="{BF0B3895-A4FE-4370-BD4E-6B4992E868F5}" srcId="{02B3DC60-84EB-435A-8A29-FC0AC44BCA8C}" destId="{B984E88C-CC5F-442F-8102-CA89E9D3FC5A}" srcOrd="1" destOrd="0" parTransId="{C6D14417-8FDF-447E-A2BF-23515CFB42B4}" sibTransId="{A00067DA-A167-49CB-AF97-9B7CF082B346}"/>
    <dgm:cxn modelId="{10BD5E9E-4D4D-4A11-982B-AC90107A450E}" type="presOf" srcId="{B984E88C-CC5F-442F-8102-CA89E9D3FC5A}" destId="{8D326326-C3D7-4B29-9AC1-C03F50322A6D}" srcOrd="0" destOrd="0" presId="urn:microsoft.com/office/officeart/2005/8/layout/hierarchy1"/>
    <dgm:cxn modelId="{A9FDC8C1-BD1F-405F-BD59-0730B32191E7}" type="presOf" srcId="{93935AEF-C7F7-4679-B4FD-3AC33B5BC37B}" destId="{81CED9C6-072B-42F8-B330-AEC5BA2546C7}" srcOrd="0" destOrd="0" presId="urn:microsoft.com/office/officeart/2005/8/layout/hierarchy1"/>
    <dgm:cxn modelId="{CC3E25DB-3740-41E5-8502-5814D7360AD6}" type="presParOf" srcId="{76DF7296-4F6D-4C00-99B7-F399827276DF}" destId="{0BE5596F-66CC-4DE3-867F-6C6E58FDB407}" srcOrd="0" destOrd="0" presId="urn:microsoft.com/office/officeart/2005/8/layout/hierarchy1"/>
    <dgm:cxn modelId="{0871ACF2-1B78-4A12-9658-F9AFD6F7CCF5}" type="presParOf" srcId="{0BE5596F-66CC-4DE3-867F-6C6E58FDB407}" destId="{DAB83858-40C0-4850-BC03-9B9EC50FDB14}" srcOrd="0" destOrd="0" presId="urn:microsoft.com/office/officeart/2005/8/layout/hierarchy1"/>
    <dgm:cxn modelId="{3562DD51-E44F-4545-859F-59633C0C66A8}" type="presParOf" srcId="{DAB83858-40C0-4850-BC03-9B9EC50FDB14}" destId="{0F5C293B-236B-448E-855C-D6CE51B98F7B}" srcOrd="0" destOrd="0" presId="urn:microsoft.com/office/officeart/2005/8/layout/hierarchy1"/>
    <dgm:cxn modelId="{BAA07962-F714-4ACA-9A0B-8C4A05B58765}" type="presParOf" srcId="{DAB83858-40C0-4850-BC03-9B9EC50FDB14}" destId="{81CED9C6-072B-42F8-B330-AEC5BA2546C7}" srcOrd="1" destOrd="0" presId="urn:microsoft.com/office/officeart/2005/8/layout/hierarchy1"/>
    <dgm:cxn modelId="{A07C4C78-DF36-44BF-8764-D45294900935}" type="presParOf" srcId="{0BE5596F-66CC-4DE3-867F-6C6E58FDB407}" destId="{B65F4A77-3EB7-40C4-BBA5-4117F49AC476}" srcOrd="1" destOrd="0" presId="urn:microsoft.com/office/officeart/2005/8/layout/hierarchy1"/>
    <dgm:cxn modelId="{687CE0B0-19E9-4284-9BAB-1E418C017B49}" type="presParOf" srcId="{76DF7296-4F6D-4C00-99B7-F399827276DF}" destId="{C8B128AB-F447-4973-A46A-CAF8539C9584}" srcOrd="1" destOrd="0" presId="urn:microsoft.com/office/officeart/2005/8/layout/hierarchy1"/>
    <dgm:cxn modelId="{3A242903-A28B-498F-A8D0-64DBC0CE1BDC}" type="presParOf" srcId="{C8B128AB-F447-4973-A46A-CAF8539C9584}" destId="{CFC9EC89-B108-4558-9BFC-72C8CB0A4169}" srcOrd="0" destOrd="0" presId="urn:microsoft.com/office/officeart/2005/8/layout/hierarchy1"/>
    <dgm:cxn modelId="{05ADE67A-B2A1-40C3-BFC0-EDABC3140527}" type="presParOf" srcId="{CFC9EC89-B108-4558-9BFC-72C8CB0A4169}" destId="{C58DF8BE-44A4-4FD4-9710-BBE14A124BE2}" srcOrd="0" destOrd="0" presId="urn:microsoft.com/office/officeart/2005/8/layout/hierarchy1"/>
    <dgm:cxn modelId="{159751AA-77A2-4A76-BACB-B791CCE08B96}" type="presParOf" srcId="{CFC9EC89-B108-4558-9BFC-72C8CB0A4169}" destId="{8D326326-C3D7-4B29-9AC1-C03F50322A6D}" srcOrd="1" destOrd="0" presId="urn:microsoft.com/office/officeart/2005/8/layout/hierarchy1"/>
    <dgm:cxn modelId="{AFE32C37-C09A-4190-B9AA-C5E8BE880887}" type="presParOf" srcId="{C8B128AB-F447-4973-A46A-CAF8539C9584}" destId="{C7449379-4FC3-4A54-B986-31D5A655FA14}"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5C293B-236B-448E-855C-D6CE51B98F7B}">
      <dsp:nvSpPr>
        <dsp:cNvPr id="0" name=""/>
        <dsp:cNvSpPr/>
      </dsp:nvSpPr>
      <dsp:spPr>
        <a:xfrm>
          <a:off x="134291" y="612"/>
          <a:ext cx="4332795" cy="275132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CED9C6-072B-42F8-B330-AEC5BA2546C7}">
      <dsp:nvSpPr>
        <dsp:cNvPr id="0" name=""/>
        <dsp:cNvSpPr/>
      </dsp:nvSpPr>
      <dsp:spPr>
        <a:xfrm>
          <a:off x="615713" y="457963"/>
          <a:ext cx="4332795" cy="27513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8120" tIns="198120" rIns="198120" bIns="198120" numCol="1" spcCol="1270" anchor="ctr" anchorCtr="0">
          <a:noAutofit/>
        </a:bodyPr>
        <a:lstStyle/>
        <a:p>
          <a:pPr marL="0" lvl="0" indent="0" algn="ctr" defTabSz="2311400">
            <a:lnSpc>
              <a:spcPct val="90000"/>
            </a:lnSpc>
            <a:spcBef>
              <a:spcPct val="0"/>
            </a:spcBef>
            <a:spcAft>
              <a:spcPct val="35000"/>
            </a:spcAft>
            <a:buNone/>
          </a:pPr>
          <a:r>
            <a:rPr lang="en-US" sz="5200" b="1" kern="1200"/>
            <a:t>Linear Data Structures</a:t>
          </a:r>
          <a:endParaRPr lang="en-US" sz="5200" kern="1200"/>
        </a:p>
      </dsp:txBody>
      <dsp:txXfrm>
        <a:off x="696297" y="538547"/>
        <a:ext cx="4171627" cy="2590157"/>
      </dsp:txXfrm>
    </dsp:sp>
    <dsp:sp modelId="{C58DF8BE-44A4-4FD4-9710-BBE14A124BE2}">
      <dsp:nvSpPr>
        <dsp:cNvPr id="0" name=""/>
        <dsp:cNvSpPr/>
      </dsp:nvSpPr>
      <dsp:spPr>
        <a:xfrm>
          <a:off x="5429930" y="612"/>
          <a:ext cx="4332795" cy="275132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D326326-C3D7-4B29-9AC1-C03F50322A6D}">
      <dsp:nvSpPr>
        <dsp:cNvPr id="0" name=""/>
        <dsp:cNvSpPr/>
      </dsp:nvSpPr>
      <dsp:spPr>
        <a:xfrm>
          <a:off x="5911352" y="457963"/>
          <a:ext cx="4332795" cy="27513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8120" tIns="198120" rIns="198120" bIns="198120" numCol="1" spcCol="1270" anchor="ctr" anchorCtr="0">
          <a:noAutofit/>
        </a:bodyPr>
        <a:lstStyle/>
        <a:p>
          <a:pPr marL="0" lvl="0" indent="0" algn="ctr" defTabSz="2311400">
            <a:lnSpc>
              <a:spcPct val="90000"/>
            </a:lnSpc>
            <a:spcBef>
              <a:spcPct val="0"/>
            </a:spcBef>
            <a:spcAft>
              <a:spcPct val="35000"/>
            </a:spcAft>
            <a:buNone/>
          </a:pPr>
          <a:r>
            <a:rPr lang="en-US" sz="5200" b="1" kern="1200"/>
            <a:t>Non-Linear Data Strctures</a:t>
          </a:r>
          <a:endParaRPr lang="en-US" sz="5200" kern="1200"/>
        </a:p>
      </dsp:txBody>
      <dsp:txXfrm>
        <a:off x="5991936" y="538547"/>
        <a:ext cx="4171627" cy="259015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A306E6-9C29-4213-9C66-A707C7A90892}" type="datetimeFigureOut">
              <a:rPr lang="en-IN" smtClean="0"/>
              <a:t>27-01-2026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6B4823-BCCE-475A-8C78-84DE19D77D3B}" type="slidenum">
              <a:rPr lang="en-IN" smtClean="0"/>
              <a:t>‹#›</a:t>
            </a:fld>
            <a:endParaRPr lang="en-IN"/>
          </a:p>
        </p:txBody>
      </p:sp>
    </p:spTree>
    <p:extLst>
      <p:ext uri="{BB962C8B-B14F-4D97-AF65-F5344CB8AC3E}">
        <p14:creationId xmlns:p14="http://schemas.microsoft.com/office/powerpoint/2010/main" val="570820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86B4823-BCCE-475A-8C78-84DE19D77D3B}" type="slidenum">
              <a:rPr lang="en-IN" smtClean="0"/>
              <a:t>36</a:t>
            </a:fld>
            <a:endParaRPr lang="en-IN"/>
          </a:p>
        </p:txBody>
      </p:sp>
    </p:spTree>
    <p:extLst>
      <p:ext uri="{BB962C8B-B14F-4D97-AF65-F5344CB8AC3E}">
        <p14:creationId xmlns:p14="http://schemas.microsoft.com/office/powerpoint/2010/main" val="2124069658"/>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201AF-69F2-04AE-80F8-537B39DF09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6012E49-8F40-7B8A-DBD0-FDDF7841AF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45D3028-42D7-FE10-4877-08260E886CDD}"/>
              </a:ext>
            </a:extLst>
          </p:cNvPr>
          <p:cNvSpPr>
            <a:spLocks noGrp="1"/>
          </p:cNvSpPr>
          <p:nvPr>
            <p:ph type="dt" sz="half" idx="10"/>
          </p:nvPr>
        </p:nvSpPr>
        <p:spPr/>
        <p:txBody>
          <a:bodyPr/>
          <a:lstStyle/>
          <a:p>
            <a:fld id="{6B736B12-C4D2-4CBA-BFC1-F35B5DB6DD12}" type="datetimeFigureOut">
              <a:rPr lang="en-IN" smtClean="0"/>
              <a:t>27-01-2026</a:t>
            </a:fld>
            <a:endParaRPr lang="en-IN"/>
          </a:p>
        </p:txBody>
      </p:sp>
      <p:sp>
        <p:nvSpPr>
          <p:cNvPr id="5" name="Footer Placeholder 4">
            <a:extLst>
              <a:ext uri="{FF2B5EF4-FFF2-40B4-BE49-F238E27FC236}">
                <a16:creationId xmlns:a16="http://schemas.microsoft.com/office/drawing/2014/main" id="{BB7982C7-6404-076A-159C-8570006FA0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482077-A169-4847-7EA7-04BE93CB9DC2}"/>
              </a:ext>
            </a:extLst>
          </p:cNvPr>
          <p:cNvSpPr>
            <a:spLocks noGrp="1"/>
          </p:cNvSpPr>
          <p:nvPr>
            <p:ph type="sldNum" sz="quarter" idx="12"/>
          </p:nvPr>
        </p:nvSpPr>
        <p:spPr/>
        <p:txBody>
          <a:bodyPr/>
          <a:lstStyle/>
          <a:p>
            <a:fld id="{A086CD1D-9A35-4A93-A7CB-8DB9F850FDA9}" type="slidenum">
              <a:rPr lang="en-IN" smtClean="0"/>
              <a:t>‹#›</a:t>
            </a:fld>
            <a:endParaRPr lang="en-IN"/>
          </a:p>
        </p:txBody>
      </p:sp>
    </p:spTree>
    <p:extLst>
      <p:ext uri="{BB962C8B-B14F-4D97-AF65-F5344CB8AC3E}">
        <p14:creationId xmlns:p14="http://schemas.microsoft.com/office/powerpoint/2010/main" val="3636801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48B26-A5C2-B600-FD6E-FEB7C2F451E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2CAEE1-F60F-A238-0421-5476D745DF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C0BE8E-7FBB-6876-B4C4-068D1FCC6296}"/>
              </a:ext>
            </a:extLst>
          </p:cNvPr>
          <p:cNvSpPr>
            <a:spLocks noGrp="1"/>
          </p:cNvSpPr>
          <p:nvPr>
            <p:ph type="dt" sz="half" idx="10"/>
          </p:nvPr>
        </p:nvSpPr>
        <p:spPr/>
        <p:txBody>
          <a:bodyPr/>
          <a:lstStyle/>
          <a:p>
            <a:fld id="{6B736B12-C4D2-4CBA-BFC1-F35B5DB6DD12}" type="datetimeFigureOut">
              <a:rPr lang="en-IN" smtClean="0"/>
              <a:t>27-01-2026</a:t>
            </a:fld>
            <a:endParaRPr lang="en-IN"/>
          </a:p>
        </p:txBody>
      </p:sp>
      <p:sp>
        <p:nvSpPr>
          <p:cNvPr id="5" name="Footer Placeholder 4">
            <a:extLst>
              <a:ext uri="{FF2B5EF4-FFF2-40B4-BE49-F238E27FC236}">
                <a16:creationId xmlns:a16="http://schemas.microsoft.com/office/drawing/2014/main" id="{E7B4766B-F6E3-340F-E5AF-1C344419D6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F2EA5F-8B04-6AFA-3206-BE9999980AB6}"/>
              </a:ext>
            </a:extLst>
          </p:cNvPr>
          <p:cNvSpPr>
            <a:spLocks noGrp="1"/>
          </p:cNvSpPr>
          <p:nvPr>
            <p:ph type="sldNum" sz="quarter" idx="12"/>
          </p:nvPr>
        </p:nvSpPr>
        <p:spPr/>
        <p:txBody>
          <a:bodyPr/>
          <a:lstStyle/>
          <a:p>
            <a:fld id="{A086CD1D-9A35-4A93-A7CB-8DB9F850FDA9}" type="slidenum">
              <a:rPr lang="en-IN" smtClean="0"/>
              <a:t>‹#›</a:t>
            </a:fld>
            <a:endParaRPr lang="en-IN"/>
          </a:p>
        </p:txBody>
      </p:sp>
    </p:spTree>
    <p:extLst>
      <p:ext uri="{BB962C8B-B14F-4D97-AF65-F5344CB8AC3E}">
        <p14:creationId xmlns:p14="http://schemas.microsoft.com/office/powerpoint/2010/main" val="3822831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E5DE4-3D6E-ACB3-B9BA-18534450D6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17AFD8B-D206-F483-2CEB-170C80828CD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1B190CF-2B27-E9BD-2717-5F360D103EFD}"/>
              </a:ext>
            </a:extLst>
          </p:cNvPr>
          <p:cNvSpPr>
            <a:spLocks noGrp="1"/>
          </p:cNvSpPr>
          <p:nvPr>
            <p:ph type="dt" sz="half" idx="10"/>
          </p:nvPr>
        </p:nvSpPr>
        <p:spPr/>
        <p:txBody>
          <a:bodyPr/>
          <a:lstStyle/>
          <a:p>
            <a:fld id="{6B736B12-C4D2-4CBA-BFC1-F35B5DB6DD12}" type="datetimeFigureOut">
              <a:rPr lang="en-IN" smtClean="0"/>
              <a:t>27-01-2026</a:t>
            </a:fld>
            <a:endParaRPr lang="en-IN"/>
          </a:p>
        </p:txBody>
      </p:sp>
      <p:sp>
        <p:nvSpPr>
          <p:cNvPr id="5" name="Footer Placeholder 4">
            <a:extLst>
              <a:ext uri="{FF2B5EF4-FFF2-40B4-BE49-F238E27FC236}">
                <a16:creationId xmlns:a16="http://schemas.microsoft.com/office/drawing/2014/main" id="{7A783E78-EDAE-9BEC-5317-8CE0640DCB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4E185A-687B-E1B6-0891-AF40C5B8212B}"/>
              </a:ext>
            </a:extLst>
          </p:cNvPr>
          <p:cNvSpPr>
            <a:spLocks noGrp="1"/>
          </p:cNvSpPr>
          <p:nvPr>
            <p:ph type="sldNum" sz="quarter" idx="12"/>
          </p:nvPr>
        </p:nvSpPr>
        <p:spPr/>
        <p:txBody>
          <a:bodyPr/>
          <a:lstStyle/>
          <a:p>
            <a:fld id="{A086CD1D-9A35-4A93-A7CB-8DB9F850FDA9}" type="slidenum">
              <a:rPr lang="en-IN" smtClean="0"/>
              <a:t>‹#›</a:t>
            </a:fld>
            <a:endParaRPr lang="en-IN"/>
          </a:p>
        </p:txBody>
      </p:sp>
    </p:spTree>
    <p:extLst>
      <p:ext uri="{BB962C8B-B14F-4D97-AF65-F5344CB8AC3E}">
        <p14:creationId xmlns:p14="http://schemas.microsoft.com/office/powerpoint/2010/main" val="133541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A2D37-07B5-639E-5AD0-150581C4977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8F6F55A-9915-E37E-132E-6269CA0503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2736703-EF09-A7C7-BC63-40B2B7B40A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FA17E43-A236-F98D-9A40-9926D551BBFC}"/>
              </a:ext>
            </a:extLst>
          </p:cNvPr>
          <p:cNvSpPr>
            <a:spLocks noGrp="1"/>
          </p:cNvSpPr>
          <p:nvPr>
            <p:ph type="dt" sz="half" idx="10"/>
          </p:nvPr>
        </p:nvSpPr>
        <p:spPr/>
        <p:txBody>
          <a:bodyPr/>
          <a:lstStyle/>
          <a:p>
            <a:fld id="{6B736B12-C4D2-4CBA-BFC1-F35B5DB6DD12}" type="datetimeFigureOut">
              <a:rPr lang="en-IN" smtClean="0"/>
              <a:t>27-01-2026</a:t>
            </a:fld>
            <a:endParaRPr lang="en-IN"/>
          </a:p>
        </p:txBody>
      </p:sp>
      <p:sp>
        <p:nvSpPr>
          <p:cNvPr id="6" name="Footer Placeholder 5">
            <a:extLst>
              <a:ext uri="{FF2B5EF4-FFF2-40B4-BE49-F238E27FC236}">
                <a16:creationId xmlns:a16="http://schemas.microsoft.com/office/drawing/2014/main" id="{84120481-074F-1C69-B06B-27B79B089C3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CBA1FD8-B2ED-CB1C-756B-F672F864DCD3}"/>
              </a:ext>
            </a:extLst>
          </p:cNvPr>
          <p:cNvSpPr>
            <a:spLocks noGrp="1"/>
          </p:cNvSpPr>
          <p:nvPr>
            <p:ph type="sldNum" sz="quarter" idx="12"/>
          </p:nvPr>
        </p:nvSpPr>
        <p:spPr/>
        <p:txBody>
          <a:bodyPr/>
          <a:lstStyle/>
          <a:p>
            <a:fld id="{A086CD1D-9A35-4A93-A7CB-8DB9F850FDA9}" type="slidenum">
              <a:rPr lang="en-IN" smtClean="0"/>
              <a:t>‹#›</a:t>
            </a:fld>
            <a:endParaRPr lang="en-IN"/>
          </a:p>
        </p:txBody>
      </p:sp>
    </p:spTree>
    <p:extLst>
      <p:ext uri="{BB962C8B-B14F-4D97-AF65-F5344CB8AC3E}">
        <p14:creationId xmlns:p14="http://schemas.microsoft.com/office/powerpoint/2010/main" val="2515337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FE5C6-8068-558D-A27C-27399B11BAB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9F8B0A-7EAC-5699-6580-2B62E9C9D8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7FA97D-9133-9114-EC62-089E5CA9A9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1CA9F08-824F-452B-F171-29E6922849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75C300-A835-D73F-F996-4AB0147ACF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5F8D6E3-5FA7-8DC1-B0E2-01876E11A93D}"/>
              </a:ext>
            </a:extLst>
          </p:cNvPr>
          <p:cNvSpPr>
            <a:spLocks noGrp="1"/>
          </p:cNvSpPr>
          <p:nvPr>
            <p:ph type="dt" sz="half" idx="10"/>
          </p:nvPr>
        </p:nvSpPr>
        <p:spPr/>
        <p:txBody>
          <a:bodyPr/>
          <a:lstStyle/>
          <a:p>
            <a:fld id="{6B736B12-C4D2-4CBA-BFC1-F35B5DB6DD12}" type="datetimeFigureOut">
              <a:rPr lang="en-IN" smtClean="0"/>
              <a:t>27-01-2026</a:t>
            </a:fld>
            <a:endParaRPr lang="en-IN"/>
          </a:p>
        </p:txBody>
      </p:sp>
      <p:sp>
        <p:nvSpPr>
          <p:cNvPr id="8" name="Footer Placeholder 7">
            <a:extLst>
              <a:ext uri="{FF2B5EF4-FFF2-40B4-BE49-F238E27FC236}">
                <a16:creationId xmlns:a16="http://schemas.microsoft.com/office/drawing/2014/main" id="{5F84E70C-6A19-02E3-0A71-1331E9F8E5D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124A2A7-9B09-1A44-6F3B-6DFD0F386FBD}"/>
              </a:ext>
            </a:extLst>
          </p:cNvPr>
          <p:cNvSpPr>
            <a:spLocks noGrp="1"/>
          </p:cNvSpPr>
          <p:nvPr>
            <p:ph type="sldNum" sz="quarter" idx="12"/>
          </p:nvPr>
        </p:nvSpPr>
        <p:spPr/>
        <p:txBody>
          <a:bodyPr/>
          <a:lstStyle/>
          <a:p>
            <a:fld id="{A086CD1D-9A35-4A93-A7CB-8DB9F850FDA9}" type="slidenum">
              <a:rPr lang="en-IN" smtClean="0"/>
              <a:t>‹#›</a:t>
            </a:fld>
            <a:endParaRPr lang="en-IN"/>
          </a:p>
        </p:txBody>
      </p:sp>
    </p:spTree>
    <p:extLst>
      <p:ext uri="{BB962C8B-B14F-4D97-AF65-F5344CB8AC3E}">
        <p14:creationId xmlns:p14="http://schemas.microsoft.com/office/powerpoint/2010/main" val="3434670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E7833-93FF-69F0-2E54-08BEF049A35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303623B-1B39-54C2-5EDD-5F5C3A900616}"/>
              </a:ext>
            </a:extLst>
          </p:cNvPr>
          <p:cNvSpPr>
            <a:spLocks noGrp="1"/>
          </p:cNvSpPr>
          <p:nvPr>
            <p:ph type="dt" sz="half" idx="10"/>
          </p:nvPr>
        </p:nvSpPr>
        <p:spPr/>
        <p:txBody>
          <a:bodyPr/>
          <a:lstStyle/>
          <a:p>
            <a:fld id="{6B736B12-C4D2-4CBA-BFC1-F35B5DB6DD12}" type="datetimeFigureOut">
              <a:rPr lang="en-IN" smtClean="0"/>
              <a:t>27-01-2026</a:t>
            </a:fld>
            <a:endParaRPr lang="en-IN"/>
          </a:p>
        </p:txBody>
      </p:sp>
      <p:sp>
        <p:nvSpPr>
          <p:cNvPr id="4" name="Footer Placeholder 3">
            <a:extLst>
              <a:ext uri="{FF2B5EF4-FFF2-40B4-BE49-F238E27FC236}">
                <a16:creationId xmlns:a16="http://schemas.microsoft.com/office/drawing/2014/main" id="{30A4F966-72A3-8AA5-54C6-9CE09B4ECA7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3DA12D4-650E-0A76-CE83-07A8D0946E2D}"/>
              </a:ext>
            </a:extLst>
          </p:cNvPr>
          <p:cNvSpPr>
            <a:spLocks noGrp="1"/>
          </p:cNvSpPr>
          <p:nvPr>
            <p:ph type="sldNum" sz="quarter" idx="12"/>
          </p:nvPr>
        </p:nvSpPr>
        <p:spPr/>
        <p:txBody>
          <a:bodyPr/>
          <a:lstStyle/>
          <a:p>
            <a:fld id="{A086CD1D-9A35-4A93-A7CB-8DB9F850FDA9}" type="slidenum">
              <a:rPr lang="en-IN" smtClean="0"/>
              <a:t>‹#›</a:t>
            </a:fld>
            <a:endParaRPr lang="en-IN"/>
          </a:p>
        </p:txBody>
      </p:sp>
    </p:spTree>
    <p:extLst>
      <p:ext uri="{BB962C8B-B14F-4D97-AF65-F5344CB8AC3E}">
        <p14:creationId xmlns:p14="http://schemas.microsoft.com/office/powerpoint/2010/main" val="3337873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E67BB5-47F2-EE7B-06B4-021E89E0BE5C}"/>
              </a:ext>
            </a:extLst>
          </p:cNvPr>
          <p:cNvSpPr>
            <a:spLocks noGrp="1"/>
          </p:cNvSpPr>
          <p:nvPr>
            <p:ph type="dt" sz="half" idx="10"/>
          </p:nvPr>
        </p:nvSpPr>
        <p:spPr/>
        <p:txBody>
          <a:bodyPr/>
          <a:lstStyle/>
          <a:p>
            <a:fld id="{6B736B12-C4D2-4CBA-BFC1-F35B5DB6DD12}" type="datetimeFigureOut">
              <a:rPr lang="en-IN" smtClean="0"/>
              <a:t>27-01-2026</a:t>
            </a:fld>
            <a:endParaRPr lang="en-IN"/>
          </a:p>
        </p:txBody>
      </p:sp>
      <p:sp>
        <p:nvSpPr>
          <p:cNvPr id="3" name="Footer Placeholder 2">
            <a:extLst>
              <a:ext uri="{FF2B5EF4-FFF2-40B4-BE49-F238E27FC236}">
                <a16:creationId xmlns:a16="http://schemas.microsoft.com/office/drawing/2014/main" id="{1AB343D4-D47B-032E-F53F-9D16A71F288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F84B812-D76B-5E0D-33F1-9D971EDBA1D8}"/>
              </a:ext>
            </a:extLst>
          </p:cNvPr>
          <p:cNvSpPr>
            <a:spLocks noGrp="1"/>
          </p:cNvSpPr>
          <p:nvPr>
            <p:ph type="sldNum" sz="quarter" idx="12"/>
          </p:nvPr>
        </p:nvSpPr>
        <p:spPr/>
        <p:txBody>
          <a:bodyPr/>
          <a:lstStyle/>
          <a:p>
            <a:fld id="{A086CD1D-9A35-4A93-A7CB-8DB9F850FDA9}" type="slidenum">
              <a:rPr lang="en-IN" smtClean="0"/>
              <a:t>‹#›</a:t>
            </a:fld>
            <a:endParaRPr lang="en-IN"/>
          </a:p>
        </p:txBody>
      </p:sp>
    </p:spTree>
    <p:extLst>
      <p:ext uri="{BB962C8B-B14F-4D97-AF65-F5344CB8AC3E}">
        <p14:creationId xmlns:p14="http://schemas.microsoft.com/office/powerpoint/2010/main" val="19182157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61F0A-C55E-CBCF-871E-93BBCE7D99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F74059C-E040-460A-C971-1D9E6ADAEC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E64F070-4FCC-85FB-40E2-44821AEC9D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BF4A5A-7DE1-6A32-7732-C31865436F2A}"/>
              </a:ext>
            </a:extLst>
          </p:cNvPr>
          <p:cNvSpPr>
            <a:spLocks noGrp="1"/>
          </p:cNvSpPr>
          <p:nvPr>
            <p:ph type="dt" sz="half" idx="10"/>
          </p:nvPr>
        </p:nvSpPr>
        <p:spPr/>
        <p:txBody>
          <a:bodyPr/>
          <a:lstStyle/>
          <a:p>
            <a:fld id="{6B736B12-C4D2-4CBA-BFC1-F35B5DB6DD12}" type="datetimeFigureOut">
              <a:rPr lang="en-IN" smtClean="0"/>
              <a:t>27-01-2026</a:t>
            </a:fld>
            <a:endParaRPr lang="en-IN"/>
          </a:p>
        </p:txBody>
      </p:sp>
      <p:sp>
        <p:nvSpPr>
          <p:cNvPr id="6" name="Footer Placeholder 5">
            <a:extLst>
              <a:ext uri="{FF2B5EF4-FFF2-40B4-BE49-F238E27FC236}">
                <a16:creationId xmlns:a16="http://schemas.microsoft.com/office/drawing/2014/main" id="{F91593FF-7D89-478D-AE4C-E5E95DA0FC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3C36E9-5934-EC39-1F59-EA3EF9535CF5}"/>
              </a:ext>
            </a:extLst>
          </p:cNvPr>
          <p:cNvSpPr>
            <a:spLocks noGrp="1"/>
          </p:cNvSpPr>
          <p:nvPr>
            <p:ph type="sldNum" sz="quarter" idx="12"/>
          </p:nvPr>
        </p:nvSpPr>
        <p:spPr/>
        <p:txBody>
          <a:bodyPr/>
          <a:lstStyle/>
          <a:p>
            <a:fld id="{A086CD1D-9A35-4A93-A7CB-8DB9F850FDA9}" type="slidenum">
              <a:rPr lang="en-IN" smtClean="0"/>
              <a:t>‹#›</a:t>
            </a:fld>
            <a:endParaRPr lang="en-IN"/>
          </a:p>
        </p:txBody>
      </p:sp>
    </p:spTree>
    <p:extLst>
      <p:ext uri="{BB962C8B-B14F-4D97-AF65-F5344CB8AC3E}">
        <p14:creationId xmlns:p14="http://schemas.microsoft.com/office/powerpoint/2010/main" val="3503020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134EA-2436-D201-791F-71029261AD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A0D6C13-4493-FC52-F491-3BD49CDC71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8074EEE-287D-A656-DC21-208D6E5348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6320AF-4955-100C-D038-1BE483A93B14}"/>
              </a:ext>
            </a:extLst>
          </p:cNvPr>
          <p:cNvSpPr>
            <a:spLocks noGrp="1"/>
          </p:cNvSpPr>
          <p:nvPr>
            <p:ph type="dt" sz="half" idx="10"/>
          </p:nvPr>
        </p:nvSpPr>
        <p:spPr/>
        <p:txBody>
          <a:bodyPr/>
          <a:lstStyle/>
          <a:p>
            <a:fld id="{6B736B12-C4D2-4CBA-BFC1-F35B5DB6DD12}" type="datetimeFigureOut">
              <a:rPr lang="en-IN" smtClean="0"/>
              <a:t>27-01-2026</a:t>
            </a:fld>
            <a:endParaRPr lang="en-IN"/>
          </a:p>
        </p:txBody>
      </p:sp>
      <p:sp>
        <p:nvSpPr>
          <p:cNvPr id="6" name="Footer Placeholder 5">
            <a:extLst>
              <a:ext uri="{FF2B5EF4-FFF2-40B4-BE49-F238E27FC236}">
                <a16:creationId xmlns:a16="http://schemas.microsoft.com/office/drawing/2014/main" id="{AA1AED16-B7D0-A947-56AA-49F0EF01B36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DF9F51-26C6-6E09-8778-7196BB8F79FB}"/>
              </a:ext>
            </a:extLst>
          </p:cNvPr>
          <p:cNvSpPr>
            <a:spLocks noGrp="1"/>
          </p:cNvSpPr>
          <p:nvPr>
            <p:ph type="sldNum" sz="quarter" idx="12"/>
          </p:nvPr>
        </p:nvSpPr>
        <p:spPr/>
        <p:txBody>
          <a:bodyPr/>
          <a:lstStyle/>
          <a:p>
            <a:fld id="{A086CD1D-9A35-4A93-A7CB-8DB9F850FDA9}" type="slidenum">
              <a:rPr lang="en-IN" smtClean="0"/>
              <a:t>‹#›</a:t>
            </a:fld>
            <a:endParaRPr lang="en-IN"/>
          </a:p>
        </p:txBody>
      </p:sp>
    </p:spTree>
    <p:extLst>
      <p:ext uri="{BB962C8B-B14F-4D97-AF65-F5344CB8AC3E}">
        <p14:creationId xmlns:p14="http://schemas.microsoft.com/office/powerpoint/2010/main" val="6226251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65B86-8AC1-468F-CD56-50E54F9624C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8143F99-C32A-75FE-F7B4-162EE0E6F5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61C3B7-BF2B-77E8-2A3D-8215A267F35F}"/>
              </a:ext>
            </a:extLst>
          </p:cNvPr>
          <p:cNvSpPr>
            <a:spLocks noGrp="1"/>
          </p:cNvSpPr>
          <p:nvPr>
            <p:ph type="dt" sz="half" idx="10"/>
          </p:nvPr>
        </p:nvSpPr>
        <p:spPr/>
        <p:txBody>
          <a:bodyPr/>
          <a:lstStyle/>
          <a:p>
            <a:fld id="{6B736B12-C4D2-4CBA-BFC1-F35B5DB6DD12}" type="datetimeFigureOut">
              <a:rPr lang="en-IN" smtClean="0"/>
              <a:t>27-01-2026</a:t>
            </a:fld>
            <a:endParaRPr lang="en-IN"/>
          </a:p>
        </p:txBody>
      </p:sp>
      <p:sp>
        <p:nvSpPr>
          <p:cNvPr id="5" name="Footer Placeholder 4">
            <a:extLst>
              <a:ext uri="{FF2B5EF4-FFF2-40B4-BE49-F238E27FC236}">
                <a16:creationId xmlns:a16="http://schemas.microsoft.com/office/drawing/2014/main" id="{519693FF-8747-A2C6-5540-8BEA97F5BB1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6E74B8-A14E-36AF-1843-EE9379AAF9F1}"/>
              </a:ext>
            </a:extLst>
          </p:cNvPr>
          <p:cNvSpPr>
            <a:spLocks noGrp="1"/>
          </p:cNvSpPr>
          <p:nvPr>
            <p:ph type="sldNum" sz="quarter" idx="12"/>
          </p:nvPr>
        </p:nvSpPr>
        <p:spPr/>
        <p:txBody>
          <a:bodyPr/>
          <a:lstStyle/>
          <a:p>
            <a:fld id="{A086CD1D-9A35-4A93-A7CB-8DB9F850FDA9}" type="slidenum">
              <a:rPr lang="en-IN" smtClean="0"/>
              <a:t>‹#›</a:t>
            </a:fld>
            <a:endParaRPr lang="en-IN"/>
          </a:p>
        </p:txBody>
      </p:sp>
    </p:spTree>
    <p:extLst>
      <p:ext uri="{BB962C8B-B14F-4D97-AF65-F5344CB8AC3E}">
        <p14:creationId xmlns:p14="http://schemas.microsoft.com/office/powerpoint/2010/main" val="31457196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113858F-B89A-D68B-2B24-4E9328A27D1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802BB9E-9120-9778-EB9B-9DE66817EF5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8EAD6BC-B1F9-AF00-A7CA-A54C6CC53E6C}"/>
              </a:ext>
            </a:extLst>
          </p:cNvPr>
          <p:cNvSpPr>
            <a:spLocks noGrp="1"/>
          </p:cNvSpPr>
          <p:nvPr>
            <p:ph type="dt" sz="half" idx="10"/>
          </p:nvPr>
        </p:nvSpPr>
        <p:spPr/>
        <p:txBody>
          <a:bodyPr/>
          <a:lstStyle/>
          <a:p>
            <a:fld id="{6B736B12-C4D2-4CBA-BFC1-F35B5DB6DD12}" type="datetimeFigureOut">
              <a:rPr lang="en-IN" smtClean="0"/>
              <a:t>27-01-2026</a:t>
            </a:fld>
            <a:endParaRPr lang="en-IN"/>
          </a:p>
        </p:txBody>
      </p:sp>
      <p:sp>
        <p:nvSpPr>
          <p:cNvPr id="5" name="Footer Placeholder 4">
            <a:extLst>
              <a:ext uri="{FF2B5EF4-FFF2-40B4-BE49-F238E27FC236}">
                <a16:creationId xmlns:a16="http://schemas.microsoft.com/office/drawing/2014/main" id="{8A3A993F-948D-6053-714A-241B162AA9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B7440F-AC6F-9F5E-EE51-BAD756141DE6}"/>
              </a:ext>
            </a:extLst>
          </p:cNvPr>
          <p:cNvSpPr>
            <a:spLocks noGrp="1"/>
          </p:cNvSpPr>
          <p:nvPr>
            <p:ph type="sldNum" sz="quarter" idx="12"/>
          </p:nvPr>
        </p:nvSpPr>
        <p:spPr/>
        <p:txBody>
          <a:bodyPr/>
          <a:lstStyle/>
          <a:p>
            <a:fld id="{A086CD1D-9A35-4A93-A7CB-8DB9F850FDA9}" type="slidenum">
              <a:rPr lang="en-IN" smtClean="0"/>
              <a:t>‹#›</a:t>
            </a:fld>
            <a:endParaRPr lang="en-IN"/>
          </a:p>
        </p:txBody>
      </p:sp>
    </p:spTree>
    <p:extLst>
      <p:ext uri="{BB962C8B-B14F-4D97-AF65-F5344CB8AC3E}">
        <p14:creationId xmlns:p14="http://schemas.microsoft.com/office/powerpoint/2010/main" val="1064453769"/>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8B231A-6942-0277-0741-80956C9B1D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F3641BD-AD73-7144-8F95-D68A0F1FA3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ED9220-47F2-85C8-9E1D-F71803D20B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B736B12-C4D2-4CBA-BFC1-F35B5DB6DD12}" type="datetimeFigureOut">
              <a:rPr lang="en-IN" smtClean="0"/>
              <a:t>27-01-2026</a:t>
            </a:fld>
            <a:endParaRPr lang="en-IN"/>
          </a:p>
        </p:txBody>
      </p:sp>
      <p:sp>
        <p:nvSpPr>
          <p:cNvPr id="5" name="Footer Placeholder 4">
            <a:extLst>
              <a:ext uri="{FF2B5EF4-FFF2-40B4-BE49-F238E27FC236}">
                <a16:creationId xmlns:a16="http://schemas.microsoft.com/office/drawing/2014/main" id="{78F00551-E8AC-975C-EBB0-1FE1F6A9DF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5B45F04-EE5D-C9AB-3AE5-7251D938AA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086CD1D-9A35-4A93-A7CB-8DB9F850FDA9}" type="slidenum">
              <a:rPr lang="en-IN" smtClean="0"/>
              <a:t>‹#›</a:t>
            </a:fld>
            <a:endParaRPr lang="en-IN"/>
          </a:p>
        </p:txBody>
      </p:sp>
    </p:spTree>
    <p:extLst>
      <p:ext uri="{BB962C8B-B14F-4D97-AF65-F5344CB8AC3E}">
        <p14:creationId xmlns:p14="http://schemas.microsoft.com/office/powerpoint/2010/main" val="26611178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_rels/slide12.xml.rels><?xml version="1.0" encoding="UTF-8"?><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7.xml.rels><?xml version="1.0" encoding="UTF-8"?><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7.xml.rels><?xml version="1.0" encoding="UTF-8"?><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8.xml.rels><?xml version="1.0" encoding="UTF-8"?><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9.xml.rels><?xml version="1.0" encoding="UTF-8"?><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0.xml.rels><?xml version="1.0" encoding="UTF-8"?><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1.xml.rels><?xml version="1.0" encoding="UTF-8"?><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2.xml.rels><?xml version="1.0" encoding="UTF-8"?><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3.xml.rels><?xml version="1.0" encoding="UTF-8"?><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4.xml.rels><?xml version="1.0" encoding="UTF-8"?><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5.xml.rels><?xml version="1.0" encoding="UTF-8"?><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6.xml.rels><?xml version="1.0" encoding="UTF-8"?><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7.xml.rels><?xml version="1.0" encoding="UTF-8"?><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8.xml.rels><?xml version="1.0" encoding="UTF-8"?><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9.xml.rels><?xml version="1.0" encoding="UTF-8"?><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0.xml.rels><?xml version="1.0" encoding="UTF-8"?><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1.xml.rels><?xml version="1.0" encoding="UTF-8"?><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52.xml.rels><?xml version="1.0" encoding="UTF-8"?><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53.xml.rels><?xml version="1.0" encoding="UTF-8"?><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54.xml.rels><?xml version="1.0" encoding="UTF-8"?><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09FF9A-4FCE-468E-A86A-C9AB525EAE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021E12D4-3A88-428D-8E5E-AF1AFD923D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4" name="Picture 3" descr="Blue blocks and networks technology background">
            <a:extLst>
              <a:ext uri="{FF2B5EF4-FFF2-40B4-BE49-F238E27FC236}">
                <a16:creationId xmlns:a16="http://schemas.microsoft.com/office/drawing/2014/main" id="{A1580EFA-1897-7430-42B7-15F261AD4297}"/>
              </a:ext>
            </a:extLst>
          </p:cNvPr>
          <p:cNvPicPr>
            <a:picLocks noChangeAspect="1"/>
          </p:cNvPicPr>
          <p:nvPr/>
        </p:nvPicPr>
        <p:blipFill rotWithShape="1">
          <a:blip r:embed="rId2">
            <a:alphaModFix amt="60000"/>
          </a:blip>
          <a:srcRect b="-446"/>
          <a:stretch/>
        </p:blipFill>
        <p:spPr>
          <a:xfrm>
            <a:off x="-1" y="10"/>
            <a:ext cx="12192001" cy="6857990"/>
          </a:xfrm>
          <a:prstGeom prst="rect">
            <a:avLst/>
          </a:prstGeom>
        </p:spPr>
      </p:pic>
      <p:sp>
        <p:nvSpPr>
          <p:cNvPr id="2" name="Title 1">
            <a:extLst>
              <a:ext uri="{FF2B5EF4-FFF2-40B4-BE49-F238E27FC236}">
                <a16:creationId xmlns:a16="http://schemas.microsoft.com/office/drawing/2014/main" id="{87035BB3-5B6F-82A5-546F-F440FA3D203F}"/>
              </a:ext>
            </a:extLst>
          </p:cNvPr>
          <p:cNvSpPr>
            <a:spLocks noGrp="1"/>
          </p:cNvSpPr>
          <p:nvPr>
            <p:ph type="title"/>
          </p:nvPr>
        </p:nvSpPr>
        <p:spPr>
          <a:xfrm>
            <a:off x="836676" y="1809138"/>
            <a:ext cx="10515600" cy="2985923"/>
          </a:xfrm>
        </p:spPr>
        <p:txBody>
          <a:bodyPr vert="horz" lIns="91440" tIns="45720" rIns="91440" bIns="45720" rtlCol="0" anchor="b">
            <a:noAutofit/>
          </a:bodyPr>
          <a:lstStyle/>
          <a:p>
            <a:pPr algn="ctr"/>
            <a:r>
              <a:rPr lang="en-US" sz="11500" b="1" dirty="0">
                <a:solidFill>
                  <a:srgbClr val="FFFFFF"/>
                </a:solidFill>
              </a:rPr>
              <a:t>Introduction to Data Structures</a:t>
            </a:r>
          </a:p>
        </p:txBody>
      </p:sp>
    </p:spTree>
    <p:extLst>
      <p:ext uri="{BB962C8B-B14F-4D97-AF65-F5344CB8AC3E}">
        <p14:creationId xmlns:p14="http://schemas.microsoft.com/office/powerpoint/2010/main" val="445843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E4CE75-C22E-0FF2-1F9D-FBA037111ACC}"/>
              </a:ext>
            </a:extLst>
          </p:cNvPr>
          <p:cNvSpPr>
            <a:spLocks noGrp="1"/>
          </p:cNvSpPr>
          <p:nvPr>
            <p:ph type="title"/>
          </p:nvPr>
        </p:nvSpPr>
        <p:spPr>
          <a:xfrm>
            <a:off x="686834" y="1153572"/>
            <a:ext cx="3200400" cy="4461163"/>
          </a:xfrm>
        </p:spPr>
        <p:txBody>
          <a:bodyPr>
            <a:normAutofit/>
          </a:bodyPr>
          <a:lstStyle/>
          <a:p>
            <a:r>
              <a:rPr lang="en-US" b="1" dirty="0">
                <a:solidFill>
                  <a:srgbClr val="FFFFFF"/>
                </a:solidFill>
              </a:rPr>
              <a:t>Data Structures</a:t>
            </a:r>
            <a:br>
              <a:rPr lang="en-US" b="1" dirty="0">
                <a:solidFill>
                  <a:srgbClr val="FFFFFF"/>
                </a:solidFill>
              </a:rPr>
            </a:br>
            <a:r>
              <a:rPr lang="en-US" b="1" dirty="0">
                <a:solidFill>
                  <a:srgbClr val="FFFFFF"/>
                </a:solidFill>
              </a:rPr>
              <a:t>Definition</a:t>
            </a:r>
            <a:endParaRPr lang="en-IN" b="1" dirty="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D9DDC43-41FA-7FAA-7EC6-A59B956EAA05}"/>
              </a:ext>
            </a:extLst>
          </p:cNvPr>
          <p:cNvSpPr>
            <a:spLocks noGrp="1"/>
          </p:cNvSpPr>
          <p:nvPr>
            <p:ph idx="1"/>
          </p:nvPr>
        </p:nvSpPr>
        <p:spPr>
          <a:xfrm>
            <a:off x="4447308" y="591344"/>
            <a:ext cx="6906491" cy="5585619"/>
          </a:xfrm>
        </p:spPr>
        <p:txBody>
          <a:bodyPr anchor="ctr">
            <a:normAutofit/>
          </a:bodyPr>
          <a:lstStyle/>
          <a:p>
            <a:r>
              <a:rPr lang="en-US" sz="4000" b="1" dirty="0"/>
              <a:t xml:space="preserve">Definition: </a:t>
            </a:r>
            <a:r>
              <a:rPr lang="en-US" sz="4000" b="1" dirty="0">
                <a:solidFill>
                  <a:srgbClr val="00B0F0"/>
                </a:solidFill>
              </a:rPr>
              <a:t>Data Structure is a way to store or organize data in such way that it can be used / accessed efficiently.</a:t>
            </a:r>
            <a:endParaRPr lang="en-IN" sz="4000" b="1" dirty="0">
              <a:solidFill>
                <a:srgbClr val="00B0F0"/>
              </a:solidFill>
            </a:endParaRPr>
          </a:p>
        </p:txBody>
      </p:sp>
    </p:spTree>
    <p:extLst>
      <p:ext uri="{BB962C8B-B14F-4D97-AF65-F5344CB8AC3E}">
        <p14:creationId xmlns:p14="http://schemas.microsoft.com/office/powerpoint/2010/main" val="789464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3">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35" name="Rectangle 34">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Rectangle 38">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E4CE75-C22E-0FF2-1F9D-FBA037111ACC}"/>
              </a:ext>
            </a:extLst>
          </p:cNvPr>
          <p:cNvSpPr>
            <a:spLocks noGrp="1"/>
          </p:cNvSpPr>
          <p:nvPr>
            <p:ph type="title"/>
          </p:nvPr>
        </p:nvSpPr>
        <p:spPr>
          <a:xfrm>
            <a:off x="1043631" y="809898"/>
            <a:ext cx="10173010" cy="1554480"/>
          </a:xfrm>
        </p:spPr>
        <p:txBody>
          <a:bodyPr anchor="ctr">
            <a:normAutofit/>
          </a:bodyPr>
          <a:lstStyle/>
          <a:p>
            <a:r>
              <a:rPr lang="en-US" sz="4800" b="1" dirty="0"/>
              <a:t>Classification of Data Structures</a:t>
            </a:r>
            <a:br>
              <a:rPr lang="en-US" sz="4800" b="1" dirty="0"/>
            </a:br>
            <a:r>
              <a:rPr lang="en-US" sz="2400" b="1" dirty="0"/>
              <a:t>Data Structures are majorly classified into 2 types</a:t>
            </a:r>
            <a:endParaRPr lang="en-IN" sz="4800" b="1" dirty="0"/>
          </a:p>
        </p:txBody>
      </p:sp>
      <p:cxnSp>
        <p:nvCxnSpPr>
          <p:cNvPr id="41" name="Straight Connector 40">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14" name="Content Placeholder 2">
            <a:extLst>
              <a:ext uri="{FF2B5EF4-FFF2-40B4-BE49-F238E27FC236}">
                <a16:creationId xmlns:a16="http://schemas.microsoft.com/office/drawing/2014/main" id="{6F649678-4611-4F2C-3D43-FEAFDAA90F3E}"/>
              </a:ext>
            </a:extLst>
          </p:cNvPr>
          <p:cNvGraphicFramePr>
            <a:graphicFrameLocks noGrp="1"/>
          </p:cNvGraphicFramePr>
          <p:nvPr>
            <p:ph idx="1"/>
            <p:extLst>
              <p:ext uri="{D42A27DB-BD31-4B8C-83A1-F6EECF244321}">
                <p14:modId xmlns:p14="http://schemas.microsoft.com/office/powerpoint/2010/main" val="1710908748"/>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25107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14" grpId="0">
        <p:bldAsOne/>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AF488-D801-973C-5D8A-E4E01C415F08}"/>
              </a:ext>
            </a:extLst>
          </p:cNvPr>
          <p:cNvSpPr>
            <a:spLocks noGrp="1"/>
          </p:cNvSpPr>
          <p:nvPr>
            <p:ph type="title"/>
          </p:nvPr>
        </p:nvSpPr>
        <p:spPr>
          <a:xfrm>
            <a:off x="838200" y="365126"/>
            <a:ext cx="10515600" cy="886732"/>
          </a:xfrm>
        </p:spPr>
        <p:txBody>
          <a:bodyPr/>
          <a:lstStyle/>
          <a:p>
            <a:r>
              <a:rPr lang="en-US" b="1" dirty="0"/>
              <a:t>Detailed Classification</a:t>
            </a:r>
            <a:endParaRPr lang="en-IN" b="1" dirty="0"/>
          </a:p>
        </p:txBody>
      </p:sp>
      <p:pic>
        <p:nvPicPr>
          <p:cNvPr id="5" name="Content Placeholder 4" descr="A diagram of data structure  Description automatically generated">
            <a:extLst>
              <a:ext uri="{FF2B5EF4-FFF2-40B4-BE49-F238E27FC236}">
                <a16:creationId xmlns:a16="http://schemas.microsoft.com/office/drawing/2014/main" id="{79CC403D-3AC6-CD45-F0BF-44817255471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04" y="1251858"/>
            <a:ext cx="12136349" cy="5138056"/>
          </a:xfrm>
        </p:spPr>
      </p:pic>
    </p:spTree>
    <p:extLst>
      <p:ext uri="{BB962C8B-B14F-4D97-AF65-F5344CB8AC3E}">
        <p14:creationId xmlns:p14="http://schemas.microsoft.com/office/powerpoint/2010/main" val="2221681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DCC231C8-C761-4B31-9B1C-C6D19248C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289E02-7F24-D6A6-DC87-8456BDC0BB03}"/>
              </a:ext>
            </a:extLst>
          </p:cNvPr>
          <p:cNvSpPr>
            <a:spLocks noGrp="1"/>
          </p:cNvSpPr>
          <p:nvPr>
            <p:ph type="title"/>
          </p:nvPr>
        </p:nvSpPr>
        <p:spPr>
          <a:xfrm>
            <a:off x="838200" y="557189"/>
            <a:ext cx="3374136" cy="5567891"/>
          </a:xfrm>
        </p:spPr>
        <p:txBody>
          <a:bodyPr>
            <a:normAutofit/>
          </a:bodyPr>
          <a:lstStyle/>
          <a:p>
            <a:r>
              <a:rPr lang="en-US" sz="5200" b="1" dirty="0"/>
              <a:t>Linear Data Structures</a:t>
            </a:r>
            <a:endParaRPr lang="en-IN" sz="5200" b="1" dirty="0"/>
          </a:p>
        </p:txBody>
      </p:sp>
      <p:sp>
        <p:nvSpPr>
          <p:cNvPr id="6" name="Freeform: Shape 5">
            <a:extLst>
              <a:ext uri="{FF2B5EF4-FFF2-40B4-BE49-F238E27FC236}">
                <a16:creationId xmlns:a16="http://schemas.microsoft.com/office/drawing/2014/main" id="{FC13E641-935C-CA2A-5499-D0D7A4F954A2}"/>
              </a:ext>
            </a:extLst>
          </p:cNvPr>
          <p:cNvSpPr/>
          <p:nvPr/>
        </p:nvSpPr>
        <p:spPr>
          <a:xfrm>
            <a:off x="5093208" y="4764062"/>
            <a:ext cx="6263640" cy="1360044"/>
          </a:xfrm>
          <a:custGeom>
            <a:avLst/>
            <a:gdLst>
              <a:gd name="connsiteX0" fmla="*/ 0 w 6263640"/>
              <a:gd name="connsiteY0" fmla="*/ 0 h 1360044"/>
              <a:gd name="connsiteX1" fmla="*/ 6263640 w 6263640"/>
              <a:gd name="connsiteY1" fmla="*/ 0 h 1360044"/>
              <a:gd name="connsiteX2" fmla="*/ 6263640 w 6263640"/>
              <a:gd name="connsiteY2" fmla="*/ 1360044 h 1360044"/>
              <a:gd name="connsiteX3" fmla="*/ 0 w 6263640"/>
              <a:gd name="connsiteY3" fmla="*/ 1360044 h 1360044"/>
              <a:gd name="connsiteX4" fmla="*/ 0 w 6263640"/>
              <a:gd name="connsiteY4" fmla="*/ 0 h 13600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63640" h="1360044">
                <a:moveTo>
                  <a:pt x="0" y="0"/>
                </a:moveTo>
                <a:lnTo>
                  <a:pt x="6263640" y="0"/>
                </a:lnTo>
                <a:lnTo>
                  <a:pt x="6263640" y="1360044"/>
                </a:lnTo>
                <a:lnTo>
                  <a:pt x="0" y="1360044"/>
                </a:lnTo>
                <a:lnTo>
                  <a:pt x="0" y="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70688" tIns="170688" rIns="170688" bIns="796308" numCol="1" spcCol="1270" anchor="ctr" anchorCtr="0">
            <a:noAutofit/>
          </a:bodyPr>
          <a:lstStyle/>
          <a:p>
            <a:pPr marL="0" lvl="0" indent="0" algn="ctr" defTabSz="1066800">
              <a:lnSpc>
                <a:spcPct val="90000"/>
              </a:lnSpc>
              <a:spcBef>
                <a:spcPct val="0"/>
              </a:spcBef>
              <a:spcAft>
                <a:spcPct val="35000"/>
              </a:spcAft>
              <a:buNone/>
            </a:pPr>
            <a:r>
              <a:rPr lang="en-US" sz="2400" b="1" kern="1200" dirty="0"/>
              <a:t>Examples</a:t>
            </a:r>
          </a:p>
        </p:txBody>
      </p:sp>
      <p:sp>
        <p:nvSpPr>
          <p:cNvPr id="7" name="Freeform: Shape 6">
            <a:extLst>
              <a:ext uri="{FF2B5EF4-FFF2-40B4-BE49-F238E27FC236}">
                <a16:creationId xmlns:a16="http://schemas.microsoft.com/office/drawing/2014/main" id="{2F97F8B4-8123-B6B9-6CE3-158A35E4A635}"/>
              </a:ext>
            </a:extLst>
          </p:cNvPr>
          <p:cNvSpPr/>
          <p:nvPr/>
        </p:nvSpPr>
        <p:spPr>
          <a:xfrm>
            <a:off x="5093208" y="5471285"/>
            <a:ext cx="1565909" cy="625620"/>
          </a:xfrm>
          <a:custGeom>
            <a:avLst/>
            <a:gdLst>
              <a:gd name="connsiteX0" fmla="*/ 0 w 1565909"/>
              <a:gd name="connsiteY0" fmla="*/ 0 h 625620"/>
              <a:gd name="connsiteX1" fmla="*/ 1565909 w 1565909"/>
              <a:gd name="connsiteY1" fmla="*/ 0 h 625620"/>
              <a:gd name="connsiteX2" fmla="*/ 1565909 w 1565909"/>
              <a:gd name="connsiteY2" fmla="*/ 625620 h 625620"/>
              <a:gd name="connsiteX3" fmla="*/ 0 w 1565909"/>
              <a:gd name="connsiteY3" fmla="*/ 625620 h 625620"/>
              <a:gd name="connsiteX4" fmla="*/ 0 w 1565909"/>
              <a:gd name="connsiteY4" fmla="*/ 0 h 625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5909" h="625620">
                <a:moveTo>
                  <a:pt x="0" y="0"/>
                </a:moveTo>
                <a:lnTo>
                  <a:pt x="1565909" y="0"/>
                </a:lnTo>
                <a:lnTo>
                  <a:pt x="1565909" y="625620"/>
                </a:lnTo>
                <a:lnTo>
                  <a:pt x="0" y="625620"/>
                </a:lnTo>
                <a:lnTo>
                  <a:pt x="0" y="0"/>
                </a:lnTo>
                <a:close/>
              </a:path>
            </a:pathLst>
          </a:custGeom>
        </p:spPr>
        <p:style>
          <a:lnRef idx="2">
            <a:schemeClr val="accent6">
              <a:alpha val="90000"/>
              <a:tint val="40000"/>
              <a:hueOff val="0"/>
              <a:satOff val="0"/>
              <a:lumOff val="0"/>
              <a:alphaOff val="0"/>
            </a:schemeClr>
          </a:lnRef>
          <a:fillRef idx="1">
            <a:schemeClr val="accent6">
              <a:alpha val="90000"/>
              <a:tint val="40000"/>
              <a:hueOff val="0"/>
              <a:satOff val="0"/>
              <a:lumOff val="0"/>
              <a:alphaOff val="0"/>
            </a:schemeClr>
          </a:fillRef>
          <a:effectRef idx="0">
            <a:schemeClr val="accent6">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t>Arrays</a:t>
            </a:r>
          </a:p>
        </p:txBody>
      </p:sp>
      <p:sp>
        <p:nvSpPr>
          <p:cNvPr id="8" name="Freeform: Shape 7">
            <a:extLst>
              <a:ext uri="{FF2B5EF4-FFF2-40B4-BE49-F238E27FC236}">
                <a16:creationId xmlns:a16="http://schemas.microsoft.com/office/drawing/2014/main" id="{5FF5F556-75AC-F8C7-AACC-8C5CB0C6007E}"/>
              </a:ext>
            </a:extLst>
          </p:cNvPr>
          <p:cNvSpPr/>
          <p:nvPr/>
        </p:nvSpPr>
        <p:spPr>
          <a:xfrm>
            <a:off x="6659118" y="5471285"/>
            <a:ext cx="1565909" cy="625620"/>
          </a:xfrm>
          <a:custGeom>
            <a:avLst/>
            <a:gdLst>
              <a:gd name="connsiteX0" fmla="*/ 0 w 1565909"/>
              <a:gd name="connsiteY0" fmla="*/ 0 h 625620"/>
              <a:gd name="connsiteX1" fmla="*/ 1565909 w 1565909"/>
              <a:gd name="connsiteY1" fmla="*/ 0 h 625620"/>
              <a:gd name="connsiteX2" fmla="*/ 1565909 w 1565909"/>
              <a:gd name="connsiteY2" fmla="*/ 625620 h 625620"/>
              <a:gd name="connsiteX3" fmla="*/ 0 w 1565909"/>
              <a:gd name="connsiteY3" fmla="*/ 625620 h 625620"/>
              <a:gd name="connsiteX4" fmla="*/ 0 w 1565909"/>
              <a:gd name="connsiteY4" fmla="*/ 0 h 625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5909" h="625620">
                <a:moveTo>
                  <a:pt x="0" y="0"/>
                </a:moveTo>
                <a:lnTo>
                  <a:pt x="1565909" y="0"/>
                </a:lnTo>
                <a:lnTo>
                  <a:pt x="1565909" y="625620"/>
                </a:lnTo>
                <a:lnTo>
                  <a:pt x="0" y="625620"/>
                </a:lnTo>
                <a:lnTo>
                  <a:pt x="0" y="0"/>
                </a:lnTo>
                <a:close/>
              </a:path>
            </a:pathLst>
          </a:custGeom>
        </p:spPr>
        <p:style>
          <a:lnRef idx="2">
            <a:schemeClr val="accent6">
              <a:alpha val="90000"/>
              <a:tint val="40000"/>
              <a:hueOff val="0"/>
              <a:satOff val="0"/>
              <a:lumOff val="0"/>
              <a:alphaOff val="0"/>
            </a:schemeClr>
          </a:lnRef>
          <a:fillRef idx="1">
            <a:schemeClr val="accent6">
              <a:alpha val="90000"/>
              <a:tint val="40000"/>
              <a:hueOff val="0"/>
              <a:satOff val="0"/>
              <a:lumOff val="0"/>
              <a:alphaOff val="0"/>
            </a:schemeClr>
          </a:fillRef>
          <a:effectRef idx="0">
            <a:schemeClr val="accent6">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t>Linked Lists</a:t>
            </a:r>
          </a:p>
        </p:txBody>
      </p:sp>
      <p:sp>
        <p:nvSpPr>
          <p:cNvPr id="9" name="Freeform: Shape 8">
            <a:extLst>
              <a:ext uri="{FF2B5EF4-FFF2-40B4-BE49-F238E27FC236}">
                <a16:creationId xmlns:a16="http://schemas.microsoft.com/office/drawing/2014/main" id="{F653A031-83BE-9317-F7E0-826A662E4830}"/>
              </a:ext>
            </a:extLst>
          </p:cNvPr>
          <p:cNvSpPr/>
          <p:nvPr/>
        </p:nvSpPr>
        <p:spPr>
          <a:xfrm>
            <a:off x="8225028" y="5471285"/>
            <a:ext cx="1565909" cy="625620"/>
          </a:xfrm>
          <a:custGeom>
            <a:avLst/>
            <a:gdLst>
              <a:gd name="connsiteX0" fmla="*/ 0 w 1565909"/>
              <a:gd name="connsiteY0" fmla="*/ 0 h 625620"/>
              <a:gd name="connsiteX1" fmla="*/ 1565909 w 1565909"/>
              <a:gd name="connsiteY1" fmla="*/ 0 h 625620"/>
              <a:gd name="connsiteX2" fmla="*/ 1565909 w 1565909"/>
              <a:gd name="connsiteY2" fmla="*/ 625620 h 625620"/>
              <a:gd name="connsiteX3" fmla="*/ 0 w 1565909"/>
              <a:gd name="connsiteY3" fmla="*/ 625620 h 625620"/>
              <a:gd name="connsiteX4" fmla="*/ 0 w 1565909"/>
              <a:gd name="connsiteY4" fmla="*/ 0 h 625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5909" h="625620">
                <a:moveTo>
                  <a:pt x="0" y="0"/>
                </a:moveTo>
                <a:lnTo>
                  <a:pt x="1565909" y="0"/>
                </a:lnTo>
                <a:lnTo>
                  <a:pt x="1565909" y="625620"/>
                </a:lnTo>
                <a:lnTo>
                  <a:pt x="0" y="625620"/>
                </a:lnTo>
                <a:lnTo>
                  <a:pt x="0" y="0"/>
                </a:lnTo>
                <a:close/>
              </a:path>
            </a:pathLst>
          </a:custGeom>
        </p:spPr>
        <p:style>
          <a:lnRef idx="2">
            <a:schemeClr val="accent6">
              <a:alpha val="90000"/>
              <a:tint val="40000"/>
              <a:hueOff val="0"/>
              <a:satOff val="0"/>
              <a:lumOff val="0"/>
              <a:alphaOff val="0"/>
            </a:schemeClr>
          </a:lnRef>
          <a:fillRef idx="1">
            <a:schemeClr val="accent6">
              <a:alpha val="90000"/>
              <a:tint val="40000"/>
              <a:hueOff val="0"/>
              <a:satOff val="0"/>
              <a:lumOff val="0"/>
              <a:alphaOff val="0"/>
            </a:schemeClr>
          </a:fillRef>
          <a:effectRef idx="0">
            <a:schemeClr val="accent6">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t>Stacks</a:t>
            </a:r>
          </a:p>
        </p:txBody>
      </p:sp>
      <p:sp>
        <p:nvSpPr>
          <p:cNvPr id="11" name="Freeform: Shape 10">
            <a:extLst>
              <a:ext uri="{FF2B5EF4-FFF2-40B4-BE49-F238E27FC236}">
                <a16:creationId xmlns:a16="http://schemas.microsoft.com/office/drawing/2014/main" id="{C0FA0CD6-6B09-7FD8-80D4-9E1E4C61E424}"/>
              </a:ext>
            </a:extLst>
          </p:cNvPr>
          <p:cNvSpPr/>
          <p:nvPr/>
        </p:nvSpPr>
        <p:spPr>
          <a:xfrm>
            <a:off x="9790938" y="5471285"/>
            <a:ext cx="1565909" cy="625620"/>
          </a:xfrm>
          <a:custGeom>
            <a:avLst/>
            <a:gdLst>
              <a:gd name="connsiteX0" fmla="*/ 0 w 1565909"/>
              <a:gd name="connsiteY0" fmla="*/ 0 h 625620"/>
              <a:gd name="connsiteX1" fmla="*/ 1565909 w 1565909"/>
              <a:gd name="connsiteY1" fmla="*/ 0 h 625620"/>
              <a:gd name="connsiteX2" fmla="*/ 1565909 w 1565909"/>
              <a:gd name="connsiteY2" fmla="*/ 625620 h 625620"/>
              <a:gd name="connsiteX3" fmla="*/ 0 w 1565909"/>
              <a:gd name="connsiteY3" fmla="*/ 625620 h 625620"/>
              <a:gd name="connsiteX4" fmla="*/ 0 w 1565909"/>
              <a:gd name="connsiteY4" fmla="*/ 0 h 625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5909" h="625620">
                <a:moveTo>
                  <a:pt x="0" y="0"/>
                </a:moveTo>
                <a:lnTo>
                  <a:pt x="1565909" y="0"/>
                </a:lnTo>
                <a:lnTo>
                  <a:pt x="1565909" y="625620"/>
                </a:lnTo>
                <a:lnTo>
                  <a:pt x="0" y="625620"/>
                </a:lnTo>
                <a:lnTo>
                  <a:pt x="0" y="0"/>
                </a:lnTo>
                <a:close/>
              </a:path>
            </a:pathLst>
          </a:custGeom>
        </p:spPr>
        <p:style>
          <a:lnRef idx="2">
            <a:schemeClr val="accent6">
              <a:alpha val="90000"/>
              <a:tint val="40000"/>
              <a:hueOff val="0"/>
              <a:satOff val="0"/>
              <a:lumOff val="0"/>
              <a:alphaOff val="0"/>
            </a:schemeClr>
          </a:lnRef>
          <a:fillRef idx="1">
            <a:schemeClr val="accent6">
              <a:alpha val="90000"/>
              <a:tint val="40000"/>
              <a:hueOff val="0"/>
              <a:satOff val="0"/>
              <a:lumOff val="0"/>
              <a:alphaOff val="0"/>
            </a:schemeClr>
          </a:fillRef>
          <a:effectRef idx="0">
            <a:schemeClr val="accent6">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t>Queues</a:t>
            </a:r>
          </a:p>
        </p:txBody>
      </p:sp>
      <p:sp>
        <p:nvSpPr>
          <p:cNvPr id="13" name="Freeform: Shape 12">
            <a:extLst>
              <a:ext uri="{FF2B5EF4-FFF2-40B4-BE49-F238E27FC236}">
                <a16:creationId xmlns:a16="http://schemas.microsoft.com/office/drawing/2014/main" id="{9E171F02-BDEE-BD0D-72C8-CFF6B6A6BD55}"/>
              </a:ext>
            </a:extLst>
          </p:cNvPr>
          <p:cNvSpPr/>
          <p:nvPr/>
        </p:nvSpPr>
        <p:spPr>
          <a:xfrm>
            <a:off x="5093208" y="2692712"/>
            <a:ext cx="6263641" cy="2091750"/>
          </a:xfrm>
          <a:custGeom>
            <a:avLst/>
            <a:gdLst>
              <a:gd name="connsiteX0" fmla="*/ 0 w 6263640"/>
              <a:gd name="connsiteY0" fmla="*/ 732593 h 2091749"/>
              <a:gd name="connsiteX1" fmla="*/ 2870351 w 6263640"/>
              <a:gd name="connsiteY1" fmla="*/ 732593 h 2091749"/>
              <a:gd name="connsiteX2" fmla="*/ 2870351 w 6263640"/>
              <a:gd name="connsiteY2" fmla="*/ 522937 h 2091749"/>
              <a:gd name="connsiteX3" fmla="*/ 2608883 w 6263640"/>
              <a:gd name="connsiteY3" fmla="*/ 522937 h 2091749"/>
              <a:gd name="connsiteX4" fmla="*/ 3131820 w 6263640"/>
              <a:gd name="connsiteY4" fmla="*/ 0 h 2091749"/>
              <a:gd name="connsiteX5" fmla="*/ 3654757 w 6263640"/>
              <a:gd name="connsiteY5" fmla="*/ 522937 h 2091749"/>
              <a:gd name="connsiteX6" fmla="*/ 3393289 w 6263640"/>
              <a:gd name="connsiteY6" fmla="*/ 522937 h 2091749"/>
              <a:gd name="connsiteX7" fmla="*/ 3393289 w 6263640"/>
              <a:gd name="connsiteY7" fmla="*/ 732593 h 2091749"/>
              <a:gd name="connsiteX8" fmla="*/ 6263640 w 6263640"/>
              <a:gd name="connsiteY8" fmla="*/ 732593 h 2091749"/>
              <a:gd name="connsiteX9" fmla="*/ 6263640 w 6263640"/>
              <a:gd name="connsiteY9" fmla="*/ 2091749 h 2091749"/>
              <a:gd name="connsiteX10" fmla="*/ 0 w 6263640"/>
              <a:gd name="connsiteY10" fmla="*/ 2091749 h 2091749"/>
              <a:gd name="connsiteX11" fmla="*/ 0 w 6263640"/>
              <a:gd name="connsiteY11" fmla="*/ 732593 h 2091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3640" h="2091749">
                <a:moveTo>
                  <a:pt x="6263640" y="1359156"/>
                </a:moveTo>
                <a:lnTo>
                  <a:pt x="3393289" y="1359156"/>
                </a:lnTo>
                <a:lnTo>
                  <a:pt x="3393289" y="1568812"/>
                </a:lnTo>
                <a:lnTo>
                  <a:pt x="3654757" y="1568812"/>
                </a:lnTo>
                <a:lnTo>
                  <a:pt x="3131820" y="2091748"/>
                </a:lnTo>
                <a:lnTo>
                  <a:pt x="2608883" y="1568812"/>
                </a:lnTo>
                <a:lnTo>
                  <a:pt x="2870351" y="1568812"/>
                </a:lnTo>
                <a:lnTo>
                  <a:pt x="2870351" y="1359156"/>
                </a:lnTo>
                <a:lnTo>
                  <a:pt x="0" y="1359156"/>
                </a:lnTo>
                <a:lnTo>
                  <a:pt x="0" y="1"/>
                </a:lnTo>
                <a:lnTo>
                  <a:pt x="6263640" y="1"/>
                </a:lnTo>
                <a:lnTo>
                  <a:pt x="6263640" y="1359156"/>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70688" tIns="170689" rIns="170689" bIns="903281" numCol="1" spcCol="1270" anchor="ctr" anchorCtr="0">
            <a:noAutofit/>
          </a:bodyPr>
          <a:lstStyle/>
          <a:p>
            <a:pPr marL="0" lvl="0" indent="0" algn="ctr" defTabSz="1066800">
              <a:lnSpc>
                <a:spcPct val="90000"/>
              </a:lnSpc>
              <a:spcBef>
                <a:spcPct val="0"/>
              </a:spcBef>
              <a:spcAft>
                <a:spcPct val="35000"/>
              </a:spcAft>
              <a:buNone/>
            </a:pPr>
            <a:r>
              <a:rPr lang="en-US" sz="2400" b="1" i="0" kern="1200" dirty="0"/>
              <a:t>In these data structures, one element is connected to only one another element in a linear form</a:t>
            </a:r>
            <a:endParaRPr lang="en-US" sz="2400" b="1" kern="1200" dirty="0"/>
          </a:p>
        </p:txBody>
      </p:sp>
      <p:sp>
        <p:nvSpPr>
          <p:cNvPr id="15" name="Freeform: Shape 14">
            <a:extLst>
              <a:ext uri="{FF2B5EF4-FFF2-40B4-BE49-F238E27FC236}">
                <a16:creationId xmlns:a16="http://schemas.microsoft.com/office/drawing/2014/main" id="{35DC9049-544A-AEBD-67A4-1A39D28CAE4C}"/>
              </a:ext>
            </a:extLst>
          </p:cNvPr>
          <p:cNvSpPr/>
          <p:nvPr/>
        </p:nvSpPr>
        <p:spPr>
          <a:xfrm>
            <a:off x="5093208" y="621363"/>
            <a:ext cx="6263640" cy="2091751"/>
          </a:xfrm>
          <a:custGeom>
            <a:avLst/>
            <a:gdLst>
              <a:gd name="connsiteX0" fmla="*/ 0 w 6263640"/>
              <a:gd name="connsiteY0" fmla="*/ 732593 h 2091749"/>
              <a:gd name="connsiteX1" fmla="*/ 2870351 w 6263640"/>
              <a:gd name="connsiteY1" fmla="*/ 732593 h 2091749"/>
              <a:gd name="connsiteX2" fmla="*/ 2870351 w 6263640"/>
              <a:gd name="connsiteY2" fmla="*/ 522937 h 2091749"/>
              <a:gd name="connsiteX3" fmla="*/ 2608883 w 6263640"/>
              <a:gd name="connsiteY3" fmla="*/ 522937 h 2091749"/>
              <a:gd name="connsiteX4" fmla="*/ 3131820 w 6263640"/>
              <a:gd name="connsiteY4" fmla="*/ 0 h 2091749"/>
              <a:gd name="connsiteX5" fmla="*/ 3654757 w 6263640"/>
              <a:gd name="connsiteY5" fmla="*/ 522937 h 2091749"/>
              <a:gd name="connsiteX6" fmla="*/ 3393289 w 6263640"/>
              <a:gd name="connsiteY6" fmla="*/ 522937 h 2091749"/>
              <a:gd name="connsiteX7" fmla="*/ 3393289 w 6263640"/>
              <a:gd name="connsiteY7" fmla="*/ 732593 h 2091749"/>
              <a:gd name="connsiteX8" fmla="*/ 6263640 w 6263640"/>
              <a:gd name="connsiteY8" fmla="*/ 732593 h 2091749"/>
              <a:gd name="connsiteX9" fmla="*/ 6263640 w 6263640"/>
              <a:gd name="connsiteY9" fmla="*/ 2091749 h 2091749"/>
              <a:gd name="connsiteX10" fmla="*/ 0 w 6263640"/>
              <a:gd name="connsiteY10" fmla="*/ 2091749 h 2091749"/>
              <a:gd name="connsiteX11" fmla="*/ 0 w 6263640"/>
              <a:gd name="connsiteY11" fmla="*/ 732593 h 2091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3640" h="2091749">
                <a:moveTo>
                  <a:pt x="6263640" y="1359156"/>
                </a:moveTo>
                <a:lnTo>
                  <a:pt x="3393289" y="1359156"/>
                </a:lnTo>
                <a:lnTo>
                  <a:pt x="3393289" y="1568812"/>
                </a:lnTo>
                <a:lnTo>
                  <a:pt x="3654757" y="1568812"/>
                </a:lnTo>
                <a:lnTo>
                  <a:pt x="3131820" y="2091748"/>
                </a:lnTo>
                <a:lnTo>
                  <a:pt x="2608883" y="1568812"/>
                </a:lnTo>
                <a:lnTo>
                  <a:pt x="2870351" y="1568812"/>
                </a:lnTo>
                <a:lnTo>
                  <a:pt x="2870351" y="1359156"/>
                </a:lnTo>
                <a:lnTo>
                  <a:pt x="0" y="1359156"/>
                </a:lnTo>
                <a:lnTo>
                  <a:pt x="0" y="1"/>
                </a:lnTo>
                <a:lnTo>
                  <a:pt x="6263640" y="1"/>
                </a:lnTo>
                <a:lnTo>
                  <a:pt x="6263640" y="1359156"/>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70688" tIns="170689" rIns="170688" bIns="903282" numCol="1" spcCol="1270" anchor="ctr" anchorCtr="0">
            <a:noAutofit/>
          </a:bodyPr>
          <a:lstStyle/>
          <a:p>
            <a:pPr marL="0" lvl="0" indent="0" algn="ctr" defTabSz="1066800">
              <a:lnSpc>
                <a:spcPct val="90000"/>
              </a:lnSpc>
              <a:spcBef>
                <a:spcPct val="0"/>
              </a:spcBef>
              <a:spcAft>
                <a:spcPct val="35000"/>
              </a:spcAft>
              <a:buNone/>
            </a:pPr>
            <a:r>
              <a:rPr lang="en-US" sz="2400" b="1" i="0" kern="1200" dirty="0"/>
              <a:t>The arrangement of data in a sequential manner is known as a linear data structure</a:t>
            </a:r>
            <a:endParaRPr lang="en-US" sz="2400" b="1" kern="1200" dirty="0"/>
          </a:p>
        </p:txBody>
      </p:sp>
    </p:spTree>
    <p:extLst>
      <p:ext uri="{BB962C8B-B14F-4D97-AF65-F5344CB8AC3E}">
        <p14:creationId xmlns:p14="http://schemas.microsoft.com/office/powerpoint/2010/main" val="3820878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up)">
                                      <p:cBhvr>
                                        <p:cTn id="7" dur="10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up)">
                                      <p:cBhvr>
                                        <p:cTn id="12" dur="10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P spid="13"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DCC231C8-C761-4B31-9B1C-C6D19248C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289E02-7F24-D6A6-DC87-8456BDC0BB03}"/>
              </a:ext>
            </a:extLst>
          </p:cNvPr>
          <p:cNvSpPr>
            <a:spLocks noGrp="1"/>
          </p:cNvSpPr>
          <p:nvPr>
            <p:ph type="title"/>
          </p:nvPr>
        </p:nvSpPr>
        <p:spPr>
          <a:xfrm>
            <a:off x="838200" y="557189"/>
            <a:ext cx="3374136" cy="5567891"/>
          </a:xfrm>
        </p:spPr>
        <p:txBody>
          <a:bodyPr>
            <a:normAutofit/>
          </a:bodyPr>
          <a:lstStyle/>
          <a:p>
            <a:r>
              <a:rPr lang="en-US" sz="5200" b="1" dirty="0"/>
              <a:t>Non</a:t>
            </a:r>
            <a:br>
              <a:rPr lang="en-US" sz="5200" b="1" dirty="0"/>
            </a:br>
            <a:r>
              <a:rPr lang="en-US" sz="5200" b="1" dirty="0"/>
              <a:t>Linear Data Structures</a:t>
            </a:r>
            <a:endParaRPr lang="en-IN" sz="5200" b="1" dirty="0"/>
          </a:p>
        </p:txBody>
      </p:sp>
      <p:sp>
        <p:nvSpPr>
          <p:cNvPr id="4" name="Freeform: Shape 3">
            <a:extLst>
              <a:ext uri="{FF2B5EF4-FFF2-40B4-BE49-F238E27FC236}">
                <a16:creationId xmlns:a16="http://schemas.microsoft.com/office/drawing/2014/main" id="{7C366DD8-9053-662E-60FF-CE61E1806A61}"/>
              </a:ext>
            </a:extLst>
          </p:cNvPr>
          <p:cNvSpPr/>
          <p:nvPr/>
        </p:nvSpPr>
        <p:spPr>
          <a:xfrm>
            <a:off x="5093208" y="4764062"/>
            <a:ext cx="6263640" cy="1360044"/>
          </a:xfrm>
          <a:custGeom>
            <a:avLst/>
            <a:gdLst>
              <a:gd name="connsiteX0" fmla="*/ 0 w 6263640"/>
              <a:gd name="connsiteY0" fmla="*/ 0 h 1360044"/>
              <a:gd name="connsiteX1" fmla="*/ 6263640 w 6263640"/>
              <a:gd name="connsiteY1" fmla="*/ 0 h 1360044"/>
              <a:gd name="connsiteX2" fmla="*/ 6263640 w 6263640"/>
              <a:gd name="connsiteY2" fmla="*/ 1360044 h 1360044"/>
              <a:gd name="connsiteX3" fmla="*/ 0 w 6263640"/>
              <a:gd name="connsiteY3" fmla="*/ 1360044 h 1360044"/>
              <a:gd name="connsiteX4" fmla="*/ 0 w 6263640"/>
              <a:gd name="connsiteY4" fmla="*/ 0 h 13600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63640" h="1360044">
                <a:moveTo>
                  <a:pt x="0" y="0"/>
                </a:moveTo>
                <a:lnTo>
                  <a:pt x="6263640" y="0"/>
                </a:lnTo>
                <a:lnTo>
                  <a:pt x="6263640" y="1360044"/>
                </a:lnTo>
                <a:lnTo>
                  <a:pt x="0" y="1360044"/>
                </a:lnTo>
                <a:lnTo>
                  <a:pt x="0" y="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70688" tIns="170688" rIns="170688" bIns="796308" numCol="1" spcCol="1270" anchor="ctr" anchorCtr="0">
            <a:noAutofit/>
          </a:bodyPr>
          <a:lstStyle/>
          <a:p>
            <a:pPr marL="0" lvl="0" indent="0" algn="ctr" defTabSz="1066800">
              <a:lnSpc>
                <a:spcPct val="90000"/>
              </a:lnSpc>
              <a:spcBef>
                <a:spcPct val="0"/>
              </a:spcBef>
              <a:spcAft>
                <a:spcPct val="35000"/>
              </a:spcAft>
              <a:buNone/>
            </a:pPr>
            <a:r>
              <a:rPr lang="en-US" sz="2400" b="1" kern="1200" dirty="0"/>
              <a:t>Examples</a:t>
            </a:r>
          </a:p>
        </p:txBody>
      </p:sp>
      <p:sp>
        <p:nvSpPr>
          <p:cNvPr id="6" name="Freeform: Shape 5">
            <a:extLst>
              <a:ext uri="{FF2B5EF4-FFF2-40B4-BE49-F238E27FC236}">
                <a16:creationId xmlns:a16="http://schemas.microsoft.com/office/drawing/2014/main" id="{546DF88F-34E7-A7CB-481B-34495904BDFC}"/>
              </a:ext>
            </a:extLst>
          </p:cNvPr>
          <p:cNvSpPr/>
          <p:nvPr/>
        </p:nvSpPr>
        <p:spPr>
          <a:xfrm>
            <a:off x="5093208" y="5471285"/>
            <a:ext cx="3131819" cy="625620"/>
          </a:xfrm>
          <a:custGeom>
            <a:avLst/>
            <a:gdLst>
              <a:gd name="connsiteX0" fmla="*/ 0 w 3131819"/>
              <a:gd name="connsiteY0" fmla="*/ 0 h 625620"/>
              <a:gd name="connsiteX1" fmla="*/ 3131819 w 3131819"/>
              <a:gd name="connsiteY1" fmla="*/ 0 h 625620"/>
              <a:gd name="connsiteX2" fmla="*/ 3131819 w 3131819"/>
              <a:gd name="connsiteY2" fmla="*/ 625620 h 625620"/>
              <a:gd name="connsiteX3" fmla="*/ 0 w 3131819"/>
              <a:gd name="connsiteY3" fmla="*/ 625620 h 625620"/>
              <a:gd name="connsiteX4" fmla="*/ 0 w 3131819"/>
              <a:gd name="connsiteY4" fmla="*/ 0 h 625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1819" h="625620">
                <a:moveTo>
                  <a:pt x="0" y="0"/>
                </a:moveTo>
                <a:lnTo>
                  <a:pt x="3131819" y="0"/>
                </a:lnTo>
                <a:lnTo>
                  <a:pt x="3131819" y="625620"/>
                </a:lnTo>
                <a:lnTo>
                  <a:pt x="0" y="625620"/>
                </a:lnTo>
                <a:lnTo>
                  <a:pt x="0" y="0"/>
                </a:lnTo>
                <a:close/>
              </a:path>
            </a:pathLst>
          </a:custGeom>
        </p:spPr>
        <p:style>
          <a:lnRef idx="2">
            <a:schemeClr val="accent6">
              <a:alpha val="90000"/>
              <a:tint val="40000"/>
              <a:hueOff val="0"/>
              <a:satOff val="0"/>
              <a:lumOff val="0"/>
              <a:alphaOff val="0"/>
            </a:schemeClr>
          </a:lnRef>
          <a:fillRef idx="1">
            <a:schemeClr val="accent6">
              <a:alpha val="90000"/>
              <a:tint val="40000"/>
              <a:hueOff val="0"/>
              <a:satOff val="0"/>
              <a:lumOff val="0"/>
              <a:alphaOff val="0"/>
            </a:schemeClr>
          </a:fillRef>
          <a:effectRef idx="0">
            <a:schemeClr val="accent6">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63144" tIns="46990" rIns="263144" bIns="46990" numCol="1" spcCol="1270" anchor="ctr" anchorCtr="0">
            <a:noAutofit/>
          </a:bodyPr>
          <a:lstStyle/>
          <a:p>
            <a:pPr marL="0" lvl="0" indent="0" algn="ctr" defTabSz="1644650">
              <a:lnSpc>
                <a:spcPct val="90000"/>
              </a:lnSpc>
              <a:spcBef>
                <a:spcPct val="0"/>
              </a:spcBef>
              <a:spcAft>
                <a:spcPct val="35000"/>
              </a:spcAft>
              <a:buNone/>
            </a:pPr>
            <a:r>
              <a:rPr lang="en-US" sz="3700" b="1" kern="1200" dirty="0"/>
              <a:t>Trees</a:t>
            </a:r>
          </a:p>
        </p:txBody>
      </p:sp>
      <p:sp>
        <p:nvSpPr>
          <p:cNvPr id="7" name="Freeform: Shape 6">
            <a:extLst>
              <a:ext uri="{FF2B5EF4-FFF2-40B4-BE49-F238E27FC236}">
                <a16:creationId xmlns:a16="http://schemas.microsoft.com/office/drawing/2014/main" id="{EFB6CFE4-4E9D-08A0-D5FD-5D7530C3B66D}"/>
              </a:ext>
            </a:extLst>
          </p:cNvPr>
          <p:cNvSpPr/>
          <p:nvPr/>
        </p:nvSpPr>
        <p:spPr>
          <a:xfrm>
            <a:off x="8225028" y="5471285"/>
            <a:ext cx="3131819" cy="625620"/>
          </a:xfrm>
          <a:custGeom>
            <a:avLst/>
            <a:gdLst>
              <a:gd name="connsiteX0" fmla="*/ 0 w 3131819"/>
              <a:gd name="connsiteY0" fmla="*/ 0 h 625620"/>
              <a:gd name="connsiteX1" fmla="*/ 3131819 w 3131819"/>
              <a:gd name="connsiteY1" fmla="*/ 0 h 625620"/>
              <a:gd name="connsiteX2" fmla="*/ 3131819 w 3131819"/>
              <a:gd name="connsiteY2" fmla="*/ 625620 h 625620"/>
              <a:gd name="connsiteX3" fmla="*/ 0 w 3131819"/>
              <a:gd name="connsiteY3" fmla="*/ 625620 h 625620"/>
              <a:gd name="connsiteX4" fmla="*/ 0 w 3131819"/>
              <a:gd name="connsiteY4" fmla="*/ 0 h 625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1819" h="625620">
                <a:moveTo>
                  <a:pt x="0" y="0"/>
                </a:moveTo>
                <a:lnTo>
                  <a:pt x="3131819" y="0"/>
                </a:lnTo>
                <a:lnTo>
                  <a:pt x="3131819" y="625620"/>
                </a:lnTo>
                <a:lnTo>
                  <a:pt x="0" y="625620"/>
                </a:lnTo>
                <a:lnTo>
                  <a:pt x="0" y="0"/>
                </a:lnTo>
                <a:close/>
              </a:path>
            </a:pathLst>
          </a:custGeom>
        </p:spPr>
        <p:style>
          <a:lnRef idx="2">
            <a:schemeClr val="accent6">
              <a:alpha val="90000"/>
              <a:tint val="40000"/>
              <a:hueOff val="0"/>
              <a:satOff val="0"/>
              <a:lumOff val="0"/>
              <a:alphaOff val="0"/>
            </a:schemeClr>
          </a:lnRef>
          <a:fillRef idx="1">
            <a:schemeClr val="accent6">
              <a:alpha val="90000"/>
              <a:tint val="40000"/>
              <a:hueOff val="0"/>
              <a:satOff val="0"/>
              <a:lumOff val="0"/>
              <a:alphaOff val="0"/>
            </a:schemeClr>
          </a:fillRef>
          <a:effectRef idx="0">
            <a:schemeClr val="accent6">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63144" tIns="46990" rIns="263144" bIns="46990" numCol="1" spcCol="1270" anchor="ctr" anchorCtr="0">
            <a:noAutofit/>
          </a:bodyPr>
          <a:lstStyle/>
          <a:p>
            <a:pPr marL="0" lvl="0" indent="0" algn="ctr" defTabSz="1644650">
              <a:lnSpc>
                <a:spcPct val="90000"/>
              </a:lnSpc>
              <a:spcBef>
                <a:spcPct val="0"/>
              </a:spcBef>
              <a:spcAft>
                <a:spcPct val="35000"/>
              </a:spcAft>
              <a:buNone/>
            </a:pPr>
            <a:r>
              <a:rPr lang="en-US" sz="3700" b="1" kern="1200" dirty="0"/>
              <a:t>Graphs</a:t>
            </a:r>
          </a:p>
        </p:txBody>
      </p:sp>
      <p:sp>
        <p:nvSpPr>
          <p:cNvPr id="8" name="Freeform: Shape 7">
            <a:extLst>
              <a:ext uri="{FF2B5EF4-FFF2-40B4-BE49-F238E27FC236}">
                <a16:creationId xmlns:a16="http://schemas.microsoft.com/office/drawing/2014/main" id="{14F9BF85-78AF-06C0-EEF1-990809607D15}"/>
              </a:ext>
            </a:extLst>
          </p:cNvPr>
          <p:cNvSpPr/>
          <p:nvPr/>
        </p:nvSpPr>
        <p:spPr>
          <a:xfrm>
            <a:off x="5093208" y="2692712"/>
            <a:ext cx="6263641" cy="2091750"/>
          </a:xfrm>
          <a:custGeom>
            <a:avLst/>
            <a:gdLst>
              <a:gd name="connsiteX0" fmla="*/ 0 w 6263640"/>
              <a:gd name="connsiteY0" fmla="*/ 732593 h 2091749"/>
              <a:gd name="connsiteX1" fmla="*/ 2870351 w 6263640"/>
              <a:gd name="connsiteY1" fmla="*/ 732593 h 2091749"/>
              <a:gd name="connsiteX2" fmla="*/ 2870351 w 6263640"/>
              <a:gd name="connsiteY2" fmla="*/ 522937 h 2091749"/>
              <a:gd name="connsiteX3" fmla="*/ 2608883 w 6263640"/>
              <a:gd name="connsiteY3" fmla="*/ 522937 h 2091749"/>
              <a:gd name="connsiteX4" fmla="*/ 3131820 w 6263640"/>
              <a:gd name="connsiteY4" fmla="*/ 0 h 2091749"/>
              <a:gd name="connsiteX5" fmla="*/ 3654757 w 6263640"/>
              <a:gd name="connsiteY5" fmla="*/ 522937 h 2091749"/>
              <a:gd name="connsiteX6" fmla="*/ 3393289 w 6263640"/>
              <a:gd name="connsiteY6" fmla="*/ 522937 h 2091749"/>
              <a:gd name="connsiteX7" fmla="*/ 3393289 w 6263640"/>
              <a:gd name="connsiteY7" fmla="*/ 732593 h 2091749"/>
              <a:gd name="connsiteX8" fmla="*/ 6263640 w 6263640"/>
              <a:gd name="connsiteY8" fmla="*/ 732593 h 2091749"/>
              <a:gd name="connsiteX9" fmla="*/ 6263640 w 6263640"/>
              <a:gd name="connsiteY9" fmla="*/ 2091749 h 2091749"/>
              <a:gd name="connsiteX10" fmla="*/ 0 w 6263640"/>
              <a:gd name="connsiteY10" fmla="*/ 2091749 h 2091749"/>
              <a:gd name="connsiteX11" fmla="*/ 0 w 6263640"/>
              <a:gd name="connsiteY11" fmla="*/ 732593 h 2091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3640" h="2091749">
                <a:moveTo>
                  <a:pt x="6263640" y="1359156"/>
                </a:moveTo>
                <a:lnTo>
                  <a:pt x="3393289" y="1359156"/>
                </a:lnTo>
                <a:lnTo>
                  <a:pt x="3393289" y="1568812"/>
                </a:lnTo>
                <a:lnTo>
                  <a:pt x="3654757" y="1568812"/>
                </a:lnTo>
                <a:lnTo>
                  <a:pt x="3131820" y="2091748"/>
                </a:lnTo>
                <a:lnTo>
                  <a:pt x="2608883" y="1568812"/>
                </a:lnTo>
                <a:lnTo>
                  <a:pt x="2870351" y="1568812"/>
                </a:lnTo>
                <a:lnTo>
                  <a:pt x="2870351" y="1359156"/>
                </a:lnTo>
                <a:lnTo>
                  <a:pt x="0" y="1359156"/>
                </a:lnTo>
                <a:lnTo>
                  <a:pt x="0" y="1"/>
                </a:lnTo>
                <a:lnTo>
                  <a:pt x="6263640" y="1"/>
                </a:lnTo>
                <a:lnTo>
                  <a:pt x="6263640" y="1359156"/>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70688" tIns="170689" rIns="170689" bIns="903281" numCol="1" spcCol="1270" anchor="ctr" anchorCtr="0">
            <a:noAutofit/>
          </a:bodyPr>
          <a:lstStyle/>
          <a:p>
            <a:pPr marL="0" lvl="0" indent="0" algn="ctr" defTabSz="1066800">
              <a:lnSpc>
                <a:spcPct val="90000"/>
              </a:lnSpc>
              <a:spcBef>
                <a:spcPct val="0"/>
              </a:spcBef>
              <a:spcAft>
                <a:spcPct val="35000"/>
              </a:spcAft>
              <a:buNone/>
            </a:pPr>
            <a:r>
              <a:rPr lang="en-US" sz="2400" b="1" i="0" kern="1200" dirty="0"/>
              <a:t>There exists a hierarchical relationship between the individual data items.</a:t>
            </a:r>
            <a:endParaRPr lang="en-US" sz="2400" b="1" kern="1200" dirty="0"/>
          </a:p>
        </p:txBody>
      </p:sp>
      <p:sp>
        <p:nvSpPr>
          <p:cNvPr id="9" name="Freeform: Shape 8">
            <a:extLst>
              <a:ext uri="{FF2B5EF4-FFF2-40B4-BE49-F238E27FC236}">
                <a16:creationId xmlns:a16="http://schemas.microsoft.com/office/drawing/2014/main" id="{3D46369B-4E09-0015-F0D7-6D5E2898418C}"/>
              </a:ext>
            </a:extLst>
          </p:cNvPr>
          <p:cNvSpPr/>
          <p:nvPr/>
        </p:nvSpPr>
        <p:spPr>
          <a:xfrm>
            <a:off x="5093208" y="621363"/>
            <a:ext cx="6263640" cy="2091751"/>
          </a:xfrm>
          <a:custGeom>
            <a:avLst/>
            <a:gdLst>
              <a:gd name="connsiteX0" fmla="*/ 0 w 6263640"/>
              <a:gd name="connsiteY0" fmla="*/ 732593 h 2091749"/>
              <a:gd name="connsiteX1" fmla="*/ 2870351 w 6263640"/>
              <a:gd name="connsiteY1" fmla="*/ 732593 h 2091749"/>
              <a:gd name="connsiteX2" fmla="*/ 2870351 w 6263640"/>
              <a:gd name="connsiteY2" fmla="*/ 522937 h 2091749"/>
              <a:gd name="connsiteX3" fmla="*/ 2608883 w 6263640"/>
              <a:gd name="connsiteY3" fmla="*/ 522937 h 2091749"/>
              <a:gd name="connsiteX4" fmla="*/ 3131820 w 6263640"/>
              <a:gd name="connsiteY4" fmla="*/ 0 h 2091749"/>
              <a:gd name="connsiteX5" fmla="*/ 3654757 w 6263640"/>
              <a:gd name="connsiteY5" fmla="*/ 522937 h 2091749"/>
              <a:gd name="connsiteX6" fmla="*/ 3393289 w 6263640"/>
              <a:gd name="connsiteY6" fmla="*/ 522937 h 2091749"/>
              <a:gd name="connsiteX7" fmla="*/ 3393289 w 6263640"/>
              <a:gd name="connsiteY7" fmla="*/ 732593 h 2091749"/>
              <a:gd name="connsiteX8" fmla="*/ 6263640 w 6263640"/>
              <a:gd name="connsiteY8" fmla="*/ 732593 h 2091749"/>
              <a:gd name="connsiteX9" fmla="*/ 6263640 w 6263640"/>
              <a:gd name="connsiteY9" fmla="*/ 2091749 h 2091749"/>
              <a:gd name="connsiteX10" fmla="*/ 0 w 6263640"/>
              <a:gd name="connsiteY10" fmla="*/ 2091749 h 2091749"/>
              <a:gd name="connsiteX11" fmla="*/ 0 w 6263640"/>
              <a:gd name="connsiteY11" fmla="*/ 732593 h 2091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63640" h="2091749">
                <a:moveTo>
                  <a:pt x="6263640" y="1359156"/>
                </a:moveTo>
                <a:lnTo>
                  <a:pt x="3393289" y="1359156"/>
                </a:lnTo>
                <a:lnTo>
                  <a:pt x="3393289" y="1568812"/>
                </a:lnTo>
                <a:lnTo>
                  <a:pt x="3654757" y="1568812"/>
                </a:lnTo>
                <a:lnTo>
                  <a:pt x="3131820" y="2091748"/>
                </a:lnTo>
                <a:lnTo>
                  <a:pt x="2608883" y="1568812"/>
                </a:lnTo>
                <a:lnTo>
                  <a:pt x="2870351" y="1568812"/>
                </a:lnTo>
                <a:lnTo>
                  <a:pt x="2870351" y="1359156"/>
                </a:lnTo>
                <a:lnTo>
                  <a:pt x="0" y="1359156"/>
                </a:lnTo>
                <a:lnTo>
                  <a:pt x="0" y="1"/>
                </a:lnTo>
                <a:lnTo>
                  <a:pt x="6263640" y="1"/>
                </a:lnTo>
                <a:lnTo>
                  <a:pt x="6263640" y="1359156"/>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70688" tIns="170689" rIns="170688" bIns="903282" numCol="1" spcCol="1270" anchor="ctr" anchorCtr="0">
            <a:noAutofit/>
          </a:bodyPr>
          <a:lstStyle/>
          <a:p>
            <a:pPr marL="0" lvl="0" indent="0" algn="ctr" defTabSz="1066800">
              <a:lnSpc>
                <a:spcPct val="90000"/>
              </a:lnSpc>
              <a:spcBef>
                <a:spcPct val="0"/>
              </a:spcBef>
              <a:spcAft>
                <a:spcPct val="35000"/>
              </a:spcAft>
              <a:buNone/>
            </a:pPr>
            <a:r>
              <a:rPr lang="en-US" sz="2400" b="1" i="0" kern="1200" dirty="0"/>
              <a:t>Non-Linear Data Structures are data structures where the data elements are not arranged in sequential order.</a:t>
            </a:r>
            <a:endParaRPr lang="en-US" sz="2400" b="1" kern="1200" dirty="0"/>
          </a:p>
        </p:txBody>
      </p:sp>
    </p:spTree>
    <p:extLst>
      <p:ext uri="{BB962C8B-B14F-4D97-AF65-F5344CB8AC3E}">
        <p14:creationId xmlns:p14="http://schemas.microsoft.com/office/powerpoint/2010/main" val="2330940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1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10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up)">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10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F3C049-6A71-51E1-3C1D-107146AA9243}"/>
              </a:ext>
            </a:extLst>
          </p:cNvPr>
          <p:cNvSpPr>
            <a:spLocks noGrp="1"/>
          </p:cNvSpPr>
          <p:nvPr>
            <p:ph type="title"/>
          </p:nvPr>
        </p:nvSpPr>
        <p:spPr>
          <a:xfrm>
            <a:off x="1524000" y="1293338"/>
            <a:ext cx="9144000" cy="3274592"/>
          </a:xfrm>
        </p:spPr>
        <p:txBody>
          <a:bodyPr vert="horz" lIns="91440" tIns="45720" rIns="91440" bIns="45720" rtlCol="0" anchor="ctr">
            <a:normAutofit fontScale="90000"/>
          </a:bodyPr>
          <a:lstStyle/>
          <a:p>
            <a:pPr algn="ctr"/>
            <a:r>
              <a:rPr lang="en-US" sz="6700" kern="1200" dirty="0">
                <a:solidFill>
                  <a:schemeClr val="tx1"/>
                </a:solidFill>
                <a:latin typeface="+mj-lt"/>
                <a:ea typeface="+mj-ea"/>
                <a:cs typeface="+mj-cs"/>
              </a:rPr>
              <a:t xml:space="preserve">Let’s understand the importance of each </a:t>
            </a:r>
            <a:r>
              <a:rPr lang="en-US" sz="6700" b="1" kern="1200" dirty="0">
                <a:solidFill>
                  <a:srgbClr val="FF0000"/>
                </a:solidFill>
                <a:highlight>
                  <a:srgbClr val="FFFF00"/>
                </a:highlight>
                <a:latin typeface="+mj-lt"/>
                <a:ea typeface="+mj-ea"/>
                <a:cs typeface="+mj-cs"/>
              </a:rPr>
              <a:t>linear data structure</a:t>
            </a:r>
            <a:r>
              <a:rPr lang="en-US" sz="6700" kern="1200" dirty="0">
                <a:solidFill>
                  <a:schemeClr val="tx1"/>
                </a:solidFill>
                <a:latin typeface="+mj-lt"/>
                <a:ea typeface="+mj-ea"/>
                <a:cs typeface="+mj-cs"/>
              </a:rPr>
              <a:t xml:space="preserve"> one by one.</a:t>
            </a:r>
          </a:p>
        </p:txBody>
      </p:sp>
      <p:cxnSp>
        <p:nvCxnSpPr>
          <p:cNvPr id="13" name="Straight Connector 12">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5869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BEF4AC9-C7D4-B1B6-B163-9957E5C7150C}"/>
              </a:ext>
            </a:extLst>
          </p:cNvPr>
          <p:cNvSpPr>
            <a:spLocks noGrp="1"/>
          </p:cNvSpPr>
          <p:nvPr>
            <p:ph type="title"/>
          </p:nvPr>
        </p:nvSpPr>
        <p:spPr>
          <a:xfrm>
            <a:off x="1386865" y="818984"/>
            <a:ext cx="6596245" cy="3268520"/>
          </a:xfrm>
        </p:spPr>
        <p:txBody>
          <a:bodyPr vert="horz" lIns="91440" tIns="45720" rIns="91440" bIns="45720" rtlCol="0" anchor="b">
            <a:normAutofit/>
          </a:bodyPr>
          <a:lstStyle/>
          <a:p>
            <a:pPr algn="r"/>
            <a:r>
              <a:rPr lang="en-US" sz="9600" kern="1200" dirty="0">
                <a:solidFill>
                  <a:srgbClr val="FFFFFF"/>
                </a:solidFill>
                <a:latin typeface="+mj-lt"/>
                <a:ea typeface="+mj-ea"/>
                <a:cs typeface="+mj-cs"/>
              </a:rPr>
              <a:t>Arrays</a:t>
            </a:r>
          </a:p>
        </p:txBody>
      </p:sp>
      <p:sp>
        <p:nvSpPr>
          <p:cNvPr id="17" name="Rectangle 16">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54511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B0DA792-1C12-F80C-DB66-2085BCEC2D65}"/>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Arrays</a:t>
            </a:r>
            <a:endParaRPr lang="en-IN" sz="4000">
              <a:solidFill>
                <a:srgbClr val="FFFFFF"/>
              </a:solidFill>
            </a:endParaRPr>
          </a:p>
        </p:txBody>
      </p:sp>
      <p:sp>
        <p:nvSpPr>
          <p:cNvPr id="6" name="Rectangle: Rounded Corners 5">
            <a:extLst>
              <a:ext uri="{FF2B5EF4-FFF2-40B4-BE49-F238E27FC236}">
                <a16:creationId xmlns:a16="http://schemas.microsoft.com/office/drawing/2014/main" id="{537CC356-7655-F544-A2D7-C39A9D445676}"/>
              </a:ext>
            </a:extLst>
          </p:cNvPr>
          <p:cNvSpPr/>
          <p:nvPr/>
        </p:nvSpPr>
        <p:spPr>
          <a:xfrm>
            <a:off x="645389" y="2726962"/>
            <a:ext cx="4682211" cy="2973204"/>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IN"/>
          </a:p>
        </p:txBody>
      </p:sp>
      <p:sp>
        <p:nvSpPr>
          <p:cNvPr id="7" name="Freeform: Shape 6">
            <a:extLst>
              <a:ext uri="{FF2B5EF4-FFF2-40B4-BE49-F238E27FC236}">
                <a16:creationId xmlns:a16="http://schemas.microsoft.com/office/drawing/2014/main" id="{1CB68CB5-1E7B-7A4D-49B0-8947823831E9}"/>
              </a:ext>
            </a:extLst>
          </p:cNvPr>
          <p:cNvSpPr/>
          <p:nvPr/>
        </p:nvSpPr>
        <p:spPr>
          <a:xfrm>
            <a:off x="1165635" y="3221195"/>
            <a:ext cx="4682211" cy="2973204"/>
          </a:xfrm>
          <a:custGeom>
            <a:avLst/>
            <a:gdLst>
              <a:gd name="connsiteX0" fmla="*/ 0 w 4682211"/>
              <a:gd name="connsiteY0" fmla="*/ 297320 h 2973204"/>
              <a:gd name="connsiteX1" fmla="*/ 297320 w 4682211"/>
              <a:gd name="connsiteY1" fmla="*/ 0 h 2973204"/>
              <a:gd name="connsiteX2" fmla="*/ 4384891 w 4682211"/>
              <a:gd name="connsiteY2" fmla="*/ 0 h 2973204"/>
              <a:gd name="connsiteX3" fmla="*/ 4682211 w 4682211"/>
              <a:gd name="connsiteY3" fmla="*/ 297320 h 2973204"/>
              <a:gd name="connsiteX4" fmla="*/ 4682211 w 4682211"/>
              <a:gd name="connsiteY4" fmla="*/ 2675884 h 2973204"/>
              <a:gd name="connsiteX5" fmla="*/ 4384891 w 4682211"/>
              <a:gd name="connsiteY5" fmla="*/ 2973204 h 2973204"/>
              <a:gd name="connsiteX6" fmla="*/ 297320 w 4682211"/>
              <a:gd name="connsiteY6" fmla="*/ 2973204 h 2973204"/>
              <a:gd name="connsiteX7" fmla="*/ 0 w 4682211"/>
              <a:gd name="connsiteY7" fmla="*/ 2675884 h 2973204"/>
              <a:gd name="connsiteX8" fmla="*/ 0 w 4682211"/>
              <a:gd name="connsiteY8" fmla="*/ 297320 h 2973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82211" h="2973204">
                <a:moveTo>
                  <a:pt x="0" y="297320"/>
                </a:moveTo>
                <a:cubicBezTo>
                  <a:pt x="0" y="133115"/>
                  <a:pt x="133115" y="0"/>
                  <a:pt x="297320" y="0"/>
                </a:cubicBezTo>
                <a:lnTo>
                  <a:pt x="4384891" y="0"/>
                </a:lnTo>
                <a:cubicBezTo>
                  <a:pt x="4549096" y="0"/>
                  <a:pt x="4682211" y="133115"/>
                  <a:pt x="4682211" y="297320"/>
                </a:cubicBezTo>
                <a:lnTo>
                  <a:pt x="4682211" y="2675884"/>
                </a:lnTo>
                <a:cubicBezTo>
                  <a:pt x="4682211" y="2840089"/>
                  <a:pt x="4549096" y="2973204"/>
                  <a:pt x="4384891" y="2973204"/>
                </a:cubicBezTo>
                <a:lnTo>
                  <a:pt x="297320" y="2973204"/>
                </a:lnTo>
                <a:cubicBezTo>
                  <a:pt x="133115" y="2973204"/>
                  <a:pt x="0" y="2840089"/>
                  <a:pt x="0" y="2675884"/>
                </a:cubicBezTo>
                <a:lnTo>
                  <a:pt x="0" y="29732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12812" tIns="212812" rIns="212812" bIns="212812" numCol="1" spcCol="1270" anchor="ctr" anchorCtr="0">
            <a:noAutofit/>
          </a:bodyPr>
          <a:lstStyle/>
          <a:p>
            <a:pPr marL="0" lvl="0" indent="0" algn="ctr" defTabSz="1466850">
              <a:lnSpc>
                <a:spcPct val="90000"/>
              </a:lnSpc>
              <a:spcBef>
                <a:spcPct val="0"/>
              </a:spcBef>
              <a:spcAft>
                <a:spcPct val="35000"/>
              </a:spcAft>
              <a:buNone/>
            </a:pPr>
            <a:r>
              <a:rPr lang="en-US" sz="3300" b="0" i="0" kern="1200"/>
              <a:t>Arrays are defined as the collection of similar types of data items stored at contiguous memory locations</a:t>
            </a:r>
            <a:endParaRPr lang="en-US" sz="3300" kern="1200"/>
          </a:p>
        </p:txBody>
      </p:sp>
      <p:sp>
        <p:nvSpPr>
          <p:cNvPr id="8" name="Rectangle: Rounded Corners 7">
            <a:extLst>
              <a:ext uri="{FF2B5EF4-FFF2-40B4-BE49-F238E27FC236}">
                <a16:creationId xmlns:a16="http://schemas.microsoft.com/office/drawing/2014/main" id="{D2683B7E-F9E8-1C27-45E8-E5E6A80B2AFF}"/>
              </a:ext>
            </a:extLst>
          </p:cNvPr>
          <p:cNvSpPr/>
          <p:nvPr/>
        </p:nvSpPr>
        <p:spPr>
          <a:xfrm>
            <a:off x="6368093" y="2726962"/>
            <a:ext cx="4682211" cy="2973204"/>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IN"/>
          </a:p>
        </p:txBody>
      </p:sp>
      <p:sp>
        <p:nvSpPr>
          <p:cNvPr id="9" name="Freeform: Shape 8">
            <a:extLst>
              <a:ext uri="{FF2B5EF4-FFF2-40B4-BE49-F238E27FC236}">
                <a16:creationId xmlns:a16="http://schemas.microsoft.com/office/drawing/2014/main" id="{DBBF7AA5-9A91-4F70-7F44-F79F84AE448A}"/>
              </a:ext>
            </a:extLst>
          </p:cNvPr>
          <p:cNvSpPr/>
          <p:nvPr/>
        </p:nvSpPr>
        <p:spPr>
          <a:xfrm>
            <a:off x="6888339" y="3221195"/>
            <a:ext cx="4682211" cy="2973204"/>
          </a:xfrm>
          <a:custGeom>
            <a:avLst/>
            <a:gdLst>
              <a:gd name="connsiteX0" fmla="*/ 0 w 4682211"/>
              <a:gd name="connsiteY0" fmla="*/ 297320 h 2973204"/>
              <a:gd name="connsiteX1" fmla="*/ 297320 w 4682211"/>
              <a:gd name="connsiteY1" fmla="*/ 0 h 2973204"/>
              <a:gd name="connsiteX2" fmla="*/ 4384891 w 4682211"/>
              <a:gd name="connsiteY2" fmla="*/ 0 h 2973204"/>
              <a:gd name="connsiteX3" fmla="*/ 4682211 w 4682211"/>
              <a:gd name="connsiteY3" fmla="*/ 297320 h 2973204"/>
              <a:gd name="connsiteX4" fmla="*/ 4682211 w 4682211"/>
              <a:gd name="connsiteY4" fmla="*/ 2675884 h 2973204"/>
              <a:gd name="connsiteX5" fmla="*/ 4384891 w 4682211"/>
              <a:gd name="connsiteY5" fmla="*/ 2973204 h 2973204"/>
              <a:gd name="connsiteX6" fmla="*/ 297320 w 4682211"/>
              <a:gd name="connsiteY6" fmla="*/ 2973204 h 2973204"/>
              <a:gd name="connsiteX7" fmla="*/ 0 w 4682211"/>
              <a:gd name="connsiteY7" fmla="*/ 2675884 h 2973204"/>
              <a:gd name="connsiteX8" fmla="*/ 0 w 4682211"/>
              <a:gd name="connsiteY8" fmla="*/ 297320 h 2973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82211" h="2973204">
                <a:moveTo>
                  <a:pt x="0" y="297320"/>
                </a:moveTo>
                <a:cubicBezTo>
                  <a:pt x="0" y="133115"/>
                  <a:pt x="133115" y="0"/>
                  <a:pt x="297320" y="0"/>
                </a:cubicBezTo>
                <a:lnTo>
                  <a:pt x="4384891" y="0"/>
                </a:lnTo>
                <a:cubicBezTo>
                  <a:pt x="4549096" y="0"/>
                  <a:pt x="4682211" y="133115"/>
                  <a:pt x="4682211" y="297320"/>
                </a:cubicBezTo>
                <a:lnTo>
                  <a:pt x="4682211" y="2675884"/>
                </a:lnTo>
                <a:cubicBezTo>
                  <a:pt x="4682211" y="2840089"/>
                  <a:pt x="4549096" y="2973204"/>
                  <a:pt x="4384891" y="2973204"/>
                </a:cubicBezTo>
                <a:lnTo>
                  <a:pt x="297320" y="2973204"/>
                </a:lnTo>
                <a:cubicBezTo>
                  <a:pt x="133115" y="2973204"/>
                  <a:pt x="0" y="2840089"/>
                  <a:pt x="0" y="2675884"/>
                </a:cubicBezTo>
                <a:lnTo>
                  <a:pt x="0" y="29732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12812" tIns="212812" rIns="212812" bIns="212812" numCol="1" spcCol="1270" anchor="ctr" anchorCtr="0">
            <a:noAutofit/>
          </a:bodyPr>
          <a:lstStyle/>
          <a:p>
            <a:pPr marL="0" lvl="0" indent="0" algn="ctr" defTabSz="1466850">
              <a:lnSpc>
                <a:spcPct val="90000"/>
              </a:lnSpc>
              <a:spcBef>
                <a:spcPct val="0"/>
              </a:spcBef>
              <a:spcAft>
                <a:spcPct val="35000"/>
              </a:spcAft>
              <a:buNone/>
            </a:pPr>
            <a:r>
              <a:rPr lang="en-US" sz="3300" kern="1200"/>
              <a:t>Array elements are indexed (Starting from 0) and we can access elements using indices</a:t>
            </a:r>
          </a:p>
        </p:txBody>
      </p:sp>
    </p:spTree>
    <p:extLst>
      <p:ext uri="{BB962C8B-B14F-4D97-AF65-F5344CB8AC3E}">
        <p14:creationId xmlns:p14="http://schemas.microsoft.com/office/powerpoint/2010/main" val="3290695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1000"/>
                                        <p:tgtEl>
                                          <p:spTgt spid="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10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1000"/>
                                        <p:tgtEl>
                                          <p:spTgt spid="9"/>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left)">
                                      <p:cBhvr>
                                        <p:cTn id="18"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57B026D-3DAF-7738-3870-C3FF98F0A0E0}"/>
              </a:ext>
            </a:extLst>
          </p:cNvPr>
          <p:cNvSpPr>
            <a:spLocks noGrp="1"/>
          </p:cNvSpPr>
          <p:nvPr>
            <p:ph type="title"/>
          </p:nvPr>
        </p:nvSpPr>
        <p:spPr>
          <a:xfrm>
            <a:off x="1383564" y="348865"/>
            <a:ext cx="9718111" cy="1576446"/>
          </a:xfrm>
        </p:spPr>
        <p:txBody>
          <a:bodyPr anchor="ctr">
            <a:normAutofit/>
          </a:bodyPr>
          <a:lstStyle/>
          <a:p>
            <a:r>
              <a:rPr lang="en-US" sz="4000" dirty="0">
                <a:solidFill>
                  <a:srgbClr val="FFFFFF"/>
                </a:solidFill>
              </a:rPr>
              <a:t>Advantages of Arrays</a:t>
            </a:r>
            <a:endParaRPr lang="en-IN" sz="4000" dirty="0">
              <a:solidFill>
                <a:srgbClr val="FFFFFF"/>
              </a:solidFill>
            </a:endParaRPr>
          </a:p>
        </p:txBody>
      </p:sp>
      <p:sp>
        <p:nvSpPr>
          <p:cNvPr id="6" name="Rectangle: Rounded Corners 5">
            <a:extLst>
              <a:ext uri="{FF2B5EF4-FFF2-40B4-BE49-F238E27FC236}">
                <a16:creationId xmlns:a16="http://schemas.microsoft.com/office/drawing/2014/main" id="{DBBDCACA-4988-862B-9C3F-2541EF821489}"/>
              </a:ext>
            </a:extLst>
          </p:cNvPr>
          <p:cNvSpPr/>
          <p:nvPr/>
        </p:nvSpPr>
        <p:spPr>
          <a:xfrm>
            <a:off x="644056" y="3322650"/>
            <a:ext cx="3073451" cy="1951641"/>
          </a:xfrm>
          <a:prstGeom prst="roundRect">
            <a:avLst>
              <a:gd name="adj" fmla="val 10000"/>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endParaRPr lang="en-IN"/>
          </a:p>
        </p:txBody>
      </p:sp>
      <p:sp>
        <p:nvSpPr>
          <p:cNvPr id="7" name="Freeform: Shape 6">
            <a:extLst>
              <a:ext uri="{FF2B5EF4-FFF2-40B4-BE49-F238E27FC236}">
                <a16:creationId xmlns:a16="http://schemas.microsoft.com/office/drawing/2014/main" id="{6C69E6CD-97F0-4E10-9604-0F792F6D9DA9}"/>
              </a:ext>
            </a:extLst>
          </p:cNvPr>
          <p:cNvSpPr/>
          <p:nvPr/>
        </p:nvSpPr>
        <p:spPr>
          <a:xfrm>
            <a:off x="985550" y="3647070"/>
            <a:ext cx="3073451" cy="1951641"/>
          </a:xfrm>
          <a:custGeom>
            <a:avLst/>
            <a:gdLst>
              <a:gd name="connsiteX0" fmla="*/ 0 w 3073451"/>
              <a:gd name="connsiteY0" fmla="*/ 195164 h 1951641"/>
              <a:gd name="connsiteX1" fmla="*/ 195164 w 3073451"/>
              <a:gd name="connsiteY1" fmla="*/ 0 h 1951641"/>
              <a:gd name="connsiteX2" fmla="*/ 2878287 w 3073451"/>
              <a:gd name="connsiteY2" fmla="*/ 0 h 1951641"/>
              <a:gd name="connsiteX3" fmla="*/ 3073451 w 3073451"/>
              <a:gd name="connsiteY3" fmla="*/ 195164 h 1951641"/>
              <a:gd name="connsiteX4" fmla="*/ 3073451 w 3073451"/>
              <a:gd name="connsiteY4" fmla="*/ 1756477 h 1951641"/>
              <a:gd name="connsiteX5" fmla="*/ 2878287 w 3073451"/>
              <a:gd name="connsiteY5" fmla="*/ 1951641 h 1951641"/>
              <a:gd name="connsiteX6" fmla="*/ 195164 w 3073451"/>
              <a:gd name="connsiteY6" fmla="*/ 1951641 h 1951641"/>
              <a:gd name="connsiteX7" fmla="*/ 0 w 3073451"/>
              <a:gd name="connsiteY7" fmla="*/ 1756477 h 1951641"/>
              <a:gd name="connsiteX8" fmla="*/ 0 w 3073451"/>
              <a:gd name="connsiteY8" fmla="*/ 195164 h 1951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3451" h="1951641">
                <a:moveTo>
                  <a:pt x="0" y="195164"/>
                </a:moveTo>
                <a:cubicBezTo>
                  <a:pt x="0" y="87378"/>
                  <a:pt x="87378" y="0"/>
                  <a:pt x="195164" y="0"/>
                </a:cubicBezTo>
                <a:lnTo>
                  <a:pt x="2878287" y="0"/>
                </a:lnTo>
                <a:cubicBezTo>
                  <a:pt x="2986073" y="0"/>
                  <a:pt x="3073451" y="87378"/>
                  <a:pt x="3073451" y="195164"/>
                </a:cubicBezTo>
                <a:lnTo>
                  <a:pt x="3073451" y="1756477"/>
                </a:lnTo>
                <a:cubicBezTo>
                  <a:pt x="3073451" y="1864263"/>
                  <a:pt x="2986073" y="1951641"/>
                  <a:pt x="2878287" y="1951641"/>
                </a:cubicBezTo>
                <a:lnTo>
                  <a:pt x="195164" y="1951641"/>
                </a:lnTo>
                <a:cubicBezTo>
                  <a:pt x="87378" y="1951641"/>
                  <a:pt x="0" y="1864263"/>
                  <a:pt x="0" y="1756477"/>
                </a:cubicBezTo>
                <a:lnTo>
                  <a:pt x="0" y="195164"/>
                </a:lnTo>
                <a:close/>
              </a:path>
            </a:pathLst>
          </a:cu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txBody>
          <a:bodyPr spcFirstLastPara="0" vert="horz" wrap="square" lIns="163842" tIns="163842" rIns="163842" bIns="163842" numCol="1" spcCol="1270" anchor="ctr" anchorCtr="0">
            <a:noAutofit/>
          </a:bodyPr>
          <a:lstStyle/>
          <a:p>
            <a:pPr marL="0" lvl="0" indent="0" algn="ctr" defTabSz="1244600">
              <a:lnSpc>
                <a:spcPct val="90000"/>
              </a:lnSpc>
              <a:spcBef>
                <a:spcPct val="0"/>
              </a:spcBef>
              <a:spcAft>
                <a:spcPct val="35000"/>
              </a:spcAft>
              <a:buNone/>
            </a:pPr>
            <a:r>
              <a:rPr lang="en-US" sz="2800" kern="1200" dirty="0"/>
              <a:t>Multiple values under a single name</a:t>
            </a:r>
          </a:p>
        </p:txBody>
      </p:sp>
      <p:sp>
        <p:nvSpPr>
          <p:cNvPr id="8" name="Rectangle: Rounded Corners 7">
            <a:extLst>
              <a:ext uri="{FF2B5EF4-FFF2-40B4-BE49-F238E27FC236}">
                <a16:creationId xmlns:a16="http://schemas.microsoft.com/office/drawing/2014/main" id="{B6982BE0-640C-C046-986C-EC414A4FF0D1}"/>
              </a:ext>
            </a:extLst>
          </p:cNvPr>
          <p:cNvSpPr/>
          <p:nvPr/>
        </p:nvSpPr>
        <p:spPr>
          <a:xfrm>
            <a:off x="4400497" y="3322650"/>
            <a:ext cx="3073451" cy="1951641"/>
          </a:xfrm>
          <a:prstGeom prst="roundRect">
            <a:avLst>
              <a:gd name="adj" fmla="val 10000"/>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endParaRPr lang="en-IN"/>
          </a:p>
        </p:txBody>
      </p:sp>
      <p:sp>
        <p:nvSpPr>
          <p:cNvPr id="10" name="Freeform: Shape 9">
            <a:extLst>
              <a:ext uri="{FF2B5EF4-FFF2-40B4-BE49-F238E27FC236}">
                <a16:creationId xmlns:a16="http://schemas.microsoft.com/office/drawing/2014/main" id="{AABC457B-590D-FA7A-8DDC-46265D4404BC}"/>
              </a:ext>
            </a:extLst>
          </p:cNvPr>
          <p:cNvSpPr/>
          <p:nvPr/>
        </p:nvSpPr>
        <p:spPr>
          <a:xfrm>
            <a:off x="4741991" y="3647070"/>
            <a:ext cx="3073451" cy="1951641"/>
          </a:xfrm>
          <a:custGeom>
            <a:avLst/>
            <a:gdLst>
              <a:gd name="connsiteX0" fmla="*/ 0 w 3073451"/>
              <a:gd name="connsiteY0" fmla="*/ 195164 h 1951641"/>
              <a:gd name="connsiteX1" fmla="*/ 195164 w 3073451"/>
              <a:gd name="connsiteY1" fmla="*/ 0 h 1951641"/>
              <a:gd name="connsiteX2" fmla="*/ 2878287 w 3073451"/>
              <a:gd name="connsiteY2" fmla="*/ 0 h 1951641"/>
              <a:gd name="connsiteX3" fmla="*/ 3073451 w 3073451"/>
              <a:gd name="connsiteY3" fmla="*/ 195164 h 1951641"/>
              <a:gd name="connsiteX4" fmla="*/ 3073451 w 3073451"/>
              <a:gd name="connsiteY4" fmla="*/ 1756477 h 1951641"/>
              <a:gd name="connsiteX5" fmla="*/ 2878287 w 3073451"/>
              <a:gd name="connsiteY5" fmla="*/ 1951641 h 1951641"/>
              <a:gd name="connsiteX6" fmla="*/ 195164 w 3073451"/>
              <a:gd name="connsiteY6" fmla="*/ 1951641 h 1951641"/>
              <a:gd name="connsiteX7" fmla="*/ 0 w 3073451"/>
              <a:gd name="connsiteY7" fmla="*/ 1756477 h 1951641"/>
              <a:gd name="connsiteX8" fmla="*/ 0 w 3073451"/>
              <a:gd name="connsiteY8" fmla="*/ 195164 h 1951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3451" h="1951641">
                <a:moveTo>
                  <a:pt x="0" y="195164"/>
                </a:moveTo>
                <a:cubicBezTo>
                  <a:pt x="0" y="87378"/>
                  <a:pt x="87378" y="0"/>
                  <a:pt x="195164" y="0"/>
                </a:cubicBezTo>
                <a:lnTo>
                  <a:pt x="2878287" y="0"/>
                </a:lnTo>
                <a:cubicBezTo>
                  <a:pt x="2986073" y="0"/>
                  <a:pt x="3073451" y="87378"/>
                  <a:pt x="3073451" y="195164"/>
                </a:cubicBezTo>
                <a:lnTo>
                  <a:pt x="3073451" y="1756477"/>
                </a:lnTo>
                <a:cubicBezTo>
                  <a:pt x="3073451" y="1864263"/>
                  <a:pt x="2986073" y="1951641"/>
                  <a:pt x="2878287" y="1951641"/>
                </a:cubicBezTo>
                <a:lnTo>
                  <a:pt x="195164" y="1951641"/>
                </a:lnTo>
                <a:cubicBezTo>
                  <a:pt x="87378" y="1951641"/>
                  <a:pt x="0" y="1864263"/>
                  <a:pt x="0" y="1756477"/>
                </a:cubicBezTo>
                <a:lnTo>
                  <a:pt x="0" y="195164"/>
                </a:lnTo>
                <a:close/>
              </a:path>
            </a:pathLst>
          </a:cu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txBody>
          <a:bodyPr spcFirstLastPara="0" vert="horz" wrap="square" lIns="163842" tIns="163842" rIns="163842" bIns="163842" numCol="1" spcCol="1270" anchor="ctr" anchorCtr="0">
            <a:noAutofit/>
          </a:bodyPr>
          <a:lstStyle/>
          <a:p>
            <a:pPr marL="0" lvl="0" indent="0" algn="ctr" defTabSz="1244600">
              <a:lnSpc>
                <a:spcPct val="90000"/>
              </a:lnSpc>
              <a:spcBef>
                <a:spcPct val="0"/>
              </a:spcBef>
              <a:spcAft>
                <a:spcPct val="35000"/>
              </a:spcAft>
              <a:buNone/>
            </a:pPr>
            <a:r>
              <a:rPr lang="en-US" sz="2800" kern="1200" dirty="0"/>
              <a:t>Traversing is easy (Contiguous memory locations)</a:t>
            </a:r>
          </a:p>
        </p:txBody>
      </p:sp>
      <p:sp>
        <p:nvSpPr>
          <p:cNvPr id="12" name="Rectangle: Rounded Corners 11">
            <a:extLst>
              <a:ext uri="{FF2B5EF4-FFF2-40B4-BE49-F238E27FC236}">
                <a16:creationId xmlns:a16="http://schemas.microsoft.com/office/drawing/2014/main" id="{98842DC1-3FCA-9F29-60B1-13DAEA897007}"/>
              </a:ext>
            </a:extLst>
          </p:cNvPr>
          <p:cNvSpPr/>
          <p:nvPr/>
        </p:nvSpPr>
        <p:spPr>
          <a:xfrm>
            <a:off x="8156938" y="3322650"/>
            <a:ext cx="3073451" cy="1951641"/>
          </a:xfrm>
          <a:prstGeom prst="roundRect">
            <a:avLst>
              <a:gd name="adj" fmla="val 10000"/>
            </a:avLst>
          </a:pr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a:lstStyle/>
          <a:p>
            <a:endParaRPr lang="en-IN"/>
          </a:p>
        </p:txBody>
      </p:sp>
      <p:sp>
        <p:nvSpPr>
          <p:cNvPr id="14" name="Freeform: Shape 13">
            <a:extLst>
              <a:ext uri="{FF2B5EF4-FFF2-40B4-BE49-F238E27FC236}">
                <a16:creationId xmlns:a16="http://schemas.microsoft.com/office/drawing/2014/main" id="{D44D89F6-6722-CEE2-5791-F8BE1ECB5CA6}"/>
              </a:ext>
            </a:extLst>
          </p:cNvPr>
          <p:cNvSpPr/>
          <p:nvPr/>
        </p:nvSpPr>
        <p:spPr>
          <a:xfrm>
            <a:off x="8498433" y="3647070"/>
            <a:ext cx="3073451" cy="1951641"/>
          </a:xfrm>
          <a:custGeom>
            <a:avLst/>
            <a:gdLst>
              <a:gd name="connsiteX0" fmla="*/ 0 w 3073451"/>
              <a:gd name="connsiteY0" fmla="*/ 195164 h 1951641"/>
              <a:gd name="connsiteX1" fmla="*/ 195164 w 3073451"/>
              <a:gd name="connsiteY1" fmla="*/ 0 h 1951641"/>
              <a:gd name="connsiteX2" fmla="*/ 2878287 w 3073451"/>
              <a:gd name="connsiteY2" fmla="*/ 0 h 1951641"/>
              <a:gd name="connsiteX3" fmla="*/ 3073451 w 3073451"/>
              <a:gd name="connsiteY3" fmla="*/ 195164 h 1951641"/>
              <a:gd name="connsiteX4" fmla="*/ 3073451 w 3073451"/>
              <a:gd name="connsiteY4" fmla="*/ 1756477 h 1951641"/>
              <a:gd name="connsiteX5" fmla="*/ 2878287 w 3073451"/>
              <a:gd name="connsiteY5" fmla="*/ 1951641 h 1951641"/>
              <a:gd name="connsiteX6" fmla="*/ 195164 w 3073451"/>
              <a:gd name="connsiteY6" fmla="*/ 1951641 h 1951641"/>
              <a:gd name="connsiteX7" fmla="*/ 0 w 3073451"/>
              <a:gd name="connsiteY7" fmla="*/ 1756477 h 1951641"/>
              <a:gd name="connsiteX8" fmla="*/ 0 w 3073451"/>
              <a:gd name="connsiteY8" fmla="*/ 195164 h 1951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3451" h="1951641">
                <a:moveTo>
                  <a:pt x="0" y="195164"/>
                </a:moveTo>
                <a:cubicBezTo>
                  <a:pt x="0" y="87378"/>
                  <a:pt x="87378" y="0"/>
                  <a:pt x="195164" y="0"/>
                </a:cubicBezTo>
                <a:lnTo>
                  <a:pt x="2878287" y="0"/>
                </a:lnTo>
                <a:cubicBezTo>
                  <a:pt x="2986073" y="0"/>
                  <a:pt x="3073451" y="87378"/>
                  <a:pt x="3073451" y="195164"/>
                </a:cubicBezTo>
                <a:lnTo>
                  <a:pt x="3073451" y="1756477"/>
                </a:lnTo>
                <a:cubicBezTo>
                  <a:pt x="3073451" y="1864263"/>
                  <a:pt x="2986073" y="1951641"/>
                  <a:pt x="2878287" y="1951641"/>
                </a:cubicBezTo>
                <a:lnTo>
                  <a:pt x="195164" y="1951641"/>
                </a:lnTo>
                <a:cubicBezTo>
                  <a:pt x="87378" y="1951641"/>
                  <a:pt x="0" y="1864263"/>
                  <a:pt x="0" y="1756477"/>
                </a:cubicBezTo>
                <a:lnTo>
                  <a:pt x="0" y="195164"/>
                </a:lnTo>
                <a:close/>
              </a:path>
            </a:pathLst>
          </a:cu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txBody>
          <a:bodyPr spcFirstLastPara="0" vert="horz" wrap="square" lIns="163842" tIns="163842" rIns="163842" bIns="163842" numCol="1" spcCol="1270" anchor="ctr" anchorCtr="0">
            <a:noAutofit/>
          </a:bodyPr>
          <a:lstStyle/>
          <a:p>
            <a:pPr marL="0" lvl="0" indent="0" algn="ctr" defTabSz="1244600">
              <a:lnSpc>
                <a:spcPct val="90000"/>
              </a:lnSpc>
              <a:spcBef>
                <a:spcPct val="0"/>
              </a:spcBef>
              <a:spcAft>
                <a:spcPct val="35000"/>
              </a:spcAft>
              <a:buNone/>
            </a:pPr>
            <a:r>
              <a:rPr lang="en-IN" sz="2800" kern="1200" dirty="0"/>
              <a:t>Accessing an element is very easy (Just use the index)</a:t>
            </a:r>
            <a:endParaRPr lang="en-US" sz="2800" kern="1200" dirty="0"/>
          </a:p>
        </p:txBody>
      </p:sp>
    </p:spTree>
    <p:extLst>
      <p:ext uri="{BB962C8B-B14F-4D97-AF65-F5344CB8AC3E}">
        <p14:creationId xmlns:p14="http://schemas.microsoft.com/office/powerpoint/2010/main" val="2277294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10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10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10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100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P spid="12" grpId="0" animBg="1"/>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57B026D-3DAF-7738-3870-C3FF98F0A0E0}"/>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Disadvantages of Arrays</a:t>
            </a:r>
            <a:endParaRPr lang="en-IN" sz="4000">
              <a:solidFill>
                <a:srgbClr val="FFFFFF"/>
              </a:solidFill>
            </a:endParaRPr>
          </a:p>
        </p:txBody>
      </p:sp>
      <p:sp>
        <p:nvSpPr>
          <p:cNvPr id="4" name="Oval 3">
            <a:extLst>
              <a:ext uri="{FF2B5EF4-FFF2-40B4-BE49-F238E27FC236}">
                <a16:creationId xmlns:a16="http://schemas.microsoft.com/office/drawing/2014/main" id="{638368D2-EB6F-3BCD-3166-D3F6CE928BAB}"/>
              </a:ext>
            </a:extLst>
          </p:cNvPr>
          <p:cNvSpPr/>
          <p:nvPr/>
        </p:nvSpPr>
        <p:spPr>
          <a:xfrm>
            <a:off x="926277" y="2775097"/>
            <a:ext cx="1371985" cy="1371985"/>
          </a:xfrm>
          <a:prstGeom prst="ellipse">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IN"/>
          </a:p>
        </p:txBody>
      </p:sp>
      <p:sp>
        <p:nvSpPr>
          <p:cNvPr id="6" name="Rectangle 5" descr="Filter">
            <a:extLst>
              <a:ext uri="{FF2B5EF4-FFF2-40B4-BE49-F238E27FC236}">
                <a16:creationId xmlns:a16="http://schemas.microsoft.com/office/drawing/2014/main" id="{FC80857C-9421-E9DA-5B05-48578A040739}"/>
              </a:ext>
            </a:extLst>
          </p:cNvPr>
          <p:cNvSpPr/>
          <p:nvPr/>
        </p:nvSpPr>
        <p:spPr>
          <a:xfrm>
            <a:off x="1214393" y="3063213"/>
            <a:ext cx="795751" cy="795751"/>
          </a:xfrm>
          <a:prstGeom prst="rect">
            <a:avLst/>
          </a:prstGeom>
          <a: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7" name="Freeform: Shape 6">
            <a:extLst>
              <a:ext uri="{FF2B5EF4-FFF2-40B4-BE49-F238E27FC236}">
                <a16:creationId xmlns:a16="http://schemas.microsoft.com/office/drawing/2014/main" id="{C29A1CBB-EFF1-CDFD-ED6B-76CA1D1C8028}"/>
              </a:ext>
            </a:extLst>
          </p:cNvPr>
          <p:cNvSpPr/>
          <p:nvPr/>
        </p:nvSpPr>
        <p:spPr>
          <a:xfrm>
            <a:off x="2592258" y="2775097"/>
            <a:ext cx="3233964" cy="1371985"/>
          </a:xfrm>
          <a:custGeom>
            <a:avLst/>
            <a:gdLst>
              <a:gd name="connsiteX0" fmla="*/ 0 w 3233964"/>
              <a:gd name="connsiteY0" fmla="*/ 0 h 1371985"/>
              <a:gd name="connsiteX1" fmla="*/ 3233964 w 3233964"/>
              <a:gd name="connsiteY1" fmla="*/ 0 h 1371985"/>
              <a:gd name="connsiteX2" fmla="*/ 3233964 w 3233964"/>
              <a:gd name="connsiteY2" fmla="*/ 1371985 h 1371985"/>
              <a:gd name="connsiteX3" fmla="*/ 0 w 3233964"/>
              <a:gd name="connsiteY3" fmla="*/ 1371985 h 1371985"/>
              <a:gd name="connsiteX4" fmla="*/ 0 w 3233964"/>
              <a:gd name="connsiteY4" fmla="*/ 0 h 13719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3964" h="1371985">
                <a:moveTo>
                  <a:pt x="0" y="0"/>
                </a:moveTo>
                <a:lnTo>
                  <a:pt x="3233964" y="0"/>
                </a:lnTo>
                <a:lnTo>
                  <a:pt x="3233964" y="1371985"/>
                </a:lnTo>
                <a:lnTo>
                  <a:pt x="0" y="137198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dirty="0"/>
              <a:t>Homogeneous</a:t>
            </a:r>
          </a:p>
        </p:txBody>
      </p:sp>
      <p:sp>
        <p:nvSpPr>
          <p:cNvPr id="8" name="Oval 7">
            <a:extLst>
              <a:ext uri="{FF2B5EF4-FFF2-40B4-BE49-F238E27FC236}">
                <a16:creationId xmlns:a16="http://schemas.microsoft.com/office/drawing/2014/main" id="{8568DD09-35F3-0920-EF4F-E014617F6942}"/>
              </a:ext>
            </a:extLst>
          </p:cNvPr>
          <p:cNvSpPr/>
          <p:nvPr/>
        </p:nvSpPr>
        <p:spPr>
          <a:xfrm>
            <a:off x="6389717" y="2775097"/>
            <a:ext cx="1371985" cy="1371985"/>
          </a:xfrm>
          <a:prstGeom prst="ellipse">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IN"/>
          </a:p>
        </p:txBody>
      </p:sp>
      <p:sp>
        <p:nvSpPr>
          <p:cNvPr id="10" name="Rectangle 9" descr="Database">
            <a:extLst>
              <a:ext uri="{FF2B5EF4-FFF2-40B4-BE49-F238E27FC236}">
                <a16:creationId xmlns:a16="http://schemas.microsoft.com/office/drawing/2014/main" id="{FD2BD4C2-3F66-09D0-1606-A201E0C466F1}"/>
              </a:ext>
            </a:extLst>
          </p:cNvPr>
          <p:cNvSpPr/>
          <p:nvPr/>
        </p:nvSpPr>
        <p:spPr>
          <a:xfrm>
            <a:off x="6677834" y="3063213"/>
            <a:ext cx="795751" cy="795751"/>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12" name="Freeform: Shape 11">
            <a:extLst>
              <a:ext uri="{FF2B5EF4-FFF2-40B4-BE49-F238E27FC236}">
                <a16:creationId xmlns:a16="http://schemas.microsoft.com/office/drawing/2014/main" id="{0CCCF0D3-B4EF-37D1-A05A-5563CCA117C8}"/>
              </a:ext>
            </a:extLst>
          </p:cNvPr>
          <p:cNvSpPr/>
          <p:nvPr/>
        </p:nvSpPr>
        <p:spPr>
          <a:xfrm>
            <a:off x="8055699" y="2775097"/>
            <a:ext cx="3233964" cy="1371985"/>
          </a:xfrm>
          <a:custGeom>
            <a:avLst/>
            <a:gdLst>
              <a:gd name="connsiteX0" fmla="*/ 0 w 3233964"/>
              <a:gd name="connsiteY0" fmla="*/ 0 h 1371985"/>
              <a:gd name="connsiteX1" fmla="*/ 3233964 w 3233964"/>
              <a:gd name="connsiteY1" fmla="*/ 0 h 1371985"/>
              <a:gd name="connsiteX2" fmla="*/ 3233964 w 3233964"/>
              <a:gd name="connsiteY2" fmla="*/ 1371985 h 1371985"/>
              <a:gd name="connsiteX3" fmla="*/ 0 w 3233964"/>
              <a:gd name="connsiteY3" fmla="*/ 1371985 h 1371985"/>
              <a:gd name="connsiteX4" fmla="*/ 0 w 3233964"/>
              <a:gd name="connsiteY4" fmla="*/ 0 h 13719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3964" h="1371985">
                <a:moveTo>
                  <a:pt x="0" y="0"/>
                </a:moveTo>
                <a:lnTo>
                  <a:pt x="3233964" y="0"/>
                </a:lnTo>
                <a:lnTo>
                  <a:pt x="3233964" y="1371985"/>
                </a:lnTo>
                <a:lnTo>
                  <a:pt x="0" y="137198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dirty="0"/>
              <a:t>Static</a:t>
            </a:r>
            <a:r>
              <a:rPr lang="en-US" sz="2400" kern="1200" baseline="0" dirty="0"/>
              <a:t xml:space="preserve"> memory allocation (If it’s a static array)</a:t>
            </a:r>
            <a:endParaRPr lang="en-US" sz="2400" kern="1200" dirty="0"/>
          </a:p>
        </p:txBody>
      </p:sp>
      <p:sp>
        <p:nvSpPr>
          <p:cNvPr id="14" name="Oval 13">
            <a:extLst>
              <a:ext uri="{FF2B5EF4-FFF2-40B4-BE49-F238E27FC236}">
                <a16:creationId xmlns:a16="http://schemas.microsoft.com/office/drawing/2014/main" id="{A0C50BDA-2D36-9C6C-1B20-BD3A89CA01FC}"/>
              </a:ext>
            </a:extLst>
          </p:cNvPr>
          <p:cNvSpPr/>
          <p:nvPr/>
        </p:nvSpPr>
        <p:spPr>
          <a:xfrm>
            <a:off x="926277" y="4774280"/>
            <a:ext cx="1371985" cy="1371985"/>
          </a:xfrm>
          <a:prstGeom prst="ellipse">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IN" dirty="0"/>
          </a:p>
        </p:txBody>
      </p:sp>
      <p:sp>
        <p:nvSpPr>
          <p:cNvPr id="16" name="Rectangle 15" descr="Minimize">
            <a:extLst>
              <a:ext uri="{FF2B5EF4-FFF2-40B4-BE49-F238E27FC236}">
                <a16:creationId xmlns:a16="http://schemas.microsoft.com/office/drawing/2014/main" id="{7B932D4C-9123-8EAB-0F5D-FBD7BF8672D9}"/>
              </a:ext>
            </a:extLst>
          </p:cNvPr>
          <p:cNvSpPr/>
          <p:nvPr/>
        </p:nvSpPr>
        <p:spPr>
          <a:xfrm>
            <a:off x="1214393" y="5062397"/>
            <a:ext cx="795751" cy="795751"/>
          </a:xfrm>
          <a:prstGeom prst="rect">
            <a:avLst/>
          </a:prstGeom>
          <a: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17" name="Freeform: Shape 16">
            <a:extLst>
              <a:ext uri="{FF2B5EF4-FFF2-40B4-BE49-F238E27FC236}">
                <a16:creationId xmlns:a16="http://schemas.microsoft.com/office/drawing/2014/main" id="{9AB9B56E-D7A5-D394-9A60-07900610F257}"/>
              </a:ext>
            </a:extLst>
          </p:cNvPr>
          <p:cNvSpPr/>
          <p:nvPr/>
        </p:nvSpPr>
        <p:spPr>
          <a:xfrm>
            <a:off x="2592258" y="4774280"/>
            <a:ext cx="3233964" cy="1371985"/>
          </a:xfrm>
          <a:custGeom>
            <a:avLst/>
            <a:gdLst>
              <a:gd name="connsiteX0" fmla="*/ 0 w 3233964"/>
              <a:gd name="connsiteY0" fmla="*/ 0 h 1371985"/>
              <a:gd name="connsiteX1" fmla="*/ 3233964 w 3233964"/>
              <a:gd name="connsiteY1" fmla="*/ 0 h 1371985"/>
              <a:gd name="connsiteX2" fmla="*/ 3233964 w 3233964"/>
              <a:gd name="connsiteY2" fmla="*/ 1371985 h 1371985"/>
              <a:gd name="connsiteX3" fmla="*/ 0 w 3233964"/>
              <a:gd name="connsiteY3" fmla="*/ 1371985 h 1371985"/>
              <a:gd name="connsiteX4" fmla="*/ 0 w 3233964"/>
              <a:gd name="connsiteY4" fmla="*/ 0 h 13719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3964" h="1371985">
                <a:moveTo>
                  <a:pt x="0" y="0"/>
                </a:moveTo>
                <a:lnTo>
                  <a:pt x="3233964" y="0"/>
                </a:lnTo>
                <a:lnTo>
                  <a:pt x="3233964" y="1371985"/>
                </a:lnTo>
                <a:lnTo>
                  <a:pt x="0" y="137198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dirty="0"/>
              <a:t>Wastage</a:t>
            </a:r>
            <a:r>
              <a:rPr lang="en-US" sz="2400" kern="1200" baseline="0" dirty="0"/>
              <a:t xml:space="preserve"> of Memory</a:t>
            </a:r>
            <a:endParaRPr lang="en-US" sz="2400" kern="1200" dirty="0"/>
          </a:p>
        </p:txBody>
      </p:sp>
      <p:sp>
        <p:nvSpPr>
          <p:cNvPr id="18" name="Oval 17">
            <a:extLst>
              <a:ext uri="{FF2B5EF4-FFF2-40B4-BE49-F238E27FC236}">
                <a16:creationId xmlns:a16="http://schemas.microsoft.com/office/drawing/2014/main" id="{B3F20E95-1356-4E6C-5BB6-43185D1D91A0}"/>
              </a:ext>
            </a:extLst>
          </p:cNvPr>
          <p:cNvSpPr/>
          <p:nvPr/>
        </p:nvSpPr>
        <p:spPr>
          <a:xfrm>
            <a:off x="6389717" y="4774280"/>
            <a:ext cx="1371985" cy="1371985"/>
          </a:xfrm>
          <a:prstGeom prst="ellipse">
            <a:avLst/>
          </a:prstGeom>
        </p:spPr>
        <p:style>
          <a:lnRef idx="0">
            <a:schemeClr val="lt1">
              <a:alpha val="0"/>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p:style>
        <p:txBody>
          <a:bodyPr/>
          <a:lstStyle/>
          <a:p>
            <a:endParaRPr lang="en-IN"/>
          </a:p>
        </p:txBody>
      </p:sp>
      <p:sp>
        <p:nvSpPr>
          <p:cNvPr id="19" name="Rectangle 18" descr="Pyramid with Levels">
            <a:extLst>
              <a:ext uri="{FF2B5EF4-FFF2-40B4-BE49-F238E27FC236}">
                <a16:creationId xmlns:a16="http://schemas.microsoft.com/office/drawing/2014/main" id="{EC22195A-42B3-20B4-E907-8C1D6E74E2BC}"/>
              </a:ext>
            </a:extLst>
          </p:cNvPr>
          <p:cNvSpPr/>
          <p:nvPr/>
        </p:nvSpPr>
        <p:spPr>
          <a:xfrm>
            <a:off x="6677834" y="5062397"/>
            <a:ext cx="795751" cy="795751"/>
          </a:xfrm>
          <a:prstGeom prst="rect">
            <a:avLst/>
          </a:prstGeom>
          <a: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21" name="Freeform: Shape 20">
            <a:extLst>
              <a:ext uri="{FF2B5EF4-FFF2-40B4-BE49-F238E27FC236}">
                <a16:creationId xmlns:a16="http://schemas.microsoft.com/office/drawing/2014/main" id="{525C7136-EA27-E2A3-EB21-EEE95A86BDC5}"/>
              </a:ext>
            </a:extLst>
          </p:cNvPr>
          <p:cNvSpPr/>
          <p:nvPr/>
        </p:nvSpPr>
        <p:spPr>
          <a:xfrm>
            <a:off x="8055699" y="4774280"/>
            <a:ext cx="3233964" cy="1371985"/>
          </a:xfrm>
          <a:custGeom>
            <a:avLst/>
            <a:gdLst>
              <a:gd name="connsiteX0" fmla="*/ 0 w 3233964"/>
              <a:gd name="connsiteY0" fmla="*/ 0 h 1371985"/>
              <a:gd name="connsiteX1" fmla="*/ 3233964 w 3233964"/>
              <a:gd name="connsiteY1" fmla="*/ 0 h 1371985"/>
              <a:gd name="connsiteX2" fmla="*/ 3233964 w 3233964"/>
              <a:gd name="connsiteY2" fmla="*/ 1371985 h 1371985"/>
              <a:gd name="connsiteX3" fmla="*/ 0 w 3233964"/>
              <a:gd name="connsiteY3" fmla="*/ 1371985 h 1371985"/>
              <a:gd name="connsiteX4" fmla="*/ 0 w 3233964"/>
              <a:gd name="connsiteY4" fmla="*/ 0 h 13719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33964" h="1371985">
                <a:moveTo>
                  <a:pt x="0" y="0"/>
                </a:moveTo>
                <a:lnTo>
                  <a:pt x="3233964" y="0"/>
                </a:lnTo>
                <a:lnTo>
                  <a:pt x="3233964" y="1371985"/>
                </a:lnTo>
                <a:lnTo>
                  <a:pt x="0" y="137198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dirty="0"/>
              <a:t xml:space="preserve">Difficulty of insertion and deletion </a:t>
            </a:r>
          </a:p>
        </p:txBody>
      </p:sp>
    </p:spTree>
    <p:extLst>
      <p:ext uri="{BB962C8B-B14F-4D97-AF65-F5344CB8AC3E}">
        <p14:creationId xmlns:p14="http://schemas.microsoft.com/office/powerpoint/2010/main" val="754775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1000"/>
                                        <p:tgtEl>
                                          <p:spTgt spid="6"/>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randombar(horizontal)">
                                      <p:cBhvr>
                                        <p:cTn id="10" dur="1000"/>
                                        <p:tgtEl>
                                          <p:spTgt spid="4"/>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randombar(horizontal)">
                                      <p:cBhvr>
                                        <p:cTn id="13" dur="10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randombar(horizontal)">
                                      <p:cBhvr>
                                        <p:cTn id="18" dur="1000"/>
                                        <p:tgtEl>
                                          <p:spTgt spid="10"/>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randombar(horizontal)">
                                      <p:cBhvr>
                                        <p:cTn id="21" dur="1000"/>
                                        <p:tgtEl>
                                          <p:spTgt spid="8"/>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randombar(horizontal)">
                                      <p:cBhvr>
                                        <p:cTn id="24" dur="10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randombar(horizontal)">
                                      <p:cBhvr>
                                        <p:cTn id="29" dur="1000"/>
                                        <p:tgtEl>
                                          <p:spTgt spid="16"/>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randombar(horizontal)">
                                      <p:cBhvr>
                                        <p:cTn id="32" dur="1000"/>
                                        <p:tgtEl>
                                          <p:spTgt spid="14"/>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randombar(horizontal)">
                                      <p:cBhvr>
                                        <p:cTn id="35" dur="1000"/>
                                        <p:tgtEl>
                                          <p:spTgt spid="17"/>
                                        </p:tgtEl>
                                      </p:cBhvr>
                                    </p:animEffect>
                                  </p:childTnLst>
                                </p:cTn>
                              </p:par>
                            </p:childTnLst>
                          </p:cTn>
                        </p:par>
                      </p:childTnLst>
                    </p:cTn>
                  </p:par>
                  <p:par>
                    <p:cTn id="36" fill="hold">
                      <p:stCondLst>
                        <p:cond delay="indefinite"/>
                      </p:stCondLst>
                      <p:childTnLst>
                        <p:par>
                          <p:cTn id="37" fill="hold">
                            <p:stCondLst>
                              <p:cond delay="0"/>
                            </p:stCondLst>
                            <p:childTnLst>
                              <p:par>
                                <p:cTn id="38" presetID="14" presetClass="entr" presetSubtype="10" fill="hold" grpId="0"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randombar(horizontal)">
                                      <p:cBhvr>
                                        <p:cTn id="40" dur="1000"/>
                                        <p:tgtEl>
                                          <p:spTgt spid="19"/>
                                        </p:tgtEl>
                                      </p:cBhvr>
                                    </p:animEffect>
                                  </p:childTnLst>
                                </p:cTn>
                              </p:par>
                              <p:par>
                                <p:cTn id="41" presetID="14" presetClass="entr" presetSubtype="1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randombar(horizontal)">
                                      <p:cBhvr>
                                        <p:cTn id="43" dur="1000"/>
                                        <p:tgtEl>
                                          <p:spTgt spid="18"/>
                                        </p:tgtEl>
                                      </p:cBhvr>
                                    </p:animEffect>
                                  </p:childTnLst>
                                </p:cTn>
                              </p:par>
                              <p:par>
                                <p:cTn id="44" presetID="14" presetClass="entr" presetSubtype="1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randombar(horizontal)">
                                      <p:cBhvr>
                                        <p:cTn id="46"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p:bldP spid="8" grpId="0" animBg="1"/>
      <p:bldP spid="10" grpId="0" animBg="1"/>
      <p:bldP spid="12" grpId="0"/>
      <p:bldP spid="14" grpId="0" animBg="1"/>
      <p:bldP spid="16" grpId="0" animBg="1"/>
      <p:bldP spid="17" grpId="0"/>
      <p:bldP spid="18" grpId="0" animBg="1"/>
      <p:bldP spid="19" grpId="0" animBg="1"/>
      <p:bldP spid="21"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57B026D-3DAF-7738-3870-C3FF98F0A0E0}"/>
              </a:ext>
            </a:extLst>
          </p:cNvPr>
          <p:cNvSpPr>
            <a:spLocks noGrp="1"/>
          </p:cNvSpPr>
          <p:nvPr>
            <p:ph type="title"/>
          </p:nvPr>
        </p:nvSpPr>
        <p:spPr>
          <a:xfrm>
            <a:off x="1383564" y="348865"/>
            <a:ext cx="9718111" cy="1576446"/>
          </a:xfrm>
        </p:spPr>
        <p:txBody>
          <a:bodyPr anchor="ctr">
            <a:normAutofit/>
          </a:bodyPr>
          <a:lstStyle/>
          <a:p>
            <a:r>
              <a:rPr lang="en-US" sz="4000" dirty="0">
                <a:solidFill>
                  <a:srgbClr val="FFFFFF"/>
                </a:solidFill>
              </a:rPr>
              <a:t>Why deleting or inserting an element in an array is tedious?</a:t>
            </a:r>
            <a:endParaRPr lang="en-IN" sz="4000" dirty="0">
              <a:solidFill>
                <a:srgbClr val="FFFFFF"/>
              </a:solidFill>
            </a:endParaRPr>
          </a:p>
        </p:txBody>
      </p:sp>
      <p:sp>
        <p:nvSpPr>
          <p:cNvPr id="4" name="Content Placeholder 3">
            <a:extLst>
              <a:ext uri="{FF2B5EF4-FFF2-40B4-BE49-F238E27FC236}">
                <a16:creationId xmlns:a16="http://schemas.microsoft.com/office/drawing/2014/main" id="{56CF963A-7114-8024-7948-41209A99F055}"/>
              </a:ext>
            </a:extLst>
          </p:cNvPr>
          <p:cNvSpPr>
            <a:spLocks noGrp="1"/>
          </p:cNvSpPr>
          <p:nvPr>
            <p:ph idx="1"/>
          </p:nvPr>
        </p:nvSpPr>
        <p:spPr>
          <a:xfrm>
            <a:off x="838200" y="2373860"/>
            <a:ext cx="10515600" cy="4351338"/>
          </a:xfrm>
        </p:spPr>
        <p:txBody>
          <a:bodyPr/>
          <a:lstStyle/>
          <a:p>
            <a:r>
              <a:rPr lang="en-US" dirty="0"/>
              <a:t>Consider the following array of 10 elements where index 9 is empty (Currently a garbage value is sitting there.</a:t>
            </a:r>
          </a:p>
          <a:p>
            <a:endParaRPr lang="en-US" dirty="0"/>
          </a:p>
          <a:p>
            <a:endParaRPr lang="en-US" dirty="0"/>
          </a:p>
          <a:p>
            <a:pPr marL="0" indent="0">
              <a:buNone/>
            </a:pPr>
            <a:endParaRPr lang="en-US" dirty="0"/>
          </a:p>
          <a:p>
            <a:r>
              <a:rPr lang="en-US" dirty="0"/>
              <a:t xml:space="preserve">Technically the array only contains 9 elements and now you want to </a:t>
            </a:r>
            <a:r>
              <a:rPr lang="en-US" b="1" dirty="0"/>
              <a:t xml:space="preserve">insert a new element </a:t>
            </a:r>
            <a:r>
              <a:rPr lang="en-US" b="1" dirty="0">
                <a:solidFill>
                  <a:srgbClr val="FF0000"/>
                </a:solidFill>
              </a:rPr>
              <a:t>100</a:t>
            </a:r>
            <a:r>
              <a:rPr lang="en-US" b="1" dirty="0"/>
              <a:t xml:space="preserve"> </a:t>
            </a:r>
            <a:r>
              <a:rPr lang="en-US" b="1" dirty="0">
                <a:solidFill>
                  <a:srgbClr val="00B0F0"/>
                </a:solidFill>
              </a:rPr>
              <a:t>at index 3</a:t>
            </a:r>
          </a:p>
          <a:p>
            <a:r>
              <a:rPr lang="en-US" dirty="0"/>
              <a:t xml:space="preserve">Remember </a:t>
            </a:r>
            <a:r>
              <a:rPr lang="en-US" b="1" dirty="0"/>
              <a:t>insertion doesn’t mean replacement.</a:t>
            </a:r>
          </a:p>
        </p:txBody>
      </p:sp>
      <p:pic>
        <p:nvPicPr>
          <p:cNvPr id="7" name="Picture 6">
            <a:extLst>
              <a:ext uri="{FF2B5EF4-FFF2-40B4-BE49-F238E27FC236}">
                <a16:creationId xmlns:a16="http://schemas.microsoft.com/office/drawing/2014/main" id="{2A3B5230-903D-E74B-4991-42FBA7F1112F}"/>
              </a:ext>
            </a:extLst>
          </p:cNvPr>
          <p:cNvPicPr>
            <a:picLocks noChangeAspect="1"/>
          </p:cNvPicPr>
          <p:nvPr/>
        </p:nvPicPr>
        <p:blipFill>
          <a:blip r:embed="rId2"/>
          <a:stretch>
            <a:fillRect/>
          </a:stretch>
        </p:blipFill>
        <p:spPr>
          <a:xfrm>
            <a:off x="1020271" y="3205313"/>
            <a:ext cx="10752629" cy="1589528"/>
          </a:xfrm>
          <a:prstGeom prst="rect">
            <a:avLst/>
          </a:prstGeom>
        </p:spPr>
      </p:pic>
    </p:spTree>
    <p:extLst>
      <p:ext uri="{BB962C8B-B14F-4D97-AF65-F5344CB8AC3E}">
        <p14:creationId xmlns:p14="http://schemas.microsoft.com/office/powerpoint/2010/main" val="2916054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left)">
                                      <p:cBhvr>
                                        <p:cTn id="12" dur="10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10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wipe(left)">
                                      <p:cBhvr>
                                        <p:cTn id="22" dur="10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wipe(left)">
                                      <p:cBhvr>
                                        <p:cTn id="27" dur="10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57B026D-3DAF-7738-3870-C3FF98F0A0E0}"/>
              </a:ext>
            </a:extLst>
          </p:cNvPr>
          <p:cNvSpPr>
            <a:spLocks noGrp="1"/>
          </p:cNvSpPr>
          <p:nvPr>
            <p:ph type="title"/>
          </p:nvPr>
        </p:nvSpPr>
        <p:spPr>
          <a:xfrm>
            <a:off x="1383564" y="348865"/>
            <a:ext cx="9718111" cy="1576446"/>
          </a:xfrm>
        </p:spPr>
        <p:txBody>
          <a:bodyPr anchor="ctr">
            <a:normAutofit/>
          </a:bodyPr>
          <a:lstStyle/>
          <a:p>
            <a:r>
              <a:rPr lang="en-US" sz="4000" dirty="0">
                <a:solidFill>
                  <a:srgbClr val="FFFFFF"/>
                </a:solidFill>
              </a:rPr>
              <a:t>Why deleting or inserting an element in an array is tedious?</a:t>
            </a:r>
            <a:endParaRPr lang="en-IN" sz="4000" dirty="0">
              <a:solidFill>
                <a:srgbClr val="FFFFFF"/>
              </a:solidFill>
            </a:endParaRPr>
          </a:p>
        </p:txBody>
      </p:sp>
      <p:sp>
        <p:nvSpPr>
          <p:cNvPr id="4" name="Content Placeholder 3">
            <a:extLst>
              <a:ext uri="{FF2B5EF4-FFF2-40B4-BE49-F238E27FC236}">
                <a16:creationId xmlns:a16="http://schemas.microsoft.com/office/drawing/2014/main" id="{56CF963A-7114-8024-7948-41209A99F055}"/>
              </a:ext>
            </a:extLst>
          </p:cNvPr>
          <p:cNvSpPr>
            <a:spLocks noGrp="1"/>
          </p:cNvSpPr>
          <p:nvPr>
            <p:ph idx="1"/>
          </p:nvPr>
        </p:nvSpPr>
        <p:spPr>
          <a:xfrm>
            <a:off x="838200" y="2373860"/>
            <a:ext cx="10515600" cy="4351338"/>
          </a:xfrm>
        </p:spPr>
        <p:txBody>
          <a:bodyPr/>
          <a:lstStyle/>
          <a:p>
            <a:r>
              <a:rPr lang="en-US" dirty="0"/>
              <a:t>We should do the following to in-order to insert 100 at 3</a:t>
            </a:r>
            <a:r>
              <a:rPr lang="en-US" baseline="30000" dirty="0"/>
              <a:t>rd</a:t>
            </a:r>
            <a:r>
              <a:rPr lang="en-US" dirty="0"/>
              <a:t xml:space="preserve"> index</a:t>
            </a:r>
          </a:p>
          <a:p>
            <a:endParaRPr lang="en-US" dirty="0"/>
          </a:p>
        </p:txBody>
      </p:sp>
      <p:pic>
        <p:nvPicPr>
          <p:cNvPr id="8" name="Picture 7">
            <a:extLst>
              <a:ext uri="{FF2B5EF4-FFF2-40B4-BE49-F238E27FC236}">
                <a16:creationId xmlns:a16="http://schemas.microsoft.com/office/drawing/2014/main" id="{7B78636F-46B1-965D-4060-EB648D45269C}"/>
              </a:ext>
            </a:extLst>
          </p:cNvPr>
          <p:cNvPicPr>
            <a:picLocks noChangeAspect="1"/>
          </p:cNvPicPr>
          <p:nvPr/>
        </p:nvPicPr>
        <p:blipFill>
          <a:blip r:embed="rId2"/>
          <a:stretch>
            <a:fillRect/>
          </a:stretch>
        </p:blipFill>
        <p:spPr>
          <a:xfrm>
            <a:off x="1681314" y="2836764"/>
            <a:ext cx="8180439" cy="3837042"/>
          </a:xfrm>
          <a:prstGeom prst="rect">
            <a:avLst/>
          </a:prstGeom>
        </p:spPr>
      </p:pic>
    </p:spTree>
    <p:extLst>
      <p:ext uri="{BB962C8B-B14F-4D97-AF65-F5344CB8AC3E}">
        <p14:creationId xmlns:p14="http://schemas.microsoft.com/office/powerpoint/2010/main" val="2103801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57B026D-3DAF-7738-3870-C3FF98F0A0E0}"/>
              </a:ext>
            </a:extLst>
          </p:cNvPr>
          <p:cNvSpPr>
            <a:spLocks noGrp="1"/>
          </p:cNvSpPr>
          <p:nvPr>
            <p:ph type="title"/>
          </p:nvPr>
        </p:nvSpPr>
        <p:spPr>
          <a:xfrm>
            <a:off x="1383564" y="348865"/>
            <a:ext cx="9718111" cy="1576446"/>
          </a:xfrm>
        </p:spPr>
        <p:txBody>
          <a:bodyPr anchor="ctr">
            <a:normAutofit/>
          </a:bodyPr>
          <a:lstStyle/>
          <a:p>
            <a:r>
              <a:rPr lang="en-US" sz="4000" dirty="0">
                <a:solidFill>
                  <a:srgbClr val="FFFFFF"/>
                </a:solidFill>
              </a:rPr>
              <a:t>Why deleting or inserting an element in an array is tedious?</a:t>
            </a:r>
            <a:endParaRPr lang="en-IN" sz="4000" dirty="0">
              <a:solidFill>
                <a:srgbClr val="FFFFFF"/>
              </a:solidFill>
            </a:endParaRPr>
          </a:p>
        </p:txBody>
      </p:sp>
      <p:sp>
        <p:nvSpPr>
          <p:cNvPr id="4" name="Content Placeholder 3">
            <a:extLst>
              <a:ext uri="{FF2B5EF4-FFF2-40B4-BE49-F238E27FC236}">
                <a16:creationId xmlns:a16="http://schemas.microsoft.com/office/drawing/2014/main" id="{56CF963A-7114-8024-7948-41209A99F055}"/>
              </a:ext>
            </a:extLst>
          </p:cNvPr>
          <p:cNvSpPr>
            <a:spLocks noGrp="1"/>
          </p:cNvSpPr>
          <p:nvPr>
            <p:ph idx="1"/>
          </p:nvPr>
        </p:nvSpPr>
        <p:spPr>
          <a:xfrm>
            <a:off x="838200" y="2373860"/>
            <a:ext cx="10515600" cy="4351338"/>
          </a:xfrm>
        </p:spPr>
        <p:txBody>
          <a:bodyPr/>
          <a:lstStyle/>
          <a:p>
            <a:r>
              <a:rPr lang="en-US" dirty="0"/>
              <a:t xml:space="preserve">Let’s see deleting an element from the below array now. Say we want to delete </a:t>
            </a:r>
            <a:r>
              <a:rPr lang="en-US" b="1" dirty="0"/>
              <a:t>60</a:t>
            </a:r>
          </a:p>
          <a:p>
            <a:endParaRPr lang="en-US" dirty="0"/>
          </a:p>
          <a:p>
            <a:endParaRPr lang="en-US" dirty="0"/>
          </a:p>
          <a:p>
            <a:pPr marL="0" indent="0">
              <a:buNone/>
            </a:pPr>
            <a:endParaRPr lang="en-US" dirty="0"/>
          </a:p>
          <a:p>
            <a:r>
              <a:rPr lang="en-US" dirty="0"/>
              <a:t xml:space="preserve">Remember </a:t>
            </a:r>
            <a:r>
              <a:rPr lang="en-US" b="1" dirty="0"/>
              <a:t xml:space="preserve">after deleting we should be able to access </a:t>
            </a:r>
            <a:r>
              <a:rPr lang="en-US" b="1" dirty="0">
                <a:solidFill>
                  <a:srgbClr val="FF0000"/>
                </a:solidFill>
              </a:rPr>
              <a:t>70</a:t>
            </a:r>
            <a:r>
              <a:rPr lang="en-US" b="1" dirty="0"/>
              <a:t xml:space="preserve"> after </a:t>
            </a:r>
            <a:r>
              <a:rPr lang="en-US" b="1" dirty="0">
                <a:solidFill>
                  <a:srgbClr val="FF0000"/>
                </a:solidFill>
              </a:rPr>
              <a:t>50</a:t>
            </a:r>
            <a:endParaRPr lang="en-US" b="1" dirty="0"/>
          </a:p>
        </p:txBody>
      </p:sp>
      <p:pic>
        <p:nvPicPr>
          <p:cNvPr id="5" name="Picture 4">
            <a:extLst>
              <a:ext uri="{FF2B5EF4-FFF2-40B4-BE49-F238E27FC236}">
                <a16:creationId xmlns:a16="http://schemas.microsoft.com/office/drawing/2014/main" id="{5139C85B-8AC3-3FCD-AF84-3130E33C3568}"/>
              </a:ext>
            </a:extLst>
          </p:cNvPr>
          <p:cNvPicPr>
            <a:picLocks noChangeAspect="1"/>
          </p:cNvPicPr>
          <p:nvPr/>
        </p:nvPicPr>
        <p:blipFill>
          <a:blip r:embed="rId2"/>
          <a:stretch>
            <a:fillRect/>
          </a:stretch>
        </p:blipFill>
        <p:spPr>
          <a:xfrm>
            <a:off x="1219201" y="3226232"/>
            <a:ext cx="9409708" cy="1375266"/>
          </a:xfrm>
          <a:prstGeom prst="rect">
            <a:avLst/>
          </a:prstGeom>
        </p:spPr>
      </p:pic>
    </p:spTree>
    <p:extLst>
      <p:ext uri="{BB962C8B-B14F-4D97-AF65-F5344CB8AC3E}">
        <p14:creationId xmlns:p14="http://schemas.microsoft.com/office/powerpoint/2010/main" val="3393075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1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1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wipe(left)">
                                      <p:cBhvr>
                                        <p:cTn id="17" dur="1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57B026D-3DAF-7738-3870-C3FF98F0A0E0}"/>
              </a:ext>
            </a:extLst>
          </p:cNvPr>
          <p:cNvSpPr>
            <a:spLocks noGrp="1"/>
          </p:cNvSpPr>
          <p:nvPr>
            <p:ph type="title"/>
          </p:nvPr>
        </p:nvSpPr>
        <p:spPr>
          <a:xfrm>
            <a:off x="1383564" y="348865"/>
            <a:ext cx="9718111" cy="1576446"/>
          </a:xfrm>
        </p:spPr>
        <p:txBody>
          <a:bodyPr anchor="ctr">
            <a:normAutofit/>
          </a:bodyPr>
          <a:lstStyle/>
          <a:p>
            <a:r>
              <a:rPr lang="en-US" sz="4000" dirty="0">
                <a:solidFill>
                  <a:srgbClr val="FFFFFF"/>
                </a:solidFill>
              </a:rPr>
              <a:t>Why deleting or inserting an element in an array is tedious?</a:t>
            </a:r>
            <a:endParaRPr lang="en-IN" sz="4000" dirty="0">
              <a:solidFill>
                <a:srgbClr val="FFFFFF"/>
              </a:solidFill>
            </a:endParaRPr>
          </a:p>
        </p:txBody>
      </p:sp>
      <p:sp>
        <p:nvSpPr>
          <p:cNvPr id="4" name="Content Placeholder 3">
            <a:extLst>
              <a:ext uri="{FF2B5EF4-FFF2-40B4-BE49-F238E27FC236}">
                <a16:creationId xmlns:a16="http://schemas.microsoft.com/office/drawing/2014/main" id="{56CF963A-7114-8024-7948-41209A99F055}"/>
              </a:ext>
            </a:extLst>
          </p:cNvPr>
          <p:cNvSpPr>
            <a:spLocks noGrp="1"/>
          </p:cNvSpPr>
          <p:nvPr>
            <p:ph idx="1"/>
          </p:nvPr>
        </p:nvSpPr>
        <p:spPr>
          <a:xfrm>
            <a:off x="838200" y="2373860"/>
            <a:ext cx="10515600" cy="4351338"/>
          </a:xfrm>
        </p:spPr>
        <p:txBody>
          <a:bodyPr/>
          <a:lstStyle/>
          <a:p>
            <a:r>
              <a:rPr lang="en-US" dirty="0"/>
              <a:t xml:space="preserve">We should do the following to delete </a:t>
            </a:r>
            <a:r>
              <a:rPr lang="en-US" b="1" dirty="0"/>
              <a:t>60</a:t>
            </a:r>
          </a:p>
          <a:p>
            <a:endParaRPr lang="en-US" dirty="0"/>
          </a:p>
        </p:txBody>
      </p:sp>
      <p:pic>
        <p:nvPicPr>
          <p:cNvPr id="5" name="Picture 4">
            <a:extLst>
              <a:ext uri="{FF2B5EF4-FFF2-40B4-BE49-F238E27FC236}">
                <a16:creationId xmlns:a16="http://schemas.microsoft.com/office/drawing/2014/main" id="{BBE756EC-9CBA-0835-FCA1-7CA994E4320F}"/>
              </a:ext>
            </a:extLst>
          </p:cNvPr>
          <p:cNvPicPr>
            <a:picLocks noChangeAspect="1"/>
          </p:cNvPicPr>
          <p:nvPr/>
        </p:nvPicPr>
        <p:blipFill>
          <a:blip r:embed="rId2"/>
          <a:stretch>
            <a:fillRect/>
          </a:stretch>
        </p:blipFill>
        <p:spPr>
          <a:xfrm>
            <a:off x="2271252" y="2762183"/>
            <a:ext cx="6980903" cy="4058912"/>
          </a:xfrm>
          <a:prstGeom prst="rect">
            <a:avLst/>
          </a:prstGeom>
        </p:spPr>
      </p:pic>
    </p:spTree>
    <p:extLst>
      <p:ext uri="{BB962C8B-B14F-4D97-AF65-F5344CB8AC3E}">
        <p14:creationId xmlns:p14="http://schemas.microsoft.com/office/powerpoint/2010/main" val="2279603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054467-C77E-6567-CD1C-1D6C241757F5}"/>
              </a:ext>
            </a:extLst>
          </p:cNvPr>
          <p:cNvSpPr>
            <a:spLocks noGrp="1"/>
          </p:cNvSpPr>
          <p:nvPr>
            <p:ph type="title"/>
          </p:nvPr>
        </p:nvSpPr>
        <p:spPr>
          <a:xfrm>
            <a:off x="890338" y="640080"/>
            <a:ext cx="3734014" cy="3566160"/>
          </a:xfrm>
        </p:spPr>
        <p:txBody>
          <a:bodyPr vert="horz" lIns="91440" tIns="45720" rIns="91440" bIns="45720" rtlCol="0" anchor="b">
            <a:normAutofit/>
          </a:bodyPr>
          <a:lstStyle/>
          <a:p>
            <a:r>
              <a:rPr lang="en-US" dirty="0"/>
              <a:t>To deal with those disadvantages we have a concept  called</a:t>
            </a:r>
          </a:p>
        </p:txBody>
      </p:sp>
      <p:sp>
        <p:nvSpPr>
          <p:cNvPr id="13"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Red dot with arrows pointing to it">
            <a:extLst>
              <a:ext uri="{FF2B5EF4-FFF2-40B4-BE49-F238E27FC236}">
                <a16:creationId xmlns:a16="http://schemas.microsoft.com/office/drawing/2014/main" id="{0CDF290B-5057-9281-5B87-867029FFAC3A}"/>
              </a:ext>
            </a:extLst>
          </p:cNvPr>
          <p:cNvPicPr>
            <a:picLocks noChangeAspect="1"/>
          </p:cNvPicPr>
          <p:nvPr/>
        </p:nvPicPr>
        <p:blipFill rotWithShape="1">
          <a:blip r:embed="rId2"/>
          <a:srcRect l="23560" r="9487"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543027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EF4AC9-C7D4-B1B6-B163-9957E5C7150C}"/>
              </a:ext>
            </a:extLst>
          </p:cNvPr>
          <p:cNvSpPr>
            <a:spLocks noGrp="1"/>
          </p:cNvSpPr>
          <p:nvPr>
            <p:ph type="title"/>
          </p:nvPr>
        </p:nvSpPr>
        <p:spPr>
          <a:xfrm>
            <a:off x="4654296" y="640080"/>
            <a:ext cx="6894576" cy="3566160"/>
          </a:xfrm>
        </p:spPr>
        <p:txBody>
          <a:bodyPr vert="horz" lIns="91440" tIns="45720" rIns="91440" bIns="45720" rtlCol="0" anchor="b">
            <a:normAutofit/>
          </a:bodyPr>
          <a:lstStyle/>
          <a:p>
            <a:r>
              <a:rPr lang="en-US" sz="6600" dirty="0"/>
              <a:t>Linked Lists</a:t>
            </a:r>
          </a:p>
        </p:txBody>
      </p:sp>
      <p:pic>
        <p:nvPicPr>
          <p:cNvPr id="21" name="Picture 20" descr="Writing an appointment on a paper agenda">
            <a:extLst>
              <a:ext uri="{FF2B5EF4-FFF2-40B4-BE49-F238E27FC236}">
                <a16:creationId xmlns:a16="http://schemas.microsoft.com/office/drawing/2014/main" id="{10F17A96-5BD1-C3D4-E0A6-0BF563FA87A3}"/>
              </a:ext>
            </a:extLst>
          </p:cNvPr>
          <p:cNvPicPr>
            <a:picLocks noChangeAspect="1"/>
          </p:cNvPicPr>
          <p:nvPr/>
        </p:nvPicPr>
        <p:blipFill rotWithShape="1">
          <a:blip r:embed="rId2"/>
          <a:srcRect r="60582" b="-1"/>
          <a:stretch/>
        </p:blipFill>
        <p:spPr>
          <a:xfrm>
            <a:off x="20" y="10"/>
            <a:ext cx="4049786" cy="6857990"/>
          </a:xfrm>
          <a:custGeom>
            <a:avLst/>
            <a:gdLst/>
            <a:ahLst/>
            <a:cxnLst/>
            <a:rect l="l" t="t" r="r" b="b"/>
            <a:pathLst>
              <a:path w="4049806" h="6858000">
                <a:moveTo>
                  <a:pt x="0" y="0"/>
                </a:moveTo>
                <a:lnTo>
                  <a:pt x="4018525" y="0"/>
                </a:lnTo>
                <a:lnTo>
                  <a:pt x="4019816" y="10931"/>
                </a:lnTo>
                <a:cubicBezTo>
                  <a:pt x="4034945" y="94836"/>
                  <a:pt x="4032275" y="179884"/>
                  <a:pt x="4036343" y="264297"/>
                </a:cubicBezTo>
                <a:cubicBezTo>
                  <a:pt x="4041301" y="367652"/>
                  <a:pt x="4035072" y="471135"/>
                  <a:pt x="4032911" y="574617"/>
                </a:cubicBezTo>
                <a:cubicBezTo>
                  <a:pt x="4031004" y="662717"/>
                  <a:pt x="4022232" y="750690"/>
                  <a:pt x="4025029" y="838916"/>
                </a:cubicBezTo>
                <a:cubicBezTo>
                  <a:pt x="4025029" y="841968"/>
                  <a:pt x="4025029" y="845019"/>
                  <a:pt x="4025029" y="848070"/>
                </a:cubicBezTo>
                <a:cubicBezTo>
                  <a:pt x="4017020" y="945068"/>
                  <a:pt x="4017020" y="1042576"/>
                  <a:pt x="4025029" y="1139574"/>
                </a:cubicBezTo>
                <a:cubicBezTo>
                  <a:pt x="4027609" y="1179950"/>
                  <a:pt x="4026885" y="1220466"/>
                  <a:pt x="4022868" y="1260728"/>
                </a:cubicBezTo>
                <a:cubicBezTo>
                  <a:pt x="4019054" y="1311960"/>
                  <a:pt x="4006849" y="1364083"/>
                  <a:pt x="4015621" y="1414934"/>
                </a:cubicBezTo>
                <a:cubicBezTo>
                  <a:pt x="4021367" y="1456784"/>
                  <a:pt x="4024558" y="1498940"/>
                  <a:pt x="4025156" y="1541172"/>
                </a:cubicBezTo>
                <a:cubicBezTo>
                  <a:pt x="4029478" y="1635755"/>
                  <a:pt x="4025283" y="1730847"/>
                  <a:pt x="4023757" y="1825685"/>
                </a:cubicBezTo>
                <a:cubicBezTo>
                  <a:pt x="4021850" y="1936286"/>
                  <a:pt x="4024647" y="2046634"/>
                  <a:pt x="4015748" y="2157235"/>
                </a:cubicBezTo>
                <a:cubicBezTo>
                  <a:pt x="4010790" y="2246581"/>
                  <a:pt x="4010790" y="2336130"/>
                  <a:pt x="4015748" y="2425476"/>
                </a:cubicBezTo>
                <a:cubicBezTo>
                  <a:pt x="4018164" y="2507473"/>
                  <a:pt x="4030495" y="2588454"/>
                  <a:pt x="4028461" y="2671214"/>
                </a:cubicBezTo>
                <a:cubicBezTo>
                  <a:pt x="4026046" y="2767832"/>
                  <a:pt x="4014604" y="2863940"/>
                  <a:pt x="4018164" y="2960685"/>
                </a:cubicBezTo>
                <a:cubicBezTo>
                  <a:pt x="4019816" y="3006832"/>
                  <a:pt x="4019944" y="3052980"/>
                  <a:pt x="4020961" y="3099127"/>
                </a:cubicBezTo>
                <a:cubicBezTo>
                  <a:pt x="4021978" y="3154682"/>
                  <a:pt x="4032021" y="3210110"/>
                  <a:pt x="4026427" y="3265665"/>
                </a:cubicBezTo>
                <a:cubicBezTo>
                  <a:pt x="4017147" y="3358087"/>
                  <a:pt x="3993120" y="3448857"/>
                  <a:pt x="4008121" y="3543567"/>
                </a:cubicBezTo>
                <a:cubicBezTo>
                  <a:pt x="4016384" y="3595690"/>
                  <a:pt x="4025791" y="3647940"/>
                  <a:pt x="4030495" y="3700571"/>
                </a:cubicBezTo>
                <a:cubicBezTo>
                  <a:pt x="4034690" y="3747608"/>
                  <a:pt x="4045369" y="3795408"/>
                  <a:pt x="4037233" y="3842191"/>
                </a:cubicBezTo>
                <a:cubicBezTo>
                  <a:pt x="4030368" y="3882237"/>
                  <a:pt x="4034055" y="3922282"/>
                  <a:pt x="4028715" y="3962327"/>
                </a:cubicBezTo>
                <a:cubicBezTo>
                  <a:pt x="4021723" y="4014831"/>
                  <a:pt x="4017910" y="4068352"/>
                  <a:pt x="4012697" y="4121111"/>
                </a:cubicBezTo>
                <a:cubicBezTo>
                  <a:pt x="4007866" y="4169038"/>
                  <a:pt x="4004307" y="4216838"/>
                  <a:pt x="4017020" y="4261841"/>
                </a:cubicBezTo>
                <a:cubicBezTo>
                  <a:pt x="4048039" y="4375112"/>
                  <a:pt x="4031004" y="4487748"/>
                  <a:pt x="4019308" y="4600257"/>
                </a:cubicBezTo>
                <a:cubicBezTo>
                  <a:pt x="4013587" y="4655049"/>
                  <a:pt x="4005197" y="4712765"/>
                  <a:pt x="4017910" y="4762853"/>
                </a:cubicBezTo>
                <a:cubicBezTo>
                  <a:pt x="4041428" y="4851716"/>
                  <a:pt x="4022995" y="4936764"/>
                  <a:pt x="4012824" y="5021432"/>
                </a:cubicBezTo>
                <a:cubicBezTo>
                  <a:pt x="4002654" y="5106099"/>
                  <a:pt x="4000239" y="5189495"/>
                  <a:pt x="4018037" y="5272637"/>
                </a:cubicBezTo>
                <a:cubicBezTo>
                  <a:pt x="4030495" y="5331116"/>
                  <a:pt x="4030495" y="5390612"/>
                  <a:pt x="4032021" y="5449600"/>
                </a:cubicBezTo>
                <a:cubicBezTo>
                  <a:pt x="4032911" y="5486339"/>
                  <a:pt x="4019308" y="5523842"/>
                  <a:pt x="4010282" y="5560582"/>
                </a:cubicBezTo>
                <a:cubicBezTo>
                  <a:pt x="3994009" y="5626943"/>
                  <a:pt x="3988162" y="5694321"/>
                  <a:pt x="4010282" y="5759029"/>
                </a:cubicBezTo>
                <a:cubicBezTo>
                  <a:pt x="4040793" y="5848655"/>
                  <a:pt x="4058336" y="5938407"/>
                  <a:pt x="4045623" y="6033117"/>
                </a:cubicBezTo>
                <a:cubicBezTo>
                  <a:pt x="4038377" y="6091724"/>
                  <a:pt x="4036597" y="6151347"/>
                  <a:pt x="4025664" y="6209190"/>
                </a:cubicBezTo>
                <a:cubicBezTo>
                  <a:pt x="4007358" y="6304790"/>
                  <a:pt x="4013841" y="6399882"/>
                  <a:pt x="4028461" y="6494211"/>
                </a:cubicBezTo>
                <a:cubicBezTo>
                  <a:pt x="4038542" y="6573081"/>
                  <a:pt x="4039610" y="6652829"/>
                  <a:pt x="4031639" y="6731941"/>
                </a:cubicBezTo>
                <a:lnTo>
                  <a:pt x="4022913" y="6858000"/>
                </a:lnTo>
                <a:lnTo>
                  <a:pt x="0" y="6858000"/>
                </a:lnTo>
                <a:close/>
              </a:path>
            </a:pathLst>
          </a:custGeom>
        </p:spPr>
      </p:pic>
      <p:sp>
        <p:nvSpPr>
          <p:cNvPr id="27" name="sketchy line">
            <a:extLst>
              <a:ext uri="{FF2B5EF4-FFF2-40B4-BE49-F238E27FC236}">
                <a16:creationId xmlns:a16="http://schemas.microsoft.com/office/drawing/2014/main" id="{82580482-BA80-420A-8A05-C58E97F2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4409267"/>
            <a:ext cx="4242816" cy="18288"/>
          </a:xfrm>
          <a:custGeom>
            <a:avLst/>
            <a:gdLst>
              <a:gd name="csX0" fmla="*/ 0 w 4242816"/>
              <a:gd name="csY0" fmla="*/ 0 h 18288"/>
              <a:gd name="csX1" fmla="*/ 690973 w 4242816"/>
              <a:gd name="csY1" fmla="*/ 0 h 18288"/>
              <a:gd name="csX2" fmla="*/ 1212233 w 4242816"/>
              <a:gd name="csY2" fmla="*/ 0 h 18288"/>
              <a:gd name="csX3" fmla="*/ 1860778 w 4242816"/>
              <a:gd name="csY3" fmla="*/ 0 h 18288"/>
              <a:gd name="csX4" fmla="*/ 2424466 w 4242816"/>
              <a:gd name="csY4" fmla="*/ 0 h 18288"/>
              <a:gd name="csX5" fmla="*/ 3115439 w 4242816"/>
              <a:gd name="csY5" fmla="*/ 0 h 18288"/>
              <a:gd name="csX6" fmla="*/ 3636699 w 4242816"/>
              <a:gd name="csY6" fmla="*/ 0 h 18288"/>
              <a:gd name="csX7" fmla="*/ 4242816 w 4242816"/>
              <a:gd name="csY7" fmla="*/ 0 h 18288"/>
              <a:gd name="csX8" fmla="*/ 4242816 w 4242816"/>
              <a:gd name="csY8" fmla="*/ 18288 h 18288"/>
              <a:gd name="csX9" fmla="*/ 3636699 w 4242816"/>
              <a:gd name="csY9" fmla="*/ 18288 h 18288"/>
              <a:gd name="csX10" fmla="*/ 3030583 w 4242816"/>
              <a:gd name="csY10" fmla="*/ 18288 h 18288"/>
              <a:gd name="csX11" fmla="*/ 2466894 w 4242816"/>
              <a:gd name="csY11" fmla="*/ 18288 h 18288"/>
              <a:gd name="csX12" fmla="*/ 1988062 w 4242816"/>
              <a:gd name="csY12" fmla="*/ 18288 h 18288"/>
              <a:gd name="csX13" fmla="*/ 1466802 w 4242816"/>
              <a:gd name="csY13" fmla="*/ 18288 h 18288"/>
              <a:gd name="csX14" fmla="*/ 860686 w 4242816"/>
              <a:gd name="csY14" fmla="*/ 18288 h 18288"/>
              <a:gd name="csX15" fmla="*/ 0 w 4242816"/>
              <a:gd name="csY15" fmla="*/ 18288 h 18288"/>
              <a:gd name="csX16" fmla="*/ 0 w 4242816"/>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2816" h="18288" fill="none" extrusionOk="0">
                <a:moveTo>
                  <a:pt x="0" y="0"/>
                </a:moveTo>
                <a:cubicBezTo>
                  <a:pt x="249934" y="1471"/>
                  <a:pt x="379877" y="-29444"/>
                  <a:pt x="690973" y="0"/>
                </a:cubicBezTo>
                <a:cubicBezTo>
                  <a:pt x="1002069" y="29444"/>
                  <a:pt x="1021583" y="17501"/>
                  <a:pt x="1212233" y="0"/>
                </a:cubicBezTo>
                <a:cubicBezTo>
                  <a:pt x="1402883" y="-17501"/>
                  <a:pt x="1678760" y="5386"/>
                  <a:pt x="1860778" y="0"/>
                </a:cubicBezTo>
                <a:cubicBezTo>
                  <a:pt x="2042796" y="-5386"/>
                  <a:pt x="2245608" y="-22401"/>
                  <a:pt x="2424466" y="0"/>
                </a:cubicBezTo>
                <a:cubicBezTo>
                  <a:pt x="2603324" y="22401"/>
                  <a:pt x="2890020" y="33806"/>
                  <a:pt x="3115439" y="0"/>
                </a:cubicBezTo>
                <a:cubicBezTo>
                  <a:pt x="3340858" y="-33806"/>
                  <a:pt x="3428300" y="18628"/>
                  <a:pt x="3636699" y="0"/>
                </a:cubicBezTo>
                <a:cubicBezTo>
                  <a:pt x="3845098" y="-18628"/>
                  <a:pt x="4108824" y="5541"/>
                  <a:pt x="4242816" y="0"/>
                </a:cubicBezTo>
                <a:cubicBezTo>
                  <a:pt x="4242066" y="4160"/>
                  <a:pt x="4243125" y="10356"/>
                  <a:pt x="4242816" y="18288"/>
                </a:cubicBezTo>
                <a:cubicBezTo>
                  <a:pt x="4113424" y="32735"/>
                  <a:pt x="3768327" y="47567"/>
                  <a:pt x="3636699" y="18288"/>
                </a:cubicBezTo>
                <a:cubicBezTo>
                  <a:pt x="3505071" y="-10991"/>
                  <a:pt x="3294208" y="-4990"/>
                  <a:pt x="3030583" y="18288"/>
                </a:cubicBezTo>
                <a:cubicBezTo>
                  <a:pt x="2766958" y="41566"/>
                  <a:pt x="2649277" y="20974"/>
                  <a:pt x="2466894" y="18288"/>
                </a:cubicBezTo>
                <a:cubicBezTo>
                  <a:pt x="2284511" y="15602"/>
                  <a:pt x="2151277" y="1154"/>
                  <a:pt x="1988062" y="18288"/>
                </a:cubicBezTo>
                <a:cubicBezTo>
                  <a:pt x="1824847" y="35422"/>
                  <a:pt x="1691359" y="9265"/>
                  <a:pt x="1466802" y="18288"/>
                </a:cubicBezTo>
                <a:cubicBezTo>
                  <a:pt x="1242245" y="27311"/>
                  <a:pt x="1006161" y="36605"/>
                  <a:pt x="860686" y="18288"/>
                </a:cubicBezTo>
                <a:cubicBezTo>
                  <a:pt x="715211" y="-29"/>
                  <a:pt x="242774" y="46538"/>
                  <a:pt x="0" y="18288"/>
                </a:cubicBezTo>
                <a:cubicBezTo>
                  <a:pt x="-146" y="11482"/>
                  <a:pt x="-422" y="5192"/>
                  <a:pt x="0" y="0"/>
                </a:cubicBezTo>
                <a:close/>
              </a:path>
              <a:path w="4242816" h="18288" stroke="0" extrusionOk="0">
                <a:moveTo>
                  <a:pt x="0" y="0"/>
                </a:moveTo>
                <a:cubicBezTo>
                  <a:pt x="259751" y="-14018"/>
                  <a:pt x="356632" y="-15007"/>
                  <a:pt x="521260" y="0"/>
                </a:cubicBezTo>
                <a:cubicBezTo>
                  <a:pt x="685888" y="15007"/>
                  <a:pt x="885786" y="5167"/>
                  <a:pt x="1212233" y="0"/>
                </a:cubicBezTo>
                <a:cubicBezTo>
                  <a:pt x="1538680" y="-5167"/>
                  <a:pt x="1458849" y="7951"/>
                  <a:pt x="1691065" y="0"/>
                </a:cubicBezTo>
                <a:cubicBezTo>
                  <a:pt x="1923281" y="-7951"/>
                  <a:pt x="1985780" y="-16303"/>
                  <a:pt x="2169897" y="0"/>
                </a:cubicBezTo>
                <a:cubicBezTo>
                  <a:pt x="2354014" y="16303"/>
                  <a:pt x="2633054" y="-2739"/>
                  <a:pt x="2776014" y="0"/>
                </a:cubicBezTo>
                <a:cubicBezTo>
                  <a:pt x="2918974" y="2739"/>
                  <a:pt x="3112688" y="-15682"/>
                  <a:pt x="3339702" y="0"/>
                </a:cubicBezTo>
                <a:cubicBezTo>
                  <a:pt x="3566716" y="15682"/>
                  <a:pt x="4015278" y="-28467"/>
                  <a:pt x="4242816" y="0"/>
                </a:cubicBezTo>
                <a:cubicBezTo>
                  <a:pt x="4243501" y="7633"/>
                  <a:pt x="4242294" y="10002"/>
                  <a:pt x="4242816" y="18288"/>
                </a:cubicBezTo>
                <a:cubicBezTo>
                  <a:pt x="3924964" y="16283"/>
                  <a:pt x="3746362" y="-1805"/>
                  <a:pt x="3551843" y="18288"/>
                </a:cubicBezTo>
                <a:cubicBezTo>
                  <a:pt x="3357324" y="38381"/>
                  <a:pt x="3126422" y="47156"/>
                  <a:pt x="2860870" y="18288"/>
                </a:cubicBezTo>
                <a:cubicBezTo>
                  <a:pt x="2595318" y="-10580"/>
                  <a:pt x="2572437" y="11441"/>
                  <a:pt x="2297182" y="18288"/>
                </a:cubicBezTo>
                <a:cubicBezTo>
                  <a:pt x="2021927" y="25135"/>
                  <a:pt x="1916908" y="33601"/>
                  <a:pt x="1733493" y="18288"/>
                </a:cubicBezTo>
                <a:cubicBezTo>
                  <a:pt x="1550078" y="2975"/>
                  <a:pt x="1412440" y="27896"/>
                  <a:pt x="1212233" y="18288"/>
                </a:cubicBezTo>
                <a:cubicBezTo>
                  <a:pt x="1012026" y="8680"/>
                  <a:pt x="914386" y="13859"/>
                  <a:pt x="648545" y="18288"/>
                </a:cubicBezTo>
                <a:cubicBezTo>
                  <a:pt x="382704" y="22717"/>
                  <a:pt x="233522" y="39342"/>
                  <a:pt x="0" y="18288"/>
                </a:cubicBezTo>
                <a:cubicBezTo>
                  <a:pt x="-772" y="13661"/>
                  <a:pt x="-839" y="849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19119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0DA792-1C12-F80C-DB66-2085BCEC2D65}"/>
              </a:ext>
            </a:extLst>
          </p:cNvPr>
          <p:cNvSpPr>
            <a:spLocks noGrp="1"/>
          </p:cNvSpPr>
          <p:nvPr>
            <p:ph type="title"/>
          </p:nvPr>
        </p:nvSpPr>
        <p:spPr>
          <a:xfrm>
            <a:off x="838200" y="365125"/>
            <a:ext cx="10515600" cy="1325563"/>
          </a:xfrm>
        </p:spPr>
        <p:txBody>
          <a:bodyPr>
            <a:normAutofit/>
          </a:bodyPr>
          <a:lstStyle/>
          <a:p>
            <a:r>
              <a:rPr lang="en-US" sz="5400" dirty="0"/>
              <a:t>Linked Lists</a:t>
            </a:r>
            <a:endParaRPr lang="en-IN" sz="5400" dirty="0"/>
          </a:p>
        </p:txBody>
      </p:sp>
      <p:sp>
        <p:nvSpPr>
          <p:cNvPr id="23"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Shape 3">
            <a:extLst>
              <a:ext uri="{FF2B5EF4-FFF2-40B4-BE49-F238E27FC236}">
                <a16:creationId xmlns:a16="http://schemas.microsoft.com/office/drawing/2014/main" id="{77019D80-ED7F-CAE0-621A-81DF2FCFEC04}"/>
              </a:ext>
            </a:extLst>
          </p:cNvPr>
          <p:cNvSpPr/>
          <p:nvPr/>
        </p:nvSpPr>
        <p:spPr>
          <a:xfrm>
            <a:off x="841486" y="2228087"/>
            <a:ext cx="5052417" cy="3948876"/>
          </a:xfrm>
          <a:custGeom>
            <a:avLst/>
            <a:gdLst>
              <a:gd name="connsiteX0" fmla="*/ 0 w 5052417"/>
              <a:gd name="connsiteY0" fmla="*/ 0 h 3948876"/>
              <a:gd name="connsiteX1" fmla="*/ 5052417 w 5052417"/>
              <a:gd name="connsiteY1" fmla="*/ 0 h 3948876"/>
              <a:gd name="connsiteX2" fmla="*/ 5052417 w 5052417"/>
              <a:gd name="connsiteY2" fmla="*/ 3948876 h 3948876"/>
              <a:gd name="connsiteX3" fmla="*/ 0 w 5052417"/>
              <a:gd name="connsiteY3" fmla="*/ 3948876 h 3948876"/>
              <a:gd name="connsiteX4" fmla="*/ 0 w 5052417"/>
              <a:gd name="connsiteY4" fmla="*/ 0 h 3948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52417" h="3948876">
                <a:moveTo>
                  <a:pt x="0" y="0"/>
                </a:moveTo>
                <a:lnTo>
                  <a:pt x="5052417" y="0"/>
                </a:lnTo>
                <a:lnTo>
                  <a:pt x="5052417" y="3948876"/>
                </a:lnTo>
                <a:lnTo>
                  <a:pt x="0" y="3948876"/>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499067" tIns="1579550" rIns="499067" bIns="330201" numCol="1" spcCol="1270" anchor="t" anchorCtr="0">
            <a:noAutofit/>
          </a:bodyPr>
          <a:lstStyle/>
          <a:p>
            <a:pPr marL="0" lvl="0" indent="0" algn="l" defTabSz="1066800">
              <a:lnSpc>
                <a:spcPct val="90000"/>
              </a:lnSpc>
              <a:spcBef>
                <a:spcPct val="0"/>
              </a:spcBef>
              <a:spcAft>
                <a:spcPct val="35000"/>
              </a:spcAft>
              <a:buNone/>
            </a:pPr>
            <a:r>
              <a:rPr lang="en-US" sz="2400" b="0" i="0" kern="1200" dirty="0"/>
              <a:t>Linked list is a linear data structure that includes a series of connected nodes. Linked list can be defined as the nodes that are randomly stored in the memory.</a:t>
            </a:r>
            <a:endParaRPr lang="en-US" sz="2400" kern="1200" dirty="0"/>
          </a:p>
        </p:txBody>
      </p:sp>
      <p:sp>
        <p:nvSpPr>
          <p:cNvPr id="6" name="Freeform: Shape 5">
            <a:extLst>
              <a:ext uri="{FF2B5EF4-FFF2-40B4-BE49-F238E27FC236}">
                <a16:creationId xmlns:a16="http://schemas.microsoft.com/office/drawing/2014/main" id="{86A4C3A7-D599-5003-B907-89760268D6BB}"/>
              </a:ext>
            </a:extLst>
          </p:cNvPr>
          <p:cNvSpPr/>
          <p:nvPr/>
        </p:nvSpPr>
        <p:spPr>
          <a:xfrm>
            <a:off x="841486" y="2228087"/>
            <a:ext cx="5052417" cy="1579550"/>
          </a:xfrm>
          <a:custGeom>
            <a:avLst/>
            <a:gdLst>
              <a:gd name="connsiteX0" fmla="*/ 0 w 5052417"/>
              <a:gd name="connsiteY0" fmla="*/ 0 h 1579550"/>
              <a:gd name="connsiteX1" fmla="*/ 5052417 w 5052417"/>
              <a:gd name="connsiteY1" fmla="*/ 0 h 1579550"/>
              <a:gd name="connsiteX2" fmla="*/ 5052417 w 5052417"/>
              <a:gd name="connsiteY2" fmla="*/ 1579550 h 1579550"/>
              <a:gd name="connsiteX3" fmla="*/ 0 w 5052417"/>
              <a:gd name="connsiteY3" fmla="*/ 1579550 h 1579550"/>
              <a:gd name="connsiteX4" fmla="*/ 0 w 5052417"/>
              <a:gd name="connsiteY4" fmla="*/ 0 h 157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52417" h="1579550">
                <a:moveTo>
                  <a:pt x="0" y="0"/>
                </a:moveTo>
                <a:lnTo>
                  <a:pt x="5052417" y="0"/>
                </a:lnTo>
                <a:lnTo>
                  <a:pt x="5052417" y="1579550"/>
                </a:lnTo>
                <a:lnTo>
                  <a:pt x="0" y="1579550"/>
                </a:lnTo>
                <a:lnTo>
                  <a:pt x="0" y="0"/>
                </a:lnTo>
                <a:close/>
              </a:path>
            </a:pathLst>
          </a:custGeom>
          <a:noFill/>
          <a:ln>
            <a:noFill/>
          </a:ln>
          <a:sp3d/>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499067" tIns="165100" rIns="499067" bIns="165100" numCol="1" spcCol="1270" anchor="ctr" anchorCtr="0">
            <a:noAutofit/>
          </a:bodyPr>
          <a:lstStyle/>
          <a:p>
            <a:pPr marL="0" lvl="0" indent="0" algn="l" defTabSz="2933700">
              <a:lnSpc>
                <a:spcPct val="90000"/>
              </a:lnSpc>
              <a:spcBef>
                <a:spcPct val="0"/>
              </a:spcBef>
              <a:spcAft>
                <a:spcPct val="35000"/>
              </a:spcAft>
              <a:buNone/>
            </a:pPr>
            <a:r>
              <a:rPr lang="en-US" sz="6600" kern="1200" dirty="0"/>
              <a:t>01</a:t>
            </a:r>
          </a:p>
        </p:txBody>
      </p:sp>
      <p:sp>
        <p:nvSpPr>
          <p:cNvPr id="7" name="Freeform: Shape 6">
            <a:extLst>
              <a:ext uri="{FF2B5EF4-FFF2-40B4-BE49-F238E27FC236}">
                <a16:creationId xmlns:a16="http://schemas.microsoft.com/office/drawing/2014/main" id="{14B5768B-9A75-B464-7BB2-2FED6DD87D3E}"/>
              </a:ext>
            </a:extLst>
          </p:cNvPr>
          <p:cNvSpPr/>
          <p:nvPr/>
        </p:nvSpPr>
        <p:spPr>
          <a:xfrm>
            <a:off x="6298096" y="2228087"/>
            <a:ext cx="5052417" cy="3948876"/>
          </a:xfrm>
          <a:custGeom>
            <a:avLst/>
            <a:gdLst>
              <a:gd name="connsiteX0" fmla="*/ 0 w 5052417"/>
              <a:gd name="connsiteY0" fmla="*/ 0 h 3948876"/>
              <a:gd name="connsiteX1" fmla="*/ 5052417 w 5052417"/>
              <a:gd name="connsiteY1" fmla="*/ 0 h 3948876"/>
              <a:gd name="connsiteX2" fmla="*/ 5052417 w 5052417"/>
              <a:gd name="connsiteY2" fmla="*/ 3948876 h 3948876"/>
              <a:gd name="connsiteX3" fmla="*/ 0 w 5052417"/>
              <a:gd name="connsiteY3" fmla="*/ 3948876 h 3948876"/>
              <a:gd name="connsiteX4" fmla="*/ 0 w 5052417"/>
              <a:gd name="connsiteY4" fmla="*/ 0 h 3948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52417" h="3948876">
                <a:moveTo>
                  <a:pt x="0" y="0"/>
                </a:moveTo>
                <a:lnTo>
                  <a:pt x="5052417" y="0"/>
                </a:lnTo>
                <a:lnTo>
                  <a:pt x="5052417" y="3948876"/>
                </a:lnTo>
                <a:lnTo>
                  <a:pt x="0" y="3948876"/>
                </a:lnTo>
                <a:lnTo>
                  <a:pt x="0" y="0"/>
                </a:lnTo>
                <a:close/>
              </a:path>
            </a:pathLst>
          </a:custGeom>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499067" tIns="1579550" rIns="499067" bIns="330201" numCol="1" spcCol="1270" anchor="t" anchorCtr="0">
            <a:noAutofit/>
          </a:bodyPr>
          <a:lstStyle/>
          <a:p>
            <a:pPr marL="0" lvl="0" indent="0" algn="l" defTabSz="1066800">
              <a:lnSpc>
                <a:spcPct val="90000"/>
              </a:lnSpc>
              <a:spcBef>
                <a:spcPct val="0"/>
              </a:spcBef>
              <a:spcAft>
                <a:spcPct val="35000"/>
              </a:spcAft>
              <a:buNone/>
            </a:pPr>
            <a:r>
              <a:rPr lang="en-US" sz="2400" b="0" i="0" kern="1200" dirty="0"/>
              <a:t>A node in the linked list contains two parts, i.e., first is the data part and second is the address part. The last node of the list contains a pointer to the null.</a:t>
            </a:r>
            <a:endParaRPr lang="en-US" sz="2400" kern="1200" dirty="0"/>
          </a:p>
        </p:txBody>
      </p:sp>
      <p:sp>
        <p:nvSpPr>
          <p:cNvPr id="8" name="Freeform: Shape 7">
            <a:extLst>
              <a:ext uri="{FF2B5EF4-FFF2-40B4-BE49-F238E27FC236}">
                <a16:creationId xmlns:a16="http://schemas.microsoft.com/office/drawing/2014/main" id="{B81339E0-6E76-9FA4-4A79-5628BFC5B281}"/>
              </a:ext>
            </a:extLst>
          </p:cNvPr>
          <p:cNvSpPr/>
          <p:nvPr/>
        </p:nvSpPr>
        <p:spPr>
          <a:xfrm>
            <a:off x="6298096" y="2228087"/>
            <a:ext cx="5052417" cy="1579550"/>
          </a:xfrm>
          <a:custGeom>
            <a:avLst/>
            <a:gdLst>
              <a:gd name="connsiteX0" fmla="*/ 0 w 5052417"/>
              <a:gd name="connsiteY0" fmla="*/ 0 h 1579550"/>
              <a:gd name="connsiteX1" fmla="*/ 5052417 w 5052417"/>
              <a:gd name="connsiteY1" fmla="*/ 0 h 1579550"/>
              <a:gd name="connsiteX2" fmla="*/ 5052417 w 5052417"/>
              <a:gd name="connsiteY2" fmla="*/ 1579550 h 1579550"/>
              <a:gd name="connsiteX3" fmla="*/ 0 w 5052417"/>
              <a:gd name="connsiteY3" fmla="*/ 1579550 h 1579550"/>
              <a:gd name="connsiteX4" fmla="*/ 0 w 5052417"/>
              <a:gd name="connsiteY4" fmla="*/ 0 h 157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52417" h="1579550">
                <a:moveTo>
                  <a:pt x="0" y="0"/>
                </a:moveTo>
                <a:lnTo>
                  <a:pt x="5052417" y="0"/>
                </a:lnTo>
                <a:lnTo>
                  <a:pt x="5052417" y="1579550"/>
                </a:lnTo>
                <a:lnTo>
                  <a:pt x="0" y="1579550"/>
                </a:lnTo>
                <a:lnTo>
                  <a:pt x="0" y="0"/>
                </a:lnTo>
                <a:close/>
              </a:path>
            </a:pathLst>
          </a:custGeom>
          <a:noFill/>
          <a:ln>
            <a:noFill/>
          </a:ln>
          <a:sp3d/>
        </p:spPr>
        <p:style>
          <a:lnRef idx="2">
            <a:scrgbClr r="0" g="0" b="0"/>
          </a:lnRef>
          <a:fillRef idx="1">
            <a:scrgbClr r="0" g="0" b="0"/>
          </a:fillRef>
          <a:effectRef idx="0">
            <a:schemeClr val="accent3">
              <a:hueOff val="0"/>
              <a:satOff val="0"/>
              <a:lumOff val="0"/>
              <a:alphaOff val="0"/>
            </a:schemeClr>
          </a:effectRef>
          <a:fontRef idx="minor">
            <a:schemeClr val="lt1"/>
          </a:fontRef>
        </p:style>
        <p:txBody>
          <a:bodyPr spcFirstLastPara="0" vert="horz" wrap="square" lIns="499067" tIns="165100" rIns="499067" bIns="165100" numCol="1" spcCol="1270" anchor="ctr" anchorCtr="0">
            <a:noAutofit/>
          </a:bodyPr>
          <a:lstStyle/>
          <a:p>
            <a:pPr marL="0" lvl="0" indent="0" algn="l" defTabSz="2933700">
              <a:lnSpc>
                <a:spcPct val="90000"/>
              </a:lnSpc>
              <a:spcBef>
                <a:spcPct val="0"/>
              </a:spcBef>
              <a:spcAft>
                <a:spcPct val="35000"/>
              </a:spcAft>
              <a:buNone/>
            </a:pPr>
            <a:r>
              <a:rPr lang="en-US" sz="6600" kern="1200" dirty="0"/>
              <a:t>02</a:t>
            </a:r>
          </a:p>
        </p:txBody>
      </p:sp>
    </p:spTree>
    <p:extLst>
      <p:ext uri="{BB962C8B-B14F-4D97-AF65-F5344CB8AC3E}">
        <p14:creationId xmlns:p14="http://schemas.microsoft.com/office/powerpoint/2010/main" val="3964704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0DA792-1C12-F80C-DB66-2085BCEC2D65}"/>
              </a:ext>
            </a:extLst>
          </p:cNvPr>
          <p:cNvSpPr>
            <a:spLocks noGrp="1"/>
          </p:cNvSpPr>
          <p:nvPr>
            <p:ph type="title"/>
          </p:nvPr>
        </p:nvSpPr>
        <p:spPr>
          <a:xfrm>
            <a:off x="630936" y="640823"/>
            <a:ext cx="3419856" cy="5583148"/>
          </a:xfrm>
        </p:spPr>
        <p:txBody>
          <a:bodyPr anchor="ctr">
            <a:normAutofit/>
          </a:bodyPr>
          <a:lstStyle/>
          <a:p>
            <a:r>
              <a:rPr lang="en-US" sz="5400" dirty="0"/>
              <a:t>Array (Elements at contiguous memory locations)</a:t>
            </a:r>
            <a:endParaRPr lang="en-IN" sz="5400" dirty="0"/>
          </a:p>
        </p:txBody>
      </p:sp>
      <p:sp>
        <p:nvSpPr>
          <p:cNvPr id="25"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sX0" fmla="*/ 0 w 18288"/>
              <a:gd name="csY0" fmla="*/ 0 h 5590381"/>
              <a:gd name="csX1" fmla="*/ 18288 w 18288"/>
              <a:gd name="csY1" fmla="*/ 0 h 5590381"/>
              <a:gd name="csX2" fmla="*/ 18288 w 18288"/>
              <a:gd name="csY2" fmla="*/ 754701 h 5590381"/>
              <a:gd name="csX3" fmla="*/ 18288 w 18288"/>
              <a:gd name="csY3" fmla="*/ 1565307 h 5590381"/>
              <a:gd name="csX4" fmla="*/ 18288 w 18288"/>
              <a:gd name="csY4" fmla="*/ 2152297 h 5590381"/>
              <a:gd name="csX5" fmla="*/ 18288 w 18288"/>
              <a:gd name="csY5" fmla="*/ 2906998 h 5590381"/>
              <a:gd name="csX6" fmla="*/ 18288 w 18288"/>
              <a:gd name="csY6" fmla="*/ 3549892 h 5590381"/>
              <a:gd name="csX7" fmla="*/ 18288 w 18288"/>
              <a:gd name="csY7" fmla="*/ 4080978 h 5590381"/>
              <a:gd name="csX8" fmla="*/ 18288 w 18288"/>
              <a:gd name="csY8" fmla="*/ 4835680 h 5590381"/>
              <a:gd name="csX9" fmla="*/ 18288 w 18288"/>
              <a:gd name="csY9" fmla="*/ 5590381 h 5590381"/>
              <a:gd name="csX10" fmla="*/ 0 w 18288"/>
              <a:gd name="csY10" fmla="*/ 5590381 h 5590381"/>
              <a:gd name="csX11" fmla="*/ 0 w 18288"/>
              <a:gd name="csY11" fmla="*/ 4835680 h 5590381"/>
              <a:gd name="csX12" fmla="*/ 0 w 18288"/>
              <a:gd name="csY12" fmla="*/ 4304593 h 5590381"/>
              <a:gd name="csX13" fmla="*/ 0 w 18288"/>
              <a:gd name="csY13" fmla="*/ 3773507 h 5590381"/>
              <a:gd name="csX14" fmla="*/ 0 w 18288"/>
              <a:gd name="csY14" fmla="*/ 3186517 h 5590381"/>
              <a:gd name="csX15" fmla="*/ 0 w 18288"/>
              <a:gd name="csY15" fmla="*/ 2487720 h 5590381"/>
              <a:gd name="csX16" fmla="*/ 0 w 18288"/>
              <a:gd name="csY16" fmla="*/ 1956633 h 5590381"/>
              <a:gd name="csX17" fmla="*/ 0 w 18288"/>
              <a:gd name="csY17" fmla="*/ 1425547 h 5590381"/>
              <a:gd name="csX18" fmla="*/ 0 w 18288"/>
              <a:gd name="csY18" fmla="*/ 614942 h 5590381"/>
              <a:gd name="csX19" fmla="*/ 0 w 18288"/>
              <a:gd name="csY19" fmla="*/ 0 h 55903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49CB7037-CAA4-94E1-3959-DC798CAB0CD7}"/>
              </a:ext>
            </a:extLst>
          </p:cNvPr>
          <p:cNvPicPr>
            <a:picLocks noChangeAspect="1"/>
          </p:cNvPicPr>
          <p:nvPr/>
        </p:nvPicPr>
        <p:blipFill>
          <a:blip r:embed="rId2"/>
          <a:stretch>
            <a:fillRect/>
          </a:stretch>
        </p:blipFill>
        <p:spPr>
          <a:xfrm>
            <a:off x="4654296" y="1635133"/>
            <a:ext cx="6894576" cy="1905237"/>
          </a:xfrm>
          <a:prstGeom prst="rect">
            <a:avLst/>
          </a:prstGeom>
        </p:spPr>
      </p:pic>
    </p:spTree>
    <p:extLst>
      <p:ext uri="{BB962C8B-B14F-4D97-AF65-F5344CB8AC3E}">
        <p14:creationId xmlns:p14="http://schemas.microsoft.com/office/powerpoint/2010/main" val="3267191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0DA792-1C12-F80C-DB66-2085BCEC2D65}"/>
              </a:ext>
            </a:extLst>
          </p:cNvPr>
          <p:cNvSpPr>
            <a:spLocks noGrp="1"/>
          </p:cNvSpPr>
          <p:nvPr>
            <p:ph type="title"/>
          </p:nvPr>
        </p:nvSpPr>
        <p:spPr>
          <a:xfrm>
            <a:off x="630936" y="639520"/>
            <a:ext cx="3429000" cy="1719072"/>
          </a:xfrm>
        </p:spPr>
        <p:txBody>
          <a:bodyPr anchor="b">
            <a:normAutofit/>
          </a:bodyPr>
          <a:lstStyle/>
          <a:p>
            <a:r>
              <a:rPr lang="en-US" sz="2600" dirty="0"/>
              <a:t>Linked List (Elements stored at random memory locations)</a:t>
            </a:r>
            <a:endParaRPr lang="en-IN" sz="2600" dirty="0"/>
          </a:p>
        </p:txBody>
      </p:sp>
      <p:sp>
        <p:nvSpPr>
          <p:cNvPr id="2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3023A0DD-CF47-927D-F2F4-97F8141316EF}"/>
              </a:ext>
            </a:extLst>
          </p:cNvPr>
          <p:cNvSpPr>
            <a:spLocks noGrp="1"/>
          </p:cNvSpPr>
          <p:nvPr>
            <p:ph idx="1"/>
          </p:nvPr>
        </p:nvSpPr>
        <p:spPr>
          <a:xfrm>
            <a:off x="630936" y="2807208"/>
            <a:ext cx="3429000" cy="3410712"/>
          </a:xfrm>
        </p:spPr>
        <p:txBody>
          <a:bodyPr anchor="t">
            <a:normAutofit/>
          </a:bodyPr>
          <a:lstStyle/>
          <a:p>
            <a:endParaRPr lang="en-US" sz="2200" dirty="0"/>
          </a:p>
          <a:p>
            <a:r>
              <a:rPr lang="en-US" sz="2200" dirty="0"/>
              <a:t xml:space="preserve">Elements stored at different addresses. But </a:t>
            </a:r>
            <a:r>
              <a:rPr lang="en-US" sz="2200" b="1" dirty="0"/>
              <a:t>How to go from one element to another?</a:t>
            </a:r>
          </a:p>
          <a:p>
            <a:pPr marL="0" indent="0">
              <a:buNone/>
            </a:pPr>
            <a:endParaRPr lang="en-US" sz="2200" dirty="0"/>
          </a:p>
          <a:p>
            <a:endParaRPr lang="en-IN" sz="2200" b="1" dirty="0"/>
          </a:p>
        </p:txBody>
      </p:sp>
      <p:pic>
        <p:nvPicPr>
          <p:cNvPr id="9" name="Picture 8">
            <a:extLst>
              <a:ext uri="{FF2B5EF4-FFF2-40B4-BE49-F238E27FC236}">
                <a16:creationId xmlns:a16="http://schemas.microsoft.com/office/drawing/2014/main" id="{D98A7D72-D21F-266D-EC24-7CEFF26D04C1}"/>
              </a:ext>
            </a:extLst>
          </p:cNvPr>
          <p:cNvPicPr>
            <a:picLocks noChangeAspect="1"/>
          </p:cNvPicPr>
          <p:nvPr/>
        </p:nvPicPr>
        <p:blipFill>
          <a:blip r:embed="rId2"/>
          <a:stretch>
            <a:fillRect/>
          </a:stretch>
        </p:blipFill>
        <p:spPr>
          <a:xfrm>
            <a:off x="4654296" y="1288846"/>
            <a:ext cx="6903720" cy="4280307"/>
          </a:xfrm>
          <a:prstGeom prst="rect">
            <a:avLst/>
          </a:prstGeom>
        </p:spPr>
      </p:pic>
    </p:spTree>
    <p:extLst>
      <p:ext uri="{BB962C8B-B14F-4D97-AF65-F5344CB8AC3E}">
        <p14:creationId xmlns:p14="http://schemas.microsoft.com/office/powerpoint/2010/main" val="1612528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3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1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0DA792-1C12-F80C-DB66-2085BCEC2D65}"/>
              </a:ext>
            </a:extLst>
          </p:cNvPr>
          <p:cNvSpPr>
            <a:spLocks noGrp="1"/>
          </p:cNvSpPr>
          <p:nvPr>
            <p:ph type="title"/>
          </p:nvPr>
        </p:nvSpPr>
        <p:spPr>
          <a:xfrm>
            <a:off x="630936" y="639520"/>
            <a:ext cx="3429000" cy="1719072"/>
          </a:xfrm>
        </p:spPr>
        <p:txBody>
          <a:bodyPr anchor="b">
            <a:normAutofit/>
          </a:bodyPr>
          <a:lstStyle/>
          <a:p>
            <a:r>
              <a:rPr lang="en-US" sz="2600" dirty="0"/>
              <a:t>Linked List (Elements stored at random memory locations)</a:t>
            </a:r>
            <a:endParaRPr lang="en-IN" sz="2600" dirty="0"/>
          </a:p>
        </p:txBody>
      </p:sp>
      <p:sp>
        <p:nvSpPr>
          <p:cNvPr id="2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3023A0DD-CF47-927D-F2F4-97F8141316EF}"/>
              </a:ext>
            </a:extLst>
          </p:cNvPr>
          <p:cNvSpPr>
            <a:spLocks noGrp="1"/>
          </p:cNvSpPr>
          <p:nvPr>
            <p:ph idx="1"/>
          </p:nvPr>
        </p:nvSpPr>
        <p:spPr>
          <a:xfrm>
            <a:off x="630936" y="2807208"/>
            <a:ext cx="3429000" cy="3410712"/>
          </a:xfrm>
        </p:spPr>
        <p:txBody>
          <a:bodyPr anchor="t">
            <a:normAutofit/>
          </a:bodyPr>
          <a:lstStyle/>
          <a:p>
            <a:endParaRPr lang="en-US" sz="2200" dirty="0"/>
          </a:p>
          <a:p>
            <a:r>
              <a:rPr lang="en-US" sz="2200" dirty="0"/>
              <a:t>The idea is to somehow store the address of the other element along side the value of current element.</a:t>
            </a:r>
            <a:endParaRPr lang="en-US" sz="2200" b="1" dirty="0"/>
          </a:p>
          <a:p>
            <a:pPr marL="0" indent="0">
              <a:buNone/>
            </a:pPr>
            <a:endParaRPr lang="en-US" sz="2200" dirty="0"/>
          </a:p>
          <a:p>
            <a:endParaRPr lang="en-IN" sz="2200" b="1" dirty="0"/>
          </a:p>
        </p:txBody>
      </p:sp>
      <p:pic>
        <p:nvPicPr>
          <p:cNvPr id="5" name="Picture 4">
            <a:extLst>
              <a:ext uri="{FF2B5EF4-FFF2-40B4-BE49-F238E27FC236}">
                <a16:creationId xmlns:a16="http://schemas.microsoft.com/office/drawing/2014/main" id="{1EEBF5E2-F153-5E65-5743-D253ABA4A612}"/>
              </a:ext>
            </a:extLst>
          </p:cNvPr>
          <p:cNvPicPr>
            <a:picLocks noChangeAspect="1"/>
          </p:cNvPicPr>
          <p:nvPr/>
        </p:nvPicPr>
        <p:blipFill>
          <a:blip r:embed="rId2"/>
          <a:stretch>
            <a:fillRect/>
          </a:stretch>
        </p:blipFill>
        <p:spPr>
          <a:xfrm>
            <a:off x="4654296" y="1478699"/>
            <a:ext cx="6903720" cy="3900601"/>
          </a:xfrm>
          <a:prstGeom prst="rect">
            <a:avLst/>
          </a:prstGeom>
        </p:spPr>
      </p:pic>
    </p:spTree>
    <p:extLst>
      <p:ext uri="{BB962C8B-B14F-4D97-AF65-F5344CB8AC3E}">
        <p14:creationId xmlns:p14="http://schemas.microsoft.com/office/powerpoint/2010/main" val="2780743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wipe(up)">
                                      <p:cBhvr>
                                        <p:cTn id="7" dur="10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4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0DA792-1C12-F80C-DB66-2085BCEC2D65}"/>
              </a:ext>
            </a:extLst>
          </p:cNvPr>
          <p:cNvSpPr>
            <a:spLocks noGrp="1"/>
          </p:cNvSpPr>
          <p:nvPr>
            <p:ph type="title"/>
          </p:nvPr>
        </p:nvSpPr>
        <p:spPr>
          <a:xfrm>
            <a:off x="630936" y="640080"/>
            <a:ext cx="4818888" cy="1481328"/>
          </a:xfrm>
        </p:spPr>
        <p:txBody>
          <a:bodyPr anchor="b">
            <a:normAutofit/>
          </a:bodyPr>
          <a:lstStyle/>
          <a:p>
            <a:r>
              <a:rPr lang="en-US" sz="5000" dirty="0"/>
              <a:t>Linked List Nodes</a:t>
            </a:r>
            <a:endParaRPr lang="en-IN" sz="5000" dirty="0"/>
          </a:p>
        </p:txBody>
      </p:sp>
      <p:sp>
        <p:nvSpPr>
          <p:cNvPr id="40"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3023A0DD-CF47-927D-F2F4-97F8141316EF}"/>
              </a:ext>
            </a:extLst>
          </p:cNvPr>
          <p:cNvSpPr>
            <a:spLocks noGrp="1"/>
          </p:cNvSpPr>
          <p:nvPr>
            <p:ph idx="1"/>
          </p:nvPr>
        </p:nvSpPr>
        <p:spPr>
          <a:xfrm>
            <a:off x="630936" y="2660904"/>
            <a:ext cx="4818888" cy="3547872"/>
          </a:xfrm>
        </p:spPr>
        <p:txBody>
          <a:bodyPr anchor="t">
            <a:normAutofit/>
          </a:bodyPr>
          <a:lstStyle/>
          <a:p>
            <a:endParaRPr lang="en-US" sz="2200" dirty="0"/>
          </a:p>
          <a:p>
            <a:r>
              <a:rPr lang="en-US" sz="2200" dirty="0"/>
              <a:t xml:space="preserve">Linked list node contains </a:t>
            </a:r>
            <a:r>
              <a:rPr lang="en-US" sz="2200" b="1" dirty="0"/>
              <a:t>2 parts</a:t>
            </a:r>
          </a:p>
          <a:p>
            <a:pPr lvl="1"/>
            <a:r>
              <a:rPr lang="en-US" sz="2200" b="1" dirty="0"/>
              <a:t>Data Part</a:t>
            </a:r>
            <a:r>
              <a:rPr lang="en-US" sz="2200" dirty="0"/>
              <a:t xml:space="preserve"> (To store the value)</a:t>
            </a:r>
            <a:endParaRPr lang="en-US" sz="2200" b="1" dirty="0"/>
          </a:p>
          <a:p>
            <a:pPr lvl="1"/>
            <a:r>
              <a:rPr lang="en-US" sz="2200" b="1" dirty="0"/>
              <a:t xml:space="preserve">Next Part </a:t>
            </a:r>
            <a:r>
              <a:rPr lang="en-US" sz="2200" dirty="0"/>
              <a:t>(To store the address of the next element)</a:t>
            </a:r>
          </a:p>
          <a:p>
            <a:r>
              <a:rPr lang="en-US" sz="2200" dirty="0"/>
              <a:t>Here’s how a linked list node will look like</a:t>
            </a:r>
          </a:p>
          <a:p>
            <a:pPr marL="0" indent="0">
              <a:buNone/>
            </a:pPr>
            <a:endParaRPr lang="en-US" sz="2200" dirty="0"/>
          </a:p>
        </p:txBody>
      </p:sp>
      <p:pic>
        <p:nvPicPr>
          <p:cNvPr id="6" name="Picture 5">
            <a:extLst>
              <a:ext uri="{FF2B5EF4-FFF2-40B4-BE49-F238E27FC236}">
                <a16:creationId xmlns:a16="http://schemas.microsoft.com/office/drawing/2014/main" id="{89FD445F-7D09-64CD-A6DB-E78A43D53F92}"/>
              </a:ext>
            </a:extLst>
          </p:cNvPr>
          <p:cNvPicPr>
            <a:picLocks noChangeAspect="1"/>
          </p:cNvPicPr>
          <p:nvPr/>
        </p:nvPicPr>
        <p:blipFill>
          <a:blip r:embed="rId2"/>
          <a:stretch>
            <a:fillRect/>
          </a:stretch>
        </p:blipFill>
        <p:spPr>
          <a:xfrm>
            <a:off x="6099048" y="1344457"/>
            <a:ext cx="5458968" cy="4169085"/>
          </a:xfrm>
          <a:prstGeom prst="rect">
            <a:avLst/>
          </a:prstGeom>
        </p:spPr>
      </p:pic>
    </p:spTree>
    <p:extLst>
      <p:ext uri="{BB962C8B-B14F-4D97-AF65-F5344CB8AC3E}">
        <p14:creationId xmlns:p14="http://schemas.microsoft.com/office/powerpoint/2010/main" val="2063468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randombar(horizontal)">
                                      <p:cBhvr>
                                        <p:cTn id="7" dur="1000"/>
                                        <p:tgtEl>
                                          <p:spTgt spid="4">
                                            <p:txEl>
                                              <p:pRg st="1" end="1"/>
                                            </p:txEl>
                                          </p:spTgt>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randombar(horizontal)">
                                      <p:cBhvr>
                                        <p:cTn id="10" dur="1000"/>
                                        <p:tgtEl>
                                          <p:spTgt spid="4">
                                            <p:txEl>
                                              <p:pRg st="2" end="2"/>
                                            </p:txEl>
                                          </p:spTgt>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randombar(horizontal)">
                                      <p:cBhvr>
                                        <p:cTn id="13" dur="1000"/>
                                        <p:tgtEl>
                                          <p:spTgt spid="4">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4">
                                            <p:txEl>
                                              <p:pRg st="4" end="4"/>
                                            </p:txEl>
                                          </p:spTgt>
                                        </p:tgtEl>
                                        <p:attrNameLst>
                                          <p:attrName>style.visibility</p:attrName>
                                        </p:attrNameLst>
                                      </p:cBhvr>
                                      <p:to>
                                        <p:strVal val="visible"/>
                                      </p:to>
                                    </p:set>
                                    <p:animEffect transition="in" filter="randombar(horizontal)">
                                      <p:cBhvr>
                                        <p:cTn id="18" dur="1000"/>
                                        <p:tgtEl>
                                          <p:spTgt spid="4">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up)">
                                      <p:cBhvr>
                                        <p:cTn id="23"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7" name="Rectangle 46">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B0DA792-1C12-F80C-DB66-2085BCEC2D65}"/>
              </a:ext>
            </a:extLst>
          </p:cNvPr>
          <p:cNvSpPr>
            <a:spLocks noGrp="1"/>
          </p:cNvSpPr>
          <p:nvPr>
            <p:ph type="title"/>
          </p:nvPr>
        </p:nvSpPr>
        <p:spPr>
          <a:xfrm>
            <a:off x="1046746" y="586822"/>
            <a:ext cx="3560252" cy="1645920"/>
          </a:xfrm>
        </p:spPr>
        <p:txBody>
          <a:bodyPr>
            <a:normAutofit/>
          </a:bodyPr>
          <a:lstStyle/>
          <a:p>
            <a:r>
              <a:rPr lang="en-US" sz="3200"/>
              <a:t>Linked List Nodes</a:t>
            </a:r>
            <a:endParaRPr lang="en-IN" sz="3200"/>
          </a:p>
        </p:txBody>
      </p:sp>
      <p:sp>
        <p:nvSpPr>
          <p:cNvPr id="49" name="Rectangle 48">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51" name="Rectangle 50">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Content Placeholder 3">
            <a:extLst>
              <a:ext uri="{FF2B5EF4-FFF2-40B4-BE49-F238E27FC236}">
                <a16:creationId xmlns:a16="http://schemas.microsoft.com/office/drawing/2014/main" id="{3023A0DD-CF47-927D-F2F4-97F8141316EF}"/>
              </a:ext>
            </a:extLst>
          </p:cNvPr>
          <p:cNvSpPr>
            <a:spLocks noGrp="1"/>
          </p:cNvSpPr>
          <p:nvPr>
            <p:ph idx="1"/>
          </p:nvPr>
        </p:nvSpPr>
        <p:spPr>
          <a:xfrm>
            <a:off x="5351164" y="586822"/>
            <a:ext cx="6002636" cy="1645920"/>
          </a:xfrm>
        </p:spPr>
        <p:txBody>
          <a:bodyPr anchor="ctr">
            <a:normAutofit/>
          </a:bodyPr>
          <a:lstStyle/>
          <a:p>
            <a:r>
              <a:rPr lang="en-US" sz="3200" dirty="0"/>
              <a:t>This is how a linked list representation of 5 integers look like</a:t>
            </a:r>
          </a:p>
        </p:txBody>
      </p:sp>
      <p:pic>
        <p:nvPicPr>
          <p:cNvPr id="5" name="Picture 4">
            <a:extLst>
              <a:ext uri="{FF2B5EF4-FFF2-40B4-BE49-F238E27FC236}">
                <a16:creationId xmlns:a16="http://schemas.microsoft.com/office/drawing/2014/main" id="{1398EAF0-132E-1E33-BC8B-05751E8F7EEE}"/>
              </a:ext>
            </a:extLst>
          </p:cNvPr>
          <p:cNvPicPr>
            <a:picLocks noChangeAspect="1"/>
          </p:cNvPicPr>
          <p:nvPr/>
        </p:nvPicPr>
        <p:blipFill>
          <a:blip r:embed="rId2"/>
          <a:stretch>
            <a:fillRect/>
          </a:stretch>
        </p:blipFill>
        <p:spPr>
          <a:xfrm>
            <a:off x="240158" y="2994119"/>
            <a:ext cx="11711683" cy="1695269"/>
          </a:xfrm>
          <a:prstGeom prst="rect">
            <a:avLst/>
          </a:prstGeom>
        </p:spPr>
      </p:pic>
    </p:spTree>
    <p:extLst>
      <p:ext uri="{BB962C8B-B14F-4D97-AF65-F5344CB8AC3E}">
        <p14:creationId xmlns:p14="http://schemas.microsoft.com/office/powerpoint/2010/main" val="2944462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1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7" name="Rectangle 46">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B0DA792-1C12-F80C-DB66-2085BCEC2D65}"/>
              </a:ext>
            </a:extLst>
          </p:cNvPr>
          <p:cNvSpPr>
            <a:spLocks noGrp="1"/>
          </p:cNvSpPr>
          <p:nvPr>
            <p:ph type="title"/>
          </p:nvPr>
        </p:nvSpPr>
        <p:spPr>
          <a:xfrm>
            <a:off x="1046746" y="586822"/>
            <a:ext cx="3560252" cy="1645920"/>
          </a:xfrm>
        </p:spPr>
        <p:txBody>
          <a:bodyPr>
            <a:normAutofit/>
          </a:bodyPr>
          <a:lstStyle/>
          <a:p>
            <a:r>
              <a:rPr lang="en-US" sz="3200"/>
              <a:t>Linked List Nodes</a:t>
            </a:r>
            <a:endParaRPr lang="en-IN" sz="3200"/>
          </a:p>
        </p:txBody>
      </p:sp>
      <p:sp>
        <p:nvSpPr>
          <p:cNvPr id="49" name="Rectangle 48">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51" name="Rectangle 50">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Content Placeholder 3">
            <a:extLst>
              <a:ext uri="{FF2B5EF4-FFF2-40B4-BE49-F238E27FC236}">
                <a16:creationId xmlns:a16="http://schemas.microsoft.com/office/drawing/2014/main" id="{3023A0DD-CF47-927D-F2F4-97F8141316EF}"/>
              </a:ext>
            </a:extLst>
          </p:cNvPr>
          <p:cNvSpPr>
            <a:spLocks noGrp="1"/>
          </p:cNvSpPr>
          <p:nvPr>
            <p:ph idx="1"/>
          </p:nvPr>
        </p:nvSpPr>
        <p:spPr>
          <a:xfrm>
            <a:off x="5351164" y="586822"/>
            <a:ext cx="6002636" cy="1645920"/>
          </a:xfrm>
        </p:spPr>
        <p:txBody>
          <a:bodyPr anchor="ctr">
            <a:normAutofit/>
          </a:bodyPr>
          <a:lstStyle/>
          <a:p>
            <a:r>
              <a:rPr lang="en-US" dirty="0"/>
              <a:t>Every node contains its own address and can have some value at data part.</a:t>
            </a:r>
          </a:p>
        </p:txBody>
      </p:sp>
      <p:pic>
        <p:nvPicPr>
          <p:cNvPr id="6" name="Picture 5">
            <a:extLst>
              <a:ext uri="{FF2B5EF4-FFF2-40B4-BE49-F238E27FC236}">
                <a16:creationId xmlns:a16="http://schemas.microsoft.com/office/drawing/2014/main" id="{A17626B8-913B-ACEF-527C-1E6886D47023}"/>
              </a:ext>
            </a:extLst>
          </p:cNvPr>
          <p:cNvPicPr>
            <a:picLocks noChangeAspect="1"/>
          </p:cNvPicPr>
          <p:nvPr/>
        </p:nvPicPr>
        <p:blipFill>
          <a:blip r:embed="rId2"/>
          <a:stretch>
            <a:fillRect/>
          </a:stretch>
        </p:blipFill>
        <p:spPr>
          <a:xfrm>
            <a:off x="265471" y="2920371"/>
            <a:ext cx="11755397" cy="1761512"/>
          </a:xfrm>
          <a:prstGeom prst="rect">
            <a:avLst/>
          </a:prstGeom>
        </p:spPr>
      </p:pic>
    </p:spTree>
    <p:extLst>
      <p:ext uri="{BB962C8B-B14F-4D97-AF65-F5344CB8AC3E}">
        <p14:creationId xmlns:p14="http://schemas.microsoft.com/office/powerpoint/2010/main" val="1444253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1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7" name="Rectangle 46">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B0DA792-1C12-F80C-DB66-2085BCEC2D65}"/>
              </a:ext>
            </a:extLst>
          </p:cNvPr>
          <p:cNvSpPr>
            <a:spLocks noGrp="1"/>
          </p:cNvSpPr>
          <p:nvPr>
            <p:ph type="title"/>
          </p:nvPr>
        </p:nvSpPr>
        <p:spPr>
          <a:xfrm>
            <a:off x="1046746" y="586822"/>
            <a:ext cx="3560252" cy="1645920"/>
          </a:xfrm>
        </p:spPr>
        <p:txBody>
          <a:bodyPr>
            <a:normAutofit/>
          </a:bodyPr>
          <a:lstStyle/>
          <a:p>
            <a:r>
              <a:rPr lang="en-US" sz="3200"/>
              <a:t>Linked List Nodes</a:t>
            </a:r>
            <a:endParaRPr lang="en-IN" sz="3200"/>
          </a:p>
        </p:txBody>
      </p:sp>
      <p:sp>
        <p:nvSpPr>
          <p:cNvPr id="49" name="Rectangle 48">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51" name="Rectangle 50">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Content Placeholder 3">
            <a:extLst>
              <a:ext uri="{FF2B5EF4-FFF2-40B4-BE49-F238E27FC236}">
                <a16:creationId xmlns:a16="http://schemas.microsoft.com/office/drawing/2014/main" id="{3023A0DD-CF47-927D-F2F4-97F8141316EF}"/>
              </a:ext>
            </a:extLst>
          </p:cNvPr>
          <p:cNvSpPr>
            <a:spLocks noGrp="1"/>
          </p:cNvSpPr>
          <p:nvPr>
            <p:ph idx="1"/>
          </p:nvPr>
        </p:nvSpPr>
        <p:spPr>
          <a:xfrm>
            <a:off x="5351164" y="586822"/>
            <a:ext cx="6002636" cy="1645920"/>
          </a:xfrm>
        </p:spPr>
        <p:txBody>
          <a:bodyPr anchor="ctr">
            <a:normAutofit/>
          </a:bodyPr>
          <a:lstStyle/>
          <a:p>
            <a:r>
              <a:rPr lang="en-US" dirty="0"/>
              <a:t xml:space="preserve">Now comes the linking part. The idea is to </a:t>
            </a:r>
            <a:r>
              <a:rPr lang="en-US" b="1" dirty="0"/>
              <a:t>store the address of NEXT NODE in PREVIOUS NODE to maintain connectivity.</a:t>
            </a:r>
            <a:endParaRPr lang="en-US" dirty="0"/>
          </a:p>
        </p:txBody>
      </p:sp>
      <p:pic>
        <p:nvPicPr>
          <p:cNvPr id="5" name="Picture 4">
            <a:extLst>
              <a:ext uri="{FF2B5EF4-FFF2-40B4-BE49-F238E27FC236}">
                <a16:creationId xmlns:a16="http://schemas.microsoft.com/office/drawing/2014/main" id="{4D9304D9-DA84-4487-87ED-B201F38F76EF}"/>
              </a:ext>
            </a:extLst>
          </p:cNvPr>
          <p:cNvPicPr>
            <a:picLocks noChangeAspect="1"/>
          </p:cNvPicPr>
          <p:nvPr/>
        </p:nvPicPr>
        <p:blipFill>
          <a:blip r:embed="rId2"/>
          <a:stretch>
            <a:fillRect/>
          </a:stretch>
        </p:blipFill>
        <p:spPr>
          <a:xfrm>
            <a:off x="490408" y="2987647"/>
            <a:ext cx="11599369" cy="1545022"/>
          </a:xfrm>
          <a:prstGeom prst="rect">
            <a:avLst/>
          </a:prstGeom>
        </p:spPr>
      </p:pic>
    </p:spTree>
    <p:extLst>
      <p:ext uri="{BB962C8B-B14F-4D97-AF65-F5344CB8AC3E}">
        <p14:creationId xmlns:p14="http://schemas.microsoft.com/office/powerpoint/2010/main" val="2639965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1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7" name="Rectangle 46">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B0DA792-1C12-F80C-DB66-2085BCEC2D65}"/>
              </a:ext>
            </a:extLst>
          </p:cNvPr>
          <p:cNvSpPr>
            <a:spLocks noGrp="1"/>
          </p:cNvSpPr>
          <p:nvPr>
            <p:ph type="title"/>
          </p:nvPr>
        </p:nvSpPr>
        <p:spPr>
          <a:xfrm>
            <a:off x="1046746" y="586822"/>
            <a:ext cx="3560252" cy="1645920"/>
          </a:xfrm>
        </p:spPr>
        <p:txBody>
          <a:bodyPr>
            <a:normAutofit/>
          </a:bodyPr>
          <a:lstStyle/>
          <a:p>
            <a:r>
              <a:rPr lang="en-US" sz="3200"/>
              <a:t>Linked List Nodes</a:t>
            </a:r>
            <a:endParaRPr lang="en-IN" sz="3200"/>
          </a:p>
        </p:txBody>
      </p:sp>
      <p:sp>
        <p:nvSpPr>
          <p:cNvPr id="49" name="Rectangle 48">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51" name="Rectangle 50">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Content Placeholder 3">
            <a:extLst>
              <a:ext uri="{FF2B5EF4-FFF2-40B4-BE49-F238E27FC236}">
                <a16:creationId xmlns:a16="http://schemas.microsoft.com/office/drawing/2014/main" id="{3023A0DD-CF47-927D-F2F4-97F8141316EF}"/>
              </a:ext>
            </a:extLst>
          </p:cNvPr>
          <p:cNvSpPr>
            <a:spLocks noGrp="1"/>
          </p:cNvSpPr>
          <p:nvPr>
            <p:ph idx="1"/>
          </p:nvPr>
        </p:nvSpPr>
        <p:spPr>
          <a:xfrm>
            <a:off x="5351164" y="586822"/>
            <a:ext cx="6002636" cy="1645920"/>
          </a:xfrm>
        </p:spPr>
        <p:txBody>
          <a:bodyPr anchor="ctr">
            <a:normAutofit/>
          </a:bodyPr>
          <a:lstStyle/>
          <a:p>
            <a:r>
              <a:rPr lang="en-US" dirty="0"/>
              <a:t xml:space="preserve">By doing this we give connection from one node to another. </a:t>
            </a:r>
            <a:r>
              <a:rPr lang="en-US" b="1" dirty="0"/>
              <a:t>Last node is connected to nothing else so we store NULL.</a:t>
            </a:r>
            <a:endParaRPr lang="en-US" dirty="0"/>
          </a:p>
        </p:txBody>
      </p:sp>
      <p:pic>
        <p:nvPicPr>
          <p:cNvPr id="6" name="Picture 5">
            <a:extLst>
              <a:ext uri="{FF2B5EF4-FFF2-40B4-BE49-F238E27FC236}">
                <a16:creationId xmlns:a16="http://schemas.microsoft.com/office/drawing/2014/main" id="{949951C4-B1AA-3F80-AA5C-BF34EDFD4C2D}"/>
              </a:ext>
            </a:extLst>
          </p:cNvPr>
          <p:cNvPicPr>
            <a:picLocks noChangeAspect="1"/>
          </p:cNvPicPr>
          <p:nvPr/>
        </p:nvPicPr>
        <p:blipFill>
          <a:blip r:embed="rId2"/>
          <a:stretch>
            <a:fillRect/>
          </a:stretch>
        </p:blipFill>
        <p:spPr>
          <a:xfrm>
            <a:off x="201537" y="2925356"/>
            <a:ext cx="11990463" cy="1414080"/>
          </a:xfrm>
          <a:prstGeom prst="rect">
            <a:avLst/>
          </a:prstGeom>
        </p:spPr>
      </p:pic>
    </p:spTree>
    <p:extLst>
      <p:ext uri="{BB962C8B-B14F-4D97-AF65-F5344CB8AC3E}">
        <p14:creationId xmlns:p14="http://schemas.microsoft.com/office/powerpoint/2010/main" val="514294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1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9B9B2E-B8C6-64DF-8D44-4CEB06C9D919}"/>
              </a:ext>
            </a:extLst>
          </p:cNvPr>
          <p:cNvSpPr>
            <a:spLocks noGrp="1"/>
          </p:cNvSpPr>
          <p:nvPr>
            <p:ph type="title"/>
          </p:nvPr>
        </p:nvSpPr>
        <p:spPr>
          <a:xfrm>
            <a:off x="635000" y="640823"/>
            <a:ext cx="3418659" cy="5583148"/>
          </a:xfrm>
        </p:spPr>
        <p:txBody>
          <a:bodyPr anchor="ctr">
            <a:normAutofit/>
          </a:bodyPr>
          <a:lstStyle/>
          <a:p>
            <a:r>
              <a:rPr lang="en-US" sz="5400" dirty="0"/>
              <a:t>Types of Linked Lists</a:t>
            </a:r>
            <a:endParaRPr lang="en-IN" sz="5400" dirty="0"/>
          </a:p>
        </p:txBody>
      </p:sp>
      <p:sp>
        <p:nvSpPr>
          <p:cNvPr id="24"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98DE492-34EE-A3EB-8289-6C8C6A239C07}"/>
              </a:ext>
            </a:extLst>
          </p:cNvPr>
          <p:cNvSpPr/>
          <p:nvPr/>
        </p:nvSpPr>
        <p:spPr>
          <a:xfrm>
            <a:off x="4648018" y="1335112"/>
            <a:ext cx="6900512" cy="1033200"/>
          </a:xfrm>
          <a:prstGeom prst="rect">
            <a:avLst/>
          </a:prstGeom>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7" name="Freeform: Shape 6">
            <a:extLst>
              <a:ext uri="{FF2B5EF4-FFF2-40B4-BE49-F238E27FC236}">
                <a16:creationId xmlns:a16="http://schemas.microsoft.com/office/drawing/2014/main" id="{1FA7DC58-6B57-1536-F619-1C584947256D}"/>
              </a:ext>
            </a:extLst>
          </p:cNvPr>
          <p:cNvSpPr/>
          <p:nvPr/>
        </p:nvSpPr>
        <p:spPr>
          <a:xfrm>
            <a:off x="4993043" y="729952"/>
            <a:ext cx="4830358" cy="1210320"/>
          </a:xfrm>
          <a:custGeom>
            <a:avLst/>
            <a:gdLst>
              <a:gd name="connsiteX0" fmla="*/ 0 w 4830358"/>
              <a:gd name="connsiteY0" fmla="*/ 201724 h 1210320"/>
              <a:gd name="connsiteX1" fmla="*/ 201724 w 4830358"/>
              <a:gd name="connsiteY1" fmla="*/ 0 h 1210320"/>
              <a:gd name="connsiteX2" fmla="*/ 4628634 w 4830358"/>
              <a:gd name="connsiteY2" fmla="*/ 0 h 1210320"/>
              <a:gd name="connsiteX3" fmla="*/ 4830358 w 4830358"/>
              <a:gd name="connsiteY3" fmla="*/ 201724 h 1210320"/>
              <a:gd name="connsiteX4" fmla="*/ 4830358 w 4830358"/>
              <a:gd name="connsiteY4" fmla="*/ 1008596 h 1210320"/>
              <a:gd name="connsiteX5" fmla="*/ 4628634 w 4830358"/>
              <a:gd name="connsiteY5" fmla="*/ 1210320 h 1210320"/>
              <a:gd name="connsiteX6" fmla="*/ 201724 w 4830358"/>
              <a:gd name="connsiteY6" fmla="*/ 1210320 h 1210320"/>
              <a:gd name="connsiteX7" fmla="*/ 0 w 4830358"/>
              <a:gd name="connsiteY7" fmla="*/ 1008596 h 1210320"/>
              <a:gd name="connsiteX8" fmla="*/ 0 w 4830358"/>
              <a:gd name="connsiteY8" fmla="*/ 201724 h 121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30358" h="1210320">
                <a:moveTo>
                  <a:pt x="0" y="201724"/>
                </a:moveTo>
                <a:cubicBezTo>
                  <a:pt x="0" y="90315"/>
                  <a:pt x="90315" y="0"/>
                  <a:pt x="201724" y="0"/>
                </a:cubicBezTo>
                <a:lnTo>
                  <a:pt x="4628634" y="0"/>
                </a:lnTo>
                <a:cubicBezTo>
                  <a:pt x="4740043" y="0"/>
                  <a:pt x="4830358" y="90315"/>
                  <a:pt x="4830358" y="201724"/>
                </a:cubicBezTo>
                <a:lnTo>
                  <a:pt x="4830358" y="1008596"/>
                </a:lnTo>
                <a:cubicBezTo>
                  <a:pt x="4830358" y="1120005"/>
                  <a:pt x="4740043" y="1210320"/>
                  <a:pt x="4628634" y="1210320"/>
                </a:cubicBezTo>
                <a:lnTo>
                  <a:pt x="201724" y="1210320"/>
                </a:lnTo>
                <a:cubicBezTo>
                  <a:pt x="90315" y="1210320"/>
                  <a:pt x="0" y="1120005"/>
                  <a:pt x="0" y="1008596"/>
                </a:cubicBezTo>
                <a:lnTo>
                  <a:pt x="0" y="201724"/>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241659" tIns="59083" rIns="241659" bIns="59083" numCol="1" spcCol="1270" anchor="ctr" anchorCtr="0">
            <a:noAutofit/>
          </a:bodyPr>
          <a:lstStyle/>
          <a:p>
            <a:pPr marL="0" lvl="0" indent="0" algn="l" defTabSz="1822450">
              <a:lnSpc>
                <a:spcPct val="90000"/>
              </a:lnSpc>
              <a:spcBef>
                <a:spcPct val="0"/>
              </a:spcBef>
              <a:spcAft>
                <a:spcPct val="35000"/>
              </a:spcAft>
              <a:buNone/>
            </a:pPr>
            <a:r>
              <a:rPr lang="en-US" sz="4100" kern="1200" dirty="0"/>
              <a:t>Singly Linked List</a:t>
            </a:r>
          </a:p>
        </p:txBody>
      </p:sp>
      <p:sp>
        <p:nvSpPr>
          <p:cNvPr id="8" name="Rectangle 7">
            <a:extLst>
              <a:ext uri="{FF2B5EF4-FFF2-40B4-BE49-F238E27FC236}">
                <a16:creationId xmlns:a16="http://schemas.microsoft.com/office/drawing/2014/main" id="{16BD8745-E681-1540-331C-8C4F2CE59CCF}"/>
              </a:ext>
            </a:extLst>
          </p:cNvPr>
          <p:cNvSpPr/>
          <p:nvPr/>
        </p:nvSpPr>
        <p:spPr>
          <a:xfrm>
            <a:off x="4648018" y="3194872"/>
            <a:ext cx="6900512" cy="1033200"/>
          </a:xfrm>
          <a:prstGeom prst="rect">
            <a:avLst/>
          </a:prstGeom>
        </p:spPr>
        <p:style>
          <a:lnRef idx="2">
            <a:schemeClr val="accent5">
              <a:hueOff val="-6076075"/>
              <a:satOff val="-413"/>
              <a:lumOff val="981"/>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10" name="Freeform: Shape 9">
            <a:extLst>
              <a:ext uri="{FF2B5EF4-FFF2-40B4-BE49-F238E27FC236}">
                <a16:creationId xmlns:a16="http://schemas.microsoft.com/office/drawing/2014/main" id="{C32EF81E-CF97-C9C7-6248-2D200E90A165}"/>
              </a:ext>
            </a:extLst>
          </p:cNvPr>
          <p:cNvSpPr/>
          <p:nvPr/>
        </p:nvSpPr>
        <p:spPr>
          <a:xfrm>
            <a:off x="4993043" y="2589712"/>
            <a:ext cx="4830358" cy="1210320"/>
          </a:xfrm>
          <a:custGeom>
            <a:avLst/>
            <a:gdLst>
              <a:gd name="connsiteX0" fmla="*/ 0 w 4830358"/>
              <a:gd name="connsiteY0" fmla="*/ 201724 h 1210320"/>
              <a:gd name="connsiteX1" fmla="*/ 201724 w 4830358"/>
              <a:gd name="connsiteY1" fmla="*/ 0 h 1210320"/>
              <a:gd name="connsiteX2" fmla="*/ 4628634 w 4830358"/>
              <a:gd name="connsiteY2" fmla="*/ 0 h 1210320"/>
              <a:gd name="connsiteX3" fmla="*/ 4830358 w 4830358"/>
              <a:gd name="connsiteY3" fmla="*/ 201724 h 1210320"/>
              <a:gd name="connsiteX4" fmla="*/ 4830358 w 4830358"/>
              <a:gd name="connsiteY4" fmla="*/ 1008596 h 1210320"/>
              <a:gd name="connsiteX5" fmla="*/ 4628634 w 4830358"/>
              <a:gd name="connsiteY5" fmla="*/ 1210320 h 1210320"/>
              <a:gd name="connsiteX6" fmla="*/ 201724 w 4830358"/>
              <a:gd name="connsiteY6" fmla="*/ 1210320 h 1210320"/>
              <a:gd name="connsiteX7" fmla="*/ 0 w 4830358"/>
              <a:gd name="connsiteY7" fmla="*/ 1008596 h 1210320"/>
              <a:gd name="connsiteX8" fmla="*/ 0 w 4830358"/>
              <a:gd name="connsiteY8" fmla="*/ 201724 h 121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30358" h="1210320">
                <a:moveTo>
                  <a:pt x="0" y="201724"/>
                </a:moveTo>
                <a:cubicBezTo>
                  <a:pt x="0" y="90315"/>
                  <a:pt x="90315" y="0"/>
                  <a:pt x="201724" y="0"/>
                </a:cubicBezTo>
                <a:lnTo>
                  <a:pt x="4628634" y="0"/>
                </a:lnTo>
                <a:cubicBezTo>
                  <a:pt x="4740043" y="0"/>
                  <a:pt x="4830358" y="90315"/>
                  <a:pt x="4830358" y="201724"/>
                </a:cubicBezTo>
                <a:lnTo>
                  <a:pt x="4830358" y="1008596"/>
                </a:lnTo>
                <a:cubicBezTo>
                  <a:pt x="4830358" y="1120005"/>
                  <a:pt x="4740043" y="1210320"/>
                  <a:pt x="4628634" y="1210320"/>
                </a:cubicBezTo>
                <a:lnTo>
                  <a:pt x="201724" y="1210320"/>
                </a:lnTo>
                <a:cubicBezTo>
                  <a:pt x="90315" y="1210320"/>
                  <a:pt x="0" y="1120005"/>
                  <a:pt x="0" y="1008596"/>
                </a:cubicBezTo>
                <a:lnTo>
                  <a:pt x="0" y="201724"/>
                </a:lnTo>
                <a:close/>
              </a:path>
            </a:pathLst>
          </a:custGeom>
        </p:spPr>
        <p:style>
          <a:lnRef idx="2">
            <a:schemeClr val="lt1">
              <a:hueOff val="0"/>
              <a:satOff val="0"/>
              <a:lumOff val="0"/>
              <a:alphaOff val="0"/>
            </a:schemeClr>
          </a:lnRef>
          <a:fillRef idx="1">
            <a:schemeClr val="accent5">
              <a:hueOff val="-6076075"/>
              <a:satOff val="-413"/>
              <a:lumOff val="981"/>
              <a:alphaOff val="0"/>
            </a:schemeClr>
          </a:fillRef>
          <a:effectRef idx="0">
            <a:schemeClr val="accent5">
              <a:hueOff val="-6076075"/>
              <a:satOff val="-413"/>
              <a:lumOff val="981"/>
              <a:alphaOff val="0"/>
            </a:schemeClr>
          </a:effectRef>
          <a:fontRef idx="minor">
            <a:schemeClr val="lt1"/>
          </a:fontRef>
        </p:style>
        <p:txBody>
          <a:bodyPr spcFirstLastPara="0" vert="horz" wrap="square" lIns="241659" tIns="59083" rIns="241659" bIns="59083" numCol="1" spcCol="1270" anchor="ctr" anchorCtr="0">
            <a:noAutofit/>
          </a:bodyPr>
          <a:lstStyle/>
          <a:p>
            <a:pPr marL="0" lvl="0" indent="0" algn="l" defTabSz="1822450">
              <a:lnSpc>
                <a:spcPct val="90000"/>
              </a:lnSpc>
              <a:spcBef>
                <a:spcPct val="0"/>
              </a:spcBef>
              <a:spcAft>
                <a:spcPct val="35000"/>
              </a:spcAft>
              <a:buNone/>
            </a:pPr>
            <a:r>
              <a:rPr lang="en-US" sz="4100" kern="1200" dirty="0"/>
              <a:t>Doubly Linked List</a:t>
            </a:r>
          </a:p>
        </p:txBody>
      </p:sp>
      <p:sp>
        <p:nvSpPr>
          <p:cNvPr id="14" name="Rectangle 13">
            <a:extLst>
              <a:ext uri="{FF2B5EF4-FFF2-40B4-BE49-F238E27FC236}">
                <a16:creationId xmlns:a16="http://schemas.microsoft.com/office/drawing/2014/main" id="{4EA173E4-8EF1-129B-3D79-81E40FC3BAEB}"/>
              </a:ext>
            </a:extLst>
          </p:cNvPr>
          <p:cNvSpPr/>
          <p:nvPr/>
        </p:nvSpPr>
        <p:spPr>
          <a:xfrm>
            <a:off x="4648018" y="5054632"/>
            <a:ext cx="6900512" cy="1033200"/>
          </a:xfrm>
          <a:prstGeom prst="rect">
            <a:avLst/>
          </a:prstGeom>
        </p:spPr>
        <p:style>
          <a:lnRef idx="2">
            <a:schemeClr val="accent5">
              <a:hueOff val="-12152150"/>
              <a:satOff val="-826"/>
              <a:lumOff val="1961"/>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16" name="Freeform: Shape 15">
            <a:extLst>
              <a:ext uri="{FF2B5EF4-FFF2-40B4-BE49-F238E27FC236}">
                <a16:creationId xmlns:a16="http://schemas.microsoft.com/office/drawing/2014/main" id="{D68EA683-36D8-8BF2-6A29-3E6195F9CFC6}"/>
              </a:ext>
            </a:extLst>
          </p:cNvPr>
          <p:cNvSpPr/>
          <p:nvPr/>
        </p:nvSpPr>
        <p:spPr>
          <a:xfrm>
            <a:off x="4993043" y="4449472"/>
            <a:ext cx="4830358" cy="1210320"/>
          </a:xfrm>
          <a:custGeom>
            <a:avLst/>
            <a:gdLst>
              <a:gd name="connsiteX0" fmla="*/ 0 w 4830358"/>
              <a:gd name="connsiteY0" fmla="*/ 201724 h 1210320"/>
              <a:gd name="connsiteX1" fmla="*/ 201724 w 4830358"/>
              <a:gd name="connsiteY1" fmla="*/ 0 h 1210320"/>
              <a:gd name="connsiteX2" fmla="*/ 4628634 w 4830358"/>
              <a:gd name="connsiteY2" fmla="*/ 0 h 1210320"/>
              <a:gd name="connsiteX3" fmla="*/ 4830358 w 4830358"/>
              <a:gd name="connsiteY3" fmla="*/ 201724 h 1210320"/>
              <a:gd name="connsiteX4" fmla="*/ 4830358 w 4830358"/>
              <a:gd name="connsiteY4" fmla="*/ 1008596 h 1210320"/>
              <a:gd name="connsiteX5" fmla="*/ 4628634 w 4830358"/>
              <a:gd name="connsiteY5" fmla="*/ 1210320 h 1210320"/>
              <a:gd name="connsiteX6" fmla="*/ 201724 w 4830358"/>
              <a:gd name="connsiteY6" fmla="*/ 1210320 h 1210320"/>
              <a:gd name="connsiteX7" fmla="*/ 0 w 4830358"/>
              <a:gd name="connsiteY7" fmla="*/ 1008596 h 1210320"/>
              <a:gd name="connsiteX8" fmla="*/ 0 w 4830358"/>
              <a:gd name="connsiteY8" fmla="*/ 201724 h 121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30358" h="1210320">
                <a:moveTo>
                  <a:pt x="0" y="201724"/>
                </a:moveTo>
                <a:cubicBezTo>
                  <a:pt x="0" y="90315"/>
                  <a:pt x="90315" y="0"/>
                  <a:pt x="201724" y="0"/>
                </a:cubicBezTo>
                <a:lnTo>
                  <a:pt x="4628634" y="0"/>
                </a:lnTo>
                <a:cubicBezTo>
                  <a:pt x="4740043" y="0"/>
                  <a:pt x="4830358" y="90315"/>
                  <a:pt x="4830358" y="201724"/>
                </a:cubicBezTo>
                <a:lnTo>
                  <a:pt x="4830358" y="1008596"/>
                </a:lnTo>
                <a:cubicBezTo>
                  <a:pt x="4830358" y="1120005"/>
                  <a:pt x="4740043" y="1210320"/>
                  <a:pt x="4628634" y="1210320"/>
                </a:cubicBezTo>
                <a:lnTo>
                  <a:pt x="201724" y="1210320"/>
                </a:lnTo>
                <a:cubicBezTo>
                  <a:pt x="90315" y="1210320"/>
                  <a:pt x="0" y="1120005"/>
                  <a:pt x="0" y="1008596"/>
                </a:cubicBezTo>
                <a:lnTo>
                  <a:pt x="0" y="201724"/>
                </a:lnTo>
                <a:close/>
              </a:path>
            </a:pathLst>
          </a:custGeom>
        </p:spPr>
        <p:style>
          <a:lnRef idx="2">
            <a:schemeClr val="lt1">
              <a:hueOff val="0"/>
              <a:satOff val="0"/>
              <a:lumOff val="0"/>
              <a:alphaOff val="0"/>
            </a:schemeClr>
          </a:lnRef>
          <a:fillRef idx="1">
            <a:schemeClr val="accent5">
              <a:hueOff val="-12152150"/>
              <a:satOff val="-826"/>
              <a:lumOff val="1961"/>
              <a:alphaOff val="0"/>
            </a:schemeClr>
          </a:fillRef>
          <a:effectRef idx="0">
            <a:schemeClr val="accent5">
              <a:hueOff val="-12152150"/>
              <a:satOff val="-826"/>
              <a:lumOff val="1961"/>
              <a:alphaOff val="0"/>
            </a:schemeClr>
          </a:effectRef>
          <a:fontRef idx="minor">
            <a:schemeClr val="lt1"/>
          </a:fontRef>
        </p:style>
        <p:txBody>
          <a:bodyPr spcFirstLastPara="0" vert="horz" wrap="square" lIns="241659" tIns="59083" rIns="241659" bIns="59083" numCol="1" spcCol="1270" anchor="ctr" anchorCtr="0">
            <a:noAutofit/>
          </a:bodyPr>
          <a:lstStyle/>
          <a:p>
            <a:pPr marL="0" lvl="0" indent="0" algn="l" defTabSz="1822450">
              <a:lnSpc>
                <a:spcPct val="90000"/>
              </a:lnSpc>
              <a:spcBef>
                <a:spcPct val="0"/>
              </a:spcBef>
              <a:spcAft>
                <a:spcPct val="35000"/>
              </a:spcAft>
              <a:buNone/>
            </a:pPr>
            <a:r>
              <a:rPr lang="en-US" sz="4100" kern="1200" dirty="0"/>
              <a:t>Circular Linked List</a:t>
            </a:r>
          </a:p>
        </p:txBody>
      </p:sp>
    </p:spTree>
    <p:extLst>
      <p:ext uri="{BB962C8B-B14F-4D97-AF65-F5344CB8AC3E}">
        <p14:creationId xmlns:p14="http://schemas.microsoft.com/office/powerpoint/2010/main" val="2615193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1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10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7D144591-E9E9-4209-8701-3BB48A917D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BB22AE-B718-88A4-85F8-88034E045F2D}"/>
              </a:ext>
            </a:extLst>
          </p:cNvPr>
          <p:cNvSpPr>
            <a:spLocks noGrp="1"/>
          </p:cNvSpPr>
          <p:nvPr>
            <p:ph type="title"/>
          </p:nvPr>
        </p:nvSpPr>
        <p:spPr>
          <a:xfrm>
            <a:off x="8016084" y="547712"/>
            <a:ext cx="3337715" cy="5577367"/>
          </a:xfrm>
        </p:spPr>
        <p:txBody>
          <a:bodyPr>
            <a:normAutofit/>
          </a:bodyPr>
          <a:lstStyle/>
          <a:p>
            <a:r>
              <a:rPr lang="en-US" sz="5200"/>
              <a:t>Linked List Operations</a:t>
            </a:r>
            <a:endParaRPr lang="en-IN" sz="5200"/>
          </a:p>
        </p:txBody>
      </p:sp>
      <p:sp>
        <p:nvSpPr>
          <p:cNvPr id="6" name="Rectangle 5">
            <a:extLst>
              <a:ext uri="{FF2B5EF4-FFF2-40B4-BE49-F238E27FC236}">
                <a16:creationId xmlns:a16="http://schemas.microsoft.com/office/drawing/2014/main" id="{64AA99FC-D9F3-9CD3-A144-D849EFADEF19}"/>
              </a:ext>
            </a:extLst>
          </p:cNvPr>
          <p:cNvSpPr/>
          <p:nvPr/>
        </p:nvSpPr>
        <p:spPr>
          <a:xfrm>
            <a:off x="838200" y="1070176"/>
            <a:ext cx="6630174" cy="604800"/>
          </a:xfrm>
          <a:prstGeom prst="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7" name="Freeform: Shape 6">
            <a:extLst>
              <a:ext uri="{FF2B5EF4-FFF2-40B4-BE49-F238E27FC236}">
                <a16:creationId xmlns:a16="http://schemas.microsoft.com/office/drawing/2014/main" id="{8B012969-DA53-0500-3CB4-B9B4C5AFC024}"/>
              </a:ext>
            </a:extLst>
          </p:cNvPr>
          <p:cNvSpPr/>
          <p:nvPr/>
        </p:nvSpPr>
        <p:spPr>
          <a:xfrm>
            <a:off x="1169708" y="715936"/>
            <a:ext cx="4641121" cy="708480"/>
          </a:xfrm>
          <a:custGeom>
            <a:avLst/>
            <a:gdLst>
              <a:gd name="connsiteX0" fmla="*/ 0 w 4641121"/>
              <a:gd name="connsiteY0" fmla="*/ 118082 h 708480"/>
              <a:gd name="connsiteX1" fmla="*/ 118082 w 4641121"/>
              <a:gd name="connsiteY1" fmla="*/ 0 h 708480"/>
              <a:gd name="connsiteX2" fmla="*/ 4523039 w 4641121"/>
              <a:gd name="connsiteY2" fmla="*/ 0 h 708480"/>
              <a:gd name="connsiteX3" fmla="*/ 4641121 w 4641121"/>
              <a:gd name="connsiteY3" fmla="*/ 118082 h 708480"/>
              <a:gd name="connsiteX4" fmla="*/ 4641121 w 4641121"/>
              <a:gd name="connsiteY4" fmla="*/ 590398 h 708480"/>
              <a:gd name="connsiteX5" fmla="*/ 4523039 w 4641121"/>
              <a:gd name="connsiteY5" fmla="*/ 708480 h 708480"/>
              <a:gd name="connsiteX6" fmla="*/ 118082 w 4641121"/>
              <a:gd name="connsiteY6" fmla="*/ 708480 h 708480"/>
              <a:gd name="connsiteX7" fmla="*/ 0 w 4641121"/>
              <a:gd name="connsiteY7" fmla="*/ 590398 h 708480"/>
              <a:gd name="connsiteX8" fmla="*/ 0 w 4641121"/>
              <a:gd name="connsiteY8" fmla="*/ 118082 h 7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41121" h="708480">
                <a:moveTo>
                  <a:pt x="0" y="118082"/>
                </a:moveTo>
                <a:cubicBezTo>
                  <a:pt x="0" y="52867"/>
                  <a:pt x="52867" y="0"/>
                  <a:pt x="118082" y="0"/>
                </a:cubicBezTo>
                <a:lnTo>
                  <a:pt x="4523039" y="0"/>
                </a:lnTo>
                <a:cubicBezTo>
                  <a:pt x="4588254" y="0"/>
                  <a:pt x="4641121" y="52867"/>
                  <a:pt x="4641121" y="118082"/>
                </a:cubicBezTo>
                <a:lnTo>
                  <a:pt x="4641121" y="590398"/>
                </a:lnTo>
                <a:cubicBezTo>
                  <a:pt x="4641121" y="655613"/>
                  <a:pt x="4588254" y="708480"/>
                  <a:pt x="4523039" y="708480"/>
                </a:cubicBezTo>
                <a:lnTo>
                  <a:pt x="118082" y="708480"/>
                </a:lnTo>
                <a:cubicBezTo>
                  <a:pt x="52867" y="708480"/>
                  <a:pt x="0" y="655613"/>
                  <a:pt x="0" y="590398"/>
                </a:cubicBezTo>
                <a:lnTo>
                  <a:pt x="0" y="118082"/>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10008" tIns="34585" rIns="210008" bIns="34585" numCol="1" spcCol="1270" anchor="ctr" anchorCtr="0">
            <a:noAutofit/>
          </a:bodyPr>
          <a:lstStyle/>
          <a:p>
            <a:pPr marL="0" lvl="0" indent="0" algn="l" defTabSz="1066800">
              <a:lnSpc>
                <a:spcPct val="90000"/>
              </a:lnSpc>
              <a:spcBef>
                <a:spcPct val="0"/>
              </a:spcBef>
              <a:spcAft>
                <a:spcPct val="35000"/>
              </a:spcAft>
              <a:buNone/>
            </a:pPr>
            <a:r>
              <a:rPr lang="en-US" sz="2400" kern="1200"/>
              <a:t>Insertion</a:t>
            </a:r>
          </a:p>
        </p:txBody>
      </p:sp>
      <p:sp>
        <p:nvSpPr>
          <p:cNvPr id="8" name="Rectangle 7">
            <a:extLst>
              <a:ext uri="{FF2B5EF4-FFF2-40B4-BE49-F238E27FC236}">
                <a16:creationId xmlns:a16="http://schemas.microsoft.com/office/drawing/2014/main" id="{8D0DE5CA-DA83-9FE8-4CA1-DD098FFFE9DE}"/>
              </a:ext>
            </a:extLst>
          </p:cNvPr>
          <p:cNvSpPr/>
          <p:nvPr/>
        </p:nvSpPr>
        <p:spPr>
          <a:xfrm>
            <a:off x="838200" y="2158816"/>
            <a:ext cx="6630174" cy="604800"/>
          </a:xfrm>
          <a:prstGeom prst="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10" name="Freeform: Shape 9">
            <a:extLst>
              <a:ext uri="{FF2B5EF4-FFF2-40B4-BE49-F238E27FC236}">
                <a16:creationId xmlns:a16="http://schemas.microsoft.com/office/drawing/2014/main" id="{837DA1B7-3967-CBF9-8ED3-5F7583D3EF4A}"/>
              </a:ext>
            </a:extLst>
          </p:cNvPr>
          <p:cNvSpPr/>
          <p:nvPr/>
        </p:nvSpPr>
        <p:spPr>
          <a:xfrm>
            <a:off x="1169708" y="1804576"/>
            <a:ext cx="4641121" cy="708480"/>
          </a:xfrm>
          <a:custGeom>
            <a:avLst/>
            <a:gdLst>
              <a:gd name="connsiteX0" fmla="*/ 0 w 4641121"/>
              <a:gd name="connsiteY0" fmla="*/ 118082 h 708480"/>
              <a:gd name="connsiteX1" fmla="*/ 118082 w 4641121"/>
              <a:gd name="connsiteY1" fmla="*/ 0 h 708480"/>
              <a:gd name="connsiteX2" fmla="*/ 4523039 w 4641121"/>
              <a:gd name="connsiteY2" fmla="*/ 0 h 708480"/>
              <a:gd name="connsiteX3" fmla="*/ 4641121 w 4641121"/>
              <a:gd name="connsiteY3" fmla="*/ 118082 h 708480"/>
              <a:gd name="connsiteX4" fmla="*/ 4641121 w 4641121"/>
              <a:gd name="connsiteY4" fmla="*/ 590398 h 708480"/>
              <a:gd name="connsiteX5" fmla="*/ 4523039 w 4641121"/>
              <a:gd name="connsiteY5" fmla="*/ 708480 h 708480"/>
              <a:gd name="connsiteX6" fmla="*/ 118082 w 4641121"/>
              <a:gd name="connsiteY6" fmla="*/ 708480 h 708480"/>
              <a:gd name="connsiteX7" fmla="*/ 0 w 4641121"/>
              <a:gd name="connsiteY7" fmla="*/ 590398 h 708480"/>
              <a:gd name="connsiteX8" fmla="*/ 0 w 4641121"/>
              <a:gd name="connsiteY8" fmla="*/ 118082 h 7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41121" h="708480">
                <a:moveTo>
                  <a:pt x="0" y="118082"/>
                </a:moveTo>
                <a:cubicBezTo>
                  <a:pt x="0" y="52867"/>
                  <a:pt x="52867" y="0"/>
                  <a:pt x="118082" y="0"/>
                </a:cubicBezTo>
                <a:lnTo>
                  <a:pt x="4523039" y="0"/>
                </a:lnTo>
                <a:cubicBezTo>
                  <a:pt x="4588254" y="0"/>
                  <a:pt x="4641121" y="52867"/>
                  <a:pt x="4641121" y="118082"/>
                </a:cubicBezTo>
                <a:lnTo>
                  <a:pt x="4641121" y="590398"/>
                </a:lnTo>
                <a:cubicBezTo>
                  <a:pt x="4641121" y="655613"/>
                  <a:pt x="4588254" y="708480"/>
                  <a:pt x="4523039" y="708480"/>
                </a:cubicBezTo>
                <a:lnTo>
                  <a:pt x="118082" y="708480"/>
                </a:lnTo>
                <a:cubicBezTo>
                  <a:pt x="52867" y="708480"/>
                  <a:pt x="0" y="655613"/>
                  <a:pt x="0" y="590398"/>
                </a:cubicBezTo>
                <a:lnTo>
                  <a:pt x="0" y="118082"/>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10008" tIns="34585" rIns="210008" bIns="34585" numCol="1" spcCol="1270" anchor="ctr" anchorCtr="0">
            <a:noAutofit/>
          </a:bodyPr>
          <a:lstStyle/>
          <a:p>
            <a:pPr marL="0" lvl="0" indent="0" algn="l" defTabSz="1066800">
              <a:lnSpc>
                <a:spcPct val="90000"/>
              </a:lnSpc>
              <a:spcBef>
                <a:spcPct val="0"/>
              </a:spcBef>
              <a:spcAft>
                <a:spcPct val="35000"/>
              </a:spcAft>
              <a:buNone/>
            </a:pPr>
            <a:r>
              <a:rPr lang="en-US" sz="2400" kern="1200"/>
              <a:t>Deletion</a:t>
            </a:r>
          </a:p>
        </p:txBody>
      </p:sp>
      <p:sp>
        <p:nvSpPr>
          <p:cNvPr id="12" name="Rectangle 11">
            <a:extLst>
              <a:ext uri="{FF2B5EF4-FFF2-40B4-BE49-F238E27FC236}">
                <a16:creationId xmlns:a16="http://schemas.microsoft.com/office/drawing/2014/main" id="{F3CB347B-F45A-2A66-D53A-DBC8A7805CFE}"/>
              </a:ext>
            </a:extLst>
          </p:cNvPr>
          <p:cNvSpPr/>
          <p:nvPr/>
        </p:nvSpPr>
        <p:spPr>
          <a:xfrm>
            <a:off x="838200" y="3247456"/>
            <a:ext cx="6630174" cy="604800"/>
          </a:xfrm>
          <a:prstGeom prst="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20" name="Freeform: Shape 19">
            <a:extLst>
              <a:ext uri="{FF2B5EF4-FFF2-40B4-BE49-F238E27FC236}">
                <a16:creationId xmlns:a16="http://schemas.microsoft.com/office/drawing/2014/main" id="{A7F24C43-544F-E620-07FD-7C64189E08C1}"/>
              </a:ext>
            </a:extLst>
          </p:cNvPr>
          <p:cNvSpPr/>
          <p:nvPr/>
        </p:nvSpPr>
        <p:spPr>
          <a:xfrm>
            <a:off x="1169708" y="2893216"/>
            <a:ext cx="4641121" cy="708480"/>
          </a:xfrm>
          <a:custGeom>
            <a:avLst/>
            <a:gdLst>
              <a:gd name="connsiteX0" fmla="*/ 0 w 4641121"/>
              <a:gd name="connsiteY0" fmla="*/ 118082 h 708480"/>
              <a:gd name="connsiteX1" fmla="*/ 118082 w 4641121"/>
              <a:gd name="connsiteY1" fmla="*/ 0 h 708480"/>
              <a:gd name="connsiteX2" fmla="*/ 4523039 w 4641121"/>
              <a:gd name="connsiteY2" fmla="*/ 0 h 708480"/>
              <a:gd name="connsiteX3" fmla="*/ 4641121 w 4641121"/>
              <a:gd name="connsiteY3" fmla="*/ 118082 h 708480"/>
              <a:gd name="connsiteX4" fmla="*/ 4641121 w 4641121"/>
              <a:gd name="connsiteY4" fmla="*/ 590398 h 708480"/>
              <a:gd name="connsiteX5" fmla="*/ 4523039 w 4641121"/>
              <a:gd name="connsiteY5" fmla="*/ 708480 h 708480"/>
              <a:gd name="connsiteX6" fmla="*/ 118082 w 4641121"/>
              <a:gd name="connsiteY6" fmla="*/ 708480 h 708480"/>
              <a:gd name="connsiteX7" fmla="*/ 0 w 4641121"/>
              <a:gd name="connsiteY7" fmla="*/ 590398 h 708480"/>
              <a:gd name="connsiteX8" fmla="*/ 0 w 4641121"/>
              <a:gd name="connsiteY8" fmla="*/ 118082 h 7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41121" h="708480">
                <a:moveTo>
                  <a:pt x="0" y="118082"/>
                </a:moveTo>
                <a:cubicBezTo>
                  <a:pt x="0" y="52867"/>
                  <a:pt x="52867" y="0"/>
                  <a:pt x="118082" y="0"/>
                </a:cubicBezTo>
                <a:lnTo>
                  <a:pt x="4523039" y="0"/>
                </a:lnTo>
                <a:cubicBezTo>
                  <a:pt x="4588254" y="0"/>
                  <a:pt x="4641121" y="52867"/>
                  <a:pt x="4641121" y="118082"/>
                </a:cubicBezTo>
                <a:lnTo>
                  <a:pt x="4641121" y="590398"/>
                </a:lnTo>
                <a:cubicBezTo>
                  <a:pt x="4641121" y="655613"/>
                  <a:pt x="4588254" y="708480"/>
                  <a:pt x="4523039" y="708480"/>
                </a:cubicBezTo>
                <a:lnTo>
                  <a:pt x="118082" y="708480"/>
                </a:lnTo>
                <a:cubicBezTo>
                  <a:pt x="52867" y="708480"/>
                  <a:pt x="0" y="655613"/>
                  <a:pt x="0" y="590398"/>
                </a:cubicBezTo>
                <a:lnTo>
                  <a:pt x="0" y="118082"/>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10008" tIns="34585" rIns="210008" bIns="34585" numCol="1" spcCol="1270" anchor="ctr" anchorCtr="0">
            <a:noAutofit/>
          </a:bodyPr>
          <a:lstStyle/>
          <a:p>
            <a:pPr marL="0" lvl="0" indent="0" algn="l" defTabSz="1066800">
              <a:lnSpc>
                <a:spcPct val="90000"/>
              </a:lnSpc>
              <a:spcBef>
                <a:spcPct val="0"/>
              </a:spcBef>
              <a:spcAft>
                <a:spcPct val="35000"/>
              </a:spcAft>
              <a:buNone/>
            </a:pPr>
            <a:r>
              <a:rPr lang="en-US" sz="2400" kern="1200"/>
              <a:t>Search</a:t>
            </a:r>
          </a:p>
        </p:txBody>
      </p:sp>
      <p:sp>
        <p:nvSpPr>
          <p:cNvPr id="21" name="Rectangle 20">
            <a:extLst>
              <a:ext uri="{FF2B5EF4-FFF2-40B4-BE49-F238E27FC236}">
                <a16:creationId xmlns:a16="http://schemas.microsoft.com/office/drawing/2014/main" id="{F1553E9C-C6FC-61EC-AEBE-B4C57D7CD645}"/>
              </a:ext>
            </a:extLst>
          </p:cNvPr>
          <p:cNvSpPr/>
          <p:nvPr/>
        </p:nvSpPr>
        <p:spPr>
          <a:xfrm>
            <a:off x="838200" y="4336095"/>
            <a:ext cx="6630174" cy="604800"/>
          </a:xfrm>
          <a:prstGeom prst="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22" name="Freeform: Shape 21">
            <a:extLst>
              <a:ext uri="{FF2B5EF4-FFF2-40B4-BE49-F238E27FC236}">
                <a16:creationId xmlns:a16="http://schemas.microsoft.com/office/drawing/2014/main" id="{58626652-399A-A734-ED20-8C27B50AD957}"/>
              </a:ext>
            </a:extLst>
          </p:cNvPr>
          <p:cNvSpPr/>
          <p:nvPr/>
        </p:nvSpPr>
        <p:spPr>
          <a:xfrm>
            <a:off x="1169708" y="3981856"/>
            <a:ext cx="4641121" cy="708480"/>
          </a:xfrm>
          <a:custGeom>
            <a:avLst/>
            <a:gdLst>
              <a:gd name="connsiteX0" fmla="*/ 0 w 4641121"/>
              <a:gd name="connsiteY0" fmla="*/ 118082 h 708480"/>
              <a:gd name="connsiteX1" fmla="*/ 118082 w 4641121"/>
              <a:gd name="connsiteY1" fmla="*/ 0 h 708480"/>
              <a:gd name="connsiteX2" fmla="*/ 4523039 w 4641121"/>
              <a:gd name="connsiteY2" fmla="*/ 0 h 708480"/>
              <a:gd name="connsiteX3" fmla="*/ 4641121 w 4641121"/>
              <a:gd name="connsiteY3" fmla="*/ 118082 h 708480"/>
              <a:gd name="connsiteX4" fmla="*/ 4641121 w 4641121"/>
              <a:gd name="connsiteY4" fmla="*/ 590398 h 708480"/>
              <a:gd name="connsiteX5" fmla="*/ 4523039 w 4641121"/>
              <a:gd name="connsiteY5" fmla="*/ 708480 h 708480"/>
              <a:gd name="connsiteX6" fmla="*/ 118082 w 4641121"/>
              <a:gd name="connsiteY6" fmla="*/ 708480 h 708480"/>
              <a:gd name="connsiteX7" fmla="*/ 0 w 4641121"/>
              <a:gd name="connsiteY7" fmla="*/ 590398 h 708480"/>
              <a:gd name="connsiteX8" fmla="*/ 0 w 4641121"/>
              <a:gd name="connsiteY8" fmla="*/ 118082 h 7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41121" h="708480">
                <a:moveTo>
                  <a:pt x="0" y="118082"/>
                </a:moveTo>
                <a:cubicBezTo>
                  <a:pt x="0" y="52867"/>
                  <a:pt x="52867" y="0"/>
                  <a:pt x="118082" y="0"/>
                </a:cubicBezTo>
                <a:lnTo>
                  <a:pt x="4523039" y="0"/>
                </a:lnTo>
                <a:cubicBezTo>
                  <a:pt x="4588254" y="0"/>
                  <a:pt x="4641121" y="52867"/>
                  <a:pt x="4641121" y="118082"/>
                </a:cubicBezTo>
                <a:lnTo>
                  <a:pt x="4641121" y="590398"/>
                </a:lnTo>
                <a:cubicBezTo>
                  <a:pt x="4641121" y="655613"/>
                  <a:pt x="4588254" y="708480"/>
                  <a:pt x="4523039" y="708480"/>
                </a:cubicBezTo>
                <a:lnTo>
                  <a:pt x="118082" y="708480"/>
                </a:lnTo>
                <a:cubicBezTo>
                  <a:pt x="52867" y="708480"/>
                  <a:pt x="0" y="655613"/>
                  <a:pt x="0" y="590398"/>
                </a:cubicBezTo>
                <a:lnTo>
                  <a:pt x="0" y="118082"/>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10008" tIns="34585" rIns="210008" bIns="34585" numCol="1" spcCol="1270" anchor="ctr" anchorCtr="0">
            <a:noAutofit/>
          </a:bodyPr>
          <a:lstStyle/>
          <a:p>
            <a:pPr marL="0" lvl="0" indent="0" algn="l" defTabSz="1066800">
              <a:lnSpc>
                <a:spcPct val="90000"/>
              </a:lnSpc>
              <a:spcBef>
                <a:spcPct val="0"/>
              </a:spcBef>
              <a:spcAft>
                <a:spcPct val="35000"/>
              </a:spcAft>
              <a:buNone/>
            </a:pPr>
            <a:r>
              <a:rPr lang="en-US" sz="2400" kern="1200"/>
              <a:t>Reverse</a:t>
            </a:r>
          </a:p>
        </p:txBody>
      </p:sp>
      <p:sp>
        <p:nvSpPr>
          <p:cNvPr id="23" name="Rectangle 22">
            <a:extLst>
              <a:ext uri="{FF2B5EF4-FFF2-40B4-BE49-F238E27FC236}">
                <a16:creationId xmlns:a16="http://schemas.microsoft.com/office/drawing/2014/main" id="{14617189-BA3E-61B3-5108-4CA6D55DBC2B}"/>
              </a:ext>
            </a:extLst>
          </p:cNvPr>
          <p:cNvSpPr/>
          <p:nvPr/>
        </p:nvSpPr>
        <p:spPr>
          <a:xfrm>
            <a:off x="838200" y="5424735"/>
            <a:ext cx="6630174" cy="604800"/>
          </a:xfrm>
          <a:prstGeom prst="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IN"/>
          </a:p>
        </p:txBody>
      </p:sp>
      <p:sp>
        <p:nvSpPr>
          <p:cNvPr id="25" name="Freeform: Shape 24">
            <a:extLst>
              <a:ext uri="{FF2B5EF4-FFF2-40B4-BE49-F238E27FC236}">
                <a16:creationId xmlns:a16="http://schemas.microsoft.com/office/drawing/2014/main" id="{872BA028-9A6E-D576-D730-6D98FAED4875}"/>
              </a:ext>
            </a:extLst>
          </p:cNvPr>
          <p:cNvSpPr/>
          <p:nvPr/>
        </p:nvSpPr>
        <p:spPr>
          <a:xfrm>
            <a:off x="1169708" y="5070495"/>
            <a:ext cx="4641121" cy="708480"/>
          </a:xfrm>
          <a:custGeom>
            <a:avLst/>
            <a:gdLst>
              <a:gd name="connsiteX0" fmla="*/ 0 w 4641121"/>
              <a:gd name="connsiteY0" fmla="*/ 118082 h 708480"/>
              <a:gd name="connsiteX1" fmla="*/ 118082 w 4641121"/>
              <a:gd name="connsiteY1" fmla="*/ 0 h 708480"/>
              <a:gd name="connsiteX2" fmla="*/ 4523039 w 4641121"/>
              <a:gd name="connsiteY2" fmla="*/ 0 h 708480"/>
              <a:gd name="connsiteX3" fmla="*/ 4641121 w 4641121"/>
              <a:gd name="connsiteY3" fmla="*/ 118082 h 708480"/>
              <a:gd name="connsiteX4" fmla="*/ 4641121 w 4641121"/>
              <a:gd name="connsiteY4" fmla="*/ 590398 h 708480"/>
              <a:gd name="connsiteX5" fmla="*/ 4523039 w 4641121"/>
              <a:gd name="connsiteY5" fmla="*/ 708480 h 708480"/>
              <a:gd name="connsiteX6" fmla="*/ 118082 w 4641121"/>
              <a:gd name="connsiteY6" fmla="*/ 708480 h 708480"/>
              <a:gd name="connsiteX7" fmla="*/ 0 w 4641121"/>
              <a:gd name="connsiteY7" fmla="*/ 590398 h 708480"/>
              <a:gd name="connsiteX8" fmla="*/ 0 w 4641121"/>
              <a:gd name="connsiteY8" fmla="*/ 118082 h 708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41121" h="708480">
                <a:moveTo>
                  <a:pt x="0" y="118082"/>
                </a:moveTo>
                <a:cubicBezTo>
                  <a:pt x="0" y="52867"/>
                  <a:pt x="52867" y="0"/>
                  <a:pt x="118082" y="0"/>
                </a:cubicBezTo>
                <a:lnTo>
                  <a:pt x="4523039" y="0"/>
                </a:lnTo>
                <a:cubicBezTo>
                  <a:pt x="4588254" y="0"/>
                  <a:pt x="4641121" y="52867"/>
                  <a:pt x="4641121" y="118082"/>
                </a:cubicBezTo>
                <a:lnTo>
                  <a:pt x="4641121" y="590398"/>
                </a:lnTo>
                <a:cubicBezTo>
                  <a:pt x="4641121" y="655613"/>
                  <a:pt x="4588254" y="708480"/>
                  <a:pt x="4523039" y="708480"/>
                </a:cubicBezTo>
                <a:lnTo>
                  <a:pt x="118082" y="708480"/>
                </a:lnTo>
                <a:cubicBezTo>
                  <a:pt x="52867" y="708480"/>
                  <a:pt x="0" y="655613"/>
                  <a:pt x="0" y="590398"/>
                </a:cubicBezTo>
                <a:lnTo>
                  <a:pt x="0" y="118082"/>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10008" tIns="34585" rIns="210008" bIns="34585" numCol="1" spcCol="1270" anchor="ctr" anchorCtr="0">
            <a:noAutofit/>
          </a:bodyPr>
          <a:lstStyle/>
          <a:p>
            <a:pPr marL="0" lvl="0" indent="0" algn="l" defTabSz="1066800">
              <a:lnSpc>
                <a:spcPct val="90000"/>
              </a:lnSpc>
              <a:spcBef>
                <a:spcPct val="0"/>
              </a:spcBef>
              <a:spcAft>
                <a:spcPct val="35000"/>
              </a:spcAft>
              <a:buNone/>
            </a:pPr>
            <a:r>
              <a:rPr lang="en-US" sz="2400" kern="1200"/>
              <a:t>Sort</a:t>
            </a:r>
          </a:p>
        </p:txBody>
      </p:sp>
    </p:spTree>
    <p:extLst>
      <p:ext uri="{BB962C8B-B14F-4D97-AF65-F5344CB8AC3E}">
        <p14:creationId xmlns:p14="http://schemas.microsoft.com/office/powerpoint/2010/main" val="3520800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1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10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left)">
                                      <p:cBhvr>
                                        <p:cTn id="17" dur="10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left)">
                                      <p:cBhvr>
                                        <p:cTn id="22" dur="10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left)">
                                      <p:cBhvr>
                                        <p:cTn id="27"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20" grpId="0" animBg="1"/>
      <p:bldP spid="22" grpId="0" animBg="1"/>
      <p:bldP spid="2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EF4AC9-C7D4-B1B6-B163-9957E5C7150C}"/>
              </a:ext>
            </a:extLst>
          </p:cNvPr>
          <p:cNvSpPr>
            <a:spLocks noGrp="1"/>
          </p:cNvSpPr>
          <p:nvPr>
            <p:ph type="title"/>
          </p:nvPr>
        </p:nvSpPr>
        <p:spPr>
          <a:xfrm>
            <a:off x="4654296" y="640080"/>
            <a:ext cx="6894576" cy="3566160"/>
          </a:xfrm>
        </p:spPr>
        <p:txBody>
          <a:bodyPr vert="horz" lIns="91440" tIns="45720" rIns="91440" bIns="45720" rtlCol="0" anchor="b">
            <a:normAutofit/>
          </a:bodyPr>
          <a:lstStyle/>
          <a:p>
            <a:r>
              <a:rPr lang="en-US" sz="6600" dirty="0"/>
              <a:t>Advantages of Linked Lists</a:t>
            </a:r>
          </a:p>
        </p:txBody>
      </p:sp>
      <p:pic>
        <p:nvPicPr>
          <p:cNvPr id="21" name="Picture 20" descr="Writing an appointment on a paper agenda">
            <a:extLst>
              <a:ext uri="{FF2B5EF4-FFF2-40B4-BE49-F238E27FC236}">
                <a16:creationId xmlns:a16="http://schemas.microsoft.com/office/drawing/2014/main" id="{10F17A96-5BD1-C3D4-E0A6-0BF563FA87A3}"/>
              </a:ext>
            </a:extLst>
          </p:cNvPr>
          <p:cNvPicPr>
            <a:picLocks noChangeAspect="1"/>
          </p:cNvPicPr>
          <p:nvPr/>
        </p:nvPicPr>
        <p:blipFill rotWithShape="1">
          <a:blip r:embed="rId2"/>
          <a:srcRect r="60582" b="-1"/>
          <a:stretch/>
        </p:blipFill>
        <p:spPr>
          <a:xfrm>
            <a:off x="20" y="10"/>
            <a:ext cx="4049786" cy="6857990"/>
          </a:xfrm>
          <a:custGeom>
            <a:avLst/>
            <a:gdLst/>
            <a:ahLst/>
            <a:cxnLst/>
            <a:rect l="l" t="t" r="r" b="b"/>
            <a:pathLst>
              <a:path w="4049806" h="6858000">
                <a:moveTo>
                  <a:pt x="0" y="0"/>
                </a:moveTo>
                <a:lnTo>
                  <a:pt x="4018525" y="0"/>
                </a:lnTo>
                <a:lnTo>
                  <a:pt x="4019816" y="10931"/>
                </a:lnTo>
                <a:cubicBezTo>
                  <a:pt x="4034945" y="94836"/>
                  <a:pt x="4032275" y="179884"/>
                  <a:pt x="4036343" y="264297"/>
                </a:cubicBezTo>
                <a:cubicBezTo>
                  <a:pt x="4041301" y="367652"/>
                  <a:pt x="4035072" y="471135"/>
                  <a:pt x="4032911" y="574617"/>
                </a:cubicBezTo>
                <a:cubicBezTo>
                  <a:pt x="4031004" y="662717"/>
                  <a:pt x="4022232" y="750690"/>
                  <a:pt x="4025029" y="838916"/>
                </a:cubicBezTo>
                <a:cubicBezTo>
                  <a:pt x="4025029" y="841968"/>
                  <a:pt x="4025029" y="845019"/>
                  <a:pt x="4025029" y="848070"/>
                </a:cubicBezTo>
                <a:cubicBezTo>
                  <a:pt x="4017020" y="945068"/>
                  <a:pt x="4017020" y="1042576"/>
                  <a:pt x="4025029" y="1139574"/>
                </a:cubicBezTo>
                <a:cubicBezTo>
                  <a:pt x="4027609" y="1179950"/>
                  <a:pt x="4026885" y="1220466"/>
                  <a:pt x="4022868" y="1260728"/>
                </a:cubicBezTo>
                <a:cubicBezTo>
                  <a:pt x="4019054" y="1311960"/>
                  <a:pt x="4006849" y="1364083"/>
                  <a:pt x="4015621" y="1414934"/>
                </a:cubicBezTo>
                <a:cubicBezTo>
                  <a:pt x="4021367" y="1456784"/>
                  <a:pt x="4024558" y="1498940"/>
                  <a:pt x="4025156" y="1541172"/>
                </a:cubicBezTo>
                <a:cubicBezTo>
                  <a:pt x="4029478" y="1635755"/>
                  <a:pt x="4025283" y="1730847"/>
                  <a:pt x="4023757" y="1825685"/>
                </a:cubicBezTo>
                <a:cubicBezTo>
                  <a:pt x="4021850" y="1936286"/>
                  <a:pt x="4024647" y="2046634"/>
                  <a:pt x="4015748" y="2157235"/>
                </a:cubicBezTo>
                <a:cubicBezTo>
                  <a:pt x="4010790" y="2246581"/>
                  <a:pt x="4010790" y="2336130"/>
                  <a:pt x="4015748" y="2425476"/>
                </a:cubicBezTo>
                <a:cubicBezTo>
                  <a:pt x="4018164" y="2507473"/>
                  <a:pt x="4030495" y="2588454"/>
                  <a:pt x="4028461" y="2671214"/>
                </a:cubicBezTo>
                <a:cubicBezTo>
                  <a:pt x="4026046" y="2767832"/>
                  <a:pt x="4014604" y="2863940"/>
                  <a:pt x="4018164" y="2960685"/>
                </a:cubicBezTo>
                <a:cubicBezTo>
                  <a:pt x="4019816" y="3006832"/>
                  <a:pt x="4019944" y="3052980"/>
                  <a:pt x="4020961" y="3099127"/>
                </a:cubicBezTo>
                <a:cubicBezTo>
                  <a:pt x="4021978" y="3154682"/>
                  <a:pt x="4032021" y="3210110"/>
                  <a:pt x="4026427" y="3265665"/>
                </a:cubicBezTo>
                <a:cubicBezTo>
                  <a:pt x="4017147" y="3358087"/>
                  <a:pt x="3993120" y="3448857"/>
                  <a:pt x="4008121" y="3543567"/>
                </a:cubicBezTo>
                <a:cubicBezTo>
                  <a:pt x="4016384" y="3595690"/>
                  <a:pt x="4025791" y="3647940"/>
                  <a:pt x="4030495" y="3700571"/>
                </a:cubicBezTo>
                <a:cubicBezTo>
                  <a:pt x="4034690" y="3747608"/>
                  <a:pt x="4045369" y="3795408"/>
                  <a:pt x="4037233" y="3842191"/>
                </a:cubicBezTo>
                <a:cubicBezTo>
                  <a:pt x="4030368" y="3882237"/>
                  <a:pt x="4034055" y="3922282"/>
                  <a:pt x="4028715" y="3962327"/>
                </a:cubicBezTo>
                <a:cubicBezTo>
                  <a:pt x="4021723" y="4014831"/>
                  <a:pt x="4017910" y="4068352"/>
                  <a:pt x="4012697" y="4121111"/>
                </a:cubicBezTo>
                <a:cubicBezTo>
                  <a:pt x="4007866" y="4169038"/>
                  <a:pt x="4004307" y="4216838"/>
                  <a:pt x="4017020" y="4261841"/>
                </a:cubicBezTo>
                <a:cubicBezTo>
                  <a:pt x="4048039" y="4375112"/>
                  <a:pt x="4031004" y="4487748"/>
                  <a:pt x="4019308" y="4600257"/>
                </a:cubicBezTo>
                <a:cubicBezTo>
                  <a:pt x="4013587" y="4655049"/>
                  <a:pt x="4005197" y="4712765"/>
                  <a:pt x="4017910" y="4762853"/>
                </a:cubicBezTo>
                <a:cubicBezTo>
                  <a:pt x="4041428" y="4851716"/>
                  <a:pt x="4022995" y="4936764"/>
                  <a:pt x="4012824" y="5021432"/>
                </a:cubicBezTo>
                <a:cubicBezTo>
                  <a:pt x="4002654" y="5106099"/>
                  <a:pt x="4000239" y="5189495"/>
                  <a:pt x="4018037" y="5272637"/>
                </a:cubicBezTo>
                <a:cubicBezTo>
                  <a:pt x="4030495" y="5331116"/>
                  <a:pt x="4030495" y="5390612"/>
                  <a:pt x="4032021" y="5449600"/>
                </a:cubicBezTo>
                <a:cubicBezTo>
                  <a:pt x="4032911" y="5486339"/>
                  <a:pt x="4019308" y="5523842"/>
                  <a:pt x="4010282" y="5560582"/>
                </a:cubicBezTo>
                <a:cubicBezTo>
                  <a:pt x="3994009" y="5626943"/>
                  <a:pt x="3988162" y="5694321"/>
                  <a:pt x="4010282" y="5759029"/>
                </a:cubicBezTo>
                <a:cubicBezTo>
                  <a:pt x="4040793" y="5848655"/>
                  <a:pt x="4058336" y="5938407"/>
                  <a:pt x="4045623" y="6033117"/>
                </a:cubicBezTo>
                <a:cubicBezTo>
                  <a:pt x="4038377" y="6091724"/>
                  <a:pt x="4036597" y="6151347"/>
                  <a:pt x="4025664" y="6209190"/>
                </a:cubicBezTo>
                <a:cubicBezTo>
                  <a:pt x="4007358" y="6304790"/>
                  <a:pt x="4013841" y="6399882"/>
                  <a:pt x="4028461" y="6494211"/>
                </a:cubicBezTo>
                <a:cubicBezTo>
                  <a:pt x="4038542" y="6573081"/>
                  <a:pt x="4039610" y="6652829"/>
                  <a:pt x="4031639" y="6731941"/>
                </a:cubicBezTo>
                <a:lnTo>
                  <a:pt x="4022913" y="6858000"/>
                </a:lnTo>
                <a:lnTo>
                  <a:pt x="0" y="6858000"/>
                </a:lnTo>
                <a:close/>
              </a:path>
            </a:pathLst>
          </a:custGeom>
        </p:spPr>
      </p:pic>
      <p:sp>
        <p:nvSpPr>
          <p:cNvPr id="27" name="sketchy line">
            <a:extLst>
              <a:ext uri="{FF2B5EF4-FFF2-40B4-BE49-F238E27FC236}">
                <a16:creationId xmlns:a16="http://schemas.microsoft.com/office/drawing/2014/main" id="{82580482-BA80-420A-8A05-C58E97F2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4409267"/>
            <a:ext cx="4242816" cy="18288"/>
          </a:xfrm>
          <a:custGeom>
            <a:avLst/>
            <a:gdLst>
              <a:gd name="csX0" fmla="*/ 0 w 4242816"/>
              <a:gd name="csY0" fmla="*/ 0 h 18288"/>
              <a:gd name="csX1" fmla="*/ 690973 w 4242816"/>
              <a:gd name="csY1" fmla="*/ 0 h 18288"/>
              <a:gd name="csX2" fmla="*/ 1212233 w 4242816"/>
              <a:gd name="csY2" fmla="*/ 0 h 18288"/>
              <a:gd name="csX3" fmla="*/ 1860778 w 4242816"/>
              <a:gd name="csY3" fmla="*/ 0 h 18288"/>
              <a:gd name="csX4" fmla="*/ 2424466 w 4242816"/>
              <a:gd name="csY4" fmla="*/ 0 h 18288"/>
              <a:gd name="csX5" fmla="*/ 3115439 w 4242816"/>
              <a:gd name="csY5" fmla="*/ 0 h 18288"/>
              <a:gd name="csX6" fmla="*/ 3636699 w 4242816"/>
              <a:gd name="csY6" fmla="*/ 0 h 18288"/>
              <a:gd name="csX7" fmla="*/ 4242816 w 4242816"/>
              <a:gd name="csY7" fmla="*/ 0 h 18288"/>
              <a:gd name="csX8" fmla="*/ 4242816 w 4242816"/>
              <a:gd name="csY8" fmla="*/ 18288 h 18288"/>
              <a:gd name="csX9" fmla="*/ 3636699 w 4242816"/>
              <a:gd name="csY9" fmla="*/ 18288 h 18288"/>
              <a:gd name="csX10" fmla="*/ 3030583 w 4242816"/>
              <a:gd name="csY10" fmla="*/ 18288 h 18288"/>
              <a:gd name="csX11" fmla="*/ 2466894 w 4242816"/>
              <a:gd name="csY11" fmla="*/ 18288 h 18288"/>
              <a:gd name="csX12" fmla="*/ 1988062 w 4242816"/>
              <a:gd name="csY12" fmla="*/ 18288 h 18288"/>
              <a:gd name="csX13" fmla="*/ 1466802 w 4242816"/>
              <a:gd name="csY13" fmla="*/ 18288 h 18288"/>
              <a:gd name="csX14" fmla="*/ 860686 w 4242816"/>
              <a:gd name="csY14" fmla="*/ 18288 h 18288"/>
              <a:gd name="csX15" fmla="*/ 0 w 4242816"/>
              <a:gd name="csY15" fmla="*/ 18288 h 18288"/>
              <a:gd name="csX16" fmla="*/ 0 w 4242816"/>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2816" h="18288" fill="none" extrusionOk="0">
                <a:moveTo>
                  <a:pt x="0" y="0"/>
                </a:moveTo>
                <a:cubicBezTo>
                  <a:pt x="249934" y="1471"/>
                  <a:pt x="379877" y="-29444"/>
                  <a:pt x="690973" y="0"/>
                </a:cubicBezTo>
                <a:cubicBezTo>
                  <a:pt x="1002069" y="29444"/>
                  <a:pt x="1021583" y="17501"/>
                  <a:pt x="1212233" y="0"/>
                </a:cubicBezTo>
                <a:cubicBezTo>
                  <a:pt x="1402883" y="-17501"/>
                  <a:pt x="1678760" y="5386"/>
                  <a:pt x="1860778" y="0"/>
                </a:cubicBezTo>
                <a:cubicBezTo>
                  <a:pt x="2042796" y="-5386"/>
                  <a:pt x="2245608" y="-22401"/>
                  <a:pt x="2424466" y="0"/>
                </a:cubicBezTo>
                <a:cubicBezTo>
                  <a:pt x="2603324" y="22401"/>
                  <a:pt x="2890020" y="33806"/>
                  <a:pt x="3115439" y="0"/>
                </a:cubicBezTo>
                <a:cubicBezTo>
                  <a:pt x="3340858" y="-33806"/>
                  <a:pt x="3428300" y="18628"/>
                  <a:pt x="3636699" y="0"/>
                </a:cubicBezTo>
                <a:cubicBezTo>
                  <a:pt x="3845098" y="-18628"/>
                  <a:pt x="4108824" y="5541"/>
                  <a:pt x="4242816" y="0"/>
                </a:cubicBezTo>
                <a:cubicBezTo>
                  <a:pt x="4242066" y="4160"/>
                  <a:pt x="4243125" y="10356"/>
                  <a:pt x="4242816" y="18288"/>
                </a:cubicBezTo>
                <a:cubicBezTo>
                  <a:pt x="4113424" y="32735"/>
                  <a:pt x="3768327" y="47567"/>
                  <a:pt x="3636699" y="18288"/>
                </a:cubicBezTo>
                <a:cubicBezTo>
                  <a:pt x="3505071" y="-10991"/>
                  <a:pt x="3294208" y="-4990"/>
                  <a:pt x="3030583" y="18288"/>
                </a:cubicBezTo>
                <a:cubicBezTo>
                  <a:pt x="2766958" y="41566"/>
                  <a:pt x="2649277" y="20974"/>
                  <a:pt x="2466894" y="18288"/>
                </a:cubicBezTo>
                <a:cubicBezTo>
                  <a:pt x="2284511" y="15602"/>
                  <a:pt x="2151277" y="1154"/>
                  <a:pt x="1988062" y="18288"/>
                </a:cubicBezTo>
                <a:cubicBezTo>
                  <a:pt x="1824847" y="35422"/>
                  <a:pt x="1691359" y="9265"/>
                  <a:pt x="1466802" y="18288"/>
                </a:cubicBezTo>
                <a:cubicBezTo>
                  <a:pt x="1242245" y="27311"/>
                  <a:pt x="1006161" y="36605"/>
                  <a:pt x="860686" y="18288"/>
                </a:cubicBezTo>
                <a:cubicBezTo>
                  <a:pt x="715211" y="-29"/>
                  <a:pt x="242774" y="46538"/>
                  <a:pt x="0" y="18288"/>
                </a:cubicBezTo>
                <a:cubicBezTo>
                  <a:pt x="-146" y="11482"/>
                  <a:pt x="-422" y="5192"/>
                  <a:pt x="0" y="0"/>
                </a:cubicBezTo>
                <a:close/>
              </a:path>
              <a:path w="4242816" h="18288" stroke="0" extrusionOk="0">
                <a:moveTo>
                  <a:pt x="0" y="0"/>
                </a:moveTo>
                <a:cubicBezTo>
                  <a:pt x="259751" y="-14018"/>
                  <a:pt x="356632" y="-15007"/>
                  <a:pt x="521260" y="0"/>
                </a:cubicBezTo>
                <a:cubicBezTo>
                  <a:pt x="685888" y="15007"/>
                  <a:pt x="885786" y="5167"/>
                  <a:pt x="1212233" y="0"/>
                </a:cubicBezTo>
                <a:cubicBezTo>
                  <a:pt x="1538680" y="-5167"/>
                  <a:pt x="1458849" y="7951"/>
                  <a:pt x="1691065" y="0"/>
                </a:cubicBezTo>
                <a:cubicBezTo>
                  <a:pt x="1923281" y="-7951"/>
                  <a:pt x="1985780" y="-16303"/>
                  <a:pt x="2169897" y="0"/>
                </a:cubicBezTo>
                <a:cubicBezTo>
                  <a:pt x="2354014" y="16303"/>
                  <a:pt x="2633054" y="-2739"/>
                  <a:pt x="2776014" y="0"/>
                </a:cubicBezTo>
                <a:cubicBezTo>
                  <a:pt x="2918974" y="2739"/>
                  <a:pt x="3112688" y="-15682"/>
                  <a:pt x="3339702" y="0"/>
                </a:cubicBezTo>
                <a:cubicBezTo>
                  <a:pt x="3566716" y="15682"/>
                  <a:pt x="4015278" y="-28467"/>
                  <a:pt x="4242816" y="0"/>
                </a:cubicBezTo>
                <a:cubicBezTo>
                  <a:pt x="4243501" y="7633"/>
                  <a:pt x="4242294" y="10002"/>
                  <a:pt x="4242816" y="18288"/>
                </a:cubicBezTo>
                <a:cubicBezTo>
                  <a:pt x="3924964" y="16283"/>
                  <a:pt x="3746362" y="-1805"/>
                  <a:pt x="3551843" y="18288"/>
                </a:cubicBezTo>
                <a:cubicBezTo>
                  <a:pt x="3357324" y="38381"/>
                  <a:pt x="3126422" y="47156"/>
                  <a:pt x="2860870" y="18288"/>
                </a:cubicBezTo>
                <a:cubicBezTo>
                  <a:pt x="2595318" y="-10580"/>
                  <a:pt x="2572437" y="11441"/>
                  <a:pt x="2297182" y="18288"/>
                </a:cubicBezTo>
                <a:cubicBezTo>
                  <a:pt x="2021927" y="25135"/>
                  <a:pt x="1916908" y="33601"/>
                  <a:pt x="1733493" y="18288"/>
                </a:cubicBezTo>
                <a:cubicBezTo>
                  <a:pt x="1550078" y="2975"/>
                  <a:pt x="1412440" y="27896"/>
                  <a:pt x="1212233" y="18288"/>
                </a:cubicBezTo>
                <a:cubicBezTo>
                  <a:pt x="1012026" y="8680"/>
                  <a:pt x="914386" y="13859"/>
                  <a:pt x="648545" y="18288"/>
                </a:cubicBezTo>
                <a:cubicBezTo>
                  <a:pt x="382704" y="22717"/>
                  <a:pt x="233522" y="39342"/>
                  <a:pt x="0" y="18288"/>
                </a:cubicBezTo>
                <a:cubicBezTo>
                  <a:pt x="-772" y="13661"/>
                  <a:pt x="-839" y="849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9412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DBC8166-481C-4473-95F5-9A5B9073B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5A5CE6E-90AF-4D43-A014-1F9EC83EB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512467" cy="6858000"/>
          </a:xfrm>
          <a:custGeom>
            <a:avLst/>
            <a:gdLst>
              <a:gd name="connsiteX0" fmla="*/ 0 w 4512467"/>
              <a:gd name="connsiteY0" fmla="*/ 0 h 6858000"/>
              <a:gd name="connsiteX1" fmla="*/ 2579526 w 4512467"/>
              <a:gd name="connsiteY1" fmla="*/ 0 h 6858000"/>
              <a:gd name="connsiteX2" fmla="*/ 2583267 w 4512467"/>
              <a:gd name="connsiteY2" fmla="*/ 2151 h 6858000"/>
              <a:gd name="connsiteX3" fmla="*/ 4512467 w 4512467"/>
              <a:gd name="connsiteY3" fmla="*/ 3429000 h 6858000"/>
              <a:gd name="connsiteX4" fmla="*/ 2583267 w 4512467"/>
              <a:gd name="connsiteY4" fmla="*/ 6855849 h 6858000"/>
              <a:gd name="connsiteX5" fmla="*/ 2579526 w 4512467"/>
              <a:gd name="connsiteY5" fmla="*/ 6858000 h 6858000"/>
              <a:gd name="connsiteX6" fmla="*/ 0 w 451246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2467" h="6858000">
                <a:moveTo>
                  <a:pt x="0" y="0"/>
                </a:moveTo>
                <a:lnTo>
                  <a:pt x="2579526" y="0"/>
                </a:lnTo>
                <a:lnTo>
                  <a:pt x="2583267" y="2151"/>
                </a:lnTo>
                <a:cubicBezTo>
                  <a:pt x="3739868" y="704919"/>
                  <a:pt x="4512467" y="1976735"/>
                  <a:pt x="4512467" y="3429000"/>
                </a:cubicBezTo>
                <a:cubicBezTo>
                  <a:pt x="4512467" y="4881266"/>
                  <a:pt x="3739868" y="6153081"/>
                  <a:pt x="2583267" y="6855849"/>
                </a:cubicBezTo>
                <a:lnTo>
                  <a:pt x="257952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sp>
        <p:nvSpPr>
          <p:cNvPr id="2" name="Title 1">
            <a:extLst>
              <a:ext uri="{FF2B5EF4-FFF2-40B4-BE49-F238E27FC236}">
                <a16:creationId xmlns:a16="http://schemas.microsoft.com/office/drawing/2014/main" id="{52F46889-9BC1-6EF0-A5FF-066D7328164A}"/>
              </a:ext>
            </a:extLst>
          </p:cNvPr>
          <p:cNvSpPr>
            <a:spLocks noGrp="1"/>
          </p:cNvSpPr>
          <p:nvPr>
            <p:ph type="title"/>
          </p:nvPr>
        </p:nvSpPr>
        <p:spPr>
          <a:xfrm>
            <a:off x="838200" y="643467"/>
            <a:ext cx="2951205" cy="5571066"/>
          </a:xfrm>
        </p:spPr>
        <p:txBody>
          <a:bodyPr>
            <a:normAutofit/>
          </a:bodyPr>
          <a:lstStyle/>
          <a:p>
            <a:r>
              <a:rPr lang="en-US" dirty="0">
                <a:solidFill>
                  <a:srgbClr val="FFFFFF"/>
                </a:solidFill>
              </a:rPr>
              <a:t>Dynamic and Memory Efficient</a:t>
            </a:r>
            <a:endParaRPr lang="en-IN" dirty="0">
              <a:solidFill>
                <a:srgbClr val="FFFFFF"/>
              </a:solidFill>
            </a:endParaRPr>
          </a:p>
        </p:txBody>
      </p:sp>
      <p:sp>
        <p:nvSpPr>
          <p:cNvPr id="6" name="Straight Connector 5">
            <a:extLst>
              <a:ext uri="{FF2B5EF4-FFF2-40B4-BE49-F238E27FC236}">
                <a16:creationId xmlns:a16="http://schemas.microsoft.com/office/drawing/2014/main" id="{03A9851A-DA7F-D19F-7361-69BB5D83E646}"/>
              </a:ext>
            </a:extLst>
          </p:cNvPr>
          <p:cNvSpPr/>
          <p:nvPr/>
        </p:nvSpPr>
        <p:spPr>
          <a:xfrm>
            <a:off x="5207640" y="646166"/>
            <a:ext cx="6291714" cy="0"/>
          </a:xfrm>
          <a:prstGeom prst="line">
            <a:avLst/>
          </a:pr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IN"/>
          </a:p>
        </p:txBody>
      </p:sp>
      <p:sp>
        <p:nvSpPr>
          <p:cNvPr id="7" name="Freeform: Shape 6">
            <a:extLst>
              <a:ext uri="{FF2B5EF4-FFF2-40B4-BE49-F238E27FC236}">
                <a16:creationId xmlns:a16="http://schemas.microsoft.com/office/drawing/2014/main" id="{9B0AC1C2-C6B1-30AA-D85A-37491F10A4AE}"/>
              </a:ext>
            </a:extLst>
          </p:cNvPr>
          <p:cNvSpPr/>
          <p:nvPr/>
        </p:nvSpPr>
        <p:spPr>
          <a:xfrm>
            <a:off x="5207640" y="646166"/>
            <a:ext cx="6291714" cy="1841777"/>
          </a:xfrm>
          <a:custGeom>
            <a:avLst/>
            <a:gdLst>
              <a:gd name="connsiteX0" fmla="*/ 0 w 6291714"/>
              <a:gd name="connsiteY0" fmla="*/ 0 h 1841777"/>
              <a:gd name="connsiteX1" fmla="*/ 6291714 w 6291714"/>
              <a:gd name="connsiteY1" fmla="*/ 0 h 1841777"/>
              <a:gd name="connsiteX2" fmla="*/ 6291714 w 6291714"/>
              <a:gd name="connsiteY2" fmla="*/ 1841777 h 1841777"/>
              <a:gd name="connsiteX3" fmla="*/ 0 w 6291714"/>
              <a:gd name="connsiteY3" fmla="*/ 1841777 h 1841777"/>
              <a:gd name="connsiteX4" fmla="*/ 0 w 6291714"/>
              <a:gd name="connsiteY4" fmla="*/ 0 h 1841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1714" h="1841777">
                <a:moveTo>
                  <a:pt x="0" y="0"/>
                </a:moveTo>
                <a:lnTo>
                  <a:pt x="6291714" y="0"/>
                </a:lnTo>
                <a:lnTo>
                  <a:pt x="6291714" y="1841777"/>
                </a:lnTo>
                <a:lnTo>
                  <a:pt x="0" y="184177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Linked List doesn’t have a fixed size.</a:t>
            </a:r>
          </a:p>
        </p:txBody>
      </p:sp>
      <p:sp>
        <p:nvSpPr>
          <p:cNvPr id="8" name="Straight Connector 7">
            <a:extLst>
              <a:ext uri="{FF2B5EF4-FFF2-40B4-BE49-F238E27FC236}">
                <a16:creationId xmlns:a16="http://schemas.microsoft.com/office/drawing/2014/main" id="{D2961377-07C9-F298-7E02-D70D10A7AA1A}"/>
              </a:ext>
            </a:extLst>
          </p:cNvPr>
          <p:cNvSpPr/>
          <p:nvPr/>
        </p:nvSpPr>
        <p:spPr>
          <a:xfrm>
            <a:off x="5207640" y="2487944"/>
            <a:ext cx="6291714" cy="0"/>
          </a:xfrm>
          <a:prstGeom prst="line">
            <a:avLst/>
          </a:prstGeom>
        </p:spPr>
        <p:style>
          <a:lnRef idx="2">
            <a:schemeClr val="accent2">
              <a:hueOff val="3221807"/>
              <a:satOff val="-9246"/>
              <a:lumOff val="-14805"/>
              <a:alphaOff val="0"/>
            </a:schemeClr>
          </a:lnRef>
          <a:fillRef idx="1">
            <a:schemeClr val="accent2">
              <a:hueOff val="3221807"/>
              <a:satOff val="-9246"/>
              <a:lumOff val="-14805"/>
              <a:alphaOff val="0"/>
            </a:schemeClr>
          </a:fillRef>
          <a:effectRef idx="0">
            <a:schemeClr val="accent2">
              <a:hueOff val="3221807"/>
              <a:satOff val="-9246"/>
              <a:lumOff val="-14805"/>
              <a:alphaOff val="0"/>
            </a:schemeClr>
          </a:effectRef>
          <a:fontRef idx="minor">
            <a:schemeClr val="lt1"/>
          </a:fontRef>
        </p:style>
        <p:txBody>
          <a:bodyPr/>
          <a:lstStyle/>
          <a:p>
            <a:endParaRPr lang="en-IN"/>
          </a:p>
        </p:txBody>
      </p:sp>
      <p:sp>
        <p:nvSpPr>
          <p:cNvPr id="10" name="Freeform: Shape 9">
            <a:extLst>
              <a:ext uri="{FF2B5EF4-FFF2-40B4-BE49-F238E27FC236}">
                <a16:creationId xmlns:a16="http://schemas.microsoft.com/office/drawing/2014/main" id="{FA1AA21F-72A4-3FAB-A1A8-077D84DFB0D5}"/>
              </a:ext>
            </a:extLst>
          </p:cNvPr>
          <p:cNvSpPr/>
          <p:nvPr/>
        </p:nvSpPr>
        <p:spPr>
          <a:xfrm>
            <a:off x="5207640" y="2487944"/>
            <a:ext cx="6291714" cy="1841777"/>
          </a:xfrm>
          <a:custGeom>
            <a:avLst/>
            <a:gdLst>
              <a:gd name="connsiteX0" fmla="*/ 0 w 6291714"/>
              <a:gd name="connsiteY0" fmla="*/ 0 h 1841777"/>
              <a:gd name="connsiteX1" fmla="*/ 6291714 w 6291714"/>
              <a:gd name="connsiteY1" fmla="*/ 0 h 1841777"/>
              <a:gd name="connsiteX2" fmla="*/ 6291714 w 6291714"/>
              <a:gd name="connsiteY2" fmla="*/ 1841777 h 1841777"/>
              <a:gd name="connsiteX3" fmla="*/ 0 w 6291714"/>
              <a:gd name="connsiteY3" fmla="*/ 1841777 h 1841777"/>
              <a:gd name="connsiteX4" fmla="*/ 0 w 6291714"/>
              <a:gd name="connsiteY4" fmla="*/ 0 h 1841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1714" h="1841777">
                <a:moveTo>
                  <a:pt x="0" y="0"/>
                </a:moveTo>
                <a:lnTo>
                  <a:pt x="6291714" y="0"/>
                </a:lnTo>
                <a:lnTo>
                  <a:pt x="6291714" y="1841777"/>
                </a:lnTo>
                <a:lnTo>
                  <a:pt x="0" y="184177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 xml:space="preserve">Based on the requirement, </a:t>
            </a:r>
            <a:r>
              <a:rPr lang="en-US" sz="2800" b="1" kern="1200" dirty="0"/>
              <a:t>N</a:t>
            </a:r>
            <a:r>
              <a:rPr lang="en-US" sz="2800" kern="1200" dirty="0"/>
              <a:t xml:space="preserve"> number of nodes can be added.</a:t>
            </a:r>
          </a:p>
        </p:txBody>
      </p:sp>
      <p:sp>
        <p:nvSpPr>
          <p:cNvPr id="12" name="Straight Connector 11">
            <a:extLst>
              <a:ext uri="{FF2B5EF4-FFF2-40B4-BE49-F238E27FC236}">
                <a16:creationId xmlns:a16="http://schemas.microsoft.com/office/drawing/2014/main" id="{04AD840B-E8B7-6068-03F2-CCA30F73F74B}"/>
              </a:ext>
            </a:extLst>
          </p:cNvPr>
          <p:cNvSpPr/>
          <p:nvPr/>
        </p:nvSpPr>
        <p:spPr>
          <a:xfrm>
            <a:off x="5207640" y="4329722"/>
            <a:ext cx="6291714" cy="0"/>
          </a:xfrm>
          <a:prstGeom prst="line">
            <a:avLst/>
          </a:prstGeom>
        </p:spPr>
        <p:style>
          <a:lnRef idx="2">
            <a:schemeClr val="accent2">
              <a:hueOff val="6443614"/>
              <a:satOff val="-18493"/>
              <a:lumOff val="-29609"/>
              <a:alphaOff val="0"/>
            </a:schemeClr>
          </a:lnRef>
          <a:fillRef idx="1">
            <a:schemeClr val="accent2">
              <a:hueOff val="6443614"/>
              <a:satOff val="-18493"/>
              <a:lumOff val="-29609"/>
              <a:alphaOff val="0"/>
            </a:schemeClr>
          </a:fillRef>
          <a:effectRef idx="0">
            <a:schemeClr val="accent2">
              <a:hueOff val="6443614"/>
              <a:satOff val="-18493"/>
              <a:lumOff val="-29609"/>
              <a:alphaOff val="0"/>
            </a:schemeClr>
          </a:effectRef>
          <a:fontRef idx="minor">
            <a:schemeClr val="lt1"/>
          </a:fontRef>
        </p:style>
        <p:txBody>
          <a:bodyPr/>
          <a:lstStyle/>
          <a:p>
            <a:endParaRPr lang="en-IN"/>
          </a:p>
        </p:txBody>
      </p:sp>
      <p:sp>
        <p:nvSpPr>
          <p:cNvPr id="13" name="Freeform: Shape 12">
            <a:extLst>
              <a:ext uri="{FF2B5EF4-FFF2-40B4-BE49-F238E27FC236}">
                <a16:creationId xmlns:a16="http://schemas.microsoft.com/office/drawing/2014/main" id="{0134AE6E-3728-F889-2338-74E31C886809}"/>
              </a:ext>
            </a:extLst>
          </p:cNvPr>
          <p:cNvSpPr/>
          <p:nvPr/>
        </p:nvSpPr>
        <p:spPr>
          <a:xfrm>
            <a:off x="5207640" y="4329722"/>
            <a:ext cx="6291714" cy="1841777"/>
          </a:xfrm>
          <a:custGeom>
            <a:avLst/>
            <a:gdLst>
              <a:gd name="connsiteX0" fmla="*/ 0 w 6291714"/>
              <a:gd name="connsiteY0" fmla="*/ 0 h 1841777"/>
              <a:gd name="connsiteX1" fmla="*/ 6291714 w 6291714"/>
              <a:gd name="connsiteY1" fmla="*/ 0 h 1841777"/>
              <a:gd name="connsiteX2" fmla="*/ 6291714 w 6291714"/>
              <a:gd name="connsiteY2" fmla="*/ 1841777 h 1841777"/>
              <a:gd name="connsiteX3" fmla="*/ 0 w 6291714"/>
              <a:gd name="connsiteY3" fmla="*/ 1841777 h 1841777"/>
              <a:gd name="connsiteX4" fmla="*/ 0 w 6291714"/>
              <a:gd name="connsiteY4" fmla="*/ 0 h 1841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1714" h="1841777">
                <a:moveTo>
                  <a:pt x="0" y="0"/>
                </a:moveTo>
                <a:lnTo>
                  <a:pt x="6291714" y="0"/>
                </a:lnTo>
                <a:lnTo>
                  <a:pt x="6291714" y="1841777"/>
                </a:lnTo>
                <a:lnTo>
                  <a:pt x="0" y="184177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IN" sz="2800" kern="1200" dirty="0"/>
              <a:t>The size of linked list can grow or shrink according to the requirement. So there won’t be any scope for wasting of memory.</a:t>
            </a:r>
            <a:endParaRPr lang="en-US" sz="2800" kern="1200" dirty="0"/>
          </a:p>
        </p:txBody>
      </p:sp>
    </p:spTree>
    <p:extLst>
      <p:ext uri="{BB962C8B-B14F-4D97-AF65-F5344CB8AC3E}">
        <p14:creationId xmlns:p14="http://schemas.microsoft.com/office/powerpoint/2010/main" val="1650645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up)">
                                      <p:cBhvr>
                                        <p:cTn id="12" dur="10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up)">
                                      <p:cBhvr>
                                        <p:cTn id="17"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3"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0F6E03A2-F552-8AAB-7E44-981F49ED8CAF}"/>
              </a:ext>
            </a:extLst>
          </p:cNvPr>
          <p:cNvSpPr>
            <a:spLocks noGrp="1"/>
          </p:cNvSpPr>
          <p:nvPr>
            <p:ph type="title"/>
          </p:nvPr>
        </p:nvSpPr>
        <p:spPr>
          <a:xfrm>
            <a:off x="479394" y="1070800"/>
            <a:ext cx="3939688" cy="5583126"/>
          </a:xfrm>
        </p:spPr>
        <p:txBody>
          <a:bodyPr>
            <a:normAutofit/>
          </a:bodyPr>
          <a:lstStyle/>
          <a:p>
            <a:r>
              <a:rPr lang="en-US" sz="6200" dirty="0"/>
              <a:t>Insertions &amp; Deletions are relatively easy</a:t>
            </a:r>
            <a:endParaRPr lang="en-IN" sz="6200" dirty="0"/>
          </a:p>
        </p:txBody>
      </p:sp>
      <p:cxnSp>
        <p:nvCxnSpPr>
          <p:cNvPr id="29" name="Straight Connector 28">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5" name="Freeform: Shape 4">
            <a:extLst>
              <a:ext uri="{FF2B5EF4-FFF2-40B4-BE49-F238E27FC236}">
                <a16:creationId xmlns:a16="http://schemas.microsoft.com/office/drawing/2014/main" id="{B0B21469-A022-C3CA-5E53-5538AB0C6502}"/>
              </a:ext>
            </a:extLst>
          </p:cNvPr>
          <p:cNvSpPr/>
          <p:nvPr/>
        </p:nvSpPr>
        <p:spPr>
          <a:xfrm>
            <a:off x="5108535" y="1094193"/>
            <a:ext cx="6245265" cy="1333800"/>
          </a:xfrm>
          <a:custGeom>
            <a:avLst/>
            <a:gdLst>
              <a:gd name="connsiteX0" fmla="*/ 0 w 6245265"/>
              <a:gd name="connsiteY0" fmla="*/ 222304 h 1333800"/>
              <a:gd name="connsiteX1" fmla="*/ 222304 w 6245265"/>
              <a:gd name="connsiteY1" fmla="*/ 0 h 1333800"/>
              <a:gd name="connsiteX2" fmla="*/ 6022961 w 6245265"/>
              <a:gd name="connsiteY2" fmla="*/ 0 h 1333800"/>
              <a:gd name="connsiteX3" fmla="*/ 6245265 w 6245265"/>
              <a:gd name="connsiteY3" fmla="*/ 222304 h 1333800"/>
              <a:gd name="connsiteX4" fmla="*/ 6245265 w 6245265"/>
              <a:gd name="connsiteY4" fmla="*/ 1111496 h 1333800"/>
              <a:gd name="connsiteX5" fmla="*/ 6022961 w 6245265"/>
              <a:gd name="connsiteY5" fmla="*/ 1333800 h 1333800"/>
              <a:gd name="connsiteX6" fmla="*/ 222304 w 6245265"/>
              <a:gd name="connsiteY6" fmla="*/ 1333800 h 1333800"/>
              <a:gd name="connsiteX7" fmla="*/ 0 w 6245265"/>
              <a:gd name="connsiteY7" fmla="*/ 1111496 h 1333800"/>
              <a:gd name="connsiteX8" fmla="*/ 0 w 6245265"/>
              <a:gd name="connsiteY8" fmla="*/ 222304 h 133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45265" h="1333800">
                <a:moveTo>
                  <a:pt x="0" y="222304"/>
                </a:moveTo>
                <a:cubicBezTo>
                  <a:pt x="0" y="99529"/>
                  <a:pt x="99529" y="0"/>
                  <a:pt x="222304" y="0"/>
                </a:cubicBezTo>
                <a:lnTo>
                  <a:pt x="6022961" y="0"/>
                </a:lnTo>
                <a:cubicBezTo>
                  <a:pt x="6145736" y="0"/>
                  <a:pt x="6245265" y="99529"/>
                  <a:pt x="6245265" y="222304"/>
                </a:cubicBezTo>
                <a:lnTo>
                  <a:pt x="6245265" y="1111496"/>
                </a:lnTo>
                <a:cubicBezTo>
                  <a:pt x="6245265" y="1234271"/>
                  <a:pt x="6145736" y="1333800"/>
                  <a:pt x="6022961" y="1333800"/>
                </a:cubicBezTo>
                <a:lnTo>
                  <a:pt x="222304" y="1333800"/>
                </a:lnTo>
                <a:cubicBezTo>
                  <a:pt x="99529" y="1333800"/>
                  <a:pt x="0" y="1234271"/>
                  <a:pt x="0" y="1111496"/>
                </a:cubicBezTo>
                <a:lnTo>
                  <a:pt x="0" y="222304"/>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71791" tIns="171791" rIns="171791" bIns="171791" numCol="1" spcCol="1270" anchor="ctr" anchorCtr="0">
            <a:noAutofit/>
          </a:bodyPr>
          <a:lstStyle/>
          <a:p>
            <a:pPr marL="0" lvl="0" indent="0" algn="l" defTabSz="1244600">
              <a:lnSpc>
                <a:spcPct val="90000"/>
              </a:lnSpc>
              <a:spcBef>
                <a:spcPct val="0"/>
              </a:spcBef>
              <a:spcAft>
                <a:spcPct val="35000"/>
              </a:spcAft>
              <a:buNone/>
            </a:pPr>
            <a:r>
              <a:rPr lang="en-US" sz="2800" b="0" i="0" kern="1200" dirty="0"/>
              <a:t>Unlike arrays, insertion, and deletion in linked list is easier</a:t>
            </a:r>
            <a:r>
              <a:rPr lang="en-US" sz="2800" kern="1200" dirty="0"/>
              <a:t>.</a:t>
            </a:r>
          </a:p>
        </p:txBody>
      </p:sp>
      <p:sp>
        <p:nvSpPr>
          <p:cNvPr id="6" name="Freeform: Shape 5">
            <a:extLst>
              <a:ext uri="{FF2B5EF4-FFF2-40B4-BE49-F238E27FC236}">
                <a16:creationId xmlns:a16="http://schemas.microsoft.com/office/drawing/2014/main" id="{7E33ECF7-8217-AA8A-3278-20F2F0C8A89C}"/>
              </a:ext>
            </a:extLst>
          </p:cNvPr>
          <p:cNvSpPr/>
          <p:nvPr/>
        </p:nvSpPr>
        <p:spPr>
          <a:xfrm>
            <a:off x="5108535" y="2497113"/>
            <a:ext cx="6245265" cy="1333800"/>
          </a:xfrm>
          <a:custGeom>
            <a:avLst/>
            <a:gdLst>
              <a:gd name="connsiteX0" fmla="*/ 0 w 6245265"/>
              <a:gd name="connsiteY0" fmla="*/ 222304 h 1333800"/>
              <a:gd name="connsiteX1" fmla="*/ 222304 w 6245265"/>
              <a:gd name="connsiteY1" fmla="*/ 0 h 1333800"/>
              <a:gd name="connsiteX2" fmla="*/ 6022961 w 6245265"/>
              <a:gd name="connsiteY2" fmla="*/ 0 h 1333800"/>
              <a:gd name="connsiteX3" fmla="*/ 6245265 w 6245265"/>
              <a:gd name="connsiteY3" fmla="*/ 222304 h 1333800"/>
              <a:gd name="connsiteX4" fmla="*/ 6245265 w 6245265"/>
              <a:gd name="connsiteY4" fmla="*/ 1111496 h 1333800"/>
              <a:gd name="connsiteX5" fmla="*/ 6022961 w 6245265"/>
              <a:gd name="connsiteY5" fmla="*/ 1333800 h 1333800"/>
              <a:gd name="connsiteX6" fmla="*/ 222304 w 6245265"/>
              <a:gd name="connsiteY6" fmla="*/ 1333800 h 1333800"/>
              <a:gd name="connsiteX7" fmla="*/ 0 w 6245265"/>
              <a:gd name="connsiteY7" fmla="*/ 1111496 h 1333800"/>
              <a:gd name="connsiteX8" fmla="*/ 0 w 6245265"/>
              <a:gd name="connsiteY8" fmla="*/ 222304 h 133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45265" h="1333800">
                <a:moveTo>
                  <a:pt x="0" y="222304"/>
                </a:moveTo>
                <a:cubicBezTo>
                  <a:pt x="0" y="99529"/>
                  <a:pt x="99529" y="0"/>
                  <a:pt x="222304" y="0"/>
                </a:cubicBezTo>
                <a:lnTo>
                  <a:pt x="6022961" y="0"/>
                </a:lnTo>
                <a:cubicBezTo>
                  <a:pt x="6145736" y="0"/>
                  <a:pt x="6245265" y="99529"/>
                  <a:pt x="6245265" y="222304"/>
                </a:cubicBezTo>
                <a:lnTo>
                  <a:pt x="6245265" y="1111496"/>
                </a:lnTo>
                <a:cubicBezTo>
                  <a:pt x="6245265" y="1234271"/>
                  <a:pt x="6145736" y="1333800"/>
                  <a:pt x="6022961" y="1333800"/>
                </a:cubicBezTo>
                <a:lnTo>
                  <a:pt x="222304" y="1333800"/>
                </a:lnTo>
                <a:cubicBezTo>
                  <a:pt x="99529" y="1333800"/>
                  <a:pt x="0" y="1234271"/>
                  <a:pt x="0" y="1111496"/>
                </a:cubicBezTo>
                <a:lnTo>
                  <a:pt x="0" y="222304"/>
                </a:lnTo>
                <a:close/>
              </a:path>
            </a:pathLst>
          </a:custGeom>
        </p:spPr>
        <p:style>
          <a:lnRef idx="2">
            <a:schemeClr val="lt1">
              <a:hueOff val="0"/>
              <a:satOff val="0"/>
              <a:lumOff val="0"/>
              <a:alphaOff val="0"/>
            </a:schemeClr>
          </a:lnRef>
          <a:fillRef idx="1">
            <a:schemeClr val="accent2">
              <a:hueOff val="2147871"/>
              <a:satOff val="-6164"/>
              <a:lumOff val="-9870"/>
              <a:alphaOff val="0"/>
            </a:schemeClr>
          </a:fillRef>
          <a:effectRef idx="0">
            <a:schemeClr val="accent2">
              <a:hueOff val="2147871"/>
              <a:satOff val="-6164"/>
              <a:lumOff val="-9870"/>
              <a:alphaOff val="0"/>
            </a:schemeClr>
          </a:effectRef>
          <a:fontRef idx="minor">
            <a:schemeClr val="lt1"/>
          </a:fontRef>
        </p:style>
        <p:txBody>
          <a:bodyPr spcFirstLastPara="0" vert="horz" wrap="square" lIns="156551" tIns="156551" rIns="156551" bIns="156551" numCol="1" spcCol="1270" anchor="ctr" anchorCtr="0">
            <a:noAutofit/>
          </a:bodyPr>
          <a:lstStyle/>
          <a:p>
            <a:pPr marL="0" lvl="0" indent="0" algn="l" defTabSz="1066800">
              <a:lnSpc>
                <a:spcPct val="90000"/>
              </a:lnSpc>
              <a:spcBef>
                <a:spcPct val="0"/>
              </a:spcBef>
              <a:spcAft>
                <a:spcPct val="35000"/>
              </a:spcAft>
              <a:buNone/>
            </a:pPr>
            <a:r>
              <a:rPr lang="en-US" sz="2400" b="0" i="0" kern="1200" dirty="0"/>
              <a:t xml:space="preserve">Array elements are stored in the consecutive location, whereas the elements in the linked list are stored at a random location. </a:t>
            </a:r>
            <a:endParaRPr lang="en-US" sz="2400" kern="1200" dirty="0"/>
          </a:p>
        </p:txBody>
      </p:sp>
      <p:sp>
        <p:nvSpPr>
          <p:cNvPr id="7" name="Freeform: Shape 6">
            <a:extLst>
              <a:ext uri="{FF2B5EF4-FFF2-40B4-BE49-F238E27FC236}">
                <a16:creationId xmlns:a16="http://schemas.microsoft.com/office/drawing/2014/main" id="{304E8A01-02BF-890E-0683-4F7AA693A4D5}"/>
              </a:ext>
            </a:extLst>
          </p:cNvPr>
          <p:cNvSpPr/>
          <p:nvPr/>
        </p:nvSpPr>
        <p:spPr>
          <a:xfrm>
            <a:off x="5108535" y="3900033"/>
            <a:ext cx="6245265" cy="1333800"/>
          </a:xfrm>
          <a:custGeom>
            <a:avLst/>
            <a:gdLst>
              <a:gd name="connsiteX0" fmla="*/ 0 w 6245265"/>
              <a:gd name="connsiteY0" fmla="*/ 222304 h 1333800"/>
              <a:gd name="connsiteX1" fmla="*/ 222304 w 6245265"/>
              <a:gd name="connsiteY1" fmla="*/ 0 h 1333800"/>
              <a:gd name="connsiteX2" fmla="*/ 6022961 w 6245265"/>
              <a:gd name="connsiteY2" fmla="*/ 0 h 1333800"/>
              <a:gd name="connsiteX3" fmla="*/ 6245265 w 6245265"/>
              <a:gd name="connsiteY3" fmla="*/ 222304 h 1333800"/>
              <a:gd name="connsiteX4" fmla="*/ 6245265 w 6245265"/>
              <a:gd name="connsiteY4" fmla="*/ 1111496 h 1333800"/>
              <a:gd name="connsiteX5" fmla="*/ 6022961 w 6245265"/>
              <a:gd name="connsiteY5" fmla="*/ 1333800 h 1333800"/>
              <a:gd name="connsiteX6" fmla="*/ 222304 w 6245265"/>
              <a:gd name="connsiteY6" fmla="*/ 1333800 h 1333800"/>
              <a:gd name="connsiteX7" fmla="*/ 0 w 6245265"/>
              <a:gd name="connsiteY7" fmla="*/ 1111496 h 1333800"/>
              <a:gd name="connsiteX8" fmla="*/ 0 w 6245265"/>
              <a:gd name="connsiteY8" fmla="*/ 222304 h 133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45265" h="1333800">
                <a:moveTo>
                  <a:pt x="0" y="222304"/>
                </a:moveTo>
                <a:cubicBezTo>
                  <a:pt x="0" y="99529"/>
                  <a:pt x="99529" y="0"/>
                  <a:pt x="222304" y="0"/>
                </a:cubicBezTo>
                <a:lnTo>
                  <a:pt x="6022961" y="0"/>
                </a:lnTo>
                <a:cubicBezTo>
                  <a:pt x="6145736" y="0"/>
                  <a:pt x="6245265" y="99529"/>
                  <a:pt x="6245265" y="222304"/>
                </a:cubicBezTo>
                <a:lnTo>
                  <a:pt x="6245265" y="1111496"/>
                </a:lnTo>
                <a:cubicBezTo>
                  <a:pt x="6245265" y="1234271"/>
                  <a:pt x="6145736" y="1333800"/>
                  <a:pt x="6022961" y="1333800"/>
                </a:cubicBezTo>
                <a:lnTo>
                  <a:pt x="222304" y="1333800"/>
                </a:lnTo>
                <a:cubicBezTo>
                  <a:pt x="99529" y="1333800"/>
                  <a:pt x="0" y="1234271"/>
                  <a:pt x="0" y="1111496"/>
                </a:cubicBezTo>
                <a:lnTo>
                  <a:pt x="0" y="222304"/>
                </a:lnTo>
                <a:close/>
              </a:path>
            </a:pathLst>
          </a:custGeom>
        </p:spPr>
        <p:style>
          <a:lnRef idx="2">
            <a:schemeClr val="lt1">
              <a:hueOff val="0"/>
              <a:satOff val="0"/>
              <a:lumOff val="0"/>
              <a:alphaOff val="0"/>
            </a:schemeClr>
          </a:lnRef>
          <a:fillRef idx="1">
            <a:schemeClr val="accent2">
              <a:hueOff val="4295743"/>
              <a:satOff val="-12329"/>
              <a:lumOff val="-19739"/>
              <a:alphaOff val="0"/>
            </a:schemeClr>
          </a:fillRef>
          <a:effectRef idx="0">
            <a:schemeClr val="accent2">
              <a:hueOff val="4295743"/>
              <a:satOff val="-12329"/>
              <a:lumOff val="-19739"/>
              <a:alphaOff val="0"/>
            </a:schemeClr>
          </a:effectRef>
          <a:fontRef idx="minor">
            <a:schemeClr val="lt1"/>
          </a:fontRef>
        </p:style>
        <p:txBody>
          <a:bodyPr spcFirstLastPara="0" vert="horz" wrap="square" lIns="156551" tIns="156551" rIns="156551" bIns="156551" numCol="1" spcCol="1270" anchor="ctr" anchorCtr="0">
            <a:noAutofit/>
          </a:bodyPr>
          <a:lstStyle/>
          <a:p>
            <a:pPr marL="0" lvl="0" indent="0" algn="l" defTabSz="1066800">
              <a:lnSpc>
                <a:spcPct val="90000"/>
              </a:lnSpc>
              <a:spcBef>
                <a:spcPct val="0"/>
              </a:spcBef>
              <a:spcAft>
                <a:spcPct val="35000"/>
              </a:spcAft>
              <a:buNone/>
            </a:pPr>
            <a:r>
              <a:rPr lang="en-US" sz="2400" b="0" i="0" kern="1200" dirty="0"/>
              <a:t>To insert or delete an element in an array, we must shift the elements for creating the space.</a:t>
            </a:r>
            <a:endParaRPr lang="en-US" sz="2400" kern="1200" dirty="0"/>
          </a:p>
        </p:txBody>
      </p:sp>
      <p:sp>
        <p:nvSpPr>
          <p:cNvPr id="9" name="Freeform: Shape 8">
            <a:extLst>
              <a:ext uri="{FF2B5EF4-FFF2-40B4-BE49-F238E27FC236}">
                <a16:creationId xmlns:a16="http://schemas.microsoft.com/office/drawing/2014/main" id="{FCFC09B2-391B-545C-0EEF-35E877EF1DE2}"/>
              </a:ext>
            </a:extLst>
          </p:cNvPr>
          <p:cNvSpPr/>
          <p:nvPr/>
        </p:nvSpPr>
        <p:spPr>
          <a:xfrm>
            <a:off x="5108535" y="5302953"/>
            <a:ext cx="6245265" cy="1333800"/>
          </a:xfrm>
          <a:custGeom>
            <a:avLst/>
            <a:gdLst>
              <a:gd name="connsiteX0" fmla="*/ 0 w 6245265"/>
              <a:gd name="connsiteY0" fmla="*/ 222304 h 1333800"/>
              <a:gd name="connsiteX1" fmla="*/ 222304 w 6245265"/>
              <a:gd name="connsiteY1" fmla="*/ 0 h 1333800"/>
              <a:gd name="connsiteX2" fmla="*/ 6022961 w 6245265"/>
              <a:gd name="connsiteY2" fmla="*/ 0 h 1333800"/>
              <a:gd name="connsiteX3" fmla="*/ 6245265 w 6245265"/>
              <a:gd name="connsiteY3" fmla="*/ 222304 h 1333800"/>
              <a:gd name="connsiteX4" fmla="*/ 6245265 w 6245265"/>
              <a:gd name="connsiteY4" fmla="*/ 1111496 h 1333800"/>
              <a:gd name="connsiteX5" fmla="*/ 6022961 w 6245265"/>
              <a:gd name="connsiteY5" fmla="*/ 1333800 h 1333800"/>
              <a:gd name="connsiteX6" fmla="*/ 222304 w 6245265"/>
              <a:gd name="connsiteY6" fmla="*/ 1333800 h 1333800"/>
              <a:gd name="connsiteX7" fmla="*/ 0 w 6245265"/>
              <a:gd name="connsiteY7" fmla="*/ 1111496 h 1333800"/>
              <a:gd name="connsiteX8" fmla="*/ 0 w 6245265"/>
              <a:gd name="connsiteY8" fmla="*/ 222304 h 133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45265" h="1333800">
                <a:moveTo>
                  <a:pt x="0" y="222304"/>
                </a:moveTo>
                <a:cubicBezTo>
                  <a:pt x="0" y="99529"/>
                  <a:pt x="99529" y="0"/>
                  <a:pt x="222304" y="0"/>
                </a:cubicBezTo>
                <a:lnTo>
                  <a:pt x="6022961" y="0"/>
                </a:lnTo>
                <a:cubicBezTo>
                  <a:pt x="6145736" y="0"/>
                  <a:pt x="6245265" y="99529"/>
                  <a:pt x="6245265" y="222304"/>
                </a:cubicBezTo>
                <a:lnTo>
                  <a:pt x="6245265" y="1111496"/>
                </a:lnTo>
                <a:cubicBezTo>
                  <a:pt x="6245265" y="1234271"/>
                  <a:pt x="6145736" y="1333800"/>
                  <a:pt x="6022961" y="1333800"/>
                </a:cubicBezTo>
                <a:lnTo>
                  <a:pt x="222304" y="1333800"/>
                </a:lnTo>
                <a:cubicBezTo>
                  <a:pt x="99529" y="1333800"/>
                  <a:pt x="0" y="1234271"/>
                  <a:pt x="0" y="1111496"/>
                </a:cubicBezTo>
                <a:lnTo>
                  <a:pt x="0" y="222304"/>
                </a:lnTo>
                <a:close/>
              </a:path>
            </a:pathLst>
          </a:custGeom>
        </p:spPr>
        <p:style>
          <a:lnRef idx="2">
            <a:schemeClr val="lt1">
              <a:hueOff val="0"/>
              <a:satOff val="0"/>
              <a:lumOff val="0"/>
              <a:alphaOff val="0"/>
            </a:schemeClr>
          </a:lnRef>
          <a:fillRef idx="1">
            <a:schemeClr val="accent2">
              <a:hueOff val="6443614"/>
              <a:satOff val="-18493"/>
              <a:lumOff val="-29609"/>
              <a:alphaOff val="0"/>
            </a:schemeClr>
          </a:fillRef>
          <a:effectRef idx="0">
            <a:schemeClr val="accent2">
              <a:hueOff val="6443614"/>
              <a:satOff val="-18493"/>
              <a:lumOff val="-29609"/>
              <a:alphaOff val="0"/>
            </a:schemeClr>
          </a:effectRef>
          <a:fontRef idx="minor">
            <a:schemeClr val="lt1"/>
          </a:fontRef>
        </p:style>
        <p:txBody>
          <a:bodyPr spcFirstLastPara="0" vert="horz" wrap="square" lIns="156551" tIns="156551" rIns="156551" bIns="156551" numCol="1" spcCol="1270" anchor="ctr" anchorCtr="0">
            <a:noAutofit/>
          </a:bodyPr>
          <a:lstStyle/>
          <a:p>
            <a:pPr marL="0" lvl="0" indent="0" algn="l" defTabSz="1066800">
              <a:lnSpc>
                <a:spcPct val="90000"/>
              </a:lnSpc>
              <a:spcBef>
                <a:spcPct val="0"/>
              </a:spcBef>
              <a:spcAft>
                <a:spcPct val="35000"/>
              </a:spcAft>
              <a:buNone/>
            </a:pPr>
            <a:r>
              <a:rPr lang="en-US" sz="2400" b="0" i="0" kern="1200" dirty="0"/>
              <a:t xml:space="preserve">Whereas, in linked list, instead of shifting, we </a:t>
            </a:r>
            <a:r>
              <a:rPr lang="en-US" sz="2400" kern="1200" dirty="0"/>
              <a:t xml:space="preserve">can just </a:t>
            </a:r>
            <a:r>
              <a:rPr lang="en-US" sz="2400" b="0" i="0" kern="1200" dirty="0"/>
              <a:t>update the address of the pointer of the node.</a:t>
            </a:r>
            <a:endParaRPr lang="en-US" sz="2400" kern="1200" dirty="0"/>
          </a:p>
        </p:txBody>
      </p:sp>
    </p:spTree>
    <p:extLst>
      <p:ext uri="{BB962C8B-B14F-4D97-AF65-F5344CB8AC3E}">
        <p14:creationId xmlns:p14="http://schemas.microsoft.com/office/powerpoint/2010/main" val="445389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1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1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10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up)">
                                      <p:cBhvr>
                                        <p:cTn id="22"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65651-6D88-458E-CBD9-2A4DDF6A3A2F}"/>
              </a:ext>
            </a:extLst>
          </p:cNvPr>
          <p:cNvSpPr>
            <a:spLocks noGrp="1"/>
          </p:cNvSpPr>
          <p:nvPr>
            <p:ph type="title"/>
          </p:nvPr>
        </p:nvSpPr>
        <p:spPr/>
        <p:txBody>
          <a:bodyPr/>
          <a:lstStyle/>
          <a:p>
            <a:r>
              <a:rPr lang="en-US" dirty="0"/>
              <a:t>Deleting an element from a linked list</a:t>
            </a:r>
            <a:endParaRPr lang="en-IN" dirty="0"/>
          </a:p>
        </p:txBody>
      </p:sp>
      <p:sp>
        <p:nvSpPr>
          <p:cNvPr id="4" name="Content Placeholder 3">
            <a:extLst>
              <a:ext uri="{FF2B5EF4-FFF2-40B4-BE49-F238E27FC236}">
                <a16:creationId xmlns:a16="http://schemas.microsoft.com/office/drawing/2014/main" id="{D35504CE-DC02-F311-CA4F-B88F63255A8E}"/>
              </a:ext>
            </a:extLst>
          </p:cNvPr>
          <p:cNvSpPr>
            <a:spLocks noGrp="1"/>
          </p:cNvSpPr>
          <p:nvPr>
            <p:ph idx="1"/>
          </p:nvPr>
        </p:nvSpPr>
        <p:spPr/>
        <p:txBody>
          <a:bodyPr/>
          <a:lstStyle/>
          <a:p>
            <a:r>
              <a:rPr lang="en-US" dirty="0"/>
              <a:t>Say we want to delete the 4</a:t>
            </a:r>
            <a:r>
              <a:rPr lang="en-US" baseline="30000" dirty="0"/>
              <a:t>th</a:t>
            </a:r>
            <a:r>
              <a:rPr lang="en-US" dirty="0"/>
              <a:t xml:space="preserve"> node from the below linked list</a:t>
            </a:r>
            <a:endParaRPr lang="en-IN" dirty="0"/>
          </a:p>
        </p:txBody>
      </p:sp>
      <p:pic>
        <p:nvPicPr>
          <p:cNvPr id="9" name="Picture 8">
            <a:extLst>
              <a:ext uri="{FF2B5EF4-FFF2-40B4-BE49-F238E27FC236}">
                <a16:creationId xmlns:a16="http://schemas.microsoft.com/office/drawing/2014/main" id="{B1A2BEC9-6832-70EF-2AF1-651224B876DD}"/>
              </a:ext>
            </a:extLst>
          </p:cNvPr>
          <p:cNvPicPr>
            <a:picLocks noChangeAspect="1"/>
          </p:cNvPicPr>
          <p:nvPr/>
        </p:nvPicPr>
        <p:blipFill>
          <a:blip r:embed="rId2"/>
          <a:stretch>
            <a:fillRect/>
          </a:stretch>
        </p:blipFill>
        <p:spPr>
          <a:xfrm>
            <a:off x="413661" y="2481944"/>
            <a:ext cx="11647710" cy="1941285"/>
          </a:xfrm>
          <a:prstGeom prst="rect">
            <a:avLst/>
          </a:prstGeom>
        </p:spPr>
      </p:pic>
    </p:spTree>
    <p:extLst>
      <p:ext uri="{BB962C8B-B14F-4D97-AF65-F5344CB8AC3E}">
        <p14:creationId xmlns:p14="http://schemas.microsoft.com/office/powerpoint/2010/main" val="2013195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1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65651-6D88-458E-CBD9-2A4DDF6A3A2F}"/>
              </a:ext>
            </a:extLst>
          </p:cNvPr>
          <p:cNvSpPr>
            <a:spLocks noGrp="1"/>
          </p:cNvSpPr>
          <p:nvPr>
            <p:ph type="title"/>
          </p:nvPr>
        </p:nvSpPr>
        <p:spPr/>
        <p:txBody>
          <a:bodyPr/>
          <a:lstStyle/>
          <a:p>
            <a:r>
              <a:rPr lang="en-US" dirty="0"/>
              <a:t>Deleting an element from a linked list</a:t>
            </a:r>
            <a:endParaRPr lang="en-IN" dirty="0"/>
          </a:p>
        </p:txBody>
      </p:sp>
      <p:pic>
        <p:nvPicPr>
          <p:cNvPr id="5" name="Content Placeholder 4">
            <a:extLst>
              <a:ext uri="{FF2B5EF4-FFF2-40B4-BE49-F238E27FC236}">
                <a16:creationId xmlns:a16="http://schemas.microsoft.com/office/drawing/2014/main" id="{78E5612D-7DFE-1821-76A3-3AA21BE51EC2}"/>
              </a:ext>
            </a:extLst>
          </p:cNvPr>
          <p:cNvPicPr>
            <a:picLocks noGrp="1" noChangeAspect="1"/>
          </p:cNvPicPr>
          <p:nvPr>
            <p:ph idx="1"/>
          </p:nvPr>
        </p:nvPicPr>
        <p:blipFill>
          <a:blip r:embed="rId2"/>
          <a:stretch>
            <a:fillRect/>
          </a:stretch>
        </p:blipFill>
        <p:spPr>
          <a:xfrm>
            <a:off x="838198" y="1294563"/>
            <a:ext cx="10719718" cy="5106237"/>
          </a:xfrm>
        </p:spPr>
      </p:pic>
    </p:spTree>
    <p:extLst>
      <p:ext uri="{BB962C8B-B14F-4D97-AF65-F5344CB8AC3E}">
        <p14:creationId xmlns:p14="http://schemas.microsoft.com/office/powerpoint/2010/main" val="168255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59EE6F-F09E-11E7-40AB-559A12F4EDD5}"/>
              </a:ext>
            </a:extLst>
          </p:cNvPr>
          <p:cNvSpPr>
            <a:spLocks noGrp="1"/>
          </p:cNvSpPr>
          <p:nvPr>
            <p:ph type="title"/>
          </p:nvPr>
        </p:nvSpPr>
        <p:spPr>
          <a:xfrm>
            <a:off x="635000" y="640823"/>
            <a:ext cx="3418659" cy="5583148"/>
          </a:xfrm>
        </p:spPr>
        <p:txBody>
          <a:bodyPr anchor="ctr">
            <a:normAutofit/>
          </a:bodyPr>
          <a:lstStyle/>
          <a:p>
            <a:r>
              <a:rPr lang="en-US" sz="4200" dirty="0"/>
              <a:t>Disadvantages of linked lists</a:t>
            </a:r>
            <a:endParaRPr lang="en-IN" sz="4200" dirty="0"/>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92D112DA-1ED1-3992-6DC7-8957CDD6B45C}"/>
              </a:ext>
            </a:extLst>
          </p:cNvPr>
          <p:cNvSpPr/>
          <p:nvPr/>
        </p:nvSpPr>
        <p:spPr>
          <a:xfrm>
            <a:off x="4648018" y="641464"/>
            <a:ext cx="6900512" cy="1836580"/>
          </a:xfrm>
          <a:custGeom>
            <a:avLst/>
            <a:gdLst>
              <a:gd name="connsiteX0" fmla="*/ 0 w 6900512"/>
              <a:gd name="connsiteY0" fmla="*/ 306103 h 1836580"/>
              <a:gd name="connsiteX1" fmla="*/ 306103 w 6900512"/>
              <a:gd name="connsiteY1" fmla="*/ 0 h 1836580"/>
              <a:gd name="connsiteX2" fmla="*/ 6594409 w 6900512"/>
              <a:gd name="connsiteY2" fmla="*/ 0 h 1836580"/>
              <a:gd name="connsiteX3" fmla="*/ 6900512 w 6900512"/>
              <a:gd name="connsiteY3" fmla="*/ 306103 h 1836580"/>
              <a:gd name="connsiteX4" fmla="*/ 6900512 w 6900512"/>
              <a:gd name="connsiteY4" fmla="*/ 1530477 h 1836580"/>
              <a:gd name="connsiteX5" fmla="*/ 6594409 w 6900512"/>
              <a:gd name="connsiteY5" fmla="*/ 1836580 h 1836580"/>
              <a:gd name="connsiteX6" fmla="*/ 306103 w 6900512"/>
              <a:gd name="connsiteY6" fmla="*/ 1836580 h 1836580"/>
              <a:gd name="connsiteX7" fmla="*/ 0 w 6900512"/>
              <a:gd name="connsiteY7" fmla="*/ 1530477 h 1836580"/>
              <a:gd name="connsiteX8" fmla="*/ 0 w 6900512"/>
              <a:gd name="connsiteY8" fmla="*/ 306103 h 1836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0512" h="1836580">
                <a:moveTo>
                  <a:pt x="0" y="306103"/>
                </a:moveTo>
                <a:cubicBezTo>
                  <a:pt x="0" y="137047"/>
                  <a:pt x="137047" y="0"/>
                  <a:pt x="306103" y="0"/>
                </a:cubicBezTo>
                <a:lnTo>
                  <a:pt x="6594409" y="0"/>
                </a:lnTo>
                <a:cubicBezTo>
                  <a:pt x="6763465" y="0"/>
                  <a:pt x="6900512" y="137047"/>
                  <a:pt x="6900512" y="306103"/>
                </a:cubicBezTo>
                <a:lnTo>
                  <a:pt x="6900512" y="1530477"/>
                </a:lnTo>
                <a:cubicBezTo>
                  <a:pt x="6900512" y="1699533"/>
                  <a:pt x="6763465" y="1836580"/>
                  <a:pt x="6594409" y="1836580"/>
                </a:cubicBezTo>
                <a:lnTo>
                  <a:pt x="306103" y="1836580"/>
                </a:lnTo>
                <a:cubicBezTo>
                  <a:pt x="137047" y="1836580"/>
                  <a:pt x="0" y="1699533"/>
                  <a:pt x="0" y="1530477"/>
                </a:cubicBezTo>
                <a:lnTo>
                  <a:pt x="0" y="306103"/>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81094" tIns="181094" rIns="181094" bIns="181094" numCol="1" spcCol="1270" anchor="ctr" anchorCtr="0">
            <a:noAutofit/>
          </a:bodyPr>
          <a:lstStyle/>
          <a:p>
            <a:pPr marL="0" lvl="0" indent="0" algn="l" defTabSz="1066800">
              <a:lnSpc>
                <a:spcPct val="90000"/>
              </a:lnSpc>
              <a:spcBef>
                <a:spcPct val="0"/>
              </a:spcBef>
              <a:spcAft>
                <a:spcPct val="35000"/>
              </a:spcAft>
              <a:buNone/>
            </a:pPr>
            <a:r>
              <a:rPr lang="en-US" sz="2400" b="1" i="0" kern="1200" dirty="0"/>
              <a:t>Memory usage -</a:t>
            </a:r>
            <a:r>
              <a:rPr lang="en-US" sz="2400" b="0" i="0" kern="1200" dirty="0"/>
              <a:t> In linked list, node occupies more memory than array. Each node of the linked list occupies two types of variables, i.e., one is a simple variable, and another one is the pointer variable.</a:t>
            </a:r>
            <a:endParaRPr lang="en-US" sz="2400" kern="1200" dirty="0"/>
          </a:p>
        </p:txBody>
      </p:sp>
      <p:sp>
        <p:nvSpPr>
          <p:cNvPr id="7" name="Freeform: Shape 6">
            <a:extLst>
              <a:ext uri="{FF2B5EF4-FFF2-40B4-BE49-F238E27FC236}">
                <a16:creationId xmlns:a16="http://schemas.microsoft.com/office/drawing/2014/main" id="{0201F789-AADE-413B-A890-E5D622FF5767}"/>
              </a:ext>
            </a:extLst>
          </p:cNvPr>
          <p:cNvSpPr/>
          <p:nvPr/>
        </p:nvSpPr>
        <p:spPr>
          <a:xfrm>
            <a:off x="4648018" y="2490602"/>
            <a:ext cx="6900512" cy="1836580"/>
          </a:xfrm>
          <a:custGeom>
            <a:avLst/>
            <a:gdLst>
              <a:gd name="connsiteX0" fmla="*/ 0 w 6900512"/>
              <a:gd name="connsiteY0" fmla="*/ 306103 h 1836580"/>
              <a:gd name="connsiteX1" fmla="*/ 306103 w 6900512"/>
              <a:gd name="connsiteY1" fmla="*/ 0 h 1836580"/>
              <a:gd name="connsiteX2" fmla="*/ 6594409 w 6900512"/>
              <a:gd name="connsiteY2" fmla="*/ 0 h 1836580"/>
              <a:gd name="connsiteX3" fmla="*/ 6900512 w 6900512"/>
              <a:gd name="connsiteY3" fmla="*/ 306103 h 1836580"/>
              <a:gd name="connsiteX4" fmla="*/ 6900512 w 6900512"/>
              <a:gd name="connsiteY4" fmla="*/ 1530477 h 1836580"/>
              <a:gd name="connsiteX5" fmla="*/ 6594409 w 6900512"/>
              <a:gd name="connsiteY5" fmla="*/ 1836580 h 1836580"/>
              <a:gd name="connsiteX6" fmla="*/ 306103 w 6900512"/>
              <a:gd name="connsiteY6" fmla="*/ 1836580 h 1836580"/>
              <a:gd name="connsiteX7" fmla="*/ 0 w 6900512"/>
              <a:gd name="connsiteY7" fmla="*/ 1530477 h 1836580"/>
              <a:gd name="connsiteX8" fmla="*/ 0 w 6900512"/>
              <a:gd name="connsiteY8" fmla="*/ 306103 h 1836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0512" h="1836580">
                <a:moveTo>
                  <a:pt x="0" y="306103"/>
                </a:moveTo>
                <a:cubicBezTo>
                  <a:pt x="0" y="137047"/>
                  <a:pt x="137047" y="0"/>
                  <a:pt x="306103" y="0"/>
                </a:cubicBezTo>
                <a:lnTo>
                  <a:pt x="6594409" y="0"/>
                </a:lnTo>
                <a:cubicBezTo>
                  <a:pt x="6763465" y="0"/>
                  <a:pt x="6900512" y="137047"/>
                  <a:pt x="6900512" y="306103"/>
                </a:cubicBezTo>
                <a:lnTo>
                  <a:pt x="6900512" y="1530477"/>
                </a:lnTo>
                <a:cubicBezTo>
                  <a:pt x="6900512" y="1699533"/>
                  <a:pt x="6763465" y="1836580"/>
                  <a:pt x="6594409" y="1836580"/>
                </a:cubicBezTo>
                <a:lnTo>
                  <a:pt x="306103" y="1836580"/>
                </a:lnTo>
                <a:cubicBezTo>
                  <a:pt x="137047" y="1836580"/>
                  <a:pt x="0" y="1699533"/>
                  <a:pt x="0" y="1530477"/>
                </a:cubicBezTo>
                <a:lnTo>
                  <a:pt x="0" y="306103"/>
                </a:lnTo>
                <a:close/>
              </a:path>
            </a:pathLst>
          </a:custGeom>
        </p:spPr>
        <p:style>
          <a:lnRef idx="2">
            <a:schemeClr val="lt1">
              <a:hueOff val="0"/>
              <a:satOff val="0"/>
              <a:lumOff val="0"/>
              <a:alphaOff val="0"/>
            </a:schemeClr>
          </a:lnRef>
          <a:fillRef idx="1">
            <a:schemeClr val="accent2">
              <a:hueOff val="3221807"/>
              <a:satOff val="-9246"/>
              <a:lumOff val="-14805"/>
              <a:alphaOff val="0"/>
            </a:schemeClr>
          </a:fillRef>
          <a:effectRef idx="0">
            <a:schemeClr val="accent2">
              <a:hueOff val="3221807"/>
              <a:satOff val="-9246"/>
              <a:lumOff val="-14805"/>
              <a:alphaOff val="0"/>
            </a:schemeClr>
          </a:effectRef>
          <a:fontRef idx="minor">
            <a:schemeClr val="lt1"/>
          </a:fontRef>
        </p:style>
        <p:txBody>
          <a:bodyPr spcFirstLastPara="0" vert="horz" wrap="square" lIns="165854" tIns="165854" rIns="165854" bIns="165854" numCol="1" spcCol="1270" anchor="ctr" anchorCtr="0">
            <a:noAutofit/>
          </a:bodyPr>
          <a:lstStyle/>
          <a:p>
            <a:pPr marL="0" lvl="0" indent="0" algn="l" defTabSz="889000">
              <a:lnSpc>
                <a:spcPct val="90000"/>
              </a:lnSpc>
              <a:spcBef>
                <a:spcPct val="0"/>
              </a:spcBef>
              <a:spcAft>
                <a:spcPct val="35000"/>
              </a:spcAft>
              <a:buNone/>
            </a:pPr>
            <a:r>
              <a:rPr lang="en-US" sz="2000" b="1" i="0" kern="1200" dirty="0"/>
              <a:t>Traversal -</a:t>
            </a:r>
            <a:r>
              <a:rPr lang="en-US" sz="2000" b="0" i="0" kern="1200" dirty="0"/>
              <a:t> Traversal is not easy in the linked list. If we have to access an element in the linked list, we cannot access it randomly, while in case of array we can randomly access it by index. For example, if we want to access the 3rd node, then we need to traverse all the nodes before it. So, the time required to access a particular node is large.</a:t>
            </a:r>
            <a:endParaRPr lang="en-US" sz="2000" kern="1200" dirty="0"/>
          </a:p>
        </p:txBody>
      </p:sp>
      <p:sp>
        <p:nvSpPr>
          <p:cNvPr id="8" name="Freeform: Shape 7">
            <a:extLst>
              <a:ext uri="{FF2B5EF4-FFF2-40B4-BE49-F238E27FC236}">
                <a16:creationId xmlns:a16="http://schemas.microsoft.com/office/drawing/2014/main" id="{2D30AA39-3E48-ECF6-443B-67B819C9EBAC}"/>
              </a:ext>
            </a:extLst>
          </p:cNvPr>
          <p:cNvSpPr/>
          <p:nvPr/>
        </p:nvSpPr>
        <p:spPr>
          <a:xfrm>
            <a:off x="4648018" y="4339740"/>
            <a:ext cx="6900512" cy="1836580"/>
          </a:xfrm>
          <a:custGeom>
            <a:avLst/>
            <a:gdLst>
              <a:gd name="connsiteX0" fmla="*/ 0 w 6900512"/>
              <a:gd name="connsiteY0" fmla="*/ 306103 h 1836580"/>
              <a:gd name="connsiteX1" fmla="*/ 306103 w 6900512"/>
              <a:gd name="connsiteY1" fmla="*/ 0 h 1836580"/>
              <a:gd name="connsiteX2" fmla="*/ 6594409 w 6900512"/>
              <a:gd name="connsiteY2" fmla="*/ 0 h 1836580"/>
              <a:gd name="connsiteX3" fmla="*/ 6900512 w 6900512"/>
              <a:gd name="connsiteY3" fmla="*/ 306103 h 1836580"/>
              <a:gd name="connsiteX4" fmla="*/ 6900512 w 6900512"/>
              <a:gd name="connsiteY4" fmla="*/ 1530477 h 1836580"/>
              <a:gd name="connsiteX5" fmla="*/ 6594409 w 6900512"/>
              <a:gd name="connsiteY5" fmla="*/ 1836580 h 1836580"/>
              <a:gd name="connsiteX6" fmla="*/ 306103 w 6900512"/>
              <a:gd name="connsiteY6" fmla="*/ 1836580 h 1836580"/>
              <a:gd name="connsiteX7" fmla="*/ 0 w 6900512"/>
              <a:gd name="connsiteY7" fmla="*/ 1530477 h 1836580"/>
              <a:gd name="connsiteX8" fmla="*/ 0 w 6900512"/>
              <a:gd name="connsiteY8" fmla="*/ 306103 h 1836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00512" h="1836580">
                <a:moveTo>
                  <a:pt x="0" y="306103"/>
                </a:moveTo>
                <a:cubicBezTo>
                  <a:pt x="0" y="137047"/>
                  <a:pt x="137047" y="0"/>
                  <a:pt x="306103" y="0"/>
                </a:cubicBezTo>
                <a:lnTo>
                  <a:pt x="6594409" y="0"/>
                </a:lnTo>
                <a:cubicBezTo>
                  <a:pt x="6763465" y="0"/>
                  <a:pt x="6900512" y="137047"/>
                  <a:pt x="6900512" y="306103"/>
                </a:cubicBezTo>
                <a:lnTo>
                  <a:pt x="6900512" y="1530477"/>
                </a:lnTo>
                <a:cubicBezTo>
                  <a:pt x="6900512" y="1699533"/>
                  <a:pt x="6763465" y="1836580"/>
                  <a:pt x="6594409" y="1836580"/>
                </a:cubicBezTo>
                <a:lnTo>
                  <a:pt x="306103" y="1836580"/>
                </a:lnTo>
                <a:cubicBezTo>
                  <a:pt x="137047" y="1836580"/>
                  <a:pt x="0" y="1699533"/>
                  <a:pt x="0" y="1530477"/>
                </a:cubicBezTo>
                <a:lnTo>
                  <a:pt x="0" y="306103"/>
                </a:lnTo>
                <a:close/>
              </a:path>
            </a:pathLst>
          </a:custGeom>
        </p:spPr>
        <p:style>
          <a:lnRef idx="2">
            <a:schemeClr val="lt1">
              <a:hueOff val="0"/>
              <a:satOff val="0"/>
              <a:lumOff val="0"/>
              <a:alphaOff val="0"/>
            </a:schemeClr>
          </a:lnRef>
          <a:fillRef idx="1">
            <a:schemeClr val="accent2">
              <a:hueOff val="6443614"/>
              <a:satOff val="-18493"/>
              <a:lumOff val="-29609"/>
              <a:alphaOff val="0"/>
            </a:schemeClr>
          </a:fillRef>
          <a:effectRef idx="0">
            <a:schemeClr val="accent2">
              <a:hueOff val="6443614"/>
              <a:satOff val="-18493"/>
              <a:lumOff val="-29609"/>
              <a:alphaOff val="0"/>
            </a:schemeClr>
          </a:effectRef>
          <a:fontRef idx="minor">
            <a:schemeClr val="lt1"/>
          </a:fontRef>
        </p:style>
        <p:txBody>
          <a:bodyPr spcFirstLastPara="0" vert="horz" wrap="square" lIns="181094" tIns="181094" rIns="181094" bIns="181094" numCol="1" spcCol="1270" anchor="ctr" anchorCtr="0">
            <a:noAutofit/>
          </a:bodyPr>
          <a:lstStyle/>
          <a:p>
            <a:pPr marL="0" lvl="0" indent="0" algn="l" defTabSz="1066800">
              <a:lnSpc>
                <a:spcPct val="90000"/>
              </a:lnSpc>
              <a:spcBef>
                <a:spcPct val="0"/>
              </a:spcBef>
              <a:spcAft>
                <a:spcPct val="35000"/>
              </a:spcAft>
              <a:buNone/>
            </a:pPr>
            <a:r>
              <a:rPr lang="en-US" sz="2400" b="1" i="0" kern="1200" dirty="0"/>
              <a:t>Reverse traversing -</a:t>
            </a:r>
            <a:r>
              <a:rPr lang="en-US" sz="2400" b="0" i="0" kern="1200" dirty="0"/>
              <a:t> Backtracking or reverse traversing is difficult in a linked list. In a doubly-linked list, it is easier but requires more memory to store the back pointer.</a:t>
            </a:r>
            <a:endParaRPr lang="en-US" sz="2400" kern="1200" dirty="0"/>
          </a:p>
        </p:txBody>
      </p:sp>
    </p:spTree>
    <p:extLst>
      <p:ext uri="{BB962C8B-B14F-4D97-AF65-F5344CB8AC3E}">
        <p14:creationId xmlns:p14="http://schemas.microsoft.com/office/powerpoint/2010/main" val="1571089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1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10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C01821-E4F0-6045-2AE2-777E2C45C9E1}"/>
              </a:ext>
            </a:extLst>
          </p:cNvPr>
          <p:cNvSpPr>
            <a:spLocks noGrp="1"/>
          </p:cNvSpPr>
          <p:nvPr>
            <p:ph type="title"/>
          </p:nvPr>
        </p:nvSpPr>
        <p:spPr>
          <a:xfrm>
            <a:off x="635000" y="640823"/>
            <a:ext cx="3418659" cy="5583148"/>
          </a:xfrm>
        </p:spPr>
        <p:txBody>
          <a:bodyPr anchor="ctr">
            <a:normAutofit/>
          </a:bodyPr>
          <a:lstStyle/>
          <a:p>
            <a:r>
              <a:rPr lang="en-US" sz="5000" dirty="0"/>
              <a:t>Applications of linked lists</a:t>
            </a:r>
            <a:endParaRPr lang="en-IN" sz="5000" dirty="0"/>
          </a:p>
        </p:txBody>
      </p:sp>
      <p:sp>
        <p:nvSpPr>
          <p:cNvPr id="22"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5AE4F14C-06FB-91D8-C732-421010C76854}"/>
              </a:ext>
            </a:extLst>
          </p:cNvPr>
          <p:cNvSpPr/>
          <p:nvPr/>
        </p:nvSpPr>
        <p:spPr>
          <a:xfrm>
            <a:off x="4648860" y="1273541"/>
            <a:ext cx="3285155" cy="1971093"/>
          </a:xfrm>
          <a:custGeom>
            <a:avLst/>
            <a:gdLst>
              <a:gd name="connsiteX0" fmla="*/ 0 w 3285155"/>
              <a:gd name="connsiteY0" fmla="*/ 0 h 1971093"/>
              <a:gd name="connsiteX1" fmla="*/ 3285155 w 3285155"/>
              <a:gd name="connsiteY1" fmla="*/ 0 h 1971093"/>
              <a:gd name="connsiteX2" fmla="*/ 3285155 w 3285155"/>
              <a:gd name="connsiteY2" fmla="*/ 1971093 h 1971093"/>
              <a:gd name="connsiteX3" fmla="*/ 0 w 3285155"/>
              <a:gd name="connsiteY3" fmla="*/ 1971093 h 1971093"/>
              <a:gd name="connsiteX4" fmla="*/ 0 w 3285155"/>
              <a:gd name="connsiteY4" fmla="*/ 0 h 19710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5155" h="1971093">
                <a:moveTo>
                  <a:pt x="0" y="0"/>
                </a:moveTo>
                <a:lnTo>
                  <a:pt x="3285155" y="0"/>
                </a:lnTo>
                <a:lnTo>
                  <a:pt x="3285155" y="1971093"/>
                </a:lnTo>
                <a:lnTo>
                  <a:pt x="0" y="1971093"/>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t>Polynomial Representation</a:t>
            </a:r>
          </a:p>
        </p:txBody>
      </p:sp>
      <p:sp>
        <p:nvSpPr>
          <p:cNvPr id="7" name="Freeform: Shape 6">
            <a:extLst>
              <a:ext uri="{FF2B5EF4-FFF2-40B4-BE49-F238E27FC236}">
                <a16:creationId xmlns:a16="http://schemas.microsoft.com/office/drawing/2014/main" id="{BDA73198-6EB8-C89A-C2AE-488E56A142D2}"/>
              </a:ext>
            </a:extLst>
          </p:cNvPr>
          <p:cNvSpPr/>
          <p:nvPr/>
        </p:nvSpPr>
        <p:spPr>
          <a:xfrm>
            <a:off x="8262531" y="1273541"/>
            <a:ext cx="3285155" cy="1971093"/>
          </a:xfrm>
          <a:custGeom>
            <a:avLst/>
            <a:gdLst>
              <a:gd name="connsiteX0" fmla="*/ 0 w 3285155"/>
              <a:gd name="connsiteY0" fmla="*/ 0 h 1971093"/>
              <a:gd name="connsiteX1" fmla="*/ 3285155 w 3285155"/>
              <a:gd name="connsiteY1" fmla="*/ 0 h 1971093"/>
              <a:gd name="connsiteX2" fmla="*/ 3285155 w 3285155"/>
              <a:gd name="connsiteY2" fmla="*/ 1971093 h 1971093"/>
              <a:gd name="connsiteX3" fmla="*/ 0 w 3285155"/>
              <a:gd name="connsiteY3" fmla="*/ 1971093 h 1971093"/>
              <a:gd name="connsiteX4" fmla="*/ 0 w 3285155"/>
              <a:gd name="connsiteY4" fmla="*/ 0 h 19710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5155" h="1971093">
                <a:moveTo>
                  <a:pt x="0" y="0"/>
                </a:moveTo>
                <a:lnTo>
                  <a:pt x="3285155" y="0"/>
                </a:lnTo>
                <a:lnTo>
                  <a:pt x="3285155" y="1971093"/>
                </a:lnTo>
                <a:lnTo>
                  <a:pt x="0" y="1971093"/>
                </a:lnTo>
                <a:lnTo>
                  <a:pt x="0" y="0"/>
                </a:lnTo>
                <a:close/>
              </a:path>
            </a:pathLst>
          </a:custGeom>
        </p:spPr>
        <p:style>
          <a:lnRef idx="2">
            <a:schemeClr val="lt1">
              <a:hueOff val="0"/>
              <a:satOff val="0"/>
              <a:lumOff val="0"/>
              <a:alphaOff val="0"/>
            </a:schemeClr>
          </a:lnRef>
          <a:fillRef idx="1">
            <a:schemeClr val="accent2">
              <a:hueOff val="2147871"/>
              <a:satOff val="-6164"/>
              <a:lumOff val="-9870"/>
              <a:alphaOff val="0"/>
            </a:schemeClr>
          </a:fillRef>
          <a:effectRef idx="0">
            <a:schemeClr val="accent2">
              <a:hueOff val="2147871"/>
              <a:satOff val="-6164"/>
              <a:lumOff val="-9870"/>
              <a:alphaOff val="0"/>
            </a:schemeClr>
          </a:effectRef>
          <a:fontRef idx="minor">
            <a:schemeClr val="lt1"/>
          </a:fontRef>
        </p:style>
        <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t>Sparse Matrix Representation</a:t>
            </a:r>
          </a:p>
        </p:txBody>
      </p:sp>
      <p:sp>
        <p:nvSpPr>
          <p:cNvPr id="8" name="Freeform: Shape 7">
            <a:extLst>
              <a:ext uri="{FF2B5EF4-FFF2-40B4-BE49-F238E27FC236}">
                <a16:creationId xmlns:a16="http://schemas.microsoft.com/office/drawing/2014/main" id="{A9937096-8F63-3AFC-3B80-AF66EA5D59A2}"/>
              </a:ext>
            </a:extLst>
          </p:cNvPr>
          <p:cNvSpPr/>
          <p:nvPr/>
        </p:nvSpPr>
        <p:spPr>
          <a:xfrm>
            <a:off x="4648860" y="3573150"/>
            <a:ext cx="3285155" cy="1971093"/>
          </a:xfrm>
          <a:custGeom>
            <a:avLst/>
            <a:gdLst>
              <a:gd name="connsiteX0" fmla="*/ 0 w 3285155"/>
              <a:gd name="connsiteY0" fmla="*/ 0 h 1971093"/>
              <a:gd name="connsiteX1" fmla="*/ 3285155 w 3285155"/>
              <a:gd name="connsiteY1" fmla="*/ 0 h 1971093"/>
              <a:gd name="connsiteX2" fmla="*/ 3285155 w 3285155"/>
              <a:gd name="connsiteY2" fmla="*/ 1971093 h 1971093"/>
              <a:gd name="connsiteX3" fmla="*/ 0 w 3285155"/>
              <a:gd name="connsiteY3" fmla="*/ 1971093 h 1971093"/>
              <a:gd name="connsiteX4" fmla="*/ 0 w 3285155"/>
              <a:gd name="connsiteY4" fmla="*/ 0 h 19710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5155" h="1971093">
                <a:moveTo>
                  <a:pt x="0" y="0"/>
                </a:moveTo>
                <a:lnTo>
                  <a:pt x="3285155" y="0"/>
                </a:lnTo>
                <a:lnTo>
                  <a:pt x="3285155" y="1971093"/>
                </a:lnTo>
                <a:lnTo>
                  <a:pt x="0" y="1971093"/>
                </a:lnTo>
                <a:lnTo>
                  <a:pt x="0" y="0"/>
                </a:lnTo>
                <a:close/>
              </a:path>
            </a:pathLst>
          </a:custGeom>
        </p:spPr>
        <p:style>
          <a:lnRef idx="2">
            <a:schemeClr val="lt1">
              <a:hueOff val="0"/>
              <a:satOff val="0"/>
              <a:lumOff val="0"/>
              <a:alphaOff val="0"/>
            </a:schemeClr>
          </a:lnRef>
          <a:fillRef idx="1">
            <a:schemeClr val="accent2">
              <a:hueOff val="4295743"/>
              <a:satOff val="-12329"/>
              <a:lumOff val="-19739"/>
              <a:alphaOff val="0"/>
            </a:schemeClr>
          </a:fillRef>
          <a:effectRef idx="0">
            <a:schemeClr val="accent2">
              <a:hueOff val="4295743"/>
              <a:satOff val="-12329"/>
              <a:lumOff val="-19739"/>
              <a:alphaOff val="0"/>
            </a:schemeClr>
          </a:effectRef>
          <a:fontRef idx="minor">
            <a:schemeClr val="lt1"/>
          </a:fontRef>
        </p:style>
        <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t>Implementations of other data structures like stacks and queues</a:t>
            </a:r>
          </a:p>
        </p:txBody>
      </p:sp>
      <p:sp>
        <p:nvSpPr>
          <p:cNvPr id="10" name="Freeform: Shape 9">
            <a:extLst>
              <a:ext uri="{FF2B5EF4-FFF2-40B4-BE49-F238E27FC236}">
                <a16:creationId xmlns:a16="http://schemas.microsoft.com/office/drawing/2014/main" id="{EEA6D4D0-014B-581E-F062-FE196B314839}"/>
              </a:ext>
            </a:extLst>
          </p:cNvPr>
          <p:cNvSpPr/>
          <p:nvPr/>
        </p:nvSpPr>
        <p:spPr>
          <a:xfrm>
            <a:off x="8262531" y="3573150"/>
            <a:ext cx="3285155" cy="1971093"/>
          </a:xfrm>
          <a:custGeom>
            <a:avLst/>
            <a:gdLst>
              <a:gd name="connsiteX0" fmla="*/ 0 w 3285155"/>
              <a:gd name="connsiteY0" fmla="*/ 0 h 1971093"/>
              <a:gd name="connsiteX1" fmla="*/ 3285155 w 3285155"/>
              <a:gd name="connsiteY1" fmla="*/ 0 h 1971093"/>
              <a:gd name="connsiteX2" fmla="*/ 3285155 w 3285155"/>
              <a:gd name="connsiteY2" fmla="*/ 1971093 h 1971093"/>
              <a:gd name="connsiteX3" fmla="*/ 0 w 3285155"/>
              <a:gd name="connsiteY3" fmla="*/ 1971093 h 1971093"/>
              <a:gd name="connsiteX4" fmla="*/ 0 w 3285155"/>
              <a:gd name="connsiteY4" fmla="*/ 0 h 19710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5155" h="1971093">
                <a:moveTo>
                  <a:pt x="0" y="0"/>
                </a:moveTo>
                <a:lnTo>
                  <a:pt x="3285155" y="0"/>
                </a:lnTo>
                <a:lnTo>
                  <a:pt x="3285155" y="1971093"/>
                </a:lnTo>
                <a:lnTo>
                  <a:pt x="0" y="1971093"/>
                </a:lnTo>
                <a:lnTo>
                  <a:pt x="0" y="0"/>
                </a:lnTo>
                <a:close/>
              </a:path>
            </a:pathLst>
          </a:custGeom>
        </p:spPr>
        <p:style>
          <a:lnRef idx="2">
            <a:schemeClr val="lt1">
              <a:hueOff val="0"/>
              <a:satOff val="0"/>
              <a:lumOff val="0"/>
              <a:alphaOff val="0"/>
            </a:schemeClr>
          </a:lnRef>
          <a:fillRef idx="1">
            <a:schemeClr val="accent2">
              <a:hueOff val="6443614"/>
              <a:satOff val="-18493"/>
              <a:lumOff val="-29609"/>
              <a:alphaOff val="0"/>
            </a:schemeClr>
          </a:fillRef>
          <a:effectRef idx="0">
            <a:schemeClr val="accent2">
              <a:hueOff val="6443614"/>
              <a:satOff val="-18493"/>
              <a:lumOff val="-29609"/>
              <a:alphaOff val="0"/>
            </a:schemeClr>
          </a:effectRef>
          <a:fontRef idx="minor">
            <a:schemeClr val="lt1"/>
          </a:fontRef>
        </p:style>
        <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t>Adjacency List representation for Graphs</a:t>
            </a:r>
          </a:p>
        </p:txBody>
      </p:sp>
    </p:spTree>
    <p:extLst>
      <p:ext uri="{BB962C8B-B14F-4D97-AF65-F5344CB8AC3E}">
        <p14:creationId xmlns:p14="http://schemas.microsoft.com/office/powerpoint/2010/main" val="3809521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1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10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10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up)">
                                      <p:cBhvr>
                                        <p:cTn id="22"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5BBD3-FBA0-D4ED-5FC0-B451CD887047}"/>
              </a:ext>
            </a:extLst>
          </p:cNvPr>
          <p:cNvSpPr>
            <a:spLocks noGrp="1"/>
          </p:cNvSpPr>
          <p:nvPr>
            <p:ph type="title"/>
          </p:nvPr>
        </p:nvSpPr>
        <p:spPr/>
        <p:txBody>
          <a:bodyPr/>
          <a:lstStyle/>
          <a:p>
            <a:r>
              <a:rPr lang="en-US" dirty="0"/>
              <a:t>Where are linked lists being used?</a:t>
            </a:r>
            <a:endParaRPr lang="en-IN" dirty="0"/>
          </a:p>
        </p:txBody>
      </p:sp>
      <p:sp>
        <p:nvSpPr>
          <p:cNvPr id="6" name="Freeform: Shape 5">
            <a:extLst>
              <a:ext uri="{FF2B5EF4-FFF2-40B4-BE49-F238E27FC236}">
                <a16:creationId xmlns:a16="http://schemas.microsoft.com/office/drawing/2014/main" id="{623CB47B-BAE5-477B-258E-2B7D7FF6AC97}"/>
              </a:ext>
            </a:extLst>
          </p:cNvPr>
          <p:cNvSpPr/>
          <p:nvPr/>
        </p:nvSpPr>
        <p:spPr>
          <a:xfrm>
            <a:off x="838200" y="1664820"/>
            <a:ext cx="10515600" cy="810810"/>
          </a:xfrm>
          <a:custGeom>
            <a:avLst/>
            <a:gdLst>
              <a:gd name="connsiteX0" fmla="*/ 0 w 10515600"/>
              <a:gd name="connsiteY0" fmla="*/ 135138 h 810810"/>
              <a:gd name="connsiteX1" fmla="*/ 135138 w 10515600"/>
              <a:gd name="connsiteY1" fmla="*/ 0 h 810810"/>
              <a:gd name="connsiteX2" fmla="*/ 10380462 w 10515600"/>
              <a:gd name="connsiteY2" fmla="*/ 0 h 810810"/>
              <a:gd name="connsiteX3" fmla="*/ 10515600 w 10515600"/>
              <a:gd name="connsiteY3" fmla="*/ 135138 h 810810"/>
              <a:gd name="connsiteX4" fmla="*/ 10515600 w 10515600"/>
              <a:gd name="connsiteY4" fmla="*/ 675672 h 810810"/>
              <a:gd name="connsiteX5" fmla="*/ 10380462 w 10515600"/>
              <a:gd name="connsiteY5" fmla="*/ 810810 h 810810"/>
              <a:gd name="connsiteX6" fmla="*/ 135138 w 10515600"/>
              <a:gd name="connsiteY6" fmla="*/ 810810 h 810810"/>
              <a:gd name="connsiteX7" fmla="*/ 0 w 10515600"/>
              <a:gd name="connsiteY7" fmla="*/ 675672 h 810810"/>
              <a:gd name="connsiteX8" fmla="*/ 0 w 10515600"/>
              <a:gd name="connsiteY8" fmla="*/ 135138 h 810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15600" h="810810">
                <a:moveTo>
                  <a:pt x="0" y="135138"/>
                </a:moveTo>
                <a:cubicBezTo>
                  <a:pt x="0" y="60503"/>
                  <a:pt x="60503" y="0"/>
                  <a:pt x="135138" y="0"/>
                </a:cubicBezTo>
                <a:lnTo>
                  <a:pt x="10380462" y="0"/>
                </a:lnTo>
                <a:cubicBezTo>
                  <a:pt x="10455097" y="0"/>
                  <a:pt x="10515600" y="60503"/>
                  <a:pt x="10515600" y="135138"/>
                </a:cubicBezTo>
                <a:lnTo>
                  <a:pt x="10515600" y="675672"/>
                </a:lnTo>
                <a:cubicBezTo>
                  <a:pt x="10515600" y="750307"/>
                  <a:pt x="10455097" y="810810"/>
                  <a:pt x="10380462" y="810810"/>
                </a:cubicBezTo>
                <a:lnTo>
                  <a:pt x="135138" y="810810"/>
                </a:lnTo>
                <a:cubicBezTo>
                  <a:pt x="60503" y="810810"/>
                  <a:pt x="0" y="750307"/>
                  <a:pt x="0" y="675672"/>
                </a:cubicBezTo>
                <a:lnTo>
                  <a:pt x="0" y="135138"/>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5310" tIns="165310" rIns="165310" bIns="165310" numCol="1" spcCol="1270" anchor="ctr" anchorCtr="0">
            <a:noAutofit/>
          </a:bodyPr>
          <a:lstStyle/>
          <a:p>
            <a:pPr marL="0" lvl="0" indent="0" algn="l" defTabSz="1466850">
              <a:lnSpc>
                <a:spcPct val="90000"/>
              </a:lnSpc>
              <a:spcBef>
                <a:spcPct val="0"/>
              </a:spcBef>
              <a:spcAft>
                <a:spcPct val="35000"/>
              </a:spcAft>
              <a:buNone/>
            </a:pPr>
            <a:r>
              <a:rPr lang="en-US" sz="3300" kern="1200" dirty="0"/>
              <a:t>Image viewers</a:t>
            </a:r>
          </a:p>
        </p:txBody>
      </p:sp>
      <p:sp>
        <p:nvSpPr>
          <p:cNvPr id="8" name="Freeform: Shape 7">
            <a:extLst>
              <a:ext uri="{FF2B5EF4-FFF2-40B4-BE49-F238E27FC236}">
                <a16:creationId xmlns:a16="http://schemas.microsoft.com/office/drawing/2014/main" id="{8CE6FA9E-603D-A429-9479-132FC1453E3A}"/>
              </a:ext>
            </a:extLst>
          </p:cNvPr>
          <p:cNvSpPr/>
          <p:nvPr/>
        </p:nvSpPr>
        <p:spPr>
          <a:xfrm>
            <a:off x="838200" y="2570670"/>
            <a:ext cx="10515600" cy="810810"/>
          </a:xfrm>
          <a:custGeom>
            <a:avLst/>
            <a:gdLst>
              <a:gd name="connsiteX0" fmla="*/ 0 w 10515600"/>
              <a:gd name="connsiteY0" fmla="*/ 135138 h 810810"/>
              <a:gd name="connsiteX1" fmla="*/ 135138 w 10515600"/>
              <a:gd name="connsiteY1" fmla="*/ 0 h 810810"/>
              <a:gd name="connsiteX2" fmla="*/ 10380462 w 10515600"/>
              <a:gd name="connsiteY2" fmla="*/ 0 h 810810"/>
              <a:gd name="connsiteX3" fmla="*/ 10515600 w 10515600"/>
              <a:gd name="connsiteY3" fmla="*/ 135138 h 810810"/>
              <a:gd name="connsiteX4" fmla="*/ 10515600 w 10515600"/>
              <a:gd name="connsiteY4" fmla="*/ 675672 h 810810"/>
              <a:gd name="connsiteX5" fmla="*/ 10380462 w 10515600"/>
              <a:gd name="connsiteY5" fmla="*/ 810810 h 810810"/>
              <a:gd name="connsiteX6" fmla="*/ 135138 w 10515600"/>
              <a:gd name="connsiteY6" fmla="*/ 810810 h 810810"/>
              <a:gd name="connsiteX7" fmla="*/ 0 w 10515600"/>
              <a:gd name="connsiteY7" fmla="*/ 675672 h 810810"/>
              <a:gd name="connsiteX8" fmla="*/ 0 w 10515600"/>
              <a:gd name="connsiteY8" fmla="*/ 135138 h 810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15600" h="810810">
                <a:moveTo>
                  <a:pt x="0" y="135138"/>
                </a:moveTo>
                <a:cubicBezTo>
                  <a:pt x="0" y="60503"/>
                  <a:pt x="60503" y="0"/>
                  <a:pt x="135138" y="0"/>
                </a:cubicBezTo>
                <a:lnTo>
                  <a:pt x="10380462" y="0"/>
                </a:lnTo>
                <a:cubicBezTo>
                  <a:pt x="10455097" y="0"/>
                  <a:pt x="10515600" y="60503"/>
                  <a:pt x="10515600" y="135138"/>
                </a:cubicBezTo>
                <a:lnTo>
                  <a:pt x="10515600" y="675672"/>
                </a:lnTo>
                <a:cubicBezTo>
                  <a:pt x="10515600" y="750307"/>
                  <a:pt x="10455097" y="810810"/>
                  <a:pt x="10380462" y="810810"/>
                </a:cubicBezTo>
                <a:lnTo>
                  <a:pt x="135138" y="810810"/>
                </a:lnTo>
                <a:cubicBezTo>
                  <a:pt x="60503" y="810810"/>
                  <a:pt x="0" y="750307"/>
                  <a:pt x="0" y="675672"/>
                </a:cubicBezTo>
                <a:lnTo>
                  <a:pt x="0" y="135138"/>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5310" tIns="165310" rIns="165310" bIns="165310" numCol="1" spcCol="1270" anchor="ctr" anchorCtr="0">
            <a:noAutofit/>
          </a:bodyPr>
          <a:lstStyle/>
          <a:p>
            <a:pPr marL="0" lvl="0" indent="0" algn="l" defTabSz="1466850">
              <a:lnSpc>
                <a:spcPct val="90000"/>
              </a:lnSpc>
              <a:spcBef>
                <a:spcPct val="0"/>
              </a:spcBef>
              <a:spcAft>
                <a:spcPct val="35000"/>
              </a:spcAft>
              <a:buNone/>
            </a:pPr>
            <a:r>
              <a:rPr lang="en-US" sz="3300" kern="1200" dirty="0"/>
              <a:t>Previous and next pages in web browsers</a:t>
            </a:r>
          </a:p>
        </p:txBody>
      </p:sp>
      <p:sp>
        <p:nvSpPr>
          <p:cNvPr id="10" name="Freeform: Shape 9">
            <a:extLst>
              <a:ext uri="{FF2B5EF4-FFF2-40B4-BE49-F238E27FC236}">
                <a16:creationId xmlns:a16="http://schemas.microsoft.com/office/drawing/2014/main" id="{F46B8440-7393-F738-F61E-A1DA13E7FC56}"/>
              </a:ext>
            </a:extLst>
          </p:cNvPr>
          <p:cNvSpPr/>
          <p:nvPr/>
        </p:nvSpPr>
        <p:spPr>
          <a:xfrm>
            <a:off x="838200" y="3476520"/>
            <a:ext cx="10515600" cy="810810"/>
          </a:xfrm>
          <a:custGeom>
            <a:avLst/>
            <a:gdLst>
              <a:gd name="connsiteX0" fmla="*/ 0 w 10515600"/>
              <a:gd name="connsiteY0" fmla="*/ 135138 h 810810"/>
              <a:gd name="connsiteX1" fmla="*/ 135138 w 10515600"/>
              <a:gd name="connsiteY1" fmla="*/ 0 h 810810"/>
              <a:gd name="connsiteX2" fmla="*/ 10380462 w 10515600"/>
              <a:gd name="connsiteY2" fmla="*/ 0 h 810810"/>
              <a:gd name="connsiteX3" fmla="*/ 10515600 w 10515600"/>
              <a:gd name="connsiteY3" fmla="*/ 135138 h 810810"/>
              <a:gd name="connsiteX4" fmla="*/ 10515600 w 10515600"/>
              <a:gd name="connsiteY4" fmla="*/ 675672 h 810810"/>
              <a:gd name="connsiteX5" fmla="*/ 10380462 w 10515600"/>
              <a:gd name="connsiteY5" fmla="*/ 810810 h 810810"/>
              <a:gd name="connsiteX6" fmla="*/ 135138 w 10515600"/>
              <a:gd name="connsiteY6" fmla="*/ 810810 h 810810"/>
              <a:gd name="connsiteX7" fmla="*/ 0 w 10515600"/>
              <a:gd name="connsiteY7" fmla="*/ 675672 h 810810"/>
              <a:gd name="connsiteX8" fmla="*/ 0 w 10515600"/>
              <a:gd name="connsiteY8" fmla="*/ 135138 h 810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15600" h="810810">
                <a:moveTo>
                  <a:pt x="0" y="135138"/>
                </a:moveTo>
                <a:cubicBezTo>
                  <a:pt x="0" y="60503"/>
                  <a:pt x="60503" y="0"/>
                  <a:pt x="135138" y="0"/>
                </a:cubicBezTo>
                <a:lnTo>
                  <a:pt x="10380462" y="0"/>
                </a:lnTo>
                <a:cubicBezTo>
                  <a:pt x="10455097" y="0"/>
                  <a:pt x="10515600" y="60503"/>
                  <a:pt x="10515600" y="135138"/>
                </a:cubicBezTo>
                <a:lnTo>
                  <a:pt x="10515600" y="675672"/>
                </a:lnTo>
                <a:cubicBezTo>
                  <a:pt x="10515600" y="750307"/>
                  <a:pt x="10455097" y="810810"/>
                  <a:pt x="10380462" y="810810"/>
                </a:cubicBezTo>
                <a:lnTo>
                  <a:pt x="135138" y="810810"/>
                </a:lnTo>
                <a:cubicBezTo>
                  <a:pt x="60503" y="810810"/>
                  <a:pt x="0" y="750307"/>
                  <a:pt x="0" y="675672"/>
                </a:cubicBezTo>
                <a:lnTo>
                  <a:pt x="0" y="135138"/>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5310" tIns="165310" rIns="165310" bIns="165310" numCol="1" spcCol="1270" anchor="ctr" anchorCtr="0">
            <a:noAutofit/>
          </a:bodyPr>
          <a:lstStyle/>
          <a:p>
            <a:pPr marL="0" lvl="0" indent="0" algn="l" defTabSz="1466850">
              <a:lnSpc>
                <a:spcPct val="90000"/>
              </a:lnSpc>
              <a:spcBef>
                <a:spcPct val="0"/>
              </a:spcBef>
              <a:spcAft>
                <a:spcPct val="35000"/>
              </a:spcAft>
              <a:buNone/>
            </a:pPr>
            <a:r>
              <a:rPr lang="en-US" sz="3300" kern="1200" dirty="0"/>
              <a:t>Music player</a:t>
            </a:r>
          </a:p>
        </p:txBody>
      </p:sp>
      <p:sp>
        <p:nvSpPr>
          <p:cNvPr id="11" name="Freeform: Shape 10">
            <a:extLst>
              <a:ext uri="{FF2B5EF4-FFF2-40B4-BE49-F238E27FC236}">
                <a16:creationId xmlns:a16="http://schemas.microsoft.com/office/drawing/2014/main" id="{125143B9-C909-C2E6-EFFA-18B11149B410}"/>
              </a:ext>
            </a:extLst>
          </p:cNvPr>
          <p:cNvSpPr/>
          <p:nvPr/>
        </p:nvSpPr>
        <p:spPr>
          <a:xfrm>
            <a:off x="838200" y="4382370"/>
            <a:ext cx="10515600" cy="810810"/>
          </a:xfrm>
          <a:custGeom>
            <a:avLst/>
            <a:gdLst>
              <a:gd name="connsiteX0" fmla="*/ 0 w 10515600"/>
              <a:gd name="connsiteY0" fmla="*/ 135138 h 810810"/>
              <a:gd name="connsiteX1" fmla="*/ 135138 w 10515600"/>
              <a:gd name="connsiteY1" fmla="*/ 0 h 810810"/>
              <a:gd name="connsiteX2" fmla="*/ 10380462 w 10515600"/>
              <a:gd name="connsiteY2" fmla="*/ 0 h 810810"/>
              <a:gd name="connsiteX3" fmla="*/ 10515600 w 10515600"/>
              <a:gd name="connsiteY3" fmla="*/ 135138 h 810810"/>
              <a:gd name="connsiteX4" fmla="*/ 10515600 w 10515600"/>
              <a:gd name="connsiteY4" fmla="*/ 675672 h 810810"/>
              <a:gd name="connsiteX5" fmla="*/ 10380462 w 10515600"/>
              <a:gd name="connsiteY5" fmla="*/ 810810 h 810810"/>
              <a:gd name="connsiteX6" fmla="*/ 135138 w 10515600"/>
              <a:gd name="connsiteY6" fmla="*/ 810810 h 810810"/>
              <a:gd name="connsiteX7" fmla="*/ 0 w 10515600"/>
              <a:gd name="connsiteY7" fmla="*/ 675672 h 810810"/>
              <a:gd name="connsiteX8" fmla="*/ 0 w 10515600"/>
              <a:gd name="connsiteY8" fmla="*/ 135138 h 810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15600" h="810810">
                <a:moveTo>
                  <a:pt x="0" y="135138"/>
                </a:moveTo>
                <a:cubicBezTo>
                  <a:pt x="0" y="60503"/>
                  <a:pt x="60503" y="0"/>
                  <a:pt x="135138" y="0"/>
                </a:cubicBezTo>
                <a:lnTo>
                  <a:pt x="10380462" y="0"/>
                </a:lnTo>
                <a:cubicBezTo>
                  <a:pt x="10455097" y="0"/>
                  <a:pt x="10515600" y="60503"/>
                  <a:pt x="10515600" y="135138"/>
                </a:cubicBezTo>
                <a:lnTo>
                  <a:pt x="10515600" y="675672"/>
                </a:lnTo>
                <a:cubicBezTo>
                  <a:pt x="10515600" y="750307"/>
                  <a:pt x="10455097" y="810810"/>
                  <a:pt x="10380462" y="810810"/>
                </a:cubicBezTo>
                <a:lnTo>
                  <a:pt x="135138" y="810810"/>
                </a:lnTo>
                <a:cubicBezTo>
                  <a:pt x="60503" y="810810"/>
                  <a:pt x="0" y="750307"/>
                  <a:pt x="0" y="675672"/>
                </a:cubicBezTo>
                <a:lnTo>
                  <a:pt x="0" y="135138"/>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65310" tIns="165310" rIns="165310" bIns="165310" numCol="1" spcCol="1270" anchor="ctr" anchorCtr="0">
            <a:noAutofit/>
          </a:bodyPr>
          <a:lstStyle/>
          <a:p>
            <a:pPr marL="0" lvl="0" indent="0" algn="l" defTabSz="1466850">
              <a:lnSpc>
                <a:spcPct val="90000"/>
              </a:lnSpc>
              <a:spcBef>
                <a:spcPct val="0"/>
              </a:spcBef>
              <a:spcAft>
                <a:spcPct val="35000"/>
              </a:spcAft>
              <a:buNone/>
            </a:pPr>
            <a:r>
              <a:rPr lang="en-US" sz="3300" kern="1200" dirty="0"/>
              <a:t>Forward and backward in File explorers and many more</a:t>
            </a:r>
          </a:p>
        </p:txBody>
      </p:sp>
    </p:spTree>
    <p:extLst>
      <p:ext uri="{BB962C8B-B14F-4D97-AF65-F5344CB8AC3E}">
        <p14:creationId xmlns:p14="http://schemas.microsoft.com/office/powerpoint/2010/main" val="3355011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circle(i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circle(in)">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circle(in)">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1"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Piles of paper">
            <a:extLst>
              <a:ext uri="{FF2B5EF4-FFF2-40B4-BE49-F238E27FC236}">
                <a16:creationId xmlns:a16="http://schemas.microsoft.com/office/drawing/2014/main" id="{D5B66CD3-A637-D5D6-583A-D64D44B00F8D}"/>
              </a:ext>
            </a:extLst>
          </p:cNvPr>
          <p:cNvPicPr>
            <a:picLocks noChangeAspect="1"/>
          </p:cNvPicPr>
          <p:nvPr/>
        </p:nvPicPr>
        <p:blipFill rotWithShape="1">
          <a:blip r:embed="rId2"/>
          <a:srcRect l="187" t="9091" r="23111"/>
          <a:stretch/>
        </p:blipFill>
        <p:spPr>
          <a:xfrm>
            <a:off x="3523488" y="10"/>
            <a:ext cx="8668512" cy="6857990"/>
          </a:xfrm>
          <a:prstGeom prst="rect">
            <a:avLst/>
          </a:prstGeom>
        </p:spPr>
      </p:pic>
      <p:sp>
        <p:nvSpPr>
          <p:cNvPr id="22" name="Rectangle 21">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16E959E-3520-695A-7D9E-AE63BF337174}"/>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dirty="0"/>
              <a:t>Stacks</a:t>
            </a:r>
          </a:p>
        </p:txBody>
      </p:sp>
      <p:sp>
        <p:nvSpPr>
          <p:cNvPr id="24" name="Rectangle 2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6" name="Rectangle 2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82124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blurry image of white circles  Description automatically generated">
            <a:extLst>
              <a:ext uri="{FF2B5EF4-FFF2-40B4-BE49-F238E27FC236}">
                <a16:creationId xmlns:a16="http://schemas.microsoft.com/office/drawing/2014/main" id="{114E6F8F-5F4F-D520-C674-E50622705A05}"/>
              </a:ext>
            </a:extLst>
          </p:cNvPr>
          <p:cNvPicPr>
            <a:picLocks noChangeAspect="1"/>
          </p:cNvPicPr>
          <p:nvPr/>
        </p:nvPicPr>
        <p:blipFill rotWithShape="1">
          <a:blip r:embed="rId2">
            <a:duotone>
              <a:schemeClr val="bg2">
                <a:shade val="45000"/>
                <a:satMod val="135000"/>
              </a:schemeClr>
              <a:prstClr val="white"/>
            </a:duotone>
          </a:blip>
          <a:srcRect t="19922" r="9091" b="5153"/>
          <a:stretch/>
        </p:blipFill>
        <p:spPr>
          <a:xfrm>
            <a:off x="20" y="10"/>
            <a:ext cx="12191980" cy="6857990"/>
          </a:xfrm>
          <a:prstGeom prst="rect">
            <a:avLst/>
          </a:prstGeom>
        </p:spPr>
      </p:pic>
      <p:sp>
        <p:nvSpPr>
          <p:cNvPr id="38" name="Rectangle 37">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D83A6-B615-5DD9-541F-D6ADF367D8B1}"/>
              </a:ext>
            </a:extLst>
          </p:cNvPr>
          <p:cNvSpPr>
            <a:spLocks noGrp="1"/>
          </p:cNvSpPr>
          <p:nvPr>
            <p:ph type="title"/>
          </p:nvPr>
        </p:nvSpPr>
        <p:spPr>
          <a:xfrm>
            <a:off x="838200" y="152401"/>
            <a:ext cx="10515600" cy="1538288"/>
          </a:xfrm>
        </p:spPr>
        <p:txBody>
          <a:bodyPr>
            <a:normAutofit fontScale="90000"/>
          </a:bodyPr>
          <a:lstStyle/>
          <a:p>
            <a:r>
              <a:rPr lang="en-US" b="1" dirty="0"/>
              <a:t xml:space="preserve">Stack </a:t>
            </a:r>
            <a:br>
              <a:rPr lang="en-US" dirty="0"/>
            </a:br>
            <a:r>
              <a:rPr lang="en-US" dirty="0"/>
              <a:t>(</a:t>
            </a:r>
            <a:r>
              <a:rPr lang="en-US" dirty="0">
                <a:solidFill>
                  <a:srgbClr val="FF0000"/>
                </a:solidFill>
              </a:rPr>
              <a:t>L</a:t>
            </a:r>
            <a:r>
              <a:rPr lang="en-US" dirty="0"/>
              <a:t xml:space="preserve">ast </a:t>
            </a:r>
            <a:r>
              <a:rPr lang="en-US" dirty="0">
                <a:solidFill>
                  <a:srgbClr val="FF0000"/>
                </a:solidFill>
              </a:rPr>
              <a:t>I</a:t>
            </a:r>
            <a:r>
              <a:rPr lang="en-US" dirty="0"/>
              <a:t xml:space="preserve">n </a:t>
            </a:r>
            <a:r>
              <a:rPr lang="en-US" dirty="0">
                <a:solidFill>
                  <a:srgbClr val="FF0000"/>
                </a:solidFill>
              </a:rPr>
              <a:t>F</a:t>
            </a:r>
            <a:r>
              <a:rPr lang="en-US" dirty="0"/>
              <a:t xml:space="preserve">irst </a:t>
            </a:r>
            <a:r>
              <a:rPr lang="en-US" dirty="0">
                <a:solidFill>
                  <a:srgbClr val="FF0000"/>
                </a:solidFill>
              </a:rPr>
              <a:t>O</a:t>
            </a:r>
            <a:r>
              <a:rPr lang="en-US" dirty="0"/>
              <a:t>ut (</a:t>
            </a:r>
            <a:r>
              <a:rPr lang="en-US" dirty="0">
                <a:solidFill>
                  <a:srgbClr val="FF0000"/>
                </a:solidFill>
              </a:rPr>
              <a:t>LIFO</a:t>
            </a:r>
            <a:r>
              <a:rPr lang="en-US" dirty="0"/>
              <a:t>) or</a:t>
            </a:r>
            <a:br>
              <a:rPr lang="en-US" dirty="0"/>
            </a:br>
            <a:r>
              <a:rPr lang="en-US" dirty="0"/>
              <a:t>(</a:t>
            </a:r>
            <a:r>
              <a:rPr lang="en-US" dirty="0">
                <a:solidFill>
                  <a:srgbClr val="FF0000"/>
                </a:solidFill>
              </a:rPr>
              <a:t>F</a:t>
            </a:r>
            <a:r>
              <a:rPr lang="en-US" dirty="0"/>
              <a:t xml:space="preserve">irst </a:t>
            </a:r>
            <a:r>
              <a:rPr lang="en-US" dirty="0">
                <a:solidFill>
                  <a:srgbClr val="FF0000"/>
                </a:solidFill>
              </a:rPr>
              <a:t>I</a:t>
            </a:r>
            <a:r>
              <a:rPr lang="en-US" dirty="0"/>
              <a:t xml:space="preserve">n </a:t>
            </a:r>
            <a:r>
              <a:rPr lang="en-US" dirty="0">
                <a:solidFill>
                  <a:srgbClr val="FF0000"/>
                </a:solidFill>
              </a:rPr>
              <a:t>L</a:t>
            </a:r>
            <a:r>
              <a:rPr lang="en-US" dirty="0"/>
              <a:t xml:space="preserve">ast </a:t>
            </a:r>
            <a:r>
              <a:rPr lang="en-US" dirty="0">
                <a:solidFill>
                  <a:srgbClr val="FF0000"/>
                </a:solidFill>
              </a:rPr>
              <a:t>O</a:t>
            </a:r>
            <a:r>
              <a:rPr lang="en-US" dirty="0"/>
              <a:t>ut (</a:t>
            </a:r>
            <a:r>
              <a:rPr lang="en-US" dirty="0">
                <a:solidFill>
                  <a:srgbClr val="FF0000"/>
                </a:solidFill>
              </a:rPr>
              <a:t>FILO</a:t>
            </a:r>
            <a:r>
              <a:rPr lang="en-US" dirty="0"/>
              <a:t xml:space="preserve">)) Structures </a:t>
            </a:r>
            <a:endParaRPr lang="en-IN" dirty="0"/>
          </a:p>
        </p:txBody>
      </p:sp>
      <p:sp>
        <p:nvSpPr>
          <p:cNvPr id="6" name="Freeform: Shape 5">
            <a:extLst>
              <a:ext uri="{FF2B5EF4-FFF2-40B4-BE49-F238E27FC236}">
                <a16:creationId xmlns:a16="http://schemas.microsoft.com/office/drawing/2014/main" id="{A7E741FE-1EE0-9FA9-AC98-FE1BE4717C9A}"/>
              </a:ext>
            </a:extLst>
          </p:cNvPr>
          <p:cNvSpPr/>
          <p:nvPr/>
        </p:nvSpPr>
        <p:spPr>
          <a:xfrm>
            <a:off x="839021" y="2004973"/>
            <a:ext cx="3327201" cy="3992641"/>
          </a:xfrm>
          <a:custGeom>
            <a:avLst/>
            <a:gdLst>
              <a:gd name="connsiteX0" fmla="*/ 0 w 3327201"/>
              <a:gd name="connsiteY0" fmla="*/ 0 h 3992641"/>
              <a:gd name="connsiteX1" fmla="*/ 3327201 w 3327201"/>
              <a:gd name="connsiteY1" fmla="*/ 0 h 3992641"/>
              <a:gd name="connsiteX2" fmla="*/ 3327201 w 3327201"/>
              <a:gd name="connsiteY2" fmla="*/ 3992641 h 3992641"/>
              <a:gd name="connsiteX3" fmla="*/ 0 w 3327201"/>
              <a:gd name="connsiteY3" fmla="*/ 3992641 h 3992641"/>
              <a:gd name="connsiteX4" fmla="*/ 0 w 3327201"/>
              <a:gd name="connsiteY4" fmla="*/ 0 h 39926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7201" h="3992641">
                <a:moveTo>
                  <a:pt x="0" y="0"/>
                </a:moveTo>
                <a:lnTo>
                  <a:pt x="3327201" y="0"/>
                </a:lnTo>
                <a:lnTo>
                  <a:pt x="3327201" y="3992641"/>
                </a:lnTo>
                <a:lnTo>
                  <a:pt x="0" y="3992641"/>
                </a:lnTo>
                <a:lnTo>
                  <a:pt x="0" y="0"/>
                </a:lnTo>
                <a:close/>
              </a:path>
            </a:pathLst>
          </a:custGeom>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328654" tIns="1597056" rIns="328654" bIns="330200" numCol="1" spcCol="1270" anchor="t" anchorCtr="0">
            <a:noAutofit/>
          </a:bodyPr>
          <a:lstStyle/>
          <a:p>
            <a:pPr marL="0" lvl="0" indent="0" algn="l" defTabSz="1155700">
              <a:lnSpc>
                <a:spcPct val="90000"/>
              </a:lnSpc>
              <a:spcBef>
                <a:spcPct val="0"/>
              </a:spcBef>
              <a:spcAft>
                <a:spcPct val="35000"/>
              </a:spcAft>
              <a:buNone/>
            </a:pPr>
            <a:r>
              <a:rPr lang="en-US" sz="2600" b="0" i="0" kern="1200" dirty="0"/>
              <a:t>A Stack is a linear data structure that follows the </a:t>
            </a:r>
            <a:r>
              <a:rPr lang="en-US" sz="2600" b="1" i="0" kern="1200" dirty="0"/>
              <a:t>LIFO (Last-In-First-Out)</a:t>
            </a:r>
            <a:r>
              <a:rPr lang="en-US" sz="2600" b="0" i="0" kern="1200" dirty="0"/>
              <a:t> principle</a:t>
            </a:r>
            <a:endParaRPr lang="en-US" sz="2600" kern="1200" dirty="0"/>
          </a:p>
        </p:txBody>
      </p:sp>
      <p:sp>
        <p:nvSpPr>
          <p:cNvPr id="8" name="Freeform: Shape 7">
            <a:extLst>
              <a:ext uri="{FF2B5EF4-FFF2-40B4-BE49-F238E27FC236}">
                <a16:creationId xmlns:a16="http://schemas.microsoft.com/office/drawing/2014/main" id="{25465213-A928-85E1-95B9-86D3D0DA8999}"/>
              </a:ext>
            </a:extLst>
          </p:cNvPr>
          <p:cNvSpPr/>
          <p:nvPr/>
        </p:nvSpPr>
        <p:spPr>
          <a:xfrm>
            <a:off x="839021" y="2004973"/>
            <a:ext cx="3327201" cy="1597056"/>
          </a:xfrm>
          <a:custGeom>
            <a:avLst/>
            <a:gdLst>
              <a:gd name="connsiteX0" fmla="*/ 0 w 3327201"/>
              <a:gd name="connsiteY0" fmla="*/ 0 h 1597056"/>
              <a:gd name="connsiteX1" fmla="*/ 3327201 w 3327201"/>
              <a:gd name="connsiteY1" fmla="*/ 0 h 1597056"/>
              <a:gd name="connsiteX2" fmla="*/ 3327201 w 3327201"/>
              <a:gd name="connsiteY2" fmla="*/ 1597056 h 1597056"/>
              <a:gd name="connsiteX3" fmla="*/ 0 w 3327201"/>
              <a:gd name="connsiteY3" fmla="*/ 1597056 h 1597056"/>
              <a:gd name="connsiteX4" fmla="*/ 0 w 3327201"/>
              <a:gd name="connsiteY4" fmla="*/ 0 h 1597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7201" h="1597056">
                <a:moveTo>
                  <a:pt x="0" y="0"/>
                </a:moveTo>
                <a:lnTo>
                  <a:pt x="3327201" y="0"/>
                </a:lnTo>
                <a:lnTo>
                  <a:pt x="3327201" y="1597056"/>
                </a:lnTo>
                <a:lnTo>
                  <a:pt x="0" y="1597056"/>
                </a:lnTo>
                <a:lnTo>
                  <a:pt x="0" y="0"/>
                </a:lnTo>
                <a:close/>
              </a:path>
            </a:pathLst>
          </a:custGeom>
          <a:noFill/>
          <a:ln>
            <a:noFill/>
          </a:ln>
          <a:sp3d/>
        </p:spPr>
        <p:style>
          <a:lnRef idx="2">
            <a:scrgbClr r="0" g="0" b="0"/>
          </a:lnRef>
          <a:fillRef idx="1">
            <a:scrgbClr r="0" g="0" b="0"/>
          </a:fillRef>
          <a:effectRef idx="0">
            <a:schemeClr val="dk2">
              <a:hueOff val="0"/>
              <a:satOff val="0"/>
              <a:lumOff val="0"/>
              <a:alphaOff val="0"/>
            </a:schemeClr>
          </a:effectRef>
          <a:fontRef idx="minor">
            <a:schemeClr val="lt1"/>
          </a:fontRef>
        </p:style>
        <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US" sz="6600" kern="1200" dirty="0">
                <a:solidFill>
                  <a:srgbClr val="FFC000"/>
                </a:solidFill>
              </a:rPr>
              <a:t>01</a:t>
            </a:r>
          </a:p>
        </p:txBody>
      </p:sp>
      <p:sp>
        <p:nvSpPr>
          <p:cNvPr id="9" name="Freeform: Shape 8">
            <a:extLst>
              <a:ext uri="{FF2B5EF4-FFF2-40B4-BE49-F238E27FC236}">
                <a16:creationId xmlns:a16="http://schemas.microsoft.com/office/drawing/2014/main" id="{62379825-F86A-22B9-35A2-D84C89640A39}"/>
              </a:ext>
            </a:extLst>
          </p:cNvPr>
          <p:cNvSpPr/>
          <p:nvPr/>
        </p:nvSpPr>
        <p:spPr>
          <a:xfrm>
            <a:off x="4432399" y="2004973"/>
            <a:ext cx="3327201" cy="3992641"/>
          </a:xfrm>
          <a:custGeom>
            <a:avLst/>
            <a:gdLst>
              <a:gd name="connsiteX0" fmla="*/ 0 w 3327201"/>
              <a:gd name="connsiteY0" fmla="*/ 0 h 3992641"/>
              <a:gd name="connsiteX1" fmla="*/ 3327201 w 3327201"/>
              <a:gd name="connsiteY1" fmla="*/ 0 h 3992641"/>
              <a:gd name="connsiteX2" fmla="*/ 3327201 w 3327201"/>
              <a:gd name="connsiteY2" fmla="*/ 3992641 h 3992641"/>
              <a:gd name="connsiteX3" fmla="*/ 0 w 3327201"/>
              <a:gd name="connsiteY3" fmla="*/ 3992641 h 3992641"/>
              <a:gd name="connsiteX4" fmla="*/ 0 w 3327201"/>
              <a:gd name="connsiteY4" fmla="*/ 0 h 39926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7201" h="3992641">
                <a:moveTo>
                  <a:pt x="0" y="0"/>
                </a:moveTo>
                <a:lnTo>
                  <a:pt x="3327201" y="0"/>
                </a:lnTo>
                <a:lnTo>
                  <a:pt x="3327201" y="3992641"/>
                </a:lnTo>
                <a:lnTo>
                  <a:pt x="0" y="3992641"/>
                </a:lnTo>
                <a:lnTo>
                  <a:pt x="0" y="0"/>
                </a:lnTo>
                <a:close/>
              </a:path>
            </a:pathLst>
          </a:custGeom>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328654" tIns="1597056" rIns="328654" bIns="330200" numCol="1" spcCol="1270" anchor="t" anchorCtr="0">
            <a:noAutofit/>
          </a:bodyPr>
          <a:lstStyle/>
          <a:p>
            <a:pPr marL="0" lvl="0" indent="0" algn="l" defTabSz="1155700">
              <a:lnSpc>
                <a:spcPct val="90000"/>
              </a:lnSpc>
              <a:spcBef>
                <a:spcPct val="0"/>
              </a:spcBef>
              <a:spcAft>
                <a:spcPct val="35000"/>
              </a:spcAft>
              <a:buNone/>
            </a:pPr>
            <a:r>
              <a:rPr lang="en-US" sz="2600" kern="1200" dirty="0"/>
              <a:t>The element inserted last will be the first element to be taken out.</a:t>
            </a:r>
          </a:p>
        </p:txBody>
      </p:sp>
      <p:sp>
        <p:nvSpPr>
          <p:cNvPr id="13" name="Freeform: Shape 12">
            <a:extLst>
              <a:ext uri="{FF2B5EF4-FFF2-40B4-BE49-F238E27FC236}">
                <a16:creationId xmlns:a16="http://schemas.microsoft.com/office/drawing/2014/main" id="{8572C0BB-6450-0B85-3D6A-459B7275EB98}"/>
              </a:ext>
            </a:extLst>
          </p:cNvPr>
          <p:cNvSpPr/>
          <p:nvPr/>
        </p:nvSpPr>
        <p:spPr>
          <a:xfrm>
            <a:off x="4432399" y="2004973"/>
            <a:ext cx="3327201" cy="1597056"/>
          </a:xfrm>
          <a:custGeom>
            <a:avLst/>
            <a:gdLst>
              <a:gd name="connsiteX0" fmla="*/ 0 w 3327201"/>
              <a:gd name="connsiteY0" fmla="*/ 0 h 1597056"/>
              <a:gd name="connsiteX1" fmla="*/ 3327201 w 3327201"/>
              <a:gd name="connsiteY1" fmla="*/ 0 h 1597056"/>
              <a:gd name="connsiteX2" fmla="*/ 3327201 w 3327201"/>
              <a:gd name="connsiteY2" fmla="*/ 1597056 h 1597056"/>
              <a:gd name="connsiteX3" fmla="*/ 0 w 3327201"/>
              <a:gd name="connsiteY3" fmla="*/ 1597056 h 1597056"/>
              <a:gd name="connsiteX4" fmla="*/ 0 w 3327201"/>
              <a:gd name="connsiteY4" fmla="*/ 0 h 1597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7201" h="1597056">
                <a:moveTo>
                  <a:pt x="0" y="0"/>
                </a:moveTo>
                <a:lnTo>
                  <a:pt x="3327201" y="0"/>
                </a:lnTo>
                <a:lnTo>
                  <a:pt x="3327201" y="1597056"/>
                </a:lnTo>
                <a:lnTo>
                  <a:pt x="0" y="1597056"/>
                </a:lnTo>
                <a:lnTo>
                  <a:pt x="0" y="0"/>
                </a:lnTo>
                <a:close/>
              </a:path>
            </a:pathLst>
          </a:custGeom>
          <a:noFill/>
          <a:ln>
            <a:noFill/>
          </a:ln>
          <a:sp3d/>
        </p:spPr>
        <p:style>
          <a:lnRef idx="2">
            <a:scrgbClr r="0" g="0" b="0"/>
          </a:lnRef>
          <a:fillRef idx="1">
            <a:scrgbClr r="0" g="0" b="0"/>
          </a:fillRef>
          <a:effectRef idx="0">
            <a:schemeClr val="dk2">
              <a:hueOff val="0"/>
              <a:satOff val="0"/>
              <a:lumOff val="0"/>
              <a:alphaOff val="0"/>
            </a:schemeClr>
          </a:effectRef>
          <a:fontRef idx="minor">
            <a:schemeClr val="lt1"/>
          </a:fontRef>
        </p:style>
        <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US" sz="6600" kern="1200" dirty="0">
                <a:solidFill>
                  <a:srgbClr val="FFC000"/>
                </a:solidFill>
              </a:rPr>
              <a:t>02</a:t>
            </a:r>
          </a:p>
        </p:txBody>
      </p:sp>
      <p:sp>
        <p:nvSpPr>
          <p:cNvPr id="14" name="Freeform: Shape 13">
            <a:extLst>
              <a:ext uri="{FF2B5EF4-FFF2-40B4-BE49-F238E27FC236}">
                <a16:creationId xmlns:a16="http://schemas.microsoft.com/office/drawing/2014/main" id="{0FA89F7F-A5FA-365C-1586-DEF1308786A9}"/>
              </a:ext>
            </a:extLst>
          </p:cNvPr>
          <p:cNvSpPr/>
          <p:nvPr/>
        </p:nvSpPr>
        <p:spPr>
          <a:xfrm>
            <a:off x="8025776" y="2004973"/>
            <a:ext cx="3327201" cy="3992641"/>
          </a:xfrm>
          <a:custGeom>
            <a:avLst/>
            <a:gdLst>
              <a:gd name="connsiteX0" fmla="*/ 0 w 3327201"/>
              <a:gd name="connsiteY0" fmla="*/ 0 h 3992641"/>
              <a:gd name="connsiteX1" fmla="*/ 3327201 w 3327201"/>
              <a:gd name="connsiteY1" fmla="*/ 0 h 3992641"/>
              <a:gd name="connsiteX2" fmla="*/ 3327201 w 3327201"/>
              <a:gd name="connsiteY2" fmla="*/ 3992641 h 3992641"/>
              <a:gd name="connsiteX3" fmla="*/ 0 w 3327201"/>
              <a:gd name="connsiteY3" fmla="*/ 3992641 h 3992641"/>
              <a:gd name="connsiteX4" fmla="*/ 0 w 3327201"/>
              <a:gd name="connsiteY4" fmla="*/ 0 h 39926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7201" h="3992641">
                <a:moveTo>
                  <a:pt x="0" y="0"/>
                </a:moveTo>
                <a:lnTo>
                  <a:pt x="3327201" y="0"/>
                </a:lnTo>
                <a:lnTo>
                  <a:pt x="3327201" y="3992641"/>
                </a:lnTo>
                <a:lnTo>
                  <a:pt x="0" y="3992641"/>
                </a:lnTo>
                <a:lnTo>
                  <a:pt x="0" y="0"/>
                </a:lnTo>
                <a:close/>
              </a:path>
            </a:pathLst>
          </a:custGeom>
        </p:spPr>
        <p:style>
          <a:lnRef idx="2">
            <a:schemeClr val="dk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328654" tIns="1597056" rIns="328654" bIns="330200" numCol="1" spcCol="1270" anchor="t" anchorCtr="0">
            <a:noAutofit/>
          </a:bodyPr>
          <a:lstStyle/>
          <a:p>
            <a:pPr marL="0" lvl="0" indent="0" algn="l" defTabSz="1155700">
              <a:lnSpc>
                <a:spcPct val="90000"/>
              </a:lnSpc>
              <a:spcBef>
                <a:spcPct val="0"/>
              </a:spcBef>
              <a:spcAft>
                <a:spcPct val="35000"/>
              </a:spcAft>
              <a:buNone/>
            </a:pPr>
            <a:r>
              <a:rPr lang="en-US" sz="2600" kern="1200" dirty="0"/>
              <a:t xml:space="preserve">Operations on stack will be done from only ONE END called </a:t>
            </a:r>
            <a:r>
              <a:rPr lang="en-US" sz="5400" b="1" kern="1200" dirty="0">
                <a:solidFill>
                  <a:srgbClr val="FFFF00"/>
                </a:solidFill>
              </a:rPr>
              <a:t>top</a:t>
            </a:r>
            <a:endParaRPr lang="en-US" sz="2600" b="1" kern="1200" dirty="0">
              <a:solidFill>
                <a:srgbClr val="FFFF00"/>
              </a:solidFill>
            </a:endParaRPr>
          </a:p>
        </p:txBody>
      </p:sp>
      <p:sp>
        <p:nvSpPr>
          <p:cNvPr id="15" name="Freeform: Shape 14">
            <a:extLst>
              <a:ext uri="{FF2B5EF4-FFF2-40B4-BE49-F238E27FC236}">
                <a16:creationId xmlns:a16="http://schemas.microsoft.com/office/drawing/2014/main" id="{2A62DBE4-F33E-E825-784D-340FE34A8E57}"/>
              </a:ext>
            </a:extLst>
          </p:cNvPr>
          <p:cNvSpPr/>
          <p:nvPr/>
        </p:nvSpPr>
        <p:spPr>
          <a:xfrm>
            <a:off x="8025776" y="2004973"/>
            <a:ext cx="3327201" cy="1597056"/>
          </a:xfrm>
          <a:custGeom>
            <a:avLst/>
            <a:gdLst>
              <a:gd name="connsiteX0" fmla="*/ 0 w 3327201"/>
              <a:gd name="connsiteY0" fmla="*/ 0 h 1597056"/>
              <a:gd name="connsiteX1" fmla="*/ 3327201 w 3327201"/>
              <a:gd name="connsiteY1" fmla="*/ 0 h 1597056"/>
              <a:gd name="connsiteX2" fmla="*/ 3327201 w 3327201"/>
              <a:gd name="connsiteY2" fmla="*/ 1597056 h 1597056"/>
              <a:gd name="connsiteX3" fmla="*/ 0 w 3327201"/>
              <a:gd name="connsiteY3" fmla="*/ 1597056 h 1597056"/>
              <a:gd name="connsiteX4" fmla="*/ 0 w 3327201"/>
              <a:gd name="connsiteY4" fmla="*/ 0 h 1597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7201" h="1597056">
                <a:moveTo>
                  <a:pt x="0" y="0"/>
                </a:moveTo>
                <a:lnTo>
                  <a:pt x="3327201" y="0"/>
                </a:lnTo>
                <a:lnTo>
                  <a:pt x="3327201" y="1597056"/>
                </a:lnTo>
                <a:lnTo>
                  <a:pt x="0" y="1597056"/>
                </a:lnTo>
                <a:lnTo>
                  <a:pt x="0" y="0"/>
                </a:lnTo>
                <a:close/>
              </a:path>
            </a:pathLst>
          </a:custGeom>
          <a:noFill/>
          <a:ln>
            <a:noFill/>
          </a:ln>
          <a:sp3d/>
        </p:spPr>
        <p:style>
          <a:lnRef idx="2">
            <a:scrgbClr r="0" g="0" b="0"/>
          </a:lnRef>
          <a:fillRef idx="1">
            <a:scrgbClr r="0" g="0" b="0"/>
          </a:fillRef>
          <a:effectRef idx="0">
            <a:schemeClr val="dk2">
              <a:hueOff val="0"/>
              <a:satOff val="0"/>
              <a:lumOff val="0"/>
              <a:alphaOff val="0"/>
            </a:schemeClr>
          </a:effectRef>
          <a:fontRef idx="minor">
            <a:schemeClr val="lt1"/>
          </a:fontRef>
        </p:style>
        <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IN" sz="6600" kern="1200" dirty="0">
                <a:solidFill>
                  <a:srgbClr val="FFC000"/>
                </a:solidFill>
              </a:rPr>
              <a:t>03</a:t>
            </a:r>
          </a:p>
        </p:txBody>
      </p:sp>
    </p:spTree>
    <p:extLst>
      <p:ext uri="{BB962C8B-B14F-4D97-AF65-F5344CB8AC3E}">
        <p14:creationId xmlns:p14="http://schemas.microsoft.com/office/powerpoint/2010/main" val="443236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1000"/>
                                        <p:tgtEl>
                                          <p:spTgt spid="8"/>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1000"/>
                                        <p:tgtEl>
                                          <p:spTgt spid="13"/>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10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up)">
                                      <p:cBhvr>
                                        <p:cTn id="23" dur="10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up)">
                                      <p:cBhvr>
                                        <p:cTn id="28" dur="10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up)">
                                      <p:cBhvr>
                                        <p:cTn id="33"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animBg="1"/>
      <p:bldP spid="8" grpId="0"/>
      <p:bldP spid="9" grpId="0" animBg="1"/>
      <p:bldP spid="13" grpId="0"/>
      <p:bldP spid="14" grpId="0" animBg="1"/>
      <p:bldP spid="1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39C43-DDEE-4A2C-617A-B57083DC8173}"/>
              </a:ext>
            </a:extLst>
          </p:cNvPr>
          <p:cNvSpPr>
            <a:spLocks noGrp="1"/>
          </p:cNvSpPr>
          <p:nvPr>
            <p:ph type="title"/>
          </p:nvPr>
        </p:nvSpPr>
        <p:spPr/>
        <p:txBody>
          <a:bodyPr/>
          <a:lstStyle/>
          <a:p>
            <a:r>
              <a:rPr lang="en-US" dirty="0"/>
              <a:t>Here’s an example (Organizing Books)</a:t>
            </a:r>
            <a:endParaRPr lang="en-IN" dirty="0"/>
          </a:p>
        </p:txBody>
      </p:sp>
      <p:pic>
        <p:nvPicPr>
          <p:cNvPr id="5" name="Content Placeholder 4">
            <a:extLst>
              <a:ext uri="{FF2B5EF4-FFF2-40B4-BE49-F238E27FC236}">
                <a16:creationId xmlns:a16="http://schemas.microsoft.com/office/drawing/2014/main" id="{CB801AA1-9D57-BC09-7CAB-CED4EDB13718}"/>
              </a:ext>
            </a:extLst>
          </p:cNvPr>
          <p:cNvPicPr>
            <a:picLocks noGrp="1" noChangeAspect="1"/>
          </p:cNvPicPr>
          <p:nvPr>
            <p:ph idx="1"/>
          </p:nvPr>
        </p:nvPicPr>
        <p:blipFill>
          <a:blip r:embed="rId2"/>
          <a:stretch>
            <a:fillRect/>
          </a:stretch>
        </p:blipFill>
        <p:spPr>
          <a:xfrm>
            <a:off x="816428" y="1532595"/>
            <a:ext cx="10515599" cy="4676135"/>
          </a:xfrm>
        </p:spPr>
      </p:pic>
    </p:spTree>
    <p:extLst>
      <p:ext uri="{BB962C8B-B14F-4D97-AF65-F5344CB8AC3E}">
        <p14:creationId xmlns:p14="http://schemas.microsoft.com/office/powerpoint/2010/main" val="432279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39C43-DDEE-4A2C-617A-B57083DC8173}"/>
              </a:ext>
            </a:extLst>
          </p:cNvPr>
          <p:cNvSpPr>
            <a:spLocks noGrp="1"/>
          </p:cNvSpPr>
          <p:nvPr>
            <p:ph type="title"/>
          </p:nvPr>
        </p:nvSpPr>
        <p:spPr/>
        <p:txBody>
          <a:bodyPr/>
          <a:lstStyle/>
          <a:p>
            <a:r>
              <a:rPr lang="en-US" dirty="0"/>
              <a:t>Inserting 1</a:t>
            </a:r>
            <a:r>
              <a:rPr lang="en-US" baseline="30000" dirty="0"/>
              <a:t>st</a:t>
            </a:r>
            <a:r>
              <a:rPr lang="en-US" dirty="0"/>
              <a:t xml:space="preserve"> Book</a:t>
            </a:r>
            <a:endParaRPr lang="en-IN" dirty="0"/>
          </a:p>
        </p:txBody>
      </p:sp>
      <p:pic>
        <p:nvPicPr>
          <p:cNvPr id="7" name="Content Placeholder 6">
            <a:extLst>
              <a:ext uri="{FF2B5EF4-FFF2-40B4-BE49-F238E27FC236}">
                <a16:creationId xmlns:a16="http://schemas.microsoft.com/office/drawing/2014/main" id="{DA916CDA-B5BF-E8F5-FCD5-4EA066B471B4}"/>
              </a:ext>
            </a:extLst>
          </p:cNvPr>
          <p:cNvPicPr>
            <a:picLocks noGrp="1" noChangeAspect="1"/>
          </p:cNvPicPr>
          <p:nvPr>
            <p:ph idx="1"/>
          </p:nvPr>
        </p:nvPicPr>
        <p:blipFill>
          <a:blip r:embed="rId2"/>
          <a:stretch>
            <a:fillRect/>
          </a:stretch>
        </p:blipFill>
        <p:spPr>
          <a:xfrm>
            <a:off x="681062" y="1785257"/>
            <a:ext cx="10720136" cy="4408714"/>
          </a:xfrm>
        </p:spPr>
      </p:pic>
    </p:spTree>
    <p:extLst>
      <p:ext uri="{BB962C8B-B14F-4D97-AF65-F5344CB8AC3E}">
        <p14:creationId xmlns:p14="http://schemas.microsoft.com/office/powerpoint/2010/main" val="12074084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38CD7-EB99-DFB8-5E94-654EF7BC27BE}"/>
              </a:ext>
            </a:extLst>
          </p:cNvPr>
          <p:cNvSpPr>
            <a:spLocks noGrp="1"/>
          </p:cNvSpPr>
          <p:nvPr>
            <p:ph type="title"/>
          </p:nvPr>
        </p:nvSpPr>
        <p:spPr/>
        <p:txBody>
          <a:bodyPr/>
          <a:lstStyle/>
          <a:p>
            <a:r>
              <a:rPr lang="en-US" dirty="0"/>
              <a:t>Inserting 2</a:t>
            </a:r>
            <a:r>
              <a:rPr lang="en-US" baseline="30000" dirty="0"/>
              <a:t>nd</a:t>
            </a:r>
            <a:r>
              <a:rPr lang="en-US" dirty="0"/>
              <a:t xml:space="preserve"> Book</a:t>
            </a:r>
            <a:endParaRPr lang="en-IN" dirty="0"/>
          </a:p>
        </p:txBody>
      </p:sp>
      <p:pic>
        <p:nvPicPr>
          <p:cNvPr id="5" name="Content Placeholder 4">
            <a:extLst>
              <a:ext uri="{FF2B5EF4-FFF2-40B4-BE49-F238E27FC236}">
                <a16:creationId xmlns:a16="http://schemas.microsoft.com/office/drawing/2014/main" id="{DDBFFBC5-CF03-6AF6-9B35-889125E61194}"/>
              </a:ext>
            </a:extLst>
          </p:cNvPr>
          <p:cNvPicPr>
            <a:picLocks noGrp="1" noChangeAspect="1"/>
          </p:cNvPicPr>
          <p:nvPr>
            <p:ph idx="1"/>
          </p:nvPr>
        </p:nvPicPr>
        <p:blipFill>
          <a:blip r:embed="rId2"/>
          <a:stretch>
            <a:fillRect/>
          </a:stretch>
        </p:blipFill>
        <p:spPr>
          <a:xfrm>
            <a:off x="674914" y="1738483"/>
            <a:ext cx="10678885" cy="4436022"/>
          </a:xfrm>
        </p:spPr>
      </p:pic>
    </p:spTree>
    <p:extLst>
      <p:ext uri="{BB962C8B-B14F-4D97-AF65-F5344CB8AC3E}">
        <p14:creationId xmlns:p14="http://schemas.microsoft.com/office/powerpoint/2010/main" val="24092977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10E1A-301E-19E6-90B5-D62083E02AE4}"/>
              </a:ext>
            </a:extLst>
          </p:cNvPr>
          <p:cNvSpPr>
            <a:spLocks noGrp="1"/>
          </p:cNvSpPr>
          <p:nvPr>
            <p:ph type="title"/>
          </p:nvPr>
        </p:nvSpPr>
        <p:spPr/>
        <p:txBody>
          <a:bodyPr/>
          <a:lstStyle/>
          <a:p>
            <a:r>
              <a:rPr lang="en-US" dirty="0"/>
              <a:t>Inserting 3</a:t>
            </a:r>
            <a:r>
              <a:rPr lang="en-US" baseline="30000" dirty="0"/>
              <a:t>rd</a:t>
            </a:r>
            <a:r>
              <a:rPr lang="en-US" dirty="0"/>
              <a:t xml:space="preserve"> Book</a:t>
            </a:r>
            <a:endParaRPr lang="en-IN" dirty="0"/>
          </a:p>
        </p:txBody>
      </p:sp>
      <p:pic>
        <p:nvPicPr>
          <p:cNvPr id="5" name="Content Placeholder 4">
            <a:extLst>
              <a:ext uri="{FF2B5EF4-FFF2-40B4-BE49-F238E27FC236}">
                <a16:creationId xmlns:a16="http://schemas.microsoft.com/office/drawing/2014/main" id="{DC179897-39E8-4749-4CD6-3CDA7A9AE038}"/>
              </a:ext>
            </a:extLst>
          </p:cNvPr>
          <p:cNvPicPr>
            <a:picLocks noGrp="1" noChangeAspect="1"/>
          </p:cNvPicPr>
          <p:nvPr>
            <p:ph idx="1"/>
          </p:nvPr>
        </p:nvPicPr>
        <p:blipFill>
          <a:blip r:embed="rId2"/>
          <a:stretch>
            <a:fillRect/>
          </a:stretch>
        </p:blipFill>
        <p:spPr>
          <a:xfrm>
            <a:off x="555892" y="1915884"/>
            <a:ext cx="11245934" cy="3810001"/>
          </a:xfrm>
        </p:spPr>
      </p:pic>
    </p:spTree>
    <p:extLst>
      <p:ext uri="{BB962C8B-B14F-4D97-AF65-F5344CB8AC3E}">
        <p14:creationId xmlns:p14="http://schemas.microsoft.com/office/powerpoint/2010/main" val="9988937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C41A3-BC39-5883-FA4F-34331EC8EE64}"/>
              </a:ext>
            </a:extLst>
          </p:cNvPr>
          <p:cNvSpPr>
            <a:spLocks noGrp="1"/>
          </p:cNvSpPr>
          <p:nvPr>
            <p:ph type="title"/>
          </p:nvPr>
        </p:nvSpPr>
        <p:spPr/>
        <p:txBody>
          <a:bodyPr/>
          <a:lstStyle/>
          <a:p>
            <a:r>
              <a:rPr lang="en-US" dirty="0"/>
              <a:t>Inserting 4</a:t>
            </a:r>
            <a:r>
              <a:rPr lang="en-US" baseline="30000" dirty="0"/>
              <a:t>th</a:t>
            </a:r>
            <a:r>
              <a:rPr lang="en-US" dirty="0"/>
              <a:t xml:space="preserve"> Book</a:t>
            </a:r>
            <a:endParaRPr lang="en-IN" dirty="0"/>
          </a:p>
        </p:txBody>
      </p:sp>
      <p:pic>
        <p:nvPicPr>
          <p:cNvPr id="5" name="Content Placeholder 4">
            <a:extLst>
              <a:ext uri="{FF2B5EF4-FFF2-40B4-BE49-F238E27FC236}">
                <a16:creationId xmlns:a16="http://schemas.microsoft.com/office/drawing/2014/main" id="{A1C16BB0-9620-BB79-362E-2D832D2BDECB}"/>
              </a:ext>
            </a:extLst>
          </p:cNvPr>
          <p:cNvPicPr>
            <a:picLocks noGrp="1" noChangeAspect="1"/>
          </p:cNvPicPr>
          <p:nvPr>
            <p:ph idx="1"/>
          </p:nvPr>
        </p:nvPicPr>
        <p:blipFill>
          <a:blip r:embed="rId2"/>
          <a:stretch>
            <a:fillRect/>
          </a:stretch>
        </p:blipFill>
        <p:spPr>
          <a:xfrm>
            <a:off x="279064" y="1690688"/>
            <a:ext cx="11611990" cy="4035198"/>
          </a:xfrm>
        </p:spPr>
      </p:pic>
    </p:spTree>
    <p:extLst>
      <p:ext uri="{BB962C8B-B14F-4D97-AF65-F5344CB8AC3E}">
        <p14:creationId xmlns:p14="http://schemas.microsoft.com/office/powerpoint/2010/main" val="17555840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EFE94-8D62-0A21-7979-C25FB38ACD83}"/>
              </a:ext>
            </a:extLst>
          </p:cNvPr>
          <p:cNvSpPr>
            <a:spLocks noGrp="1"/>
          </p:cNvSpPr>
          <p:nvPr>
            <p:ph type="title"/>
          </p:nvPr>
        </p:nvSpPr>
        <p:spPr/>
        <p:txBody>
          <a:bodyPr/>
          <a:lstStyle/>
          <a:p>
            <a:r>
              <a:rPr lang="en-US" dirty="0"/>
              <a:t>Inserting 5</a:t>
            </a:r>
            <a:r>
              <a:rPr lang="en-US" baseline="30000" dirty="0"/>
              <a:t>th</a:t>
            </a:r>
            <a:r>
              <a:rPr lang="en-US" dirty="0"/>
              <a:t xml:space="preserve"> Book</a:t>
            </a:r>
            <a:endParaRPr lang="en-IN" dirty="0"/>
          </a:p>
        </p:txBody>
      </p:sp>
      <p:pic>
        <p:nvPicPr>
          <p:cNvPr id="5" name="Content Placeholder 4">
            <a:extLst>
              <a:ext uri="{FF2B5EF4-FFF2-40B4-BE49-F238E27FC236}">
                <a16:creationId xmlns:a16="http://schemas.microsoft.com/office/drawing/2014/main" id="{C92EF3A2-58EE-792A-FBB8-10AA51DB0F41}"/>
              </a:ext>
            </a:extLst>
          </p:cNvPr>
          <p:cNvPicPr>
            <a:picLocks noGrp="1" noChangeAspect="1"/>
          </p:cNvPicPr>
          <p:nvPr>
            <p:ph idx="1"/>
          </p:nvPr>
        </p:nvPicPr>
        <p:blipFill>
          <a:blip r:embed="rId2"/>
          <a:stretch>
            <a:fillRect/>
          </a:stretch>
        </p:blipFill>
        <p:spPr>
          <a:xfrm>
            <a:off x="-685125" y="1690688"/>
            <a:ext cx="12289685" cy="4187597"/>
          </a:xfrm>
        </p:spPr>
      </p:pic>
    </p:spTree>
    <p:extLst>
      <p:ext uri="{BB962C8B-B14F-4D97-AF65-F5344CB8AC3E}">
        <p14:creationId xmlns:p14="http://schemas.microsoft.com/office/powerpoint/2010/main" val="42619985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2AA3D-2972-F09B-D035-B2EF798184B2}"/>
              </a:ext>
            </a:extLst>
          </p:cNvPr>
          <p:cNvSpPr>
            <a:spLocks noGrp="1"/>
          </p:cNvSpPr>
          <p:nvPr>
            <p:ph type="title"/>
          </p:nvPr>
        </p:nvSpPr>
        <p:spPr/>
        <p:txBody>
          <a:bodyPr/>
          <a:lstStyle/>
          <a:p>
            <a:r>
              <a:rPr lang="en-US" dirty="0"/>
              <a:t>Now deleting the books inserted</a:t>
            </a:r>
            <a:endParaRPr lang="en-IN" dirty="0"/>
          </a:p>
        </p:txBody>
      </p:sp>
      <p:pic>
        <p:nvPicPr>
          <p:cNvPr id="4" name="Content Placeholder 4">
            <a:extLst>
              <a:ext uri="{FF2B5EF4-FFF2-40B4-BE49-F238E27FC236}">
                <a16:creationId xmlns:a16="http://schemas.microsoft.com/office/drawing/2014/main" id="{D1F78BD2-59BE-6FD1-447F-847472DEE62F}"/>
              </a:ext>
            </a:extLst>
          </p:cNvPr>
          <p:cNvPicPr>
            <a:picLocks noGrp="1" noChangeAspect="1"/>
          </p:cNvPicPr>
          <p:nvPr>
            <p:ph idx="1"/>
          </p:nvPr>
        </p:nvPicPr>
        <p:blipFill>
          <a:blip r:embed="rId2"/>
          <a:stretch>
            <a:fillRect/>
          </a:stretch>
        </p:blipFill>
        <p:spPr>
          <a:xfrm>
            <a:off x="-152006" y="1872343"/>
            <a:ext cx="11756570" cy="4005943"/>
          </a:xfrm>
        </p:spPr>
      </p:pic>
    </p:spTree>
    <p:extLst>
      <p:ext uri="{BB962C8B-B14F-4D97-AF65-F5344CB8AC3E}">
        <p14:creationId xmlns:p14="http://schemas.microsoft.com/office/powerpoint/2010/main" val="23744722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C41A3-BC39-5883-FA4F-34331EC8EE64}"/>
              </a:ext>
            </a:extLst>
          </p:cNvPr>
          <p:cNvSpPr>
            <a:spLocks noGrp="1"/>
          </p:cNvSpPr>
          <p:nvPr>
            <p:ph type="title"/>
          </p:nvPr>
        </p:nvSpPr>
        <p:spPr/>
        <p:txBody>
          <a:bodyPr/>
          <a:lstStyle/>
          <a:p>
            <a:r>
              <a:rPr lang="en-US" dirty="0"/>
              <a:t>Deleting Book 5 (Which was inserted as the LAST element into the stack)</a:t>
            </a:r>
            <a:endParaRPr lang="en-IN" dirty="0"/>
          </a:p>
        </p:txBody>
      </p:sp>
      <p:pic>
        <p:nvPicPr>
          <p:cNvPr id="5" name="Content Placeholder 4">
            <a:extLst>
              <a:ext uri="{FF2B5EF4-FFF2-40B4-BE49-F238E27FC236}">
                <a16:creationId xmlns:a16="http://schemas.microsoft.com/office/drawing/2014/main" id="{A1C16BB0-9620-BB79-362E-2D832D2BDECB}"/>
              </a:ext>
            </a:extLst>
          </p:cNvPr>
          <p:cNvPicPr>
            <a:picLocks noGrp="1" noChangeAspect="1"/>
          </p:cNvPicPr>
          <p:nvPr>
            <p:ph idx="1"/>
          </p:nvPr>
        </p:nvPicPr>
        <p:blipFill>
          <a:blip r:embed="rId2"/>
          <a:stretch>
            <a:fillRect/>
          </a:stretch>
        </p:blipFill>
        <p:spPr>
          <a:xfrm>
            <a:off x="279064" y="1690688"/>
            <a:ext cx="11611990" cy="4035198"/>
          </a:xfrm>
        </p:spPr>
      </p:pic>
    </p:spTree>
    <p:extLst>
      <p:ext uri="{BB962C8B-B14F-4D97-AF65-F5344CB8AC3E}">
        <p14:creationId xmlns:p14="http://schemas.microsoft.com/office/powerpoint/2010/main" val="19226871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10E1A-301E-19E6-90B5-D62083E02AE4}"/>
              </a:ext>
            </a:extLst>
          </p:cNvPr>
          <p:cNvSpPr>
            <a:spLocks noGrp="1"/>
          </p:cNvSpPr>
          <p:nvPr>
            <p:ph type="title"/>
          </p:nvPr>
        </p:nvSpPr>
        <p:spPr/>
        <p:txBody>
          <a:bodyPr/>
          <a:lstStyle/>
          <a:p>
            <a:r>
              <a:rPr lang="en-US" dirty="0"/>
              <a:t>Deleting Book 4</a:t>
            </a:r>
            <a:endParaRPr lang="en-IN" dirty="0"/>
          </a:p>
        </p:txBody>
      </p:sp>
      <p:pic>
        <p:nvPicPr>
          <p:cNvPr id="5" name="Content Placeholder 4">
            <a:extLst>
              <a:ext uri="{FF2B5EF4-FFF2-40B4-BE49-F238E27FC236}">
                <a16:creationId xmlns:a16="http://schemas.microsoft.com/office/drawing/2014/main" id="{DC179897-39E8-4749-4CD6-3CDA7A9AE038}"/>
              </a:ext>
            </a:extLst>
          </p:cNvPr>
          <p:cNvPicPr>
            <a:picLocks noGrp="1" noChangeAspect="1"/>
          </p:cNvPicPr>
          <p:nvPr>
            <p:ph idx="1"/>
          </p:nvPr>
        </p:nvPicPr>
        <p:blipFill>
          <a:blip r:embed="rId2"/>
          <a:stretch>
            <a:fillRect/>
          </a:stretch>
        </p:blipFill>
        <p:spPr>
          <a:xfrm>
            <a:off x="555892" y="1915884"/>
            <a:ext cx="11245934" cy="3810001"/>
          </a:xfrm>
        </p:spPr>
      </p:pic>
    </p:spTree>
    <p:extLst>
      <p:ext uri="{BB962C8B-B14F-4D97-AF65-F5344CB8AC3E}">
        <p14:creationId xmlns:p14="http://schemas.microsoft.com/office/powerpoint/2010/main" val="1127611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38CD7-EB99-DFB8-5E94-654EF7BC27BE}"/>
              </a:ext>
            </a:extLst>
          </p:cNvPr>
          <p:cNvSpPr>
            <a:spLocks noGrp="1"/>
          </p:cNvSpPr>
          <p:nvPr>
            <p:ph type="title"/>
          </p:nvPr>
        </p:nvSpPr>
        <p:spPr/>
        <p:txBody>
          <a:bodyPr/>
          <a:lstStyle/>
          <a:p>
            <a:r>
              <a:rPr lang="en-US" dirty="0"/>
              <a:t>Deleting Book 3</a:t>
            </a:r>
            <a:endParaRPr lang="en-IN" dirty="0"/>
          </a:p>
        </p:txBody>
      </p:sp>
      <p:pic>
        <p:nvPicPr>
          <p:cNvPr id="5" name="Content Placeholder 4">
            <a:extLst>
              <a:ext uri="{FF2B5EF4-FFF2-40B4-BE49-F238E27FC236}">
                <a16:creationId xmlns:a16="http://schemas.microsoft.com/office/drawing/2014/main" id="{DDBFFBC5-CF03-6AF6-9B35-889125E61194}"/>
              </a:ext>
            </a:extLst>
          </p:cNvPr>
          <p:cNvPicPr>
            <a:picLocks noGrp="1" noChangeAspect="1"/>
          </p:cNvPicPr>
          <p:nvPr>
            <p:ph idx="1"/>
          </p:nvPr>
        </p:nvPicPr>
        <p:blipFill>
          <a:blip r:embed="rId2"/>
          <a:stretch>
            <a:fillRect/>
          </a:stretch>
        </p:blipFill>
        <p:spPr>
          <a:xfrm>
            <a:off x="674914" y="1738483"/>
            <a:ext cx="10678885" cy="4436022"/>
          </a:xfrm>
        </p:spPr>
      </p:pic>
    </p:spTree>
    <p:extLst>
      <p:ext uri="{BB962C8B-B14F-4D97-AF65-F5344CB8AC3E}">
        <p14:creationId xmlns:p14="http://schemas.microsoft.com/office/powerpoint/2010/main" val="33152009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39C43-DDEE-4A2C-617A-B57083DC8173}"/>
              </a:ext>
            </a:extLst>
          </p:cNvPr>
          <p:cNvSpPr>
            <a:spLocks noGrp="1"/>
          </p:cNvSpPr>
          <p:nvPr>
            <p:ph type="title"/>
          </p:nvPr>
        </p:nvSpPr>
        <p:spPr/>
        <p:txBody>
          <a:bodyPr/>
          <a:lstStyle/>
          <a:p>
            <a:r>
              <a:rPr lang="en-US" dirty="0"/>
              <a:t>Deleting Book 2</a:t>
            </a:r>
            <a:endParaRPr lang="en-IN" dirty="0"/>
          </a:p>
        </p:txBody>
      </p:sp>
      <p:pic>
        <p:nvPicPr>
          <p:cNvPr id="7" name="Content Placeholder 6">
            <a:extLst>
              <a:ext uri="{FF2B5EF4-FFF2-40B4-BE49-F238E27FC236}">
                <a16:creationId xmlns:a16="http://schemas.microsoft.com/office/drawing/2014/main" id="{DA916CDA-B5BF-E8F5-FCD5-4EA066B471B4}"/>
              </a:ext>
            </a:extLst>
          </p:cNvPr>
          <p:cNvPicPr>
            <a:picLocks noGrp="1" noChangeAspect="1"/>
          </p:cNvPicPr>
          <p:nvPr>
            <p:ph idx="1"/>
          </p:nvPr>
        </p:nvPicPr>
        <p:blipFill>
          <a:blip r:embed="rId2"/>
          <a:stretch>
            <a:fillRect/>
          </a:stretch>
        </p:blipFill>
        <p:spPr>
          <a:xfrm>
            <a:off x="681062" y="1785257"/>
            <a:ext cx="10720136" cy="4408714"/>
          </a:xfrm>
        </p:spPr>
      </p:pic>
    </p:spTree>
    <p:extLst>
      <p:ext uri="{BB962C8B-B14F-4D97-AF65-F5344CB8AC3E}">
        <p14:creationId xmlns:p14="http://schemas.microsoft.com/office/powerpoint/2010/main" val="34737280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39C43-DDEE-4A2C-617A-B57083DC8173}"/>
              </a:ext>
            </a:extLst>
          </p:cNvPr>
          <p:cNvSpPr>
            <a:spLocks noGrp="1"/>
          </p:cNvSpPr>
          <p:nvPr>
            <p:ph type="title"/>
          </p:nvPr>
        </p:nvSpPr>
        <p:spPr/>
        <p:txBody>
          <a:bodyPr/>
          <a:lstStyle/>
          <a:p>
            <a:r>
              <a:rPr lang="en-US" dirty="0"/>
              <a:t>Deleting Book 1 (Thus by making Stack empty)</a:t>
            </a:r>
            <a:endParaRPr lang="en-IN" dirty="0"/>
          </a:p>
        </p:txBody>
      </p:sp>
      <p:pic>
        <p:nvPicPr>
          <p:cNvPr id="5" name="Content Placeholder 4">
            <a:extLst>
              <a:ext uri="{FF2B5EF4-FFF2-40B4-BE49-F238E27FC236}">
                <a16:creationId xmlns:a16="http://schemas.microsoft.com/office/drawing/2014/main" id="{CB801AA1-9D57-BC09-7CAB-CED4EDB13718}"/>
              </a:ext>
            </a:extLst>
          </p:cNvPr>
          <p:cNvPicPr>
            <a:picLocks noGrp="1" noChangeAspect="1"/>
          </p:cNvPicPr>
          <p:nvPr>
            <p:ph idx="1"/>
          </p:nvPr>
        </p:nvPicPr>
        <p:blipFill>
          <a:blip r:embed="rId2"/>
          <a:stretch>
            <a:fillRect/>
          </a:stretch>
        </p:blipFill>
        <p:spPr>
          <a:xfrm>
            <a:off x="816428" y="1532595"/>
            <a:ext cx="10515599" cy="4676135"/>
          </a:xfrm>
        </p:spPr>
      </p:pic>
    </p:spTree>
    <p:extLst>
      <p:ext uri="{BB962C8B-B14F-4D97-AF65-F5344CB8AC3E}">
        <p14:creationId xmlns:p14="http://schemas.microsoft.com/office/powerpoint/2010/main" val="8997210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Close-up of a solar panel  Description automatically generated">
            <a:extLst>
              <a:ext uri="{FF2B5EF4-FFF2-40B4-BE49-F238E27FC236}">
                <a16:creationId xmlns:a16="http://schemas.microsoft.com/office/drawing/2014/main" id="{FC8E0580-C0F5-2D5E-3090-603772EF78E3}"/>
              </a:ext>
            </a:extLst>
          </p:cNvPr>
          <p:cNvPicPr>
            <a:picLocks noChangeAspect="1"/>
          </p:cNvPicPr>
          <p:nvPr/>
        </p:nvPicPr>
        <p:blipFill rotWithShape="1">
          <a:blip r:embed="rId2">
            <a:duotone>
              <a:schemeClr val="bg2">
                <a:shade val="45000"/>
                <a:satMod val="135000"/>
              </a:schemeClr>
              <a:prstClr val="white"/>
            </a:duotone>
          </a:blip>
          <a:srcRect t="3479" b="12251"/>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5DF0D7-2D6C-8E66-C19A-90F3698A980E}"/>
              </a:ext>
            </a:extLst>
          </p:cNvPr>
          <p:cNvSpPr>
            <a:spLocks noGrp="1"/>
          </p:cNvSpPr>
          <p:nvPr>
            <p:ph type="title"/>
          </p:nvPr>
        </p:nvSpPr>
        <p:spPr>
          <a:xfrm>
            <a:off x="838200" y="365125"/>
            <a:ext cx="10515600" cy="1325563"/>
          </a:xfrm>
        </p:spPr>
        <p:txBody>
          <a:bodyPr>
            <a:normAutofit/>
          </a:bodyPr>
          <a:lstStyle/>
          <a:p>
            <a:r>
              <a:rPr lang="en-US" dirty="0"/>
              <a:t>Stack Operations</a:t>
            </a:r>
            <a:endParaRPr lang="en-IN" dirty="0"/>
          </a:p>
        </p:txBody>
      </p:sp>
      <p:sp>
        <p:nvSpPr>
          <p:cNvPr id="6" name="Freeform: Shape 5">
            <a:extLst>
              <a:ext uri="{FF2B5EF4-FFF2-40B4-BE49-F238E27FC236}">
                <a16:creationId xmlns:a16="http://schemas.microsoft.com/office/drawing/2014/main" id="{8830E80F-CF33-D13B-3BDC-A4EABAD5EFF2}"/>
              </a:ext>
            </a:extLst>
          </p:cNvPr>
          <p:cNvSpPr/>
          <p:nvPr/>
        </p:nvSpPr>
        <p:spPr>
          <a:xfrm>
            <a:off x="838200" y="1865312"/>
            <a:ext cx="3286125" cy="1971675"/>
          </a:xfrm>
          <a:custGeom>
            <a:avLst/>
            <a:gdLst>
              <a:gd name="connsiteX0" fmla="*/ 0 w 3286125"/>
              <a:gd name="connsiteY0" fmla="*/ 0 h 1971675"/>
              <a:gd name="connsiteX1" fmla="*/ 3286125 w 3286125"/>
              <a:gd name="connsiteY1" fmla="*/ 0 h 1971675"/>
              <a:gd name="connsiteX2" fmla="*/ 3286125 w 3286125"/>
              <a:gd name="connsiteY2" fmla="*/ 1971675 h 1971675"/>
              <a:gd name="connsiteX3" fmla="*/ 0 w 3286125"/>
              <a:gd name="connsiteY3" fmla="*/ 1971675 h 1971675"/>
              <a:gd name="connsiteX4" fmla="*/ 0 w 3286125"/>
              <a:gd name="connsiteY4" fmla="*/ 0 h 1971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6125" h="1971675">
                <a:moveTo>
                  <a:pt x="0" y="0"/>
                </a:moveTo>
                <a:lnTo>
                  <a:pt x="3286125" y="0"/>
                </a:lnTo>
                <a:lnTo>
                  <a:pt x="3286125" y="1971675"/>
                </a:lnTo>
                <a:lnTo>
                  <a:pt x="0" y="1971675"/>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t xml:space="preserve">Push(): </a:t>
            </a:r>
            <a:r>
              <a:rPr lang="en-US" sz="2800" kern="1200" dirty="0"/>
              <a:t>Inserting a new element into the stack</a:t>
            </a:r>
          </a:p>
        </p:txBody>
      </p:sp>
      <p:sp>
        <p:nvSpPr>
          <p:cNvPr id="8" name="Freeform: Shape 7">
            <a:extLst>
              <a:ext uri="{FF2B5EF4-FFF2-40B4-BE49-F238E27FC236}">
                <a16:creationId xmlns:a16="http://schemas.microsoft.com/office/drawing/2014/main" id="{B8848099-C2E2-520F-A7F1-97E04B10A896}"/>
              </a:ext>
            </a:extLst>
          </p:cNvPr>
          <p:cNvSpPr/>
          <p:nvPr/>
        </p:nvSpPr>
        <p:spPr>
          <a:xfrm>
            <a:off x="4452937" y="1865312"/>
            <a:ext cx="3286125" cy="1971675"/>
          </a:xfrm>
          <a:custGeom>
            <a:avLst/>
            <a:gdLst>
              <a:gd name="connsiteX0" fmla="*/ 0 w 3286125"/>
              <a:gd name="connsiteY0" fmla="*/ 0 h 1971675"/>
              <a:gd name="connsiteX1" fmla="*/ 3286125 w 3286125"/>
              <a:gd name="connsiteY1" fmla="*/ 0 h 1971675"/>
              <a:gd name="connsiteX2" fmla="*/ 3286125 w 3286125"/>
              <a:gd name="connsiteY2" fmla="*/ 1971675 h 1971675"/>
              <a:gd name="connsiteX3" fmla="*/ 0 w 3286125"/>
              <a:gd name="connsiteY3" fmla="*/ 1971675 h 1971675"/>
              <a:gd name="connsiteX4" fmla="*/ 0 w 3286125"/>
              <a:gd name="connsiteY4" fmla="*/ 0 h 1971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6125" h="1971675">
                <a:moveTo>
                  <a:pt x="0" y="0"/>
                </a:moveTo>
                <a:lnTo>
                  <a:pt x="3286125" y="0"/>
                </a:lnTo>
                <a:lnTo>
                  <a:pt x="3286125" y="1971675"/>
                </a:lnTo>
                <a:lnTo>
                  <a:pt x="0" y="1971675"/>
                </a:lnTo>
                <a:lnTo>
                  <a:pt x="0" y="0"/>
                </a:lnTo>
                <a:close/>
              </a:path>
            </a:pathLst>
          </a:custGeom>
        </p:spPr>
        <p:style>
          <a:lnRef idx="2">
            <a:schemeClr val="lt1">
              <a:hueOff val="0"/>
              <a:satOff val="0"/>
              <a:lumOff val="0"/>
              <a:alphaOff val="0"/>
            </a:schemeClr>
          </a:lnRef>
          <a:fillRef idx="1">
            <a:schemeClr val="accent2">
              <a:hueOff val="1288723"/>
              <a:satOff val="-3699"/>
              <a:lumOff val="-5922"/>
              <a:alphaOff val="0"/>
            </a:schemeClr>
          </a:fillRef>
          <a:effectRef idx="0">
            <a:schemeClr val="accent2">
              <a:hueOff val="1288723"/>
              <a:satOff val="-3699"/>
              <a:lumOff val="-5922"/>
              <a:alphaOff val="0"/>
            </a:schemeClr>
          </a:effectRef>
          <a:fontRef idx="minor">
            <a:schemeClr val="lt1"/>
          </a:fontRef>
        </p:style>
        <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t xml:space="preserve">Pop(): </a:t>
            </a:r>
            <a:r>
              <a:rPr lang="en-US" sz="2800" kern="1200" dirty="0"/>
              <a:t>Deleting an element from the stack</a:t>
            </a:r>
          </a:p>
        </p:txBody>
      </p:sp>
      <p:sp>
        <p:nvSpPr>
          <p:cNvPr id="9" name="Freeform: Shape 8">
            <a:extLst>
              <a:ext uri="{FF2B5EF4-FFF2-40B4-BE49-F238E27FC236}">
                <a16:creationId xmlns:a16="http://schemas.microsoft.com/office/drawing/2014/main" id="{E9772CFC-9890-BEF4-F65D-0E8D593ED4C0}"/>
              </a:ext>
            </a:extLst>
          </p:cNvPr>
          <p:cNvSpPr/>
          <p:nvPr/>
        </p:nvSpPr>
        <p:spPr>
          <a:xfrm>
            <a:off x="8067675" y="1865312"/>
            <a:ext cx="3286125" cy="1971675"/>
          </a:xfrm>
          <a:custGeom>
            <a:avLst/>
            <a:gdLst>
              <a:gd name="connsiteX0" fmla="*/ 0 w 3286125"/>
              <a:gd name="connsiteY0" fmla="*/ 0 h 1971675"/>
              <a:gd name="connsiteX1" fmla="*/ 3286125 w 3286125"/>
              <a:gd name="connsiteY1" fmla="*/ 0 h 1971675"/>
              <a:gd name="connsiteX2" fmla="*/ 3286125 w 3286125"/>
              <a:gd name="connsiteY2" fmla="*/ 1971675 h 1971675"/>
              <a:gd name="connsiteX3" fmla="*/ 0 w 3286125"/>
              <a:gd name="connsiteY3" fmla="*/ 1971675 h 1971675"/>
              <a:gd name="connsiteX4" fmla="*/ 0 w 3286125"/>
              <a:gd name="connsiteY4" fmla="*/ 0 h 1971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6125" h="1971675">
                <a:moveTo>
                  <a:pt x="0" y="0"/>
                </a:moveTo>
                <a:lnTo>
                  <a:pt x="3286125" y="0"/>
                </a:lnTo>
                <a:lnTo>
                  <a:pt x="3286125" y="1971675"/>
                </a:lnTo>
                <a:lnTo>
                  <a:pt x="0" y="1971675"/>
                </a:lnTo>
                <a:lnTo>
                  <a:pt x="0" y="0"/>
                </a:lnTo>
                <a:close/>
              </a:path>
            </a:pathLst>
          </a:custGeom>
        </p:spPr>
        <p:style>
          <a:lnRef idx="2">
            <a:schemeClr val="lt1">
              <a:hueOff val="0"/>
              <a:satOff val="0"/>
              <a:lumOff val="0"/>
              <a:alphaOff val="0"/>
            </a:schemeClr>
          </a:lnRef>
          <a:fillRef idx="1">
            <a:schemeClr val="accent2">
              <a:hueOff val="2577445"/>
              <a:satOff val="-7397"/>
              <a:lumOff val="-11844"/>
              <a:alphaOff val="0"/>
            </a:schemeClr>
          </a:fillRef>
          <a:effectRef idx="0">
            <a:schemeClr val="accent2">
              <a:hueOff val="2577445"/>
              <a:satOff val="-7397"/>
              <a:lumOff val="-11844"/>
              <a:alphaOff val="0"/>
            </a:schemeClr>
          </a:effectRef>
          <a:fontRef idx="minor">
            <a:schemeClr val="lt1"/>
          </a:fontRef>
        </p:style>
        <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a:t xml:space="preserve">isEmpty(): </a:t>
            </a:r>
            <a:r>
              <a:rPr lang="en-US" sz="2800" kern="1200"/>
              <a:t>Checking if stack is empty (Underflow Condition)</a:t>
            </a:r>
          </a:p>
        </p:txBody>
      </p:sp>
      <p:sp>
        <p:nvSpPr>
          <p:cNvPr id="15" name="Freeform: Shape 14">
            <a:extLst>
              <a:ext uri="{FF2B5EF4-FFF2-40B4-BE49-F238E27FC236}">
                <a16:creationId xmlns:a16="http://schemas.microsoft.com/office/drawing/2014/main" id="{0343E813-7C1F-8C7F-5A75-8C79D21BF203}"/>
              </a:ext>
            </a:extLst>
          </p:cNvPr>
          <p:cNvSpPr/>
          <p:nvPr/>
        </p:nvSpPr>
        <p:spPr>
          <a:xfrm>
            <a:off x="838200" y="4165600"/>
            <a:ext cx="3286125" cy="1971675"/>
          </a:xfrm>
          <a:custGeom>
            <a:avLst/>
            <a:gdLst>
              <a:gd name="connsiteX0" fmla="*/ 0 w 3286125"/>
              <a:gd name="connsiteY0" fmla="*/ 0 h 1971675"/>
              <a:gd name="connsiteX1" fmla="*/ 3286125 w 3286125"/>
              <a:gd name="connsiteY1" fmla="*/ 0 h 1971675"/>
              <a:gd name="connsiteX2" fmla="*/ 3286125 w 3286125"/>
              <a:gd name="connsiteY2" fmla="*/ 1971675 h 1971675"/>
              <a:gd name="connsiteX3" fmla="*/ 0 w 3286125"/>
              <a:gd name="connsiteY3" fmla="*/ 1971675 h 1971675"/>
              <a:gd name="connsiteX4" fmla="*/ 0 w 3286125"/>
              <a:gd name="connsiteY4" fmla="*/ 0 h 1971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6125" h="1971675">
                <a:moveTo>
                  <a:pt x="0" y="0"/>
                </a:moveTo>
                <a:lnTo>
                  <a:pt x="3286125" y="0"/>
                </a:lnTo>
                <a:lnTo>
                  <a:pt x="3286125" y="1971675"/>
                </a:lnTo>
                <a:lnTo>
                  <a:pt x="0" y="1971675"/>
                </a:lnTo>
                <a:lnTo>
                  <a:pt x="0" y="0"/>
                </a:lnTo>
                <a:close/>
              </a:path>
            </a:pathLst>
          </a:custGeom>
        </p:spPr>
        <p:style>
          <a:lnRef idx="2">
            <a:schemeClr val="lt1">
              <a:hueOff val="0"/>
              <a:satOff val="0"/>
              <a:lumOff val="0"/>
              <a:alphaOff val="0"/>
            </a:schemeClr>
          </a:lnRef>
          <a:fillRef idx="1">
            <a:schemeClr val="accent2">
              <a:hueOff val="3866169"/>
              <a:satOff val="-11096"/>
              <a:lumOff val="-17765"/>
              <a:alphaOff val="0"/>
            </a:schemeClr>
          </a:fillRef>
          <a:effectRef idx="0">
            <a:schemeClr val="accent2">
              <a:hueOff val="3866169"/>
              <a:satOff val="-11096"/>
              <a:lumOff val="-17765"/>
              <a:alphaOff val="0"/>
            </a:schemeClr>
          </a:effectRef>
          <a:fontRef idx="minor">
            <a:schemeClr val="lt1"/>
          </a:fontRef>
        </p:style>
        <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err="1"/>
              <a:t>isFull</a:t>
            </a:r>
            <a:r>
              <a:rPr lang="en-US" sz="2800" b="1" kern="1200" dirty="0"/>
              <a:t xml:space="preserve">(): </a:t>
            </a:r>
            <a:r>
              <a:rPr lang="en-US" sz="2800" kern="1200" dirty="0"/>
              <a:t>Checking if stack is full of elements (Overflow Condition)</a:t>
            </a:r>
          </a:p>
        </p:txBody>
      </p:sp>
      <p:sp>
        <p:nvSpPr>
          <p:cNvPr id="16" name="Freeform: Shape 15">
            <a:extLst>
              <a:ext uri="{FF2B5EF4-FFF2-40B4-BE49-F238E27FC236}">
                <a16:creationId xmlns:a16="http://schemas.microsoft.com/office/drawing/2014/main" id="{9EB34360-9629-CF1C-1728-58D6579BD68E}"/>
              </a:ext>
            </a:extLst>
          </p:cNvPr>
          <p:cNvSpPr/>
          <p:nvPr/>
        </p:nvSpPr>
        <p:spPr>
          <a:xfrm>
            <a:off x="4452937" y="4165600"/>
            <a:ext cx="3286125" cy="1971675"/>
          </a:xfrm>
          <a:custGeom>
            <a:avLst/>
            <a:gdLst>
              <a:gd name="connsiteX0" fmla="*/ 0 w 3286125"/>
              <a:gd name="connsiteY0" fmla="*/ 0 h 1971675"/>
              <a:gd name="connsiteX1" fmla="*/ 3286125 w 3286125"/>
              <a:gd name="connsiteY1" fmla="*/ 0 h 1971675"/>
              <a:gd name="connsiteX2" fmla="*/ 3286125 w 3286125"/>
              <a:gd name="connsiteY2" fmla="*/ 1971675 h 1971675"/>
              <a:gd name="connsiteX3" fmla="*/ 0 w 3286125"/>
              <a:gd name="connsiteY3" fmla="*/ 1971675 h 1971675"/>
              <a:gd name="connsiteX4" fmla="*/ 0 w 3286125"/>
              <a:gd name="connsiteY4" fmla="*/ 0 h 1971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6125" h="1971675">
                <a:moveTo>
                  <a:pt x="0" y="0"/>
                </a:moveTo>
                <a:lnTo>
                  <a:pt x="3286125" y="0"/>
                </a:lnTo>
                <a:lnTo>
                  <a:pt x="3286125" y="1971675"/>
                </a:lnTo>
                <a:lnTo>
                  <a:pt x="0" y="1971675"/>
                </a:lnTo>
                <a:lnTo>
                  <a:pt x="0" y="0"/>
                </a:lnTo>
                <a:close/>
              </a:path>
            </a:pathLst>
          </a:custGeom>
        </p:spPr>
        <p:style>
          <a:lnRef idx="2">
            <a:schemeClr val="lt1">
              <a:hueOff val="0"/>
              <a:satOff val="0"/>
              <a:lumOff val="0"/>
              <a:alphaOff val="0"/>
            </a:schemeClr>
          </a:lnRef>
          <a:fillRef idx="1">
            <a:schemeClr val="accent2">
              <a:hueOff val="5154891"/>
              <a:satOff val="-14794"/>
              <a:lumOff val="-23687"/>
              <a:alphaOff val="0"/>
            </a:schemeClr>
          </a:fillRef>
          <a:effectRef idx="0">
            <a:schemeClr val="accent2">
              <a:hueOff val="5154891"/>
              <a:satOff val="-14794"/>
              <a:lumOff val="-23687"/>
              <a:alphaOff val="0"/>
            </a:schemeClr>
          </a:effectRef>
          <a:fontRef idx="minor">
            <a:schemeClr val="lt1"/>
          </a:fontRef>
        </p:style>
        <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t xml:space="preserve">peek(): </a:t>
            </a:r>
            <a:r>
              <a:rPr lang="en-US" sz="2800" kern="1200" dirty="0"/>
              <a:t xml:space="preserve">Having a look at the element currently on </a:t>
            </a:r>
            <a:r>
              <a:rPr lang="en-US" sz="2800" b="1" kern="1200" dirty="0"/>
              <a:t xml:space="preserve">top </a:t>
            </a:r>
            <a:endParaRPr lang="en-US" sz="2800" kern="1200" dirty="0"/>
          </a:p>
        </p:txBody>
      </p:sp>
      <p:sp>
        <p:nvSpPr>
          <p:cNvPr id="17" name="Freeform: Shape 16">
            <a:extLst>
              <a:ext uri="{FF2B5EF4-FFF2-40B4-BE49-F238E27FC236}">
                <a16:creationId xmlns:a16="http://schemas.microsoft.com/office/drawing/2014/main" id="{6DDADDDE-8D34-CE78-FBCF-C95407DDEE77}"/>
              </a:ext>
            </a:extLst>
          </p:cNvPr>
          <p:cNvSpPr/>
          <p:nvPr/>
        </p:nvSpPr>
        <p:spPr>
          <a:xfrm>
            <a:off x="8067675" y="4165600"/>
            <a:ext cx="3286125" cy="1971675"/>
          </a:xfrm>
          <a:custGeom>
            <a:avLst/>
            <a:gdLst>
              <a:gd name="connsiteX0" fmla="*/ 0 w 3286125"/>
              <a:gd name="connsiteY0" fmla="*/ 0 h 1971675"/>
              <a:gd name="connsiteX1" fmla="*/ 3286125 w 3286125"/>
              <a:gd name="connsiteY1" fmla="*/ 0 h 1971675"/>
              <a:gd name="connsiteX2" fmla="*/ 3286125 w 3286125"/>
              <a:gd name="connsiteY2" fmla="*/ 1971675 h 1971675"/>
              <a:gd name="connsiteX3" fmla="*/ 0 w 3286125"/>
              <a:gd name="connsiteY3" fmla="*/ 1971675 h 1971675"/>
              <a:gd name="connsiteX4" fmla="*/ 0 w 3286125"/>
              <a:gd name="connsiteY4" fmla="*/ 0 h 1971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6125" h="1971675">
                <a:moveTo>
                  <a:pt x="0" y="0"/>
                </a:moveTo>
                <a:lnTo>
                  <a:pt x="3286125" y="0"/>
                </a:lnTo>
                <a:lnTo>
                  <a:pt x="3286125" y="1971675"/>
                </a:lnTo>
                <a:lnTo>
                  <a:pt x="0" y="1971675"/>
                </a:lnTo>
                <a:lnTo>
                  <a:pt x="0" y="0"/>
                </a:lnTo>
                <a:close/>
              </a:path>
            </a:pathLst>
          </a:custGeom>
        </p:spPr>
        <p:style>
          <a:lnRef idx="2">
            <a:schemeClr val="lt1">
              <a:hueOff val="0"/>
              <a:satOff val="0"/>
              <a:lumOff val="0"/>
              <a:alphaOff val="0"/>
            </a:schemeClr>
          </a:lnRef>
          <a:fillRef idx="1">
            <a:schemeClr val="accent2">
              <a:hueOff val="6443614"/>
              <a:satOff val="-18493"/>
              <a:lumOff val="-29609"/>
              <a:alphaOff val="0"/>
            </a:schemeClr>
          </a:fillRef>
          <a:effectRef idx="0">
            <a:schemeClr val="accent2">
              <a:hueOff val="6443614"/>
              <a:satOff val="-18493"/>
              <a:lumOff val="-29609"/>
              <a:alphaOff val="0"/>
            </a:schemeClr>
          </a:effectRef>
          <a:fontRef idx="minor">
            <a:schemeClr val="lt1"/>
          </a:fontRef>
        </p:style>
        <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t xml:space="preserve">display(): </a:t>
            </a:r>
            <a:r>
              <a:rPr lang="en-US" sz="2800" kern="1200" dirty="0"/>
              <a:t>Printing all the stack elements.</a:t>
            </a:r>
          </a:p>
        </p:txBody>
      </p:sp>
    </p:spTree>
    <p:extLst>
      <p:ext uri="{BB962C8B-B14F-4D97-AF65-F5344CB8AC3E}">
        <p14:creationId xmlns:p14="http://schemas.microsoft.com/office/powerpoint/2010/main" val="1276053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10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10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5" grpId="0" animBg="1"/>
      <p:bldP spid="16" grpId="0" animBg="1"/>
      <p:bldP spid="17"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C2DA2CF-FA1D-8318-A4EC-AC820F564698}"/>
              </a:ext>
            </a:extLst>
          </p:cNvPr>
          <p:cNvPicPr>
            <a:picLocks noChangeAspect="1"/>
          </p:cNvPicPr>
          <p:nvPr/>
        </p:nvPicPr>
        <p:blipFill rotWithShape="1">
          <a:blip r:embed="rId2">
            <a:duotone>
              <a:schemeClr val="bg2">
                <a:shade val="45000"/>
                <a:satMod val="135000"/>
              </a:schemeClr>
              <a:prstClr val="white"/>
            </a:duotone>
          </a:blip>
          <a:srcRect t="15537" b="2046"/>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CD0EC1-FEEC-D722-B7D7-FB5477B3FC01}"/>
              </a:ext>
            </a:extLst>
          </p:cNvPr>
          <p:cNvSpPr>
            <a:spLocks noGrp="1"/>
          </p:cNvSpPr>
          <p:nvPr>
            <p:ph type="title"/>
          </p:nvPr>
        </p:nvSpPr>
        <p:spPr>
          <a:xfrm>
            <a:off x="838200" y="365125"/>
            <a:ext cx="10515600" cy="1325563"/>
          </a:xfrm>
        </p:spPr>
        <p:txBody>
          <a:bodyPr>
            <a:normAutofit/>
          </a:bodyPr>
          <a:lstStyle/>
          <a:p>
            <a:r>
              <a:rPr lang="en-US" dirty="0"/>
              <a:t>Stacks can be implemented using</a:t>
            </a:r>
            <a:endParaRPr lang="en-IN" dirty="0"/>
          </a:p>
        </p:txBody>
      </p:sp>
      <p:sp>
        <p:nvSpPr>
          <p:cNvPr id="6" name="Freeform: Shape 5">
            <a:extLst>
              <a:ext uri="{FF2B5EF4-FFF2-40B4-BE49-F238E27FC236}">
                <a16:creationId xmlns:a16="http://schemas.microsoft.com/office/drawing/2014/main" id="{A7A330F4-C66B-6FB8-344F-51023B108688}"/>
              </a:ext>
            </a:extLst>
          </p:cNvPr>
          <p:cNvSpPr/>
          <p:nvPr/>
        </p:nvSpPr>
        <p:spPr>
          <a:xfrm>
            <a:off x="839483" y="2833179"/>
            <a:ext cx="4672458" cy="2336229"/>
          </a:xfrm>
          <a:custGeom>
            <a:avLst/>
            <a:gdLst>
              <a:gd name="connsiteX0" fmla="*/ 0 w 4672458"/>
              <a:gd name="connsiteY0" fmla="*/ 233623 h 2336229"/>
              <a:gd name="connsiteX1" fmla="*/ 233623 w 4672458"/>
              <a:gd name="connsiteY1" fmla="*/ 0 h 2336229"/>
              <a:gd name="connsiteX2" fmla="*/ 4438835 w 4672458"/>
              <a:gd name="connsiteY2" fmla="*/ 0 h 2336229"/>
              <a:gd name="connsiteX3" fmla="*/ 4672458 w 4672458"/>
              <a:gd name="connsiteY3" fmla="*/ 233623 h 2336229"/>
              <a:gd name="connsiteX4" fmla="*/ 4672458 w 4672458"/>
              <a:gd name="connsiteY4" fmla="*/ 2102606 h 2336229"/>
              <a:gd name="connsiteX5" fmla="*/ 4438835 w 4672458"/>
              <a:gd name="connsiteY5" fmla="*/ 2336229 h 2336229"/>
              <a:gd name="connsiteX6" fmla="*/ 233623 w 4672458"/>
              <a:gd name="connsiteY6" fmla="*/ 2336229 h 2336229"/>
              <a:gd name="connsiteX7" fmla="*/ 0 w 4672458"/>
              <a:gd name="connsiteY7" fmla="*/ 2102606 h 2336229"/>
              <a:gd name="connsiteX8" fmla="*/ 0 w 4672458"/>
              <a:gd name="connsiteY8" fmla="*/ 233623 h 2336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72458" h="2336229">
                <a:moveTo>
                  <a:pt x="0" y="233623"/>
                </a:moveTo>
                <a:cubicBezTo>
                  <a:pt x="0" y="104597"/>
                  <a:pt x="104597" y="0"/>
                  <a:pt x="233623" y="0"/>
                </a:cubicBezTo>
                <a:lnTo>
                  <a:pt x="4438835" y="0"/>
                </a:lnTo>
                <a:cubicBezTo>
                  <a:pt x="4567861" y="0"/>
                  <a:pt x="4672458" y="104597"/>
                  <a:pt x="4672458" y="233623"/>
                </a:cubicBezTo>
                <a:lnTo>
                  <a:pt x="4672458" y="2102606"/>
                </a:lnTo>
                <a:cubicBezTo>
                  <a:pt x="4672458" y="2231632"/>
                  <a:pt x="4567861" y="2336229"/>
                  <a:pt x="4438835" y="2336229"/>
                </a:cubicBezTo>
                <a:lnTo>
                  <a:pt x="233623" y="2336229"/>
                </a:lnTo>
                <a:cubicBezTo>
                  <a:pt x="104597" y="2336229"/>
                  <a:pt x="0" y="2231632"/>
                  <a:pt x="0" y="2102606"/>
                </a:cubicBezTo>
                <a:lnTo>
                  <a:pt x="0" y="233623"/>
                </a:lnTo>
                <a:close/>
              </a:path>
            </a:pathLst>
          </a:custGeom>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192251" tIns="150976" rIns="192251" bIns="150976" numCol="1" spcCol="1270" anchor="ctr" anchorCtr="0">
            <a:noAutofit/>
          </a:bodyPr>
          <a:lstStyle/>
          <a:p>
            <a:pPr marL="0" lvl="0" indent="0" algn="ctr" defTabSz="2889250">
              <a:lnSpc>
                <a:spcPct val="90000"/>
              </a:lnSpc>
              <a:spcBef>
                <a:spcPct val="0"/>
              </a:spcBef>
              <a:spcAft>
                <a:spcPct val="35000"/>
              </a:spcAft>
              <a:buNone/>
            </a:pPr>
            <a:r>
              <a:rPr lang="en-US" sz="6500" kern="1200"/>
              <a:t>An Array</a:t>
            </a:r>
          </a:p>
        </p:txBody>
      </p:sp>
      <p:sp>
        <p:nvSpPr>
          <p:cNvPr id="8" name="Freeform: Shape 7">
            <a:extLst>
              <a:ext uri="{FF2B5EF4-FFF2-40B4-BE49-F238E27FC236}">
                <a16:creationId xmlns:a16="http://schemas.microsoft.com/office/drawing/2014/main" id="{6ED479C7-6533-20A4-314B-B4C15CCED859}"/>
              </a:ext>
            </a:extLst>
          </p:cNvPr>
          <p:cNvSpPr/>
          <p:nvPr/>
        </p:nvSpPr>
        <p:spPr>
          <a:xfrm>
            <a:off x="6680057" y="2833179"/>
            <a:ext cx="4672458" cy="2336229"/>
          </a:xfrm>
          <a:custGeom>
            <a:avLst/>
            <a:gdLst>
              <a:gd name="connsiteX0" fmla="*/ 0 w 4672458"/>
              <a:gd name="connsiteY0" fmla="*/ 233623 h 2336229"/>
              <a:gd name="connsiteX1" fmla="*/ 233623 w 4672458"/>
              <a:gd name="connsiteY1" fmla="*/ 0 h 2336229"/>
              <a:gd name="connsiteX2" fmla="*/ 4438835 w 4672458"/>
              <a:gd name="connsiteY2" fmla="*/ 0 h 2336229"/>
              <a:gd name="connsiteX3" fmla="*/ 4672458 w 4672458"/>
              <a:gd name="connsiteY3" fmla="*/ 233623 h 2336229"/>
              <a:gd name="connsiteX4" fmla="*/ 4672458 w 4672458"/>
              <a:gd name="connsiteY4" fmla="*/ 2102606 h 2336229"/>
              <a:gd name="connsiteX5" fmla="*/ 4438835 w 4672458"/>
              <a:gd name="connsiteY5" fmla="*/ 2336229 h 2336229"/>
              <a:gd name="connsiteX6" fmla="*/ 233623 w 4672458"/>
              <a:gd name="connsiteY6" fmla="*/ 2336229 h 2336229"/>
              <a:gd name="connsiteX7" fmla="*/ 0 w 4672458"/>
              <a:gd name="connsiteY7" fmla="*/ 2102606 h 2336229"/>
              <a:gd name="connsiteX8" fmla="*/ 0 w 4672458"/>
              <a:gd name="connsiteY8" fmla="*/ 233623 h 2336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72458" h="2336229">
                <a:moveTo>
                  <a:pt x="0" y="233623"/>
                </a:moveTo>
                <a:cubicBezTo>
                  <a:pt x="0" y="104597"/>
                  <a:pt x="104597" y="0"/>
                  <a:pt x="233623" y="0"/>
                </a:cubicBezTo>
                <a:lnTo>
                  <a:pt x="4438835" y="0"/>
                </a:lnTo>
                <a:cubicBezTo>
                  <a:pt x="4567861" y="0"/>
                  <a:pt x="4672458" y="104597"/>
                  <a:pt x="4672458" y="233623"/>
                </a:cubicBezTo>
                <a:lnTo>
                  <a:pt x="4672458" y="2102606"/>
                </a:lnTo>
                <a:cubicBezTo>
                  <a:pt x="4672458" y="2231632"/>
                  <a:pt x="4567861" y="2336229"/>
                  <a:pt x="4438835" y="2336229"/>
                </a:cubicBezTo>
                <a:lnTo>
                  <a:pt x="233623" y="2336229"/>
                </a:lnTo>
                <a:cubicBezTo>
                  <a:pt x="104597" y="2336229"/>
                  <a:pt x="0" y="2231632"/>
                  <a:pt x="0" y="2102606"/>
                </a:cubicBezTo>
                <a:lnTo>
                  <a:pt x="0" y="233623"/>
                </a:lnTo>
                <a:close/>
              </a:path>
            </a:pathLst>
          </a:custGeom>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192251" tIns="150976" rIns="192251" bIns="150976" numCol="1" spcCol="1270" anchor="ctr" anchorCtr="0">
            <a:noAutofit/>
          </a:bodyPr>
          <a:lstStyle/>
          <a:p>
            <a:pPr marL="0" lvl="0" indent="0" algn="ctr" defTabSz="2889250">
              <a:lnSpc>
                <a:spcPct val="90000"/>
              </a:lnSpc>
              <a:spcBef>
                <a:spcPct val="0"/>
              </a:spcBef>
              <a:spcAft>
                <a:spcPct val="35000"/>
              </a:spcAft>
              <a:buNone/>
            </a:pPr>
            <a:r>
              <a:rPr lang="en-US" sz="6500" kern="1200"/>
              <a:t>A Linked List</a:t>
            </a:r>
          </a:p>
        </p:txBody>
      </p:sp>
    </p:spTree>
    <p:extLst>
      <p:ext uri="{BB962C8B-B14F-4D97-AF65-F5344CB8AC3E}">
        <p14:creationId xmlns:p14="http://schemas.microsoft.com/office/powerpoint/2010/main" val="102872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356486B-2FBC-9115-671C-BB3CB437D17D}"/>
              </a:ext>
            </a:extLst>
          </p:cNvPr>
          <p:cNvPicPr>
            <a:picLocks noChangeAspect="1"/>
          </p:cNvPicPr>
          <p:nvPr/>
        </p:nvPicPr>
        <p:blipFill rotWithShape="1">
          <a:blip r:embed="rId2">
            <a:duotone>
              <a:schemeClr val="bg2">
                <a:shade val="45000"/>
                <a:satMod val="135000"/>
              </a:schemeClr>
              <a:prstClr val="white"/>
            </a:duotone>
          </a:blip>
          <a:srcRect b="15730"/>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E2C43F-0C38-9733-0BD7-BBEF44E0263C}"/>
              </a:ext>
            </a:extLst>
          </p:cNvPr>
          <p:cNvSpPr>
            <a:spLocks noGrp="1"/>
          </p:cNvSpPr>
          <p:nvPr>
            <p:ph type="title"/>
          </p:nvPr>
        </p:nvSpPr>
        <p:spPr>
          <a:xfrm>
            <a:off x="838200" y="365125"/>
            <a:ext cx="10515600" cy="1325563"/>
          </a:xfrm>
        </p:spPr>
        <p:txBody>
          <a:bodyPr>
            <a:normAutofit/>
          </a:bodyPr>
          <a:lstStyle/>
          <a:p>
            <a:r>
              <a:rPr lang="en-US" dirty="0"/>
              <a:t>Applications of Stack</a:t>
            </a:r>
            <a:endParaRPr lang="en-IN" dirty="0"/>
          </a:p>
        </p:txBody>
      </p:sp>
      <p:sp>
        <p:nvSpPr>
          <p:cNvPr id="8" name="Freeform: Shape 7">
            <a:extLst>
              <a:ext uri="{FF2B5EF4-FFF2-40B4-BE49-F238E27FC236}">
                <a16:creationId xmlns:a16="http://schemas.microsoft.com/office/drawing/2014/main" id="{AA07E8C2-602A-9BA3-014C-16EF55F66B17}"/>
              </a:ext>
            </a:extLst>
          </p:cNvPr>
          <p:cNvSpPr/>
          <p:nvPr/>
        </p:nvSpPr>
        <p:spPr>
          <a:xfrm>
            <a:off x="838200" y="1865312"/>
            <a:ext cx="3286125" cy="1971675"/>
          </a:xfrm>
          <a:custGeom>
            <a:avLst/>
            <a:gdLst>
              <a:gd name="connsiteX0" fmla="*/ 0 w 3286125"/>
              <a:gd name="connsiteY0" fmla="*/ 0 h 1971675"/>
              <a:gd name="connsiteX1" fmla="*/ 3286125 w 3286125"/>
              <a:gd name="connsiteY1" fmla="*/ 0 h 1971675"/>
              <a:gd name="connsiteX2" fmla="*/ 3286125 w 3286125"/>
              <a:gd name="connsiteY2" fmla="*/ 1971675 h 1971675"/>
              <a:gd name="connsiteX3" fmla="*/ 0 w 3286125"/>
              <a:gd name="connsiteY3" fmla="*/ 1971675 h 1971675"/>
              <a:gd name="connsiteX4" fmla="*/ 0 w 3286125"/>
              <a:gd name="connsiteY4" fmla="*/ 0 h 1971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6125" h="1971675">
                <a:moveTo>
                  <a:pt x="0" y="0"/>
                </a:moveTo>
                <a:lnTo>
                  <a:pt x="3286125" y="0"/>
                </a:lnTo>
                <a:lnTo>
                  <a:pt x="3286125" y="1971675"/>
                </a:lnTo>
                <a:lnTo>
                  <a:pt x="0" y="1971675"/>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48590" tIns="148590" rIns="148590" bIns="148590" numCol="1" spcCol="1270" anchor="ctr" anchorCtr="0">
            <a:noAutofit/>
          </a:bodyPr>
          <a:lstStyle/>
          <a:p>
            <a:pPr marL="0" lvl="0" indent="0" algn="ctr" defTabSz="1733550">
              <a:lnSpc>
                <a:spcPct val="90000"/>
              </a:lnSpc>
              <a:spcBef>
                <a:spcPct val="0"/>
              </a:spcBef>
              <a:spcAft>
                <a:spcPct val="35000"/>
              </a:spcAft>
              <a:buNone/>
            </a:pPr>
            <a:r>
              <a:rPr lang="en-US" sz="3900" kern="1200" dirty="0"/>
              <a:t>Arithmetic Expression Evaluations</a:t>
            </a:r>
          </a:p>
        </p:txBody>
      </p:sp>
      <p:sp>
        <p:nvSpPr>
          <p:cNvPr id="9" name="Freeform: Shape 8">
            <a:extLst>
              <a:ext uri="{FF2B5EF4-FFF2-40B4-BE49-F238E27FC236}">
                <a16:creationId xmlns:a16="http://schemas.microsoft.com/office/drawing/2014/main" id="{A9388770-B776-00E3-430D-726F3CED995E}"/>
              </a:ext>
            </a:extLst>
          </p:cNvPr>
          <p:cNvSpPr/>
          <p:nvPr/>
        </p:nvSpPr>
        <p:spPr>
          <a:xfrm>
            <a:off x="4452937" y="1865312"/>
            <a:ext cx="3286125" cy="1971675"/>
          </a:xfrm>
          <a:custGeom>
            <a:avLst/>
            <a:gdLst>
              <a:gd name="connsiteX0" fmla="*/ 0 w 3286125"/>
              <a:gd name="connsiteY0" fmla="*/ 0 h 1971675"/>
              <a:gd name="connsiteX1" fmla="*/ 3286125 w 3286125"/>
              <a:gd name="connsiteY1" fmla="*/ 0 h 1971675"/>
              <a:gd name="connsiteX2" fmla="*/ 3286125 w 3286125"/>
              <a:gd name="connsiteY2" fmla="*/ 1971675 h 1971675"/>
              <a:gd name="connsiteX3" fmla="*/ 0 w 3286125"/>
              <a:gd name="connsiteY3" fmla="*/ 1971675 h 1971675"/>
              <a:gd name="connsiteX4" fmla="*/ 0 w 3286125"/>
              <a:gd name="connsiteY4" fmla="*/ 0 h 1971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6125" h="1971675">
                <a:moveTo>
                  <a:pt x="0" y="0"/>
                </a:moveTo>
                <a:lnTo>
                  <a:pt x="3286125" y="0"/>
                </a:lnTo>
                <a:lnTo>
                  <a:pt x="3286125" y="1971675"/>
                </a:lnTo>
                <a:lnTo>
                  <a:pt x="0" y="1971675"/>
                </a:lnTo>
                <a:lnTo>
                  <a:pt x="0" y="0"/>
                </a:lnTo>
                <a:close/>
              </a:path>
            </a:pathLst>
          </a:custGeom>
        </p:spPr>
        <p:style>
          <a:lnRef idx="0">
            <a:schemeClr val="lt1">
              <a:hueOff val="0"/>
              <a:satOff val="0"/>
              <a:lumOff val="0"/>
              <a:alphaOff val="0"/>
            </a:schemeClr>
          </a:lnRef>
          <a:fillRef idx="3">
            <a:schemeClr val="accent5">
              <a:hueOff val="-2430430"/>
              <a:satOff val="-165"/>
              <a:lumOff val="392"/>
              <a:alphaOff val="0"/>
            </a:schemeClr>
          </a:fillRef>
          <a:effectRef idx="2">
            <a:schemeClr val="accent5">
              <a:hueOff val="-2430430"/>
              <a:satOff val="-165"/>
              <a:lumOff val="392"/>
              <a:alphaOff val="0"/>
            </a:schemeClr>
          </a:effectRef>
          <a:fontRef idx="minor">
            <a:schemeClr val="lt1"/>
          </a:fontRef>
        </p:style>
        <p:txBody>
          <a:bodyPr spcFirstLastPara="0" vert="horz" wrap="square" lIns="148590" tIns="148590" rIns="148590" bIns="148590" numCol="1" spcCol="1270" anchor="ctr" anchorCtr="0">
            <a:noAutofit/>
          </a:bodyPr>
          <a:lstStyle/>
          <a:p>
            <a:pPr marL="0" lvl="0" indent="0" algn="ctr" defTabSz="1733550">
              <a:lnSpc>
                <a:spcPct val="90000"/>
              </a:lnSpc>
              <a:spcBef>
                <a:spcPct val="0"/>
              </a:spcBef>
              <a:spcAft>
                <a:spcPct val="35000"/>
              </a:spcAft>
              <a:buNone/>
            </a:pPr>
            <a:r>
              <a:rPr lang="en-IN" sz="3900" kern="1200"/>
              <a:t>Balancing parentheses</a:t>
            </a:r>
            <a:endParaRPr lang="en-US" sz="3900" kern="1200"/>
          </a:p>
        </p:txBody>
      </p:sp>
      <p:sp>
        <p:nvSpPr>
          <p:cNvPr id="12" name="Freeform: Shape 11">
            <a:extLst>
              <a:ext uri="{FF2B5EF4-FFF2-40B4-BE49-F238E27FC236}">
                <a16:creationId xmlns:a16="http://schemas.microsoft.com/office/drawing/2014/main" id="{1E2C780A-918B-D1F2-F517-5409CC507EA8}"/>
              </a:ext>
            </a:extLst>
          </p:cNvPr>
          <p:cNvSpPr/>
          <p:nvPr/>
        </p:nvSpPr>
        <p:spPr>
          <a:xfrm>
            <a:off x="8067675" y="1865312"/>
            <a:ext cx="3286125" cy="1971675"/>
          </a:xfrm>
          <a:custGeom>
            <a:avLst/>
            <a:gdLst>
              <a:gd name="connsiteX0" fmla="*/ 0 w 3286125"/>
              <a:gd name="connsiteY0" fmla="*/ 0 h 1971675"/>
              <a:gd name="connsiteX1" fmla="*/ 3286125 w 3286125"/>
              <a:gd name="connsiteY1" fmla="*/ 0 h 1971675"/>
              <a:gd name="connsiteX2" fmla="*/ 3286125 w 3286125"/>
              <a:gd name="connsiteY2" fmla="*/ 1971675 h 1971675"/>
              <a:gd name="connsiteX3" fmla="*/ 0 w 3286125"/>
              <a:gd name="connsiteY3" fmla="*/ 1971675 h 1971675"/>
              <a:gd name="connsiteX4" fmla="*/ 0 w 3286125"/>
              <a:gd name="connsiteY4" fmla="*/ 0 h 1971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6125" h="1971675">
                <a:moveTo>
                  <a:pt x="0" y="0"/>
                </a:moveTo>
                <a:lnTo>
                  <a:pt x="3286125" y="0"/>
                </a:lnTo>
                <a:lnTo>
                  <a:pt x="3286125" y="1971675"/>
                </a:lnTo>
                <a:lnTo>
                  <a:pt x="0" y="1971675"/>
                </a:lnTo>
                <a:lnTo>
                  <a:pt x="0" y="0"/>
                </a:lnTo>
                <a:close/>
              </a:path>
            </a:pathLst>
          </a:custGeom>
        </p:spPr>
        <p:style>
          <a:lnRef idx="0">
            <a:schemeClr val="lt1">
              <a:hueOff val="0"/>
              <a:satOff val="0"/>
              <a:lumOff val="0"/>
              <a:alphaOff val="0"/>
            </a:schemeClr>
          </a:lnRef>
          <a:fillRef idx="3">
            <a:schemeClr val="accent5">
              <a:hueOff val="-4860860"/>
              <a:satOff val="-330"/>
              <a:lumOff val="784"/>
              <a:alphaOff val="0"/>
            </a:schemeClr>
          </a:fillRef>
          <a:effectRef idx="2">
            <a:schemeClr val="accent5">
              <a:hueOff val="-4860860"/>
              <a:satOff val="-330"/>
              <a:lumOff val="784"/>
              <a:alphaOff val="0"/>
            </a:schemeClr>
          </a:effectRef>
          <a:fontRef idx="minor">
            <a:schemeClr val="lt1"/>
          </a:fontRef>
        </p:style>
        <p:txBody>
          <a:bodyPr spcFirstLastPara="0" vert="horz" wrap="square" lIns="148590" tIns="148590" rIns="148590" bIns="148590" numCol="1" spcCol="1270" anchor="ctr" anchorCtr="0">
            <a:noAutofit/>
          </a:bodyPr>
          <a:lstStyle/>
          <a:p>
            <a:pPr marL="0" lvl="0" indent="0" algn="ctr" defTabSz="1733550">
              <a:lnSpc>
                <a:spcPct val="90000"/>
              </a:lnSpc>
              <a:spcBef>
                <a:spcPct val="0"/>
              </a:spcBef>
              <a:spcAft>
                <a:spcPct val="35000"/>
              </a:spcAft>
              <a:buNone/>
            </a:pPr>
            <a:r>
              <a:rPr lang="en-IN" sz="3900" kern="1200"/>
              <a:t>Recursion</a:t>
            </a:r>
            <a:endParaRPr lang="en-US" sz="3900" kern="1200"/>
          </a:p>
        </p:txBody>
      </p:sp>
      <p:sp>
        <p:nvSpPr>
          <p:cNvPr id="13" name="Freeform: Shape 12">
            <a:extLst>
              <a:ext uri="{FF2B5EF4-FFF2-40B4-BE49-F238E27FC236}">
                <a16:creationId xmlns:a16="http://schemas.microsoft.com/office/drawing/2014/main" id="{29993513-5BC8-ED40-5DB1-9947556899A1}"/>
              </a:ext>
            </a:extLst>
          </p:cNvPr>
          <p:cNvSpPr/>
          <p:nvPr/>
        </p:nvSpPr>
        <p:spPr>
          <a:xfrm>
            <a:off x="838200" y="4165600"/>
            <a:ext cx="3286125" cy="1971675"/>
          </a:xfrm>
          <a:custGeom>
            <a:avLst/>
            <a:gdLst>
              <a:gd name="connsiteX0" fmla="*/ 0 w 3286125"/>
              <a:gd name="connsiteY0" fmla="*/ 0 h 1971675"/>
              <a:gd name="connsiteX1" fmla="*/ 3286125 w 3286125"/>
              <a:gd name="connsiteY1" fmla="*/ 0 h 1971675"/>
              <a:gd name="connsiteX2" fmla="*/ 3286125 w 3286125"/>
              <a:gd name="connsiteY2" fmla="*/ 1971675 h 1971675"/>
              <a:gd name="connsiteX3" fmla="*/ 0 w 3286125"/>
              <a:gd name="connsiteY3" fmla="*/ 1971675 h 1971675"/>
              <a:gd name="connsiteX4" fmla="*/ 0 w 3286125"/>
              <a:gd name="connsiteY4" fmla="*/ 0 h 1971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6125" h="1971675">
                <a:moveTo>
                  <a:pt x="0" y="0"/>
                </a:moveTo>
                <a:lnTo>
                  <a:pt x="3286125" y="0"/>
                </a:lnTo>
                <a:lnTo>
                  <a:pt x="3286125" y="1971675"/>
                </a:lnTo>
                <a:lnTo>
                  <a:pt x="0" y="1971675"/>
                </a:lnTo>
                <a:lnTo>
                  <a:pt x="0" y="0"/>
                </a:lnTo>
                <a:close/>
              </a:path>
            </a:pathLst>
          </a:custGeom>
        </p:spPr>
        <p:style>
          <a:lnRef idx="0">
            <a:schemeClr val="lt1">
              <a:hueOff val="0"/>
              <a:satOff val="0"/>
              <a:lumOff val="0"/>
              <a:alphaOff val="0"/>
            </a:schemeClr>
          </a:lnRef>
          <a:fillRef idx="3">
            <a:schemeClr val="accent5">
              <a:hueOff val="-7291290"/>
              <a:satOff val="-496"/>
              <a:lumOff val="1177"/>
              <a:alphaOff val="0"/>
            </a:schemeClr>
          </a:fillRef>
          <a:effectRef idx="2">
            <a:schemeClr val="accent5">
              <a:hueOff val="-7291290"/>
              <a:satOff val="-496"/>
              <a:lumOff val="1177"/>
              <a:alphaOff val="0"/>
            </a:schemeClr>
          </a:effectRef>
          <a:fontRef idx="minor">
            <a:schemeClr val="lt1"/>
          </a:fontRef>
        </p:style>
        <p:txBody>
          <a:bodyPr spcFirstLastPara="0" vert="horz" wrap="square" lIns="148590" tIns="148590" rIns="148590" bIns="148590" numCol="1" spcCol="1270" anchor="ctr" anchorCtr="0">
            <a:noAutofit/>
          </a:bodyPr>
          <a:lstStyle/>
          <a:p>
            <a:pPr marL="0" lvl="0" indent="0" algn="ctr" defTabSz="1733550">
              <a:lnSpc>
                <a:spcPct val="90000"/>
              </a:lnSpc>
              <a:spcBef>
                <a:spcPct val="0"/>
              </a:spcBef>
              <a:spcAft>
                <a:spcPct val="35000"/>
              </a:spcAft>
              <a:buNone/>
            </a:pPr>
            <a:r>
              <a:rPr lang="en-IN" sz="3900" kern="1200"/>
              <a:t>Backtracking</a:t>
            </a:r>
            <a:endParaRPr lang="en-US" sz="3900" kern="1200"/>
          </a:p>
        </p:txBody>
      </p:sp>
      <p:sp>
        <p:nvSpPr>
          <p:cNvPr id="14" name="Freeform: Shape 13">
            <a:extLst>
              <a:ext uri="{FF2B5EF4-FFF2-40B4-BE49-F238E27FC236}">
                <a16:creationId xmlns:a16="http://schemas.microsoft.com/office/drawing/2014/main" id="{2B4FE579-D677-BD3F-9784-AE1F6496C976}"/>
              </a:ext>
            </a:extLst>
          </p:cNvPr>
          <p:cNvSpPr/>
          <p:nvPr/>
        </p:nvSpPr>
        <p:spPr>
          <a:xfrm>
            <a:off x="4452937" y="4165600"/>
            <a:ext cx="3286125" cy="1971675"/>
          </a:xfrm>
          <a:custGeom>
            <a:avLst/>
            <a:gdLst>
              <a:gd name="connsiteX0" fmla="*/ 0 w 3286125"/>
              <a:gd name="connsiteY0" fmla="*/ 0 h 1971675"/>
              <a:gd name="connsiteX1" fmla="*/ 3286125 w 3286125"/>
              <a:gd name="connsiteY1" fmla="*/ 0 h 1971675"/>
              <a:gd name="connsiteX2" fmla="*/ 3286125 w 3286125"/>
              <a:gd name="connsiteY2" fmla="*/ 1971675 h 1971675"/>
              <a:gd name="connsiteX3" fmla="*/ 0 w 3286125"/>
              <a:gd name="connsiteY3" fmla="*/ 1971675 h 1971675"/>
              <a:gd name="connsiteX4" fmla="*/ 0 w 3286125"/>
              <a:gd name="connsiteY4" fmla="*/ 0 h 1971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6125" h="1971675">
                <a:moveTo>
                  <a:pt x="0" y="0"/>
                </a:moveTo>
                <a:lnTo>
                  <a:pt x="3286125" y="0"/>
                </a:lnTo>
                <a:lnTo>
                  <a:pt x="3286125" y="1971675"/>
                </a:lnTo>
                <a:lnTo>
                  <a:pt x="0" y="1971675"/>
                </a:lnTo>
                <a:lnTo>
                  <a:pt x="0" y="0"/>
                </a:lnTo>
                <a:close/>
              </a:path>
            </a:pathLst>
          </a:custGeom>
        </p:spPr>
        <p:style>
          <a:lnRef idx="0">
            <a:schemeClr val="lt1">
              <a:hueOff val="0"/>
              <a:satOff val="0"/>
              <a:lumOff val="0"/>
              <a:alphaOff val="0"/>
            </a:schemeClr>
          </a:lnRef>
          <a:fillRef idx="3">
            <a:schemeClr val="accent5">
              <a:hueOff val="-9721720"/>
              <a:satOff val="-661"/>
              <a:lumOff val="1569"/>
              <a:alphaOff val="0"/>
            </a:schemeClr>
          </a:fillRef>
          <a:effectRef idx="2">
            <a:schemeClr val="accent5">
              <a:hueOff val="-9721720"/>
              <a:satOff val="-661"/>
              <a:lumOff val="1569"/>
              <a:alphaOff val="0"/>
            </a:schemeClr>
          </a:effectRef>
          <a:fontRef idx="minor">
            <a:schemeClr val="lt1"/>
          </a:fontRef>
        </p:style>
        <p:txBody>
          <a:bodyPr spcFirstLastPara="0" vert="horz" wrap="square" lIns="148590" tIns="148590" rIns="148590" bIns="148590" numCol="1" spcCol="1270" anchor="ctr" anchorCtr="0">
            <a:noAutofit/>
          </a:bodyPr>
          <a:lstStyle/>
          <a:p>
            <a:pPr marL="0" lvl="0" indent="0" algn="ctr" defTabSz="1733550">
              <a:lnSpc>
                <a:spcPct val="90000"/>
              </a:lnSpc>
              <a:spcBef>
                <a:spcPct val="0"/>
              </a:spcBef>
              <a:spcAft>
                <a:spcPct val="35000"/>
              </a:spcAft>
              <a:buNone/>
            </a:pPr>
            <a:r>
              <a:rPr lang="en-IN" sz="3900" kern="1200" dirty="0"/>
              <a:t>Reversal Operations</a:t>
            </a:r>
            <a:endParaRPr lang="en-US" sz="3900" kern="1200" dirty="0"/>
          </a:p>
        </p:txBody>
      </p:sp>
      <p:sp>
        <p:nvSpPr>
          <p:cNvPr id="15" name="Freeform: Shape 14">
            <a:extLst>
              <a:ext uri="{FF2B5EF4-FFF2-40B4-BE49-F238E27FC236}">
                <a16:creationId xmlns:a16="http://schemas.microsoft.com/office/drawing/2014/main" id="{4F7E648C-B772-6B30-8309-17E6167AAB86}"/>
              </a:ext>
            </a:extLst>
          </p:cNvPr>
          <p:cNvSpPr/>
          <p:nvPr/>
        </p:nvSpPr>
        <p:spPr>
          <a:xfrm>
            <a:off x="8067675" y="4165600"/>
            <a:ext cx="3286125" cy="1971675"/>
          </a:xfrm>
          <a:custGeom>
            <a:avLst/>
            <a:gdLst>
              <a:gd name="connsiteX0" fmla="*/ 0 w 3286125"/>
              <a:gd name="connsiteY0" fmla="*/ 0 h 1971675"/>
              <a:gd name="connsiteX1" fmla="*/ 3286125 w 3286125"/>
              <a:gd name="connsiteY1" fmla="*/ 0 h 1971675"/>
              <a:gd name="connsiteX2" fmla="*/ 3286125 w 3286125"/>
              <a:gd name="connsiteY2" fmla="*/ 1971675 h 1971675"/>
              <a:gd name="connsiteX3" fmla="*/ 0 w 3286125"/>
              <a:gd name="connsiteY3" fmla="*/ 1971675 h 1971675"/>
              <a:gd name="connsiteX4" fmla="*/ 0 w 3286125"/>
              <a:gd name="connsiteY4" fmla="*/ 0 h 1971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86125" h="1971675">
                <a:moveTo>
                  <a:pt x="0" y="0"/>
                </a:moveTo>
                <a:lnTo>
                  <a:pt x="3286125" y="0"/>
                </a:lnTo>
                <a:lnTo>
                  <a:pt x="3286125" y="1971675"/>
                </a:lnTo>
                <a:lnTo>
                  <a:pt x="0" y="1971675"/>
                </a:lnTo>
                <a:lnTo>
                  <a:pt x="0" y="0"/>
                </a:lnTo>
                <a:close/>
              </a:path>
            </a:pathLst>
          </a:custGeom>
        </p:spPr>
        <p:style>
          <a:lnRef idx="0">
            <a:schemeClr val="lt1">
              <a:hueOff val="0"/>
              <a:satOff val="0"/>
              <a:lumOff val="0"/>
              <a:alphaOff val="0"/>
            </a:schemeClr>
          </a:lnRef>
          <a:fillRef idx="3">
            <a:schemeClr val="accent5">
              <a:hueOff val="-12152150"/>
              <a:satOff val="-826"/>
              <a:lumOff val="1961"/>
              <a:alphaOff val="0"/>
            </a:schemeClr>
          </a:fillRef>
          <a:effectRef idx="2">
            <a:schemeClr val="accent5">
              <a:hueOff val="-12152150"/>
              <a:satOff val="-826"/>
              <a:lumOff val="1961"/>
              <a:alphaOff val="0"/>
            </a:schemeClr>
          </a:effectRef>
          <a:fontRef idx="minor">
            <a:schemeClr val="lt1"/>
          </a:fontRef>
        </p:style>
        <p:txBody>
          <a:bodyPr spcFirstLastPara="0" vert="horz" wrap="square" lIns="148590" tIns="148590" rIns="148590" bIns="148590" numCol="1" spcCol="1270" anchor="ctr" anchorCtr="0">
            <a:noAutofit/>
          </a:bodyPr>
          <a:lstStyle/>
          <a:p>
            <a:pPr marL="0" lvl="0" indent="0" algn="ctr" defTabSz="1733550">
              <a:lnSpc>
                <a:spcPct val="90000"/>
              </a:lnSpc>
              <a:spcBef>
                <a:spcPct val="0"/>
              </a:spcBef>
              <a:spcAft>
                <a:spcPct val="35000"/>
              </a:spcAft>
              <a:buNone/>
            </a:pPr>
            <a:r>
              <a:rPr lang="en-IN" sz="3900" kern="1200" dirty="0"/>
              <a:t>Undo / Redo Operations in Text Editors</a:t>
            </a:r>
            <a:endParaRPr lang="en-US" sz="3900" kern="1200" dirty="0"/>
          </a:p>
        </p:txBody>
      </p:sp>
    </p:spTree>
    <p:extLst>
      <p:ext uri="{BB962C8B-B14F-4D97-AF65-F5344CB8AC3E}">
        <p14:creationId xmlns:p14="http://schemas.microsoft.com/office/powerpoint/2010/main" val="2179701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10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10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10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2" grpId="0" animBg="1"/>
      <p:bldP spid="13" grpId="0" animBg="1"/>
      <p:bldP spid="14" grpId="0" animBg="1"/>
      <p:bldP spid="15"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Red toy person in front of two lines of white figures">
            <a:extLst>
              <a:ext uri="{FF2B5EF4-FFF2-40B4-BE49-F238E27FC236}">
                <a16:creationId xmlns:a16="http://schemas.microsoft.com/office/drawing/2014/main" id="{214C8675-2677-C95C-BDB1-369CF91B99D2}"/>
              </a:ext>
            </a:extLst>
          </p:cNvPr>
          <p:cNvPicPr>
            <a:picLocks noChangeAspect="1"/>
          </p:cNvPicPr>
          <p:nvPr/>
        </p:nvPicPr>
        <p:blipFill rotWithShape="1">
          <a:blip r:embed="rId2"/>
          <a:srcRect t="14449"/>
          <a:stretch/>
        </p:blipFill>
        <p:spPr>
          <a:xfrm>
            <a:off x="-3047" y="10"/>
            <a:ext cx="12191999" cy="6857990"/>
          </a:xfrm>
          <a:prstGeom prst="rect">
            <a:avLst/>
          </a:prstGeom>
        </p:spPr>
      </p:pic>
      <p:sp>
        <p:nvSpPr>
          <p:cNvPr id="16" name="Rectangle 15">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0411F5-7675-8609-88B2-275295E20FA5}"/>
              </a:ext>
            </a:extLst>
          </p:cNvPr>
          <p:cNvSpPr>
            <a:spLocks noGrp="1"/>
          </p:cNvSpPr>
          <p:nvPr>
            <p:ph type="title"/>
          </p:nvPr>
        </p:nvSpPr>
        <p:spPr>
          <a:xfrm>
            <a:off x="1097280" y="325550"/>
            <a:ext cx="10058400" cy="2232593"/>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5200" b="1" dirty="0"/>
              <a:t>Queue</a:t>
            </a:r>
          </a:p>
        </p:txBody>
      </p:sp>
    </p:spTree>
    <p:extLst>
      <p:ext uri="{BB962C8B-B14F-4D97-AF65-F5344CB8AC3E}">
        <p14:creationId xmlns:p14="http://schemas.microsoft.com/office/powerpoint/2010/main" val="681886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1A2E44"/>
        </a:solidFill>
        <a:effectLst/>
      </p:bgPr>
    </p:bg>
    <p:spTree>
      <p:nvGrpSpPr>
        <p:cNvPr id="1" name=""/>
        <p:cNvGrpSpPr/>
        <p:nvPr/>
      </p:nvGrpSpPr>
      <p:grpSpPr>
        <a:xfrm>
          <a:off x="0" y="0"/>
          <a:ext cx="0" cy="0"/>
          <a:chOff x="0" y="0"/>
          <a:chExt cx="0" cy="0"/>
        </a:xfrm>
      </p:grpSpPr>
      <p:sp>
        <p:nvSpPr>
          <p:cNvPr id="2" name="Title"/>
          <p:cNvSpPr>
            <a:spLocks noGrp="1"/>
          </p:cNvSpPr>
          <p:nvPr>
            <p:ph type="title"/>
          </p:nvPr>
        </p:nvSpPr>
        <p:spPr>
          <a:xfrm>
            <a:off x="457200" y="228600"/>
            <a:ext cx="11277600" cy="800000"/>
          </a:xfrm>
        </p:spPr>
        <p:txBody>
          <a:bodyPr rtlCol="0" anchor="ctr"/>
          <a:lstStyle/>
          <a:p>
            <a:r>
              <a:rPr lang="en-US" sz="2800" b="1" dirty="0">
                <a:solidFill>
                  <a:srgbClr val="FFFFFF"/>
                </a:solidFill>
              </a:rPr>
              <a:t>Queue
(First In First Out - FIFO)</a:t>
            </a:r>
          </a:p>
        </p:txBody>
      </p:sp>
      <p:sp>
        <p:nvSpPr>
          <p:cNvPr id="10" name="Box0"/>
          <p:cNvSpPr/>
          <p:nvPr/>
        </p:nvSpPr>
        <p:spPr>
          <a:xfrm>
            <a:off x="457200" y="1143000"/>
            <a:ext cx="3657600" cy="4800600"/>
          </a:xfrm>
          <a:prstGeom prst="rect">
            <a:avLst/>
          </a:prstGeom>
          <a:solidFill>
            <a:srgbClr val="E63946"/>
          </a:solidFill>
          <a:ln>
            <a:noFill/>
          </a:ln>
        </p:spPr>
        <p:txBody>
          <a:bodyPr lIns="182880" tIns="182880" rIns="182880" bIns="182880" rtlCol="0" anchor="t"/>
          <a:lstStyle/>
          <a:p>
            <a:r>
              <a:rPr lang="en-US" sz="4400" b="1" dirty="0">
                <a:solidFill>
                  <a:srgbClr val="FFFFFF"/>
                </a:solidFill>
              </a:rPr>
              <a:t>01</a:t>
            </a:r>
          </a:p>
          <a:p>
            <a:r>
              <a:rPr lang="en-US" sz="2000" b="1" dirty="0">
                <a:solidFill>
                  <a:srgbClr val="FFFFFF"/>
                </a:solidFill>
              </a:rPr>
              <a:t>FIFO Principle</a:t>
            </a:r>
          </a:p>
          <a:p>
            <a:r>
              <a:rPr lang="en-US" sz="1500" dirty="0">
                <a:solidFill>
                  <a:srgbClr val="F0F0F0"/>
                </a:solidFill>
              </a:rPr>
              <a:t>The element inserted first will be the first element to be removed.</a:t>
            </a:r>
          </a:p>
        </p:txBody>
      </p:sp>
      <p:sp>
        <p:nvSpPr>
          <p:cNvPr id="12" name="Box1"/>
          <p:cNvSpPr/>
          <p:nvPr/>
        </p:nvSpPr>
        <p:spPr>
          <a:xfrm>
            <a:off x="4343400" y="1143000"/>
            <a:ext cx="3657600" cy="4800600"/>
          </a:xfrm>
          <a:prstGeom prst="rect">
            <a:avLst/>
          </a:prstGeom>
          <a:solidFill>
            <a:srgbClr val="2A9D8F"/>
          </a:solidFill>
          <a:ln>
            <a:noFill/>
          </a:ln>
        </p:spPr>
        <p:txBody>
          <a:bodyPr lIns="182880" tIns="182880" rIns="182880" bIns="182880" rtlCol="0" anchor="t"/>
          <a:lstStyle/>
          <a:p>
            <a:r>
              <a:rPr lang="en-US" sz="4400" b="1" dirty="0">
                <a:solidFill>
                  <a:srgbClr val="FFFFFF"/>
                </a:solidFill>
              </a:rPr>
              <a:t>02</a:t>
            </a:r>
          </a:p>
          <a:p>
            <a:r>
              <a:rPr lang="en-US" sz="2000" b="1" dirty="0">
                <a:solidFill>
                  <a:srgbClr val="FFFFFF"/>
                </a:solidFill>
              </a:rPr>
              <a:t>Two Ends</a:t>
            </a:r>
          </a:p>
          <a:p>
            <a:r>
              <a:rPr lang="en-US" sz="1500" dirty="0">
                <a:solidFill>
                  <a:srgbClr val="F0F0F0"/>
                </a:solidFill>
              </a:rPr>
              <a:t>Insertion (Enqueue) happens at the REAR and deletion (Dequeue) at the FRONT.</a:t>
            </a:r>
          </a:p>
        </p:txBody>
      </p:sp>
      <p:sp>
        <p:nvSpPr>
          <p:cNvPr id="14" name="Box2"/>
          <p:cNvSpPr/>
          <p:nvPr/>
        </p:nvSpPr>
        <p:spPr>
          <a:xfrm>
            <a:off x="8229600" y="1143000"/>
            <a:ext cx="3657600" cy="4800600"/>
          </a:xfrm>
          <a:prstGeom prst="rect">
            <a:avLst/>
          </a:prstGeom>
          <a:solidFill>
            <a:srgbClr val="E9C46A"/>
          </a:solidFill>
          <a:ln>
            <a:noFill/>
          </a:ln>
        </p:spPr>
        <p:txBody>
          <a:bodyPr lIns="182880" tIns="182880" rIns="182880" bIns="182880" rtlCol="0" anchor="t"/>
          <a:lstStyle/>
          <a:p>
            <a:r>
              <a:rPr lang="en-US" sz="4400" b="1" dirty="0">
                <a:solidFill>
                  <a:srgbClr val="FFFFFF"/>
                </a:solidFill>
              </a:rPr>
              <a:t>03</a:t>
            </a:r>
          </a:p>
          <a:p>
            <a:r>
              <a:rPr lang="en-US" sz="2000" b="1" dirty="0">
                <a:solidFill>
                  <a:srgbClr val="FFFFFF"/>
                </a:solidFill>
              </a:rPr>
              <a:t>Linear Structure</a:t>
            </a:r>
          </a:p>
          <a:p>
            <a:r>
              <a:rPr lang="en-US" sz="1500" dirty="0">
                <a:solidFill>
                  <a:srgbClr val="F0F0F0"/>
                </a:solidFill>
              </a:rPr>
              <a:t>Queue is a linear data structure, just like a line of people waiting for service.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AccentBar"/>
          <p:cNvSpPr/>
          <p:nvPr/>
        </p:nvSpPr>
        <p:spPr>
          <a:xfrm>
            <a:off x="0" y="1600200"/>
            <a:ext cx="228600" cy="3657600"/>
          </a:xfrm>
          <a:prstGeom prst="rect">
            <a:avLst/>
          </a:prstGeom>
          <a:solidFill>
            <a:srgbClr val="1E5799"/>
          </a:solidFill>
          <a:ln>
            <a:noFill/>
          </a:ln>
        </p:spPr>
        <p:txBody>
          <a:bodyPr/>
          <a:lstStyle/>
          <a:p>
            <a:endParaRPr lang="en-US"/>
          </a:p>
        </p:txBody>
      </p:sp>
      <p:sp>
        <p:nvSpPr>
          <p:cNvPr id="2" name="Title"/>
          <p:cNvSpPr>
            <a:spLocks noGrp="1"/>
          </p:cNvSpPr>
          <p:nvPr>
            <p:ph type="title"/>
          </p:nvPr>
        </p:nvSpPr>
        <p:spPr>
          <a:xfrm>
            <a:off x="685800" y="1828800"/>
            <a:ext cx="10820400" cy="3200400"/>
          </a:xfrm>
        </p:spPr>
        <p:txBody>
          <a:bodyPr rtlCol="0" anchor="ctr"/>
          <a:lstStyle/>
          <a:p>
            <a:r>
              <a:rPr lang="en-US" sz="3600" dirty="0">
                <a:solidFill>
                  <a:srgbClr val="1A2E44"/>
                </a:solidFill>
              </a:rPr>
              <a:t xml:space="preserve">Think of it like a </a:t>
            </a:r>
            <a:r>
              <a:rPr lang="en-US" sz="3600" b="1" dirty="0">
                <a:solidFill>
                  <a:srgbClr val="E63946"/>
                </a:solidFill>
                <a:latin typeface="Calibri"/>
              </a:rPr>
              <a:t>line at a ticket counter!</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sp>
        <p:nvSpPr>
          <p:cNvPr id="2" name="Title"/>
          <p:cNvSpPr>
            <a:spLocks noGrp="1"/>
          </p:cNvSpPr>
          <p:nvPr>
            <p:ph type="title"/>
          </p:nvPr>
        </p:nvSpPr>
        <p:spPr>
          <a:xfrm>
            <a:off x="457200" y="228600"/>
            <a:ext cx="11277600" cy="685800"/>
          </a:xfrm>
        </p:spPr>
        <p:txBody>
          <a:bodyPr rtlCol="0" anchor="ctr"/>
          <a:lstStyle/>
          <a:p>
            <a:r>
              <a:rPr lang="en-US" sz="2800" b="1" dirty="0">
                <a:solidFill>
                  <a:srgbClr val="FFFFFF"/>
                </a:solidFill>
              </a:rPr>
              <a:t>Queue Operations</a:t>
            </a:r>
          </a:p>
        </p:txBody>
      </p:sp>
      <p:sp>
        <p:nvSpPr>
          <p:cNvPr id="10" name="Op0"/>
          <p:cNvSpPr/>
          <p:nvPr/>
        </p:nvSpPr>
        <p:spPr>
          <a:xfrm>
            <a:off x="457200" y="1000000"/>
            <a:ext cx="3657600" cy="2200000"/>
          </a:xfrm>
          <a:prstGeom prst="roundRect">
            <a:avLst>
              <a:gd name="adj" fmla="val 20000"/>
            </a:avLst>
          </a:prstGeom>
          <a:solidFill>
            <a:srgbClr val="E63946"/>
          </a:solidFill>
          <a:ln>
            <a:noFill/>
          </a:ln>
        </p:spPr>
        <p:txBody>
          <a:bodyPr lIns="182880" tIns="182880" rIns="182880" bIns="182880" rtlCol="0" anchor="ctr"/>
          <a:lstStyle/>
          <a:p>
            <a:pPr algn="ctr"/>
            <a:r>
              <a:rPr lang="en-US" sz="1800" b="1" dirty="0">
                <a:solidFill>
                  <a:srgbClr val="FFFFFF"/>
                </a:solidFill>
              </a:rPr>
              <a:t>enqueue()</a:t>
            </a:r>
          </a:p>
          <a:p>
            <a:pPr algn="ctr"/>
            <a:r>
              <a:rPr lang="en-US" sz="1300" dirty="0">
                <a:solidFill>
                  <a:srgbClr val="F0F0F0"/>
                </a:solidFill>
              </a:rPr>
              <a:t>Insert element at the REAR of the queue</a:t>
            </a:r>
          </a:p>
        </p:txBody>
      </p:sp>
      <p:sp>
        <p:nvSpPr>
          <p:cNvPr id="11" name="Op1"/>
          <p:cNvSpPr/>
          <p:nvPr/>
        </p:nvSpPr>
        <p:spPr>
          <a:xfrm>
            <a:off x="4343400" y="1000000"/>
            <a:ext cx="3657600" cy="2200000"/>
          </a:xfrm>
          <a:prstGeom prst="roundRect">
            <a:avLst>
              <a:gd name="adj" fmla="val 20000"/>
            </a:avLst>
          </a:prstGeom>
          <a:solidFill>
            <a:srgbClr val="2A9D8F"/>
          </a:solidFill>
          <a:ln>
            <a:noFill/>
          </a:ln>
        </p:spPr>
        <p:txBody>
          <a:bodyPr lIns="182880" tIns="182880" rIns="182880" bIns="182880" rtlCol="0" anchor="ctr"/>
          <a:lstStyle/>
          <a:p>
            <a:pPr algn="ctr"/>
            <a:r>
              <a:rPr lang="en-US" sz="1800" b="1" dirty="0">
                <a:solidFill>
                  <a:srgbClr val="FFFFFF"/>
                </a:solidFill>
              </a:rPr>
              <a:t>dequeue()</a:t>
            </a:r>
          </a:p>
          <a:p>
            <a:pPr algn="ctr"/>
            <a:r>
              <a:rPr lang="en-US" sz="1300" dirty="0">
                <a:solidFill>
                  <a:srgbClr val="F0F0F0"/>
                </a:solidFill>
              </a:rPr>
              <a:t>Remove element from the FRONT of the queue</a:t>
            </a:r>
          </a:p>
        </p:txBody>
      </p:sp>
      <p:sp>
        <p:nvSpPr>
          <p:cNvPr id="12" name="Op2"/>
          <p:cNvSpPr/>
          <p:nvPr/>
        </p:nvSpPr>
        <p:spPr>
          <a:xfrm>
            <a:off x="8229600" y="1000000"/>
            <a:ext cx="3657600" cy="2200000"/>
          </a:xfrm>
          <a:prstGeom prst="roundRect">
            <a:avLst>
              <a:gd name="adj" fmla="val 20000"/>
            </a:avLst>
          </a:prstGeom>
          <a:solidFill>
            <a:srgbClr val="E9C46A"/>
          </a:solidFill>
          <a:ln>
            <a:noFill/>
          </a:ln>
        </p:spPr>
        <p:txBody>
          <a:bodyPr lIns="182880" tIns="182880" rIns="182880" bIns="182880" rtlCol="0" anchor="ctr"/>
          <a:lstStyle/>
          <a:p>
            <a:pPr algn="ctr"/>
            <a:r>
              <a:rPr lang="en-US" sz="1800" b="1" dirty="0">
                <a:solidFill>
                  <a:srgbClr val="FFFFFF"/>
                </a:solidFill>
              </a:rPr>
              <a:t>peek()</a:t>
            </a:r>
          </a:p>
          <a:p>
            <a:pPr algn="ctr"/>
            <a:r>
              <a:rPr lang="en-US" sz="1300" dirty="0">
                <a:solidFill>
                  <a:srgbClr val="F0F0F0"/>
                </a:solidFill>
              </a:rPr>
              <a:t>View the element at the FRONT without removing</a:t>
            </a:r>
          </a:p>
        </p:txBody>
      </p:sp>
      <p:sp>
        <p:nvSpPr>
          <p:cNvPr id="13" name="Op3"/>
          <p:cNvSpPr/>
          <p:nvPr/>
        </p:nvSpPr>
        <p:spPr>
          <a:xfrm>
            <a:off x="457200" y="3350000"/>
            <a:ext cx="3657600" cy="2200000"/>
          </a:xfrm>
          <a:prstGeom prst="roundRect">
            <a:avLst>
              <a:gd name="adj" fmla="val 20000"/>
            </a:avLst>
          </a:prstGeom>
          <a:solidFill>
            <a:srgbClr val="457B9D"/>
          </a:solidFill>
          <a:ln>
            <a:noFill/>
          </a:ln>
        </p:spPr>
        <p:txBody>
          <a:bodyPr lIns="182880" tIns="182880" rIns="182880" bIns="182880" rtlCol="0" anchor="ctr"/>
          <a:lstStyle/>
          <a:p>
            <a:pPr algn="ctr"/>
            <a:r>
              <a:rPr lang="en-US" sz="1800" b="1" dirty="0">
                <a:solidFill>
                  <a:srgbClr val="FFFFFF"/>
                </a:solidFill>
              </a:rPr>
              <a:t>isEmpty()</a:t>
            </a:r>
          </a:p>
          <a:p>
            <a:pPr algn="ctr"/>
            <a:r>
              <a:rPr lang="en-US" sz="1300" dirty="0">
                <a:solidFill>
                  <a:srgbClr val="F0F0F0"/>
                </a:solidFill>
              </a:rPr>
              <a:t>Check if the queue has no elements (Underflow)</a:t>
            </a:r>
          </a:p>
        </p:txBody>
      </p:sp>
      <p:sp>
        <p:nvSpPr>
          <p:cNvPr id="14" name="Op4"/>
          <p:cNvSpPr/>
          <p:nvPr/>
        </p:nvSpPr>
        <p:spPr>
          <a:xfrm>
            <a:off x="4343400" y="3350000"/>
            <a:ext cx="3657600" cy="2200000"/>
          </a:xfrm>
          <a:prstGeom prst="roundRect">
            <a:avLst>
              <a:gd name="adj" fmla="val 20000"/>
            </a:avLst>
          </a:prstGeom>
          <a:solidFill>
            <a:srgbClr val="6A4C93"/>
          </a:solidFill>
          <a:ln>
            <a:noFill/>
          </a:ln>
        </p:spPr>
        <p:txBody>
          <a:bodyPr lIns="182880" tIns="182880" rIns="182880" bIns="182880" rtlCol="0" anchor="ctr"/>
          <a:lstStyle/>
          <a:p>
            <a:pPr algn="ctr"/>
            <a:r>
              <a:rPr lang="en-US" sz="1800" b="1" dirty="0">
                <a:solidFill>
                  <a:srgbClr val="FFFFFF"/>
                </a:solidFill>
              </a:rPr>
              <a:t>isFull()</a:t>
            </a:r>
          </a:p>
          <a:p>
            <a:pPr algn="ctr"/>
            <a:r>
              <a:rPr lang="en-US" sz="1300" dirty="0">
                <a:solidFill>
                  <a:srgbClr val="F0F0F0"/>
                </a:solidFill>
              </a:rPr>
              <a:t>Check if the queue is full (Overflow)</a:t>
            </a:r>
          </a:p>
        </p:txBody>
      </p:sp>
      <p:sp>
        <p:nvSpPr>
          <p:cNvPr id="15" name="Op5"/>
          <p:cNvSpPr/>
          <p:nvPr/>
        </p:nvSpPr>
        <p:spPr>
          <a:xfrm>
            <a:off x="8229600" y="3350000"/>
            <a:ext cx="3657600" cy="2200000"/>
          </a:xfrm>
          <a:prstGeom prst="roundRect">
            <a:avLst>
              <a:gd name="adj" fmla="val 20000"/>
            </a:avLst>
          </a:prstGeom>
          <a:solidFill>
            <a:srgbClr val="F4A261"/>
          </a:solidFill>
          <a:ln>
            <a:noFill/>
          </a:ln>
        </p:spPr>
        <p:txBody>
          <a:bodyPr lIns="182880" tIns="182880" rIns="182880" bIns="182880" rtlCol="0" anchor="ctr"/>
          <a:lstStyle/>
          <a:p>
            <a:pPr algn="ctr"/>
            <a:r>
              <a:rPr lang="en-US" sz="1800" b="1" dirty="0">
                <a:solidFill>
                  <a:srgbClr val="FFFFFF"/>
                </a:solidFill>
              </a:rPr>
              <a:t>display()</a:t>
            </a:r>
          </a:p>
          <a:p>
            <a:pPr algn="ctr"/>
            <a:r>
              <a:rPr lang="en-US" sz="1300" dirty="0">
                <a:solidFill>
                  <a:srgbClr val="F0F0F0"/>
                </a:solidFill>
              </a:rPr>
              <a:t>Print all elements from FRONT to REAR</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sp>
        <p:nvSpPr>
          <p:cNvPr id="2" name="Title"/>
          <p:cNvSpPr>
            <a:spLocks noGrp="1"/>
          </p:cNvSpPr>
          <p:nvPr>
            <p:ph type="title"/>
          </p:nvPr>
        </p:nvSpPr>
        <p:spPr>
          <a:xfrm>
            <a:off x="457200" y="228600"/>
            <a:ext cx="11277600" cy="685800"/>
          </a:xfrm>
        </p:spPr>
        <p:txBody>
          <a:bodyPr rtlCol="0" anchor="ctr"/>
          <a:lstStyle/>
          <a:p>
            <a:r>
              <a:rPr lang="en-US" sz="2800" b="1" dirty="0">
                <a:solidFill>
                  <a:srgbClr val="FFFFFF"/>
                </a:solidFill>
              </a:rPr>
              <a:t>Types of Queues</a:t>
            </a:r>
          </a:p>
        </p:txBody>
      </p:sp>
      <p:sp>
        <p:nvSpPr>
          <p:cNvPr id="10" name="Op0"/>
          <p:cNvSpPr/>
          <p:nvPr/>
        </p:nvSpPr>
        <p:spPr>
          <a:xfrm>
            <a:off x="457200" y="1000000"/>
            <a:ext cx="3657600" cy="2200000"/>
          </a:xfrm>
          <a:prstGeom prst="roundRect">
            <a:avLst>
              <a:gd name="adj" fmla="val 20000"/>
            </a:avLst>
          </a:prstGeom>
          <a:solidFill>
            <a:srgbClr val="E63946"/>
          </a:solidFill>
          <a:ln>
            <a:noFill/>
          </a:ln>
        </p:spPr>
        <p:txBody>
          <a:bodyPr lIns="182880" tIns="182880" rIns="182880" bIns="182880" rtlCol="0" anchor="ctr"/>
          <a:lstStyle/>
          <a:p>
            <a:pPr algn="ctr"/>
            <a:r>
              <a:rPr lang="en-US" sz="1800" b="1" dirty="0">
                <a:solidFill>
                  <a:srgbClr val="FFFFFF"/>
                </a:solidFill>
              </a:rPr>
              <a:t>Simple Queue</a:t>
            </a:r>
          </a:p>
          <a:p>
            <a:pPr algn="ctr"/>
            <a:r>
              <a:rPr lang="en-US" sz="1300" dirty="0">
                <a:solidFill>
                  <a:srgbClr val="F0F0F0"/>
                </a:solidFill>
              </a:rPr>
              <a:t>Basic FIFO — elements inserted at rear, removed from front</a:t>
            </a:r>
          </a:p>
        </p:txBody>
      </p:sp>
      <p:sp>
        <p:nvSpPr>
          <p:cNvPr id="11" name="Op1"/>
          <p:cNvSpPr/>
          <p:nvPr/>
        </p:nvSpPr>
        <p:spPr>
          <a:xfrm>
            <a:off x="4343400" y="1000000"/>
            <a:ext cx="3657600" cy="2200000"/>
          </a:xfrm>
          <a:prstGeom prst="roundRect">
            <a:avLst>
              <a:gd name="adj" fmla="val 20000"/>
            </a:avLst>
          </a:prstGeom>
          <a:solidFill>
            <a:srgbClr val="2A9D8F"/>
          </a:solidFill>
          <a:ln>
            <a:noFill/>
          </a:ln>
        </p:spPr>
        <p:txBody>
          <a:bodyPr lIns="182880" tIns="182880" rIns="182880" bIns="182880" rtlCol="0" anchor="ctr"/>
          <a:lstStyle/>
          <a:p>
            <a:pPr algn="ctr"/>
            <a:r>
              <a:rPr lang="en-US" sz="1800" b="1" dirty="0">
                <a:solidFill>
                  <a:srgbClr val="FFFFFF"/>
                </a:solidFill>
              </a:rPr>
              <a:t>Circular Queue</a:t>
            </a:r>
          </a:p>
          <a:p>
            <a:pPr algn="ctr"/>
            <a:r>
              <a:rPr lang="en-US" sz="1300" dirty="0">
                <a:solidFill>
                  <a:srgbClr val="F0F0F0"/>
                </a:solidFill>
              </a:rPr>
              <a:t>Last position connects back to first, forming a circle. No wasted space.</a:t>
            </a:r>
          </a:p>
        </p:txBody>
      </p:sp>
      <p:sp>
        <p:nvSpPr>
          <p:cNvPr id="12" name="Op2"/>
          <p:cNvSpPr/>
          <p:nvPr/>
        </p:nvSpPr>
        <p:spPr>
          <a:xfrm>
            <a:off x="8229600" y="1000000"/>
            <a:ext cx="3657600" cy="2200000"/>
          </a:xfrm>
          <a:prstGeom prst="roundRect">
            <a:avLst>
              <a:gd name="adj" fmla="val 20000"/>
            </a:avLst>
          </a:prstGeom>
          <a:solidFill>
            <a:srgbClr val="E9C46A"/>
          </a:solidFill>
          <a:ln>
            <a:noFill/>
          </a:ln>
        </p:spPr>
        <p:txBody>
          <a:bodyPr lIns="182880" tIns="182880" rIns="182880" bIns="182880" rtlCol="0" anchor="ctr"/>
          <a:lstStyle/>
          <a:p>
            <a:pPr algn="ctr"/>
            <a:r>
              <a:rPr lang="en-US" sz="1800" b="1" dirty="0">
                <a:solidFill>
                  <a:srgbClr val="FFFFFF"/>
                </a:solidFill>
              </a:rPr>
              <a:t>Double-Ended Queue
(Deque)</a:t>
            </a:r>
          </a:p>
          <a:p>
            <a:pPr algn="ctr"/>
            <a:r>
              <a:rPr lang="en-US" sz="1300" dirty="0">
                <a:solidFill>
                  <a:srgbClr val="F0F0F0"/>
                </a:solidFill>
              </a:rPr>
              <a:t>Insertion and deletion can happen at BOTH ends</a:t>
            </a:r>
          </a:p>
        </p:txBody>
      </p:sp>
      <p:sp>
        <p:nvSpPr>
          <p:cNvPr id="13" name="Op3"/>
          <p:cNvSpPr/>
          <p:nvPr/>
        </p:nvSpPr>
        <p:spPr>
          <a:xfrm>
            <a:off x="457200" y="3350000"/>
            <a:ext cx="3657600" cy="2200000"/>
          </a:xfrm>
          <a:prstGeom prst="roundRect">
            <a:avLst>
              <a:gd name="adj" fmla="val 20000"/>
            </a:avLst>
          </a:prstGeom>
          <a:solidFill>
            <a:srgbClr val="457B9D"/>
          </a:solidFill>
          <a:ln>
            <a:noFill/>
          </a:ln>
        </p:spPr>
        <p:txBody>
          <a:bodyPr lIns="182880" tIns="182880" rIns="182880" bIns="182880" rtlCol="0" anchor="ctr"/>
          <a:lstStyle/>
          <a:p>
            <a:pPr algn="ctr"/>
            <a:r>
              <a:rPr lang="en-US" sz="1800" b="1" dirty="0">
                <a:solidFill>
                  <a:srgbClr val="FFFFFF"/>
                </a:solidFill>
              </a:rPr>
              <a:t>Priority Queue</a:t>
            </a:r>
          </a:p>
          <a:p>
            <a:pPr algn="ctr"/>
            <a:r>
              <a:rPr lang="en-US" sz="1300" dirty="0">
                <a:solidFill>
                  <a:srgbClr val="F0F0F0"/>
                </a:solidFill>
              </a:rPr>
              <a:t>Elements are served based on priority, not insertion order</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1A2E44"/>
        </a:solidFill>
        <a:effectLst/>
      </p:bgPr>
    </p:bg>
    <p:spTree>
      <p:nvGrpSpPr>
        <p:cNvPr id="1" name=""/>
        <p:cNvGrpSpPr/>
        <p:nvPr/>
      </p:nvGrpSpPr>
      <p:grpSpPr>
        <a:xfrm>
          <a:off x="0" y="0"/>
          <a:ext cx="0" cy="0"/>
          <a:chOff x="0" y="0"/>
          <a:chExt cx="0" cy="0"/>
        </a:xfrm>
      </p:grpSpPr>
      <p:sp>
        <p:nvSpPr>
          <p:cNvPr id="2" name="Title"/>
          <p:cNvSpPr>
            <a:spLocks noGrp="1"/>
          </p:cNvSpPr>
          <p:nvPr>
            <p:ph type="title"/>
          </p:nvPr>
        </p:nvSpPr>
        <p:spPr>
          <a:xfrm>
            <a:off x="457200" y="228600"/>
            <a:ext cx="11277600" cy="800000"/>
          </a:xfrm>
        </p:spPr>
        <p:txBody>
          <a:bodyPr rtlCol="0" anchor="ctr"/>
          <a:lstStyle/>
          <a:p>
            <a:r>
              <a:rPr lang="en-US" sz="2800" b="1" dirty="0">
                <a:solidFill>
                  <a:srgbClr val="FFFFFF"/>
                </a:solidFill>
              </a:rPr>
              <a:t>Applications of Queue</a:t>
            </a:r>
          </a:p>
        </p:txBody>
      </p:sp>
      <p:sp>
        <p:nvSpPr>
          <p:cNvPr id="3" name="Content"/>
          <p:cNvSpPr/>
          <p:nvPr/>
        </p:nvSpPr>
        <p:spPr>
          <a:xfrm>
            <a:off x="457200" y="1143000"/>
            <a:ext cx="11277600" cy="5486400"/>
          </a:xfrm>
          <a:prstGeom prst="rect">
            <a:avLst/>
          </a:prstGeom>
          <a:noFill/>
          <a:ln>
            <a:noFill/>
          </a:ln>
        </p:spPr>
        <p:txBody>
          <a:bodyPr lIns="91440" tIns="91440" rIns="91440" bIns="91440" rtlCol="0" anchor="t">
            <a:normAutofit/>
          </a:bodyPr>
          <a:lstStyle/>
          <a:p>
            <a:pPr>
              <a:buChar char="•"/>
            </a:pPr>
            <a:r>
              <a:rPr lang="en-US" sz="1800" dirty="0">
                <a:solidFill>
                  <a:srgbClr val="E0E8F0"/>
                </a:solidFill>
              </a:rPr>
              <a:t>CPU Scheduling (Process scheduling in OS)</a:t>
            </a:r>
          </a:p>
          <a:p>
            <a:pPr>
              <a:buChar char="•"/>
            </a:pPr>
            <a:r>
              <a:rPr lang="en-US" sz="1800" dirty="0">
                <a:solidFill>
                  <a:srgbClr val="E0E8F0"/>
                </a:solidFill>
              </a:rPr>
              <a:t>Printer Spooler (Jobs printed in order of arrival)</a:t>
            </a:r>
          </a:p>
          <a:p>
            <a:pPr>
              <a:buChar char="•"/>
            </a:pPr>
            <a:r>
              <a:rPr lang="en-US" sz="1800" dirty="0">
                <a:solidFill>
                  <a:srgbClr val="E0E8F0"/>
                </a:solidFill>
              </a:rPr>
              <a:t>Breadth-First Search (BFS) in Graphs</a:t>
            </a:r>
          </a:p>
          <a:p>
            <a:pPr>
              <a:buChar char="•"/>
            </a:pPr>
            <a:r>
              <a:rPr lang="en-US" sz="1800" dirty="0">
                <a:solidFill>
                  <a:srgbClr val="E0E8F0"/>
                </a:solidFill>
              </a:rPr>
              <a:t>Keyboard Buffer (characters typed stored in queue order)</a:t>
            </a:r>
          </a:p>
          <a:p>
            <a:pPr>
              <a:buChar char="•"/>
            </a:pPr>
            <a:r>
              <a:rPr lang="en-US" sz="1800" dirty="0">
                <a:solidFill>
                  <a:srgbClr val="E0E8F0"/>
                </a:solidFill>
              </a:rPr>
              <a:t>Traffic Management Systems</a:t>
            </a:r>
          </a:p>
          <a:p>
            <a:pPr>
              <a:buChar char="•"/>
            </a:pPr>
            <a:r>
              <a:rPr lang="en-US" sz="1800" dirty="0">
                <a:solidFill>
                  <a:srgbClr val="E0E8F0"/>
                </a:solidFill>
              </a:rPr>
              <a:t>Call Center Systems (customers served in order)</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1A2E44"/>
        </a:solidFill>
        <a:effectLst/>
      </p:bgPr>
    </p:bg>
    <p:spTree>
      <p:nvGrpSpPr>
        <p:cNvPr id="1" name=""/>
        <p:cNvGrpSpPr/>
        <p:nvPr/>
      </p:nvGrpSpPr>
      <p:grpSpPr>
        <a:xfrm>
          <a:off x="0" y="0"/>
          <a:ext cx="0" cy="0"/>
          <a:chOff x="0" y="0"/>
          <a:chExt cx="0" cy="0"/>
        </a:xfrm>
      </p:grpSpPr>
      <p:sp>
        <p:nvSpPr>
          <p:cNvPr id="2" name="Title"/>
          <p:cNvSpPr>
            <a:spLocks noGrp="1"/>
          </p:cNvSpPr>
          <p:nvPr>
            <p:ph type="title"/>
          </p:nvPr>
        </p:nvSpPr>
        <p:spPr>
          <a:xfrm>
            <a:off x="457200" y="228600"/>
            <a:ext cx="11277600" cy="685800"/>
          </a:xfrm>
        </p:spPr>
        <p:txBody>
          <a:bodyPr rtlCol="0" anchor="ctr"/>
          <a:lstStyle/>
          <a:p>
            <a:r>
              <a:rPr lang="en-US" sz="2800" b="1" dirty="0">
                <a:solidFill>
                  <a:srgbClr val="FFFFFF"/>
                </a:solidFill>
              </a:rPr>
              <a:t>Queue can be implemented using</a:t>
            </a:r>
          </a:p>
        </p:txBody>
      </p:sp>
      <p:sp>
        <p:nvSpPr>
          <p:cNvPr id="3" name="LeftHeader"/>
          <p:cNvSpPr/>
          <p:nvPr/>
        </p:nvSpPr>
        <p:spPr>
          <a:xfrm>
            <a:off x="457200" y="1028700"/>
            <a:ext cx="5486400" cy="571500"/>
          </a:xfrm>
          <a:prstGeom prst="rect">
            <a:avLst/>
          </a:prstGeom>
          <a:solidFill>
            <a:srgbClr val="E63946"/>
          </a:solidFill>
          <a:ln>
            <a:noFill/>
          </a:ln>
        </p:spPr>
        <p:txBody>
          <a:bodyPr lIns="182880" tIns="91440" rIns="182880" bIns="91440" rtlCol="0" anchor="ctr"/>
          <a:lstStyle/>
          <a:p>
            <a:pPr algn="ctr"/>
            <a:r>
              <a:rPr lang="en-US" sz="1800" b="1" dirty="0">
                <a:solidFill>
                  <a:srgbClr val="FFFFFF"/>
                </a:solidFill>
              </a:rPr>
              <a:t>Array-based Queue</a:t>
            </a:r>
          </a:p>
        </p:txBody>
      </p:sp>
      <p:sp>
        <p:nvSpPr>
          <p:cNvPr id="4" name="LeftContent"/>
          <p:cNvSpPr/>
          <p:nvPr/>
        </p:nvSpPr>
        <p:spPr>
          <a:xfrm>
            <a:off x="457200" y="1600200"/>
            <a:ext cx="5486400" cy="5029800"/>
          </a:xfrm>
          <a:prstGeom prst="rect">
            <a:avLst/>
          </a:prstGeom>
          <a:solidFill>
            <a:srgbClr val="243B55"/>
          </a:solidFill>
          <a:ln>
            <a:noFill/>
          </a:ln>
        </p:spPr>
        <p:txBody>
          <a:bodyPr lIns="182880" tIns="182880" rIns="182880" bIns="182880" rtlCol="0" anchor="t">
            <a:normAutofit/>
          </a:bodyPr>
          <a:lstStyle/>
          <a:p>
            <a:pPr>
              <a:buChar char="•"/>
            </a:pPr>
            <a:r>
              <a:rPr lang="en-US" sz="1600" dirty="0">
                <a:solidFill>
                  <a:srgbClr val="E0E8F0"/>
                </a:solidFill>
              </a:rPr>
              <a:t>Fixed size, simple implementation</a:t>
            </a:r>
          </a:p>
          <a:p>
            <a:pPr>
              <a:buChar char="•"/>
            </a:pPr>
            <a:r>
              <a:rPr lang="en-US" sz="1600" dirty="0">
                <a:solidFill>
                  <a:srgbClr val="E0E8F0"/>
                </a:solidFill>
              </a:rPr>
              <a:t>Front and Rear pointers track positions</a:t>
            </a:r>
          </a:p>
          <a:p>
            <a:pPr>
              <a:buChar char="•"/>
            </a:pPr>
            <a:r>
              <a:rPr lang="en-US" sz="1600" dirty="0">
                <a:solidFill>
                  <a:srgbClr val="E0E8F0"/>
                </a:solidFill>
              </a:rPr>
              <a:t>Limitation: Wasted space after deletions (solved by Circular Queue)</a:t>
            </a:r>
          </a:p>
        </p:txBody>
      </p:sp>
      <p:sp>
        <p:nvSpPr>
          <p:cNvPr id="5" name="RightHeader"/>
          <p:cNvSpPr/>
          <p:nvPr/>
        </p:nvSpPr>
        <p:spPr>
          <a:xfrm>
            <a:off x="6248400" y="1028700"/>
            <a:ext cx="5486400" cy="571500"/>
          </a:xfrm>
          <a:prstGeom prst="rect">
            <a:avLst/>
          </a:prstGeom>
          <a:solidFill>
            <a:srgbClr val="2A9D8F"/>
          </a:solidFill>
          <a:ln>
            <a:noFill/>
          </a:ln>
        </p:spPr>
        <p:txBody>
          <a:bodyPr lIns="182880" tIns="91440" rIns="182880" bIns="91440" rtlCol="0" anchor="ctr"/>
          <a:lstStyle/>
          <a:p>
            <a:pPr algn="ctr"/>
            <a:r>
              <a:rPr lang="en-US" sz="1800" b="1" dirty="0">
                <a:solidFill>
                  <a:srgbClr val="FFFFFF"/>
                </a:solidFill>
              </a:rPr>
              <a:t>Linked List-based Queue</a:t>
            </a:r>
          </a:p>
        </p:txBody>
      </p:sp>
      <p:sp>
        <p:nvSpPr>
          <p:cNvPr id="6" name="RightContent"/>
          <p:cNvSpPr/>
          <p:nvPr/>
        </p:nvSpPr>
        <p:spPr>
          <a:xfrm>
            <a:off x="6248400" y="1600200"/>
            <a:ext cx="5486400" cy="5029800"/>
          </a:xfrm>
          <a:prstGeom prst="rect">
            <a:avLst/>
          </a:prstGeom>
          <a:solidFill>
            <a:srgbClr val="243B55"/>
          </a:solidFill>
          <a:ln>
            <a:noFill/>
          </a:ln>
        </p:spPr>
        <p:txBody>
          <a:bodyPr lIns="182880" tIns="182880" rIns="182880" bIns="182880" rtlCol="0" anchor="t">
            <a:normAutofit/>
          </a:bodyPr>
          <a:lstStyle/>
          <a:p>
            <a:pPr>
              <a:buChar char="•"/>
            </a:pPr>
            <a:r>
              <a:rPr lang="en-US" sz="1600" dirty="0">
                <a:solidFill>
                  <a:srgbClr val="E0E8F0"/>
                </a:solidFill>
              </a:rPr>
              <a:t>Dynamic size — no size limit</a:t>
            </a:r>
          </a:p>
          <a:p>
            <a:pPr>
              <a:buChar char="•"/>
            </a:pPr>
            <a:r>
              <a:rPr lang="en-US" sz="1600" dirty="0">
                <a:solidFill>
                  <a:srgbClr val="E0E8F0"/>
                </a:solidFill>
              </a:rPr>
              <a:t>No wasted space after deletions</a:t>
            </a:r>
          </a:p>
          <a:p>
            <a:pPr>
              <a:buChar char="•"/>
            </a:pPr>
            <a:r>
              <a:rPr lang="en-US" sz="1600" dirty="0">
                <a:solidFill>
                  <a:srgbClr val="E0E8F0"/>
                </a:solidFill>
              </a:rPr>
              <a:t>Each node holds data and pointer to next node</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AccentBar"/>
          <p:cNvSpPr/>
          <p:nvPr/>
        </p:nvSpPr>
        <p:spPr>
          <a:xfrm>
            <a:off x="0" y="1600200"/>
            <a:ext cx="228600" cy="3657600"/>
          </a:xfrm>
          <a:prstGeom prst="rect">
            <a:avLst/>
          </a:prstGeom>
          <a:solidFill>
            <a:srgbClr val="1E5799"/>
          </a:solidFill>
          <a:ln>
            <a:noFill/>
          </a:ln>
        </p:spPr>
        <p:txBody>
          <a:bodyPr/>
          <a:lstStyle/>
          <a:p>
            <a:endParaRPr lang="en-US"/>
          </a:p>
        </p:txBody>
      </p:sp>
      <p:sp>
        <p:nvSpPr>
          <p:cNvPr id="2" name="Title"/>
          <p:cNvSpPr>
            <a:spLocks noGrp="1"/>
          </p:cNvSpPr>
          <p:nvPr>
            <p:ph type="title"/>
          </p:nvPr>
        </p:nvSpPr>
        <p:spPr>
          <a:xfrm>
            <a:off x="685800" y="1828800"/>
            <a:ext cx="10820400" cy="3200400"/>
          </a:xfrm>
        </p:spPr>
        <p:txBody>
          <a:bodyPr rtlCol="0" anchor="ctr"/>
          <a:lstStyle/>
          <a:p>
            <a:r>
              <a:rPr lang="en-US" sz="3600" dirty="0">
                <a:solidFill>
                  <a:srgbClr val="1A2E44"/>
                </a:solidFill>
              </a:rPr>
              <a:t xml:space="preserve">Now let's explore </a:t>
            </a:r>
            <a:r>
              <a:rPr lang="en-US" sz="3600" b="1" dirty="0">
                <a:solidFill>
                  <a:srgbClr val="E63946"/>
                </a:solidFill>
                <a:latin typeface="Calibri"/>
              </a:rPr>
              <a:t>Non-Linear Data Structures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1B433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97280" y="2000000"/>
            <a:ext cx="10058400" cy="2858000"/>
          </a:xfrm>
        </p:spPr>
        <p:txBody>
          <a:bodyPr vert="horz" lIns="91440" tIns="45720" rIns="91440" bIns="45720" rtlCol="0" anchor="ctr">
            <a:normAutofit/>
          </a:bodyPr>
          <a:lstStyle/>
          <a:p>
            <a:pPr algn="ctr"/>
            <a:r>
              <a:rPr lang="en-US" sz="5200" b="1" dirty="0">
                <a:solidFill>
                  <a:srgbClr val="FFFFFF"/>
                </a:solidFill>
              </a:rPr>
              <a:t>Trees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1A2E44"/>
        </a:solidFill>
        <a:effectLst/>
      </p:bgPr>
    </p:bg>
    <p:spTree>
      <p:nvGrpSpPr>
        <p:cNvPr id="1" name=""/>
        <p:cNvGrpSpPr/>
        <p:nvPr/>
      </p:nvGrpSpPr>
      <p:grpSpPr>
        <a:xfrm>
          <a:off x="0" y="0"/>
          <a:ext cx="0" cy="0"/>
          <a:chOff x="0" y="0"/>
          <a:chExt cx="0" cy="0"/>
        </a:xfrm>
      </p:grpSpPr>
      <p:sp>
        <p:nvSpPr>
          <p:cNvPr id="2" name="Title"/>
          <p:cNvSpPr>
            <a:spLocks noGrp="1"/>
          </p:cNvSpPr>
          <p:nvPr>
            <p:ph type="title"/>
          </p:nvPr>
        </p:nvSpPr>
        <p:spPr>
          <a:xfrm>
            <a:off x="457200" y="228600"/>
            <a:ext cx="11277600" cy="800000"/>
          </a:xfrm>
        </p:spPr>
        <p:txBody>
          <a:bodyPr rtlCol="0" anchor="ctr"/>
          <a:lstStyle/>
          <a:p>
            <a:r>
              <a:rPr lang="en-US" sz="2800" b="1" dirty="0">
                <a:solidFill>
                  <a:srgbClr val="FFFFFF"/>
                </a:solidFill>
              </a:rPr>
              <a:t>Trees</a:t>
            </a:r>
          </a:p>
        </p:txBody>
      </p:sp>
      <p:sp>
        <p:nvSpPr>
          <p:cNvPr id="10" name="Box0"/>
          <p:cNvSpPr/>
          <p:nvPr/>
        </p:nvSpPr>
        <p:spPr>
          <a:xfrm>
            <a:off x="457200" y="1143000"/>
            <a:ext cx="3657600" cy="4800600"/>
          </a:xfrm>
          <a:prstGeom prst="rect">
            <a:avLst/>
          </a:prstGeom>
          <a:solidFill>
            <a:srgbClr val="E63946"/>
          </a:solidFill>
          <a:ln>
            <a:noFill/>
          </a:ln>
        </p:spPr>
        <p:txBody>
          <a:bodyPr lIns="182880" tIns="182880" rIns="182880" bIns="182880" rtlCol="0" anchor="t"/>
          <a:lstStyle/>
          <a:p>
            <a:r>
              <a:rPr lang="en-US" sz="4400" b="1" dirty="0">
                <a:solidFill>
                  <a:srgbClr val="FFFFFF"/>
                </a:solidFill>
              </a:rPr>
              <a:t>01</a:t>
            </a:r>
          </a:p>
          <a:p>
            <a:r>
              <a:rPr lang="en-US" sz="2000" b="1" dirty="0">
                <a:solidFill>
                  <a:srgbClr val="FFFFFF"/>
                </a:solidFill>
              </a:rPr>
              <a:t>Hierarchical Structure</a:t>
            </a:r>
          </a:p>
          <a:p>
            <a:r>
              <a:rPr lang="en-US" sz="1500" dirty="0">
                <a:solidFill>
                  <a:srgbClr val="F0F0F0"/>
                </a:solidFill>
              </a:rPr>
              <a:t>A tree is a non-linear data structure with a root node and subtrees of children, represented as a set of linked nodes.</a:t>
            </a:r>
          </a:p>
        </p:txBody>
      </p:sp>
      <p:sp>
        <p:nvSpPr>
          <p:cNvPr id="12" name="Box1"/>
          <p:cNvSpPr/>
          <p:nvPr/>
        </p:nvSpPr>
        <p:spPr>
          <a:xfrm>
            <a:off x="4343400" y="1143000"/>
            <a:ext cx="3657600" cy="4800600"/>
          </a:xfrm>
          <a:prstGeom prst="rect">
            <a:avLst/>
          </a:prstGeom>
          <a:solidFill>
            <a:srgbClr val="2A9D8F"/>
          </a:solidFill>
          <a:ln>
            <a:noFill/>
          </a:ln>
        </p:spPr>
        <p:txBody>
          <a:bodyPr lIns="182880" tIns="182880" rIns="182880" bIns="182880" rtlCol="0" anchor="t"/>
          <a:lstStyle/>
          <a:p>
            <a:r>
              <a:rPr lang="en-US" sz="4400" b="1" dirty="0">
                <a:solidFill>
                  <a:srgbClr val="FFFFFF"/>
                </a:solidFill>
              </a:rPr>
              <a:t>02</a:t>
            </a:r>
          </a:p>
          <a:p>
            <a:r>
              <a:rPr lang="en-US" sz="2000" b="1" dirty="0">
                <a:solidFill>
                  <a:srgbClr val="FFFFFF"/>
                </a:solidFill>
              </a:rPr>
              <a:t>No Cycles</a:t>
            </a:r>
          </a:p>
          <a:p>
            <a:r>
              <a:rPr lang="en-US" sz="1500" dirty="0">
                <a:solidFill>
                  <a:srgbClr val="F0F0F0"/>
                </a:solidFill>
              </a:rPr>
              <a:t>Unlike graphs, trees do not contain cycles. There is exactly ONE path between any two nodes.</a:t>
            </a:r>
          </a:p>
        </p:txBody>
      </p:sp>
      <p:sp>
        <p:nvSpPr>
          <p:cNvPr id="14" name="Box2"/>
          <p:cNvSpPr/>
          <p:nvPr/>
        </p:nvSpPr>
        <p:spPr>
          <a:xfrm>
            <a:off x="8229600" y="1143000"/>
            <a:ext cx="3657600" cy="4800600"/>
          </a:xfrm>
          <a:prstGeom prst="rect">
            <a:avLst/>
          </a:prstGeom>
          <a:solidFill>
            <a:srgbClr val="E9C46A"/>
          </a:solidFill>
          <a:ln>
            <a:noFill/>
          </a:ln>
        </p:spPr>
        <p:txBody>
          <a:bodyPr lIns="182880" tIns="182880" rIns="182880" bIns="182880" rtlCol="0" anchor="t"/>
          <a:lstStyle/>
          <a:p>
            <a:r>
              <a:rPr lang="en-US" sz="4400" b="1" dirty="0">
                <a:solidFill>
                  <a:srgbClr val="FFFFFF"/>
                </a:solidFill>
              </a:rPr>
              <a:t>03</a:t>
            </a:r>
          </a:p>
          <a:p>
            <a:r>
              <a:rPr lang="en-US" sz="2000" b="1" dirty="0">
                <a:solidFill>
                  <a:srgbClr val="FFFFFF"/>
                </a:solidFill>
              </a:rPr>
              <a:t>Root &amp; Leaves</a:t>
            </a:r>
          </a:p>
          <a:p>
            <a:r>
              <a:rPr lang="en-US" sz="1500" dirty="0">
                <a:solidFill>
                  <a:srgbClr val="F0F0F0"/>
                </a:solidFill>
              </a:rPr>
              <a:t>The topmost node is called the ROOT. Nodes with no children are called LEAF nodes.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sp>
        <p:nvSpPr>
          <p:cNvPr id="2" name="Title"/>
          <p:cNvSpPr>
            <a:spLocks noGrp="1"/>
          </p:cNvSpPr>
          <p:nvPr>
            <p:ph type="title"/>
          </p:nvPr>
        </p:nvSpPr>
        <p:spPr>
          <a:xfrm>
            <a:off x="457200" y="228600"/>
            <a:ext cx="11277600" cy="685800"/>
          </a:xfrm>
        </p:spPr>
        <p:txBody>
          <a:bodyPr rtlCol="0" anchor="ctr"/>
          <a:lstStyle/>
          <a:p>
            <a:r>
              <a:rPr lang="en-US" sz="2800" b="1" dirty="0">
                <a:solidFill>
                  <a:srgbClr val="FFFFFF"/>
                </a:solidFill>
              </a:rPr>
              <a:t>Tree Terminology</a:t>
            </a:r>
          </a:p>
        </p:txBody>
      </p:sp>
      <p:sp>
        <p:nvSpPr>
          <p:cNvPr id="10" name="Op0"/>
          <p:cNvSpPr/>
          <p:nvPr/>
        </p:nvSpPr>
        <p:spPr>
          <a:xfrm>
            <a:off x="457200" y="1000000"/>
            <a:ext cx="3657600" cy="2200000"/>
          </a:xfrm>
          <a:prstGeom prst="roundRect">
            <a:avLst>
              <a:gd name="adj" fmla="val 20000"/>
            </a:avLst>
          </a:prstGeom>
          <a:solidFill>
            <a:srgbClr val="E63946"/>
          </a:solidFill>
          <a:ln>
            <a:noFill/>
          </a:ln>
        </p:spPr>
        <p:txBody>
          <a:bodyPr lIns="182880" tIns="182880" rIns="182880" bIns="182880" rtlCol="0" anchor="ctr"/>
          <a:lstStyle/>
          <a:p>
            <a:pPr algn="ctr"/>
            <a:r>
              <a:rPr lang="en-US" sz="1800" b="1" dirty="0">
                <a:solidFill>
                  <a:srgbClr val="FFFFFF"/>
                </a:solidFill>
              </a:rPr>
              <a:t>Root</a:t>
            </a:r>
          </a:p>
          <a:p>
            <a:pPr algn="ctr"/>
            <a:r>
              <a:rPr lang="en-US" sz="1300" dirty="0">
                <a:solidFill>
                  <a:srgbClr val="F0F0F0"/>
                </a:solidFill>
              </a:rPr>
              <a:t>The topmost node of a tree with no parent</a:t>
            </a:r>
          </a:p>
        </p:txBody>
      </p:sp>
      <p:sp>
        <p:nvSpPr>
          <p:cNvPr id="11" name="Op1"/>
          <p:cNvSpPr/>
          <p:nvPr/>
        </p:nvSpPr>
        <p:spPr>
          <a:xfrm>
            <a:off x="4343400" y="1000000"/>
            <a:ext cx="3657600" cy="2200000"/>
          </a:xfrm>
          <a:prstGeom prst="roundRect">
            <a:avLst>
              <a:gd name="adj" fmla="val 20000"/>
            </a:avLst>
          </a:prstGeom>
          <a:solidFill>
            <a:srgbClr val="2A9D8F"/>
          </a:solidFill>
          <a:ln>
            <a:noFill/>
          </a:ln>
        </p:spPr>
        <p:txBody>
          <a:bodyPr lIns="182880" tIns="182880" rIns="182880" bIns="182880" rtlCol="0" anchor="ctr"/>
          <a:lstStyle/>
          <a:p>
            <a:pPr algn="ctr"/>
            <a:r>
              <a:rPr lang="en-US" sz="1800" b="1" dirty="0">
                <a:solidFill>
                  <a:srgbClr val="FFFFFF"/>
                </a:solidFill>
              </a:rPr>
              <a:t>Parent</a:t>
            </a:r>
          </a:p>
          <a:p>
            <a:pPr algn="ctr"/>
            <a:r>
              <a:rPr lang="en-US" sz="1300" dirty="0">
                <a:solidFill>
                  <a:srgbClr val="F0F0F0"/>
                </a:solidFill>
              </a:rPr>
              <a:t>A node that has one or more child nodes</a:t>
            </a:r>
          </a:p>
        </p:txBody>
      </p:sp>
      <p:sp>
        <p:nvSpPr>
          <p:cNvPr id="12" name="Op2"/>
          <p:cNvSpPr/>
          <p:nvPr/>
        </p:nvSpPr>
        <p:spPr>
          <a:xfrm>
            <a:off x="8229600" y="1000000"/>
            <a:ext cx="3657600" cy="2200000"/>
          </a:xfrm>
          <a:prstGeom prst="roundRect">
            <a:avLst>
              <a:gd name="adj" fmla="val 20000"/>
            </a:avLst>
          </a:prstGeom>
          <a:solidFill>
            <a:srgbClr val="E9C46A"/>
          </a:solidFill>
          <a:ln>
            <a:noFill/>
          </a:ln>
        </p:spPr>
        <p:txBody>
          <a:bodyPr lIns="182880" tIns="182880" rIns="182880" bIns="182880" rtlCol="0" anchor="ctr"/>
          <a:lstStyle/>
          <a:p>
            <a:pPr algn="ctr"/>
            <a:r>
              <a:rPr lang="en-US" sz="1800" b="1" dirty="0">
                <a:solidFill>
                  <a:srgbClr val="FFFFFF"/>
                </a:solidFill>
              </a:rPr>
              <a:t>Child</a:t>
            </a:r>
          </a:p>
          <a:p>
            <a:pPr algn="ctr"/>
            <a:r>
              <a:rPr lang="en-US" sz="1300" dirty="0">
                <a:solidFill>
                  <a:srgbClr val="F0F0F0"/>
                </a:solidFill>
              </a:rPr>
              <a:t>A node that descends from a parent node</a:t>
            </a:r>
          </a:p>
        </p:txBody>
      </p:sp>
      <p:sp>
        <p:nvSpPr>
          <p:cNvPr id="13" name="Op3"/>
          <p:cNvSpPr/>
          <p:nvPr/>
        </p:nvSpPr>
        <p:spPr>
          <a:xfrm>
            <a:off x="457200" y="3350000"/>
            <a:ext cx="3657600" cy="2200000"/>
          </a:xfrm>
          <a:prstGeom prst="roundRect">
            <a:avLst>
              <a:gd name="adj" fmla="val 20000"/>
            </a:avLst>
          </a:prstGeom>
          <a:solidFill>
            <a:srgbClr val="457B9D"/>
          </a:solidFill>
          <a:ln>
            <a:noFill/>
          </a:ln>
        </p:spPr>
        <p:txBody>
          <a:bodyPr lIns="182880" tIns="182880" rIns="182880" bIns="182880" rtlCol="0" anchor="ctr"/>
          <a:lstStyle/>
          <a:p>
            <a:pPr algn="ctr"/>
            <a:r>
              <a:rPr lang="en-US" sz="1800" b="1" dirty="0">
                <a:solidFill>
                  <a:srgbClr val="FFFFFF"/>
                </a:solidFill>
              </a:rPr>
              <a:t>Leaf</a:t>
            </a:r>
          </a:p>
          <a:p>
            <a:pPr algn="ctr"/>
            <a:r>
              <a:rPr lang="en-US" sz="1300" dirty="0">
                <a:solidFill>
                  <a:srgbClr val="F0F0F0"/>
                </a:solidFill>
              </a:rPr>
              <a:t>A node with no children (terminal node)</a:t>
            </a:r>
          </a:p>
        </p:txBody>
      </p:sp>
      <p:sp>
        <p:nvSpPr>
          <p:cNvPr id="14" name="Op4"/>
          <p:cNvSpPr/>
          <p:nvPr/>
        </p:nvSpPr>
        <p:spPr>
          <a:xfrm>
            <a:off x="4343400" y="3350000"/>
            <a:ext cx="3657600" cy="2200000"/>
          </a:xfrm>
          <a:prstGeom prst="roundRect">
            <a:avLst>
              <a:gd name="adj" fmla="val 20000"/>
            </a:avLst>
          </a:prstGeom>
          <a:solidFill>
            <a:srgbClr val="6A4C93"/>
          </a:solidFill>
          <a:ln>
            <a:noFill/>
          </a:ln>
        </p:spPr>
        <p:txBody>
          <a:bodyPr lIns="182880" tIns="182880" rIns="182880" bIns="182880" rtlCol="0" anchor="ctr"/>
          <a:lstStyle/>
          <a:p>
            <a:pPr algn="ctr"/>
            <a:r>
              <a:rPr lang="en-US" sz="1800" b="1" dirty="0">
                <a:solidFill>
                  <a:srgbClr val="FFFFFF"/>
                </a:solidFill>
              </a:rPr>
              <a:t>Height</a:t>
            </a:r>
          </a:p>
          <a:p>
            <a:pPr algn="ctr"/>
            <a:r>
              <a:rPr lang="en-US" sz="1300" dirty="0">
                <a:solidFill>
                  <a:srgbClr val="F0F0F0"/>
                </a:solidFill>
              </a:rPr>
              <a:t>Number of edges from root to deepest leaf</a:t>
            </a:r>
          </a:p>
        </p:txBody>
      </p:sp>
      <p:sp>
        <p:nvSpPr>
          <p:cNvPr id="15" name="Op5"/>
          <p:cNvSpPr/>
          <p:nvPr/>
        </p:nvSpPr>
        <p:spPr>
          <a:xfrm>
            <a:off x="8229600" y="3350000"/>
            <a:ext cx="3657600" cy="2200000"/>
          </a:xfrm>
          <a:prstGeom prst="roundRect">
            <a:avLst>
              <a:gd name="adj" fmla="val 20000"/>
            </a:avLst>
          </a:prstGeom>
          <a:solidFill>
            <a:srgbClr val="F4A261"/>
          </a:solidFill>
          <a:ln>
            <a:noFill/>
          </a:ln>
        </p:spPr>
        <p:txBody>
          <a:bodyPr lIns="182880" tIns="182880" rIns="182880" bIns="182880" rtlCol="0" anchor="ctr"/>
          <a:lstStyle/>
          <a:p>
            <a:pPr algn="ctr"/>
            <a:r>
              <a:rPr lang="en-US" sz="1800" b="1" dirty="0">
                <a:solidFill>
                  <a:srgbClr val="FFFFFF"/>
                </a:solidFill>
              </a:rPr>
              <a:t>Degree</a:t>
            </a:r>
          </a:p>
          <a:p>
            <a:pPr algn="ctr"/>
            <a:r>
              <a:rPr lang="en-US" sz="1300" dirty="0">
                <a:solidFill>
                  <a:srgbClr val="F0F0F0"/>
                </a:solidFill>
              </a:rPr>
              <a:t>Number of children a node has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Title"/>
          <p:cNvSpPr>
            <a:spLocks noGrp="1"/>
          </p:cNvSpPr>
          <p:nvPr>
            <p:ph type="title"/>
          </p:nvPr>
        </p:nvSpPr>
        <p:spPr>
          <a:xfrm>
            <a:off x="457200" y="228600"/>
            <a:ext cx="11277600" cy="685800"/>
          </a:xfrm>
        </p:spPr>
        <p:txBody>
          <a:bodyPr rtlCol="0" anchor="ctr"/>
          <a:lstStyle/>
          <a:p>
            <a:r>
              <a:rPr lang="en-US" sz="2800" b="1" dirty="0">
                <a:solidFill>
                  <a:srgbClr val="1A2E44"/>
                </a:solidFill>
              </a:rPr>
              <a:t>Types of Trees</a:t>
            </a:r>
          </a:p>
        </p:txBody>
      </p:sp>
      <p:sp>
        <p:nvSpPr>
          <p:cNvPr id="10" name="Op0"/>
          <p:cNvSpPr/>
          <p:nvPr/>
        </p:nvSpPr>
        <p:spPr>
          <a:xfrm>
            <a:off x="457200" y="1000000"/>
            <a:ext cx="3657600" cy="2200000"/>
          </a:xfrm>
          <a:prstGeom prst="roundRect">
            <a:avLst>
              <a:gd name="adj" fmla="val 20000"/>
            </a:avLst>
          </a:prstGeom>
          <a:solidFill>
            <a:srgbClr val="E63946"/>
          </a:solidFill>
          <a:ln>
            <a:noFill/>
          </a:ln>
        </p:spPr>
        <p:txBody>
          <a:bodyPr lIns="182880" tIns="182880" rIns="182880" bIns="182880" rtlCol="0" anchor="ctr"/>
          <a:lstStyle/>
          <a:p>
            <a:pPr algn="ctr"/>
            <a:r>
              <a:rPr lang="en-US" sz="1800" b="1" dirty="0">
                <a:solidFill>
                  <a:srgbClr val="FFFFFF"/>
                </a:solidFill>
              </a:rPr>
              <a:t>Binary Tree</a:t>
            </a:r>
          </a:p>
          <a:p>
            <a:pPr algn="ctr"/>
            <a:r>
              <a:rPr lang="en-US" sz="1300" dirty="0">
                <a:solidFill>
                  <a:srgbClr val="F0F0F0"/>
                </a:solidFill>
              </a:rPr>
              <a:t>Each node has at most 2 children: left and right</a:t>
            </a:r>
          </a:p>
        </p:txBody>
      </p:sp>
      <p:sp>
        <p:nvSpPr>
          <p:cNvPr id="11" name="Op1"/>
          <p:cNvSpPr/>
          <p:nvPr/>
        </p:nvSpPr>
        <p:spPr>
          <a:xfrm>
            <a:off x="4343400" y="1000000"/>
            <a:ext cx="3657600" cy="2200000"/>
          </a:xfrm>
          <a:prstGeom prst="roundRect">
            <a:avLst>
              <a:gd name="adj" fmla="val 20000"/>
            </a:avLst>
          </a:prstGeom>
          <a:solidFill>
            <a:srgbClr val="2A9D8F"/>
          </a:solidFill>
          <a:ln>
            <a:noFill/>
          </a:ln>
        </p:spPr>
        <p:txBody>
          <a:bodyPr lIns="182880" tIns="182880" rIns="182880" bIns="182880" rtlCol="0" anchor="ctr"/>
          <a:lstStyle/>
          <a:p>
            <a:pPr algn="ctr"/>
            <a:r>
              <a:rPr lang="en-US" sz="1800" b="1" dirty="0">
                <a:solidFill>
                  <a:srgbClr val="FFFFFF"/>
                </a:solidFill>
              </a:rPr>
              <a:t>Binary Search Tree (BST)</a:t>
            </a:r>
          </a:p>
          <a:p>
            <a:pPr algn="ctr"/>
            <a:r>
              <a:rPr lang="en-US" sz="1300" dirty="0">
                <a:solidFill>
                  <a:srgbClr val="F0F0F0"/>
                </a:solidFill>
              </a:rPr>
              <a:t>Left child &lt; Parent &lt; Right child. Enables fast search.</a:t>
            </a:r>
          </a:p>
        </p:txBody>
      </p:sp>
      <p:sp>
        <p:nvSpPr>
          <p:cNvPr id="12" name="Op2"/>
          <p:cNvSpPr/>
          <p:nvPr/>
        </p:nvSpPr>
        <p:spPr>
          <a:xfrm>
            <a:off x="8229600" y="1000000"/>
            <a:ext cx="3657600" cy="2200000"/>
          </a:xfrm>
          <a:prstGeom prst="roundRect">
            <a:avLst>
              <a:gd name="adj" fmla="val 20000"/>
            </a:avLst>
          </a:prstGeom>
          <a:solidFill>
            <a:srgbClr val="E9C46A"/>
          </a:solidFill>
          <a:ln>
            <a:noFill/>
          </a:ln>
        </p:spPr>
        <p:txBody>
          <a:bodyPr lIns="182880" tIns="182880" rIns="182880" bIns="182880" rtlCol="0" anchor="ctr"/>
          <a:lstStyle/>
          <a:p>
            <a:pPr algn="ctr"/>
            <a:r>
              <a:rPr lang="en-US" sz="1800" b="1" dirty="0">
                <a:solidFill>
                  <a:srgbClr val="FFFFFF"/>
                </a:solidFill>
              </a:rPr>
              <a:t>AVL Tree</a:t>
            </a:r>
          </a:p>
          <a:p>
            <a:pPr algn="ctr"/>
            <a:r>
              <a:rPr lang="en-US" sz="1300" dirty="0">
                <a:solidFill>
                  <a:srgbClr val="F0F0F0"/>
                </a:solidFill>
              </a:rPr>
              <a:t>Self-balancing BST where height difference between subtrees is at most 1</a:t>
            </a:r>
          </a:p>
        </p:txBody>
      </p:sp>
      <p:sp>
        <p:nvSpPr>
          <p:cNvPr id="13" name="Op3"/>
          <p:cNvSpPr/>
          <p:nvPr/>
        </p:nvSpPr>
        <p:spPr>
          <a:xfrm>
            <a:off x="457200" y="3350000"/>
            <a:ext cx="3657600" cy="2200000"/>
          </a:xfrm>
          <a:prstGeom prst="roundRect">
            <a:avLst>
              <a:gd name="adj" fmla="val 20000"/>
            </a:avLst>
          </a:prstGeom>
          <a:solidFill>
            <a:srgbClr val="457B9D"/>
          </a:solidFill>
          <a:ln>
            <a:noFill/>
          </a:ln>
        </p:spPr>
        <p:txBody>
          <a:bodyPr lIns="182880" tIns="182880" rIns="182880" bIns="182880" rtlCol="0" anchor="ctr"/>
          <a:lstStyle/>
          <a:p>
            <a:pPr algn="ctr"/>
            <a:r>
              <a:rPr lang="en-US" sz="1800" b="1" dirty="0">
                <a:solidFill>
                  <a:srgbClr val="FFFFFF"/>
                </a:solidFill>
              </a:rPr>
              <a:t>Heap</a:t>
            </a:r>
          </a:p>
          <a:p>
            <a:pPr algn="ctr"/>
            <a:r>
              <a:rPr lang="en-US" sz="1300" dirty="0">
                <a:solidFill>
                  <a:srgbClr val="F0F0F0"/>
                </a:solidFill>
              </a:rPr>
              <a:t>Complete binary tree: Max-Heap (parent &gt;= children) or Min-Heap</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sp>
        <p:nvSpPr>
          <p:cNvPr id="2" name="Title"/>
          <p:cNvSpPr>
            <a:spLocks noGrp="1"/>
          </p:cNvSpPr>
          <p:nvPr>
            <p:ph type="title"/>
          </p:nvPr>
        </p:nvSpPr>
        <p:spPr>
          <a:xfrm>
            <a:off x="457200" y="228600"/>
            <a:ext cx="11277600" cy="685800"/>
          </a:xfrm>
        </p:spPr>
        <p:txBody>
          <a:bodyPr rtlCol="0" anchor="ctr"/>
          <a:lstStyle/>
          <a:p>
            <a:r>
              <a:rPr lang="en-US" sz="2800" b="1" dirty="0">
                <a:solidFill>
                  <a:srgbClr val="FFFFFF"/>
                </a:solidFill>
              </a:rPr>
              <a:t>Tree Operations</a:t>
            </a:r>
          </a:p>
        </p:txBody>
      </p:sp>
      <p:sp>
        <p:nvSpPr>
          <p:cNvPr id="10" name="Op0"/>
          <p:cNvSpPr/>
          <p:nvPr/>
        </p:nvSpPr>
        <p:spPr>
          <a:xfrm>
            <a:off x="457200" y="1000000"/>
            <a:ext cx="3657600" cy="2200000"/>
          </a:xfrm>
          <a:prstGeom prst="roundRect">
            <a:avLst>
              <a:gd name="adj" fmla="val 20000"/>
            </a:avLst>
          </a:prstGeom>
          <a:solidFill>
            <a:srgbClr val="E63946"/>
          </a:solidFill>
          <a:ln>
            <a:noFill/>
          </a:ln>
        </p:spPr>
        <p:txBody>
          <a:bodyPr lIns="182880" tIns="182880" rIns="182880" bIns="182880" rtlCol="0" anchor="ctr"/>
          <a:lstStyle/>
          <a:p>
            <a:pPr algn="ctr"/>
            <a:r>
              <a:rPr lang="en-US" sz="1800" b="1" dirty="0">
                <a:solidFill>
                  <a:srgbClr val="FFFFFF"/>
                </a:solidFill>
              </a:rPr>
              <a:t>Insert</a:t>
            </a:r>
          </a:p>
          <a:p>
            <a:pPr algn="ctr"/>
            <a:r>
              <a:rPr lang="en-US" sz="1300" dirty="0">
                <a:solidFill>
                  <a:srgbClr val="F0F0F0"/>
                </a:solidFill>
              </a:rPr>
              <a:t>Add a new node at the appropriate position</a:t>
            </a:r>
          </a:p>
        </p:txBody>
      </p:sp>
      <p:sp>
        <p:nvSpPr>
          <p:cNvPr id="11" name="Op1"/>
          <p:cNvSpPr/>
          <p:nvPr/>
        </p:nvSpPr>
        <p:spPr>
          <a:xfrm>
            <a:off x="4343400" y="1000000"/>
            <a:ext cx="3657600" cy="2200000"/>
          </a:xfrm>
          <a:prstGeom prst="roundRect">
            <a:avLst>
              <a:gd name="adj" fmla="val 20000"/>
            </a:avLst>
          </a:prstGeom>
          <a:solidFill>
            <a:srgbClr val="2A9D8F"/>
          </a:solidFill>
          <a:ln>
            <a:noFill/>
          </a:ln>
        </p:spPr>
        <p:txBody>
          <a:bodyPr lIns="182880" tIns="182880" rIns="182880" bIns="182880" rtlCol="0" anchor="ctr"/>
          <a:lstStyle/>
          <a:p>
            <a:pPr algn="ctr"/>
            <a:r>
              <a:rPr lang="en-US" sz="1800" b="1" dirty="0">
                <a:solidFill>
                  <a:srgbClr val="FFFFFF"/>
                </a:solidFill>
              </a:rPr>
              <a:t>Delete</a:t>
            </a:r>
          </a:p>
          <a:p>
            <a:pPr algn="ctr"/>
            <a:r>
              <a:rPr lang="en-US" sz="1300" dirty="0">
                <a:solidFill>
                  <a:srgbClr val="F0F0F0"/>
                </a:solidFill>
              </a:rPr>
              <a:t>Remove a node and restructure the tree</a:t>
            </a:r>
          </a:p>
        </p:txBody>
      </p:sp>
      <p:sp>
        <p:nvSpPr>
          <p:cNvPr id="12" name="Op2"/>
          <p:cNvSpPr/>
          <p:nvPr/>
        </p:nvSpPr>
        <p:spPr>
          <a:xfrm>
            <a:off x="8229600" y="1000000"/>
            <a:ext cx="3657600" cy="2200000"/>
          </a:xfrm>
          <a:prstGeom prst="roundRect">
            <a:avLst>
              <a:gd name="adj" fmla="val 20000"/>
            </a:avLst>
          </a:prstGeom>
          <a:solidFill>
            <a:srgbClr val="E9C46A"/>
          </a:solidFill>
          <a:ln>
            <a:noFill/>
          </a:ln>
        </p:spPr>
        <p:txBody>
          <a:bodyPr lIns="182880" tIns="182880" rIns="182880" bIns="182880" rtlCol="0" anchor="ctr"/>
          <a:lstStyle/>
          <a:p>
            <a:pPr algn="ctr"/>
            <a:r>
              <a:rPr lang="en-US" sz="1800" b="1" dirty="0">
                <a:solidFill>
                  <a:srgbClr val="FFFFFF"/>
                </a:solidFill>
              </a:rPr>
              <a:t>Search</a:t>
            </a:r>
          </a:p>
          <a:p>
            <a:pPr algn="ctr"/>
            <a:r>
              <a:rPr lang="en-US" sz="1300" dirty="0">
                <a:solidFill>
                  <a:srgbClr val="F0F0F0"/>
                </a:solidFill>
              </a:rPr>
              <a:t>Find a node with a given value</a:t>
            </a:r>
          </a:p>
        </p:txBody>
      </p:sp>
      <p:sp>
        <p:nvSpPr>
          <p:cNvPr id="13" name="Op3"/>
          <p:cNvSpPr/>
          <p:nvPr/>
        </p:nvSpPr>
        <p:spPr>
          <a:xfrm>
            <a:off x="457200" y="3350000"/>
            <a:ext cx="3657600" cy="2200000"/>
          </a:xfrm>
          <a:prstGeom prst="roundRect">
            <a:avLst>
              <a:gd name="adj" fmla="val 20000"/>
            </a:avLst>
          </a:prstGeom>
          <a:solidFill>
            <a:srgbClr val="457B9D"/>
          </a:solidFill>
          <a:ln>
            <a:noFill/>
          </a:ln>
        </p:spPr>
        <p:txBody>
          <a:bodyPr lIns="182880" tIns="182880" rIns="182880" bIns="182880" rtlCol="0" anchor="ctr"/>
          <a:lstStyle/>
          <a:p>
            <a:pPr algn="ctr"/>
            <a:r>
              <a:rPr lang="en-US" sz="1800" b="1" dirty="0">
                <a:solidFill>
                  <a:srgbClr val="FFFFFF"/>
                </a:solidFill>
              </a:rPr>
              <a:t>Traversal (In-order)</a:t>
            </a:r>
          </a:p>
          <a:p>
            <a:pPr algn="ctr"/>
            <a:r>
              <a:rPr lang="en-US" sz="1300" dirty="0">
                <a:solidFill>
                  <a:srgbClr val="F0F0F0"/>
                </a:solidFill>
              </a:rPr>
              <a:t>Left -&gt; Root -&gt; Right — gives sorted output in BST</a:t>
            </a:r>
          </a:p>
        </p:txBody>
      </p:sp>
      <p:sp>
        <p:nvSpPr>
          <p:cNvPr id="14" name="Op4"/>
          <p:cNvSpPr/>
          <p:nvPr/>
        </p:nvSpPr>
        <p:spPr>
          <a:xfrm>
            <a:off x="4343400" y="3350000"/>
            <a:ext cx="3657600" cy="2200000"/>
          </a:xfrm>
          <a:prstGeom prst="roundRect">
            <a:avLst>
              <a:gd name="adj" fmla="val 20000"/>
            </a:avLst>
          </a:prstGeom>
          <a:solidFill>
            <a:srgbClr val="6A4C93"/>
          </a:solidFill>
          <a:ln>
            <a:noFill/>
          </a:ln>
        </p:spPr>
        <p:txBody>
          <a:bodyPr lIns="182880" tIns="182880" rIns="182880" bIns="182880" rtlCol="0" anchor="ctr"/>
          <a:lstStyle/>
          <a:p>
            <a:pPr algn="ctr"/>
            <a:r>
              <a:rPr lang="en-US" sz="1800" b="1" dirty="0">
                <a:solidFill>
                  <a:srgbClr val="FFFFFF"/>
                </a:solidFill>
              </a:rPr>
              <a:t>Traversal (Pre-order)</a:t>
            </a:r>
          </a:p>
          <a:p>
            <a:pPr algn="ctr"/>
            <a:r>
              <a:rPr lang="en-US" sz="1300" dirty="0">
                <a:solidFill>
                  <a:srgbClr val="F0F0F0"/>
                </a:solidFill>
              </a:rPr>
              <a:t>Root -&gt; Left -&gt; Right</a:t>
            </a:r>
          </a:p>
        </p:txBody>
      </p:sp>
      <p:sp>
        <p:nvSpPr>
          <p:cNvPr id="15" name="Op5"/>
          <p:cNvSpPr/>
          <p:nvPr/>
        </p:nvSpPr>
        <p:spPr>
          <a:xfrm>
            <a:off x="8229600" y="3350000"/>
            <a:ext cx="3657600" cy="2200000"/>
          </a:xfrm>
          <a:prstGeom prst="roundRect">
            <a:avLst>
              <a:gd name="adj" fmla="val 20000"/>
            </a:avLst>
          </a:prstGeom>
          <a:solidFill>
            <a:srgbClr val="F4A261"/>
          </a:solidFill>
          <a:ln>
            <a:noFill/>
          </a:ln>
        </p:spPr>
        <p:txBody>
          <a:bodyPr lIns="182880" tIns="182880" rIns="182880" bIns="182880" rtlCol="0" anchor="ctr"/>
          <a:lstStyle/>
          <a:p>
            <a:pPr algn="ctr"/>
            <a:r>
              <a:rPr lang="en-US" sz="1800" b="1" dirty="0">
                <a:solidFill>
                  <a:srgbClr val="FFFFFF"/>
                </a:solidFill>
              </a:rPr>
              <a:t>Traversal (Post-order)</a:t>
            </a:r>
          </a:p>
          <a:p>
            <a:pPr algn="ctr"/>
            <a:r>
              <a:rPr lang="en-US" sz="1300" dirty="0">
                <a:solidFill>
                  <a:srgbClr val="F0F0F0"/>
                </a:solidFill>
              </a:rPr>
              <a:t>Left -&gt; Right -&gt; Root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1A2E44"/>
        </a:solidFill>
        <a:effectLst/>
      </p:bgPr>
    </p:bg>
    <p:spTree>
      <p:nvGrpSpPr>
        <p:cNvPr id="1" name=""/>
        <p:cNvGrpSpPr/>
        <p:nvPr/>
      </p:nvGrpSpPr>
      <p:grpSpPr>
        <a:xfrm>
          <a:off x="0" y="0"/>
          <a:ext cx="0" cy="0"/>
          <a:chOff x="0" y="0"/>
          <a:chExt cx="0" cy="0"/>
        </a:xfrm>
      </p:grpSpPr>
      <p:sp>
        <p:nvSpPr>
          <p:cNvPr id="2" name="Title"/>
          <p:cNvSpPr>
            <a:spLocks noGrp="1"/>
          </p:cNvSpPr>
          <p:nvPr>
            <p:ph type="title"/>
          </p:nvPr>
        </p:nvSpPr>
        <p:spPr>
          <a:xfrm>
            <a:off x="457200" y="228600"/>
            <a:ext cx="11277600" cy="800000"/>
          </a:xfrm>
        </p:spPr>
        <p:txBody>
          <a:bodyPr rtlCol="0" anchor="ctr"/>
          <a:lstStyle/>
          <a:p>
            <a:r>
              <a:rPr lang="en-US" sz="2800" b="1" dirty="0">
                <a:solidFill>
                  <a:srgbClr val="FFFFFF"/>
                </a:solidFill>
              </a:rPr>
              <a:t>Applications of Trees</a:t>
            </a:r>
          </a:p>
        </p:txBody>
      </p:sp>
      <p:sp>
        <p:nvSpPr>
          <p:cNvPr id="3" name="Content"/>
          <p:cNvSpPr/>
          <p:nvPr/>
        </p:nvSpPr>
        <p:spPr>
          <a:xfrm>
            <a:off x="457200" y="1143000"/>
            <a:ext cx="11277600" cy="5486400"/>
          </a:xfrm>
          <a:prstGeom prst="rect">
            <a:avLst/>
          </a:prstGeom>
          <a:noFill/>
          <a:ln>
            <a:noFill/>
          </a:ln>
        </p:spPr>
        <p:txBody>
          <a:bodyPr lIns="91440" tIns="91440" rIns="91440" bIns="91440" rtlCol="0" anchor="t">
            <a:normAutofit/>
          </a:bodyPr>
          <a:lstStyle/>
          <a:p>
            <a:pPr>
              <a:buChar char="•"/>
            </a:pPr>
            <a:r>
              <a:rPr lang="en-US" sz="1800" dirty="0">
                <a:solidFill>
                  <a:srgbClr val="E0E8F0"/>
                </a:solidFill>
              </a:rPr>
              <a:t>File System Representation (Folders &amp; Subfolders)</a:t>
            </a:r>
          </a:p>
          <a:p>
            <a:pPr>
              <a:buChar char="•"/>
            </a:pPr>
            <a:r>
              <a:rPr lang="en-US" sz="1800" dirty="0">
                <a:solidFill>
                  <a:srgbClr val="E0E8F0"/>
                </a:solidFill>
              </a:rPr>
              <a:t>Database Indexing (B-Trees, B+ Trees)</a:t>
            </a:r>
          </a:p>
          <a:p>
            <a:pPr>
              <a:buChar char="•"/>
            </a:pPr>
            <a:r>
              <a:rPr lang="en-US" sz="1800" dirty="0">
                <a:solidFill>
                  <a:srgbClr val="E0E8F0"/>
                </a:solidFill>
              </a:rPr>
              <a:t>Expression Evaluation (Expression Trees)</a:t>
            </a:r>
          </a:p>
          <a:p>
            <a:pPr>
              <a:buChar char="•"/>
            </a:pPr>
            <a:r>
              <a:rPr lang="en-US" sz="1800" dirty="0">
                <a:solidFill>
                  <a:srgbClr val="E0E8F0"/>
                </a:solidFill>
              </a:rPr>
              <a:t>HTML/XML DOM (Document Object Model)</a:t>
            </a:r>
          </a:p>
          <a:p>
            <a:pPr>
              <a:buChar char="•"/>
            </a:pPr>
            <a:r>
              <a:rPr lang="en-US" sz="1800" dirty="0">
                <a:solidFill>
                  <a:srgbClr val="E0E8F0"/>
                </a:solidFill>
              </a:rPr>
              <a:t>Decision Trees in AI and Machine Learning</a:t>
            </a:r>
          </a:p>
          <a:p>
            <a:pPr>
              <a:buChar char="•"/>
            </a:pPr>
            <a:r>
              <a:rPr lang="en-US" sz="1800" dirty="0">
                <a:solidFill>
                  <a:srgbClr val="E0E8F0"/>
                </a:solidFill>
              </a:rPr>
              <a:t>Heaps used in Priority Queues &amp; Heap Sort</a:t>
            </a:r>
          </a:p>
          <a:p>
            <a:pPr>
              <a:buChar char="•"/>
            </a:pPr>
            <a:r>
              <a:rPr lang="en-US" sz="1800" dirty="0">
                <a:solidFill>
                  <a:srgbClr val="E0E8F0"/>
                </a:solidFill>
              </a:rPr>
              <a:t>Auto-complete suggestions (Trie)</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4A0E0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97280" y="2000000"/>
            <a:ext cx="10058400" cy="2858000"/>
          </a:xfrm>
        </p:spPr>
        <p:txBody>
          <a:bodyPr vert="horz" lIns="91440" tIns="45720" rIns="91440" bIns="45720" rtlCol="0" anchor="ctr">
            <a:normAutofit/>
          </a:bodyPr>
          <a:lstStyle/>
          <a:p>
            <a:pPr algn="ctr"/>
            <a:r>
              <a:rPr lang="en-US" sz="5200" b="1" dirty="0">
                <a:solidFill>
                  <a:srgbClr val="FFFFFF"/>
                </a:solidFill>
              </a:rPr>
              <a:t>Graphs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1A2E44"/>
        </a:solidFill>
        <a:effectLst/>
      </p:bgPr>
    </p:bg>
    <p:spTree>
      <p:nvGrpSpPr>
        <p:cNvPr id="1" name=""/>
        <p:cNvGrpSpPr/>
        <p:nvPr/>
      </p:nvGrpSpPr>
      <p:grpSpPr>
        <a:xfrm>
          <a:off x="0" y="0"/>
          <a:ext cx="0" cy="0"/>
          <a:chOff x="0" y="0"/>
          <a:chExt cx="0" cy="0"/>
        </a:xfrm>
      </p:grpSpPr>
      <p:sp>
        <p:nvSpPr>
          <p:cNvPr id="2" name="Title"/>
          <p:cNvSpPr>
            <a:spLocks noGrp="1"/>
          </p:cNvSpPr>
          <p:nvPr>
            <p:ph type="title"/>
          </p:nvPr>
        </p:nvSpPr>
        <p:spPr>
          <a:xfrm>
            <a:off x="457200" y="228600"/>
            <a:ext cx="11277600" cy="800000"/>
          </a:xfrm>
        </p:spPr>
        <p:txBody>
          <a:bodyPr rtlCol="0" anchor="ctr"/>
          <a:lstStyle/>
          <a:p>
            <a:r>
              <a:rPr lang="en-US" sz="2800" b="1" dirty="0">
                <a:solidFill>
                  <a:srgbClr val="FFFFFF"/>
                </a:solidFill>
              </a:rPr>
              <a:t>Graphs</a:t>
            </a:r>
          </a:p>
        </p:txBody>
      </p:sp>
      <p:sp>
        <p:nvSpPr>
          <p:cNvPr id="10" name="Box0"/>
          <p:cNvSpPr/>
          <p:nvPr/>
        </p:nvSpPr>
        <p:spPr>
          <a:xfrm>
            <a:off x="457200" y="1143000"/>
            <a:ext cx="3657600" cy="4800600"/>
          </a:xfrm>
          <a:prstGeom prst="rect">
            <a:avLst/>
          </a:prstGeom>
          <a:solidFill>
            <a:srgbClr val="E63946"/>
          </a:solidFill>
          <a:ln>
            <a:noFill/>
          </a:ln>
        </p:spPr>
        <p:txBody>
          <a:bodyPr lIns="182880" tIns="182880" rIns="182880" bIns="182880" rtlCol="0" anchor="t"/>
          <a:lstStyle/>
          <a:p>
            <a:r>
              <a:rPr lang="en-US" sz="4400" b="1" dirty="0">
                <a:solidFill>
                  <a:srgbClr val="FFFFFF"/>
                </a:solidFill>
              </a:rPr>
              <a:t>01</a:t>
            </a:r>
          </a:p>
          <a:p>
            <a:r>
              <a:rPr lang="en-US" sz="2000" b="1" dirty="0">
                <a:solidFill>
                  <a:srgbClr val="FFFFFF"/>
                </a:solidFill>
              </a:rPr>
              <a:t>Vertices &amp; Edges</a:t>
            </a:r>
          </a:p>
          <a:p>
            <a:r>
              <a:rPr lang="en-US" sz="1500" dirty="0">
                <a:solidFill>
                  <a:srgbClr val="F0F0F0"/>
                </a:solidFill>
              </a:rPr>
              <a:t>A graph G = (V, E) consists of a set of Vertices (V) and a set of Edges (E) connecting pairs of vertices.</a:t>
            </a:r>
          </a:p>
        </p:txBody>
      </p:sp>
      <p:sp>
        <p:nvSpPr>
          <p:cNvPr id="12" name="Box1"/>
          <p:cNvSpPr/>
          <p:nvPr/>
        </p:nvSpPr>
        <p:spPr>
          <a:xfrm>
            <a:off x="4343400" y="1143000"/>
            <a:ext cx="3657600" cy="4800600"/>
          </a:xfrm>
          <a:prstGeom prst="rect">
            <a:avLst/>
          </a:prstGeom>
          <a:solidFill>
            <a:srgbClr val="2A9D8F"/>
          </a:solidFill>
          <a:ln>
            <a:noFill/>
          </a:ln>
        </p:spPr>
        <p:txBody>
          <a:bodyPr lIns="182880" tIns="182880" rIns="182880" bIns="182880" rtlCol="0" anchor="t"/>
          <a:lstStyle/>
          <a:p>
            <a:r>
              <a:rPr lang="en-US" sz="4400" b="1" dirty="0">
                <a:solidFill>
                  <a:srgbClr val="FFFFFF"/>
                </a:solidFill>
              </a:rPr>
              <a:t>02</a:t>
            </a:r>
          </a:p>
          <a:p>
            <a:r>
              <a:rPr lang="en-US" sz="2000" b="1" dirty="0">
                <a:solidFill>
                  <a:srgbClr val="FFFFFF"/>
                </a:solidFill>
              </a:rPr>
              <a:t>Flexible Structure</a:t>
            </a:r>
          </a:p>
          <a:p>
            <a:r>
              <a:rPr lang="en-US" sz="1500" dirty="0">
                <a:solidFill>
                  <a:srgbClr val="F0F0F0"/>
                </a:solidFill>
              </a:rPr>
              <a:t>Unlike trees, graphs can have CYCLES, multiple paths between nodes, and no single root node.</a:t>
            </a:r>
          </a:p>
        </p:txBody>
      </p:sp>
      <p:sp>
        <p:nvSpPr>
          <p:cNvPr id="14" name="Box2"/>
          <p:cNvSpPr/>
          <p:nvPr/>
        </p:nvSpPr>
        <p:spPr>
          <a:xfrm>
            <a:off x="8229600" y="1143000"/>
            <a:ext cx="3657600" cy="4800600"/>
          </a:xfrm>
          <a:prstGeom prst="rect">
            <a:avLst/>
          </a:prstGeom>
          <a:solidFill>
            <a:srgbClr val="E9C46A"/>
          </a:solidFill>
          <a:ln>
            <a:noFill/>
          </a:ln>
        </p:spPr>
        <p:txBody>
          <a:bodyPr lIns="182880" tIns="182880" rIns="182880" bIns="182880" rtlCol="0" anchor="t"/>
          <a:lstStyle/>
          <a:p>
            <a:r>
              <a:rPr lang="en-US" sz="4400" b="1" dirty="0">
                <a:solidFill>
                  <a:srgbClr val="FFFFFF"/>
                </a:solidFill>
              </a:rPr>
              <a:t>03</a:t>
            </a:r>
          </a:p>
          <a:p>
            <a:r>
              <a:rPr lang="en-US" sz="2000" b="1" dirty="0">
                <a:solidFill>
                  <a:srgbClr val="FFFFFF"/>
                </a:solidFill>
              </a:rPr>
              <a:t>Directed or Undirected</a:t>
            </a:r>
          </a:p>
          <a:p>
            <a:r>
              <a:rPr lang="en-US" sz="1500" dirty="0">
                <a:solidFill>
                  <a:srgbClr val="F0F0F0"/>
                </a:solidFill>
              </a:rPr>
              <a:t>In directed graphs, edges have direction (A -&gt; B). In undirected graphs, edges go both ways (A - B).</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sp>
        <p:nvSpPr>
          <p:cNvPr id="2" name="Title"/>
          <p:cNvSpPr>
            <a:spLocks noGrp="1"/>
          </p:cNvSpPr>
          <p:nvPr>
            <p:ph type="title"/>
          </p:nvPr>
        </p:nvSpPr>
        <p:spPr>
          <a:xfrm>
            <a:off x="457200" y="228600"/>
            <a:ext cx="11277600" cy="685800"/>
          </a:xfrm>
        </p:spPr>
        <p:txBody>
          <a:bodyPr rtlCol="0" anchor="ctr"/>
          <a:lstStyle/>
          <a:p>
            <a:r>
              <a:rPr lang="en-US" sz="2800" b="1" dirty="0">
                <a:solidFill>
                  <a:srgbClr val="FFFFFF"/>
                </a:solidFill>
              </a:rPr>
              <a:t>Graph Terminology</a:t>
            </a:r>
          </a:p>
        </p:txBody>
      </p:sp>
      <p:sp>
        <p:nvSpPr>
          <p:cNvPr id="10" name="Op0"/>
          <p:cNvSpPr/>
          <p:nvPr/>
        </p:nvSpPr>
        <p:spPr>
          <a:xfrm>
            <a:off x="457200" y="1000000"/>
            <a:ext cx="3657600" cy="2200000"/>
          </a:xfrm>
          <a:prstGeom prst="roundRect">
            <a:avLst>
              <a:gd name="adj" fmla="val 20000"/>
            </a:avLst>
          </a:prstGeom>
          <a:solidFill>
            <a:srgbClr val="E63946"/>
          </a:solidFill>
          <a:ln>
            <a:noFill/>
          </a:ln>
        </p:spPr>
        <p:txBody>
          <a:bodyPr lIns="182880" tIns="182880" rIns="182880" bIns="182880" rtlCol="0" anchor="ctr"/>
          <a:lstStyle/>
          <a:p>
            <a:pPr algn="ctr"/>
            <a:r>
              <a:rPr lang="en-US" sz="1800" b="1" dirty="0">
                <a:solidFill>
                  <a:srgbClr val="FFFFFF"/>
                </a:solidFill>
              </a:rPr>
              <a:t>Vertex (Node)</a:t>
            </a:r>
          </a:p>
          <a:p>
            <a:pPr algn="ctr"/>
            <a:r>
              <a:rPr lang="en-US" sz="1300" dirty="0">
                <a:solidFill>
                  <a:srgbClr val="F0F0F0"/>
                </a:solidFill>
              </a:rPr>
              <a:t>A fundamental unit / point in the graph</a:t>
            </a:r>
          </a:p>
        </p:txBody>
      </p:sp>
      <p:sp>
        <p:nvSpPr>
          <p:cNvPr id="11" name="Op1"/>
          <p:cNvSpPr/>
          <p:nvPr/>
        </p:nvSpPr>
        <p:spPr>
          <a:xfrm>
            <a:off x="4343400" y="1000000"/>
            <a:ext cx="3657600" cy="2200000"/>
          </a:xfrm>
          <a:prstGeom prst="roundRect">
            <a:avLst>
              <a:gd name="adj" fmla="val 20000"/>
            </a:avLst>
          </a:prstGeom>
          <a:solidFill>
            <a:srgbClr val="2A9D8F"/>
          </a:solidFill>
          <a:ln>
            <a:noFill/>
          </a:ln>
        </p:spPr>
        <p:txBody>
          <a:bodyPr lIns="182880" tIns="182880" rIns="182880" bIns="182880" rtlCol="0" anchor="ctr"/>
          <a:lstStyle/>
          <a:p>
            <a:pPr algn="ctr"/>
            <a:r>
              <a:rPr lang="en-US" sz="1800" b="1" dirty="0">
                <a:solidFill>
                  <a:srgbClr val="FFFFFF"/>
                </a:solidFill>
              </a:rPr>
              <a:t>Edge</a:t>
            </a:r>
          </a:p>
          <a:p>
            <a:pPr algn="ctr"/>
            <a:r>
              <a:rPr lang="en-US" sz="1300" dirty="0">
                <a:solidFill>
                  <a:srgbClr val="F0F0F0"/>
                </a:solidFill>
              </a:rPr>
              <a:t>A connection (link) between two vertices</a:t>
            </a:r>
          </a:p>
        </p:txBody>
      </p:sp>
      <p:sp>
        <p:nvSpPr>
          <p:cNvPr id="12" name="Op2"/>
          <p:cNvSpPr/>
          <p:nvPr/>
        </p:nvSpPr>
        <p:spPr>
          <a:xfrm>
            <a:off x="8229600" y="1000000"/>
            <a:ext cx="3657600" cy="2200000"/>
          </a:xfrm>
          <a:prstGeom prst="roundRect">
            <a:avLst>
              <a:gd name="adj" fmla="val 20000"/>
            </a:avLst>
          </a:prstGeom>
          <a:solidFill>
            <a:srgbClr val="E9C46A"/>
          </a:solidFill>
          <a:ln>
            <a:noFill/>
          </a:ln>
        </p:spPr>
        <p:txBody>
          <a:bodyPr lIns="182880" tIns="182880" rIns="182880" bIns="182880" rtlCol="0" anchor="ctr"/>
          <a:lstStyle/>
          <a:p>
            <a:pPr algn="ctr"/>
            <a:r>
              <a:rPr lang="en-US" sz="1800" b="1" dirty="0">
                <a:solidFill>
                  <a:srgbClr val="FFFFFF"/>
                </a:solidFill>
              </a:rPr>
              <a:t>Degree</a:t>
            </a:r>
          </a:p>
          <a:p>
            <a:pPr algn="ctr"/>
            <a:r>
              <a:rPr lang="en-US" sz="1300" dirty="0">
                <a:solidFill>
                  <a:srgbClr val="F0F0F0"/>
                </a:solidFill>
              </a:rPr>
              <a:t>Number of edges connected to a vertex</a:t>
            </a:r>
          </a:p>
        </p:txBody>
      </p:sp>
      <p:sp>
        <p:nvSpPr>
          <p:cNvPr id="13" name="Op3"/>
          <p:cNvSpPr/>
          <p:nvPr/>
        </p:nvSpPr>
        <p:spPr>
          <a:xfrm>
            <a:off x="457200" y="3350000"/>
            <a:ext cx="3657600" cy="2200000"/>
          </a:xfrm>
          <a:prstGeom prst="roundRect">
            <a:avLst>
              <a:gd name="adj" fmla="val 20000"/>
            </a:avLst>
          </a:prstGeom>
          <a:solidFill>
            <a:srgbClr val="457B9D"/>
          </a:solidFill>
          <a:ln>
            <a:noFill/>
          </a:ln>
        </p:spPr>
        <p:txBody>
          <a:bodyPr lIns="182880" tIns="182880" rIns="182880" bIns="182880" rtlCol="0" anchor="ctr"/>
          <a:lstStyle/>
          <a:p>
            <a:pPr algn="ctr"/>
            <a:r>
              <a:rPr lang="en-US" sz="1800" b="1" dirty="0">
                <a:solidFill>
                  <a:srgbClr val="FFFFFF"/>
                </a:solidFill>
              </a:rPr>
              <a:t>Path</a:t>
            </a:r>
          </a:p>
          <a:p>
            <a:pPr algn="ctr"/>
            <a:r>
              <a:rPr lang="en-US" sz="1300" dirty="0">
                <a:solidFill>
                  <a:srgbClr val="F0F0F0"/>
                </a:solidFill>
              </a:rPr>
              <a:t>A sequence of vertices connected by edges</a:t>
            </a:r>
          </a:p>
        </p:txBody>
      </p:sp>
      <p:sp>
        <p:nvSpPr>
          <p:cNvPr id="14" name="Op4"/>
          <p:cNvSpPr/>
          <p:nvPr/>
        </p:nvSpPr>
        <p:spPr>
          <a:xfrm>
            <a:off x="4343400" y="3350000"/>
            <a:ext cx="3657600" cy="2200000"/>
          </a:xfrm>
          <a:prstGeom prst="roundRect">
            <a:avLst>
              <a:gd name="adj" fmla="val 20000"/>
            </a:avLst>
          </a:prstGeom>
          <a:solidFill>
            <a:srgbClr val="6A4C93"/>
          </a:solidFill>
          <a:ln>
            <a:noFill/>
          </a:ln>
        </p:spPr>
        <p:txBody>
          <a:bodyPr lIns="182880" tIns="182880" rIns="182880" bIns="182880" rtlCol="0" anchor="ctr"/>
          <a:lstStyle/>
          <a:p>
            <a:pPr algn="ctr"/>
            <a:r>
              <a:rPr lang="en-US" sz="1800" b="1" dirty="0">
                <a:solidFill>
                  <a:srgbClr val="FFFFFF"/>
                </a:solidFill>
              </a:rPr>
              <a:t>Cycle</a:t>
            </a:r>
          </a:p>
          <a:p>
            <a:pPr algn="ctr"/>
            <a:r>
              <a:rPr lang="en-US" sz="1300" dirty="0">
                <a:solidFill>
                  <a:srgbClr val="F0F0F0"/>
                </a:solidFill>
              </a:rPr>
              <a:t>A path that starts and ends at the same vertex</a:t>
            </a:r>
          </a:p>
        </p:txBody>
      </p:sp>
      <p:sp>
        <p:nvSpPr>
          <p:cNvPr id="15" name="Op5"/>
          <p:cNvSpPr/>
          <p:nvPr/>
        </p:nvSpPr>
        <p:spPr>
          <a:xfrm>
            <a:off x="8229600" y="3350000"/>
            <a:ext cx="3657600" cy="2200000"/>
          </a:xfrm>
          <a:prstGeom prst="roundRect">
            <a:avLst>
              <a:gd name="adj" fmla="val 20000"/>
            </a:avLst>
          </a:prstGeom>
          <a:solidFill>
            <a:srgbClr val="F4A261"/>
          </a:solidFill>
          <a:ln>
            <a:noFill/>
          </a:ln>
        </p:spPr>
        <p:txBody>
          <a:bodyPr lIns="182880" tIns="182880" rIns="182880" bIns="182880" rtlCol="0" anchor="ctr"/>
          <a:lstStyle/>
          <a:p>
            <a:pPr algn="ctr"/>
            <a:r>
              <a:rPr lang="en-US" sz="1800" b="1" dirty="0">
                <a:solidFill>
                  <a:srgbClr val="FFFFFF"/>
                </a:solidFill>
              </a:rPr>
              <a:t>Weight</a:t>
            </a:r>
          </a:p>
          <a:p>
            <a:pPr algn="ctr"/>
            <a:r>
              <a:rPr lang="en-US" sz="1300" dirty="0">
                <a:solidFill>
                  <a:srgbClr val="F0F0F0"/>
                </a:solidFill>
              </a:rPr>
              <a:t>A value associated with an edge (Weighted Graph)</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1A2E44"/>
        </a:solidFill>
        <a:effectLst/>
      </p:bgPr>
    </p:bg>
    <p:spTree>
      <p:nvGrpSpPr>
        <p:cNvPr id="1" name=""/>
        <p:cNvGrpSpPr/>
        <p:nvPr/>
      </p:nvGrpSpPr>
      <p:grpSpPr>
        <a:xfrm>
          <a:off x="0" y="0"/>
          <a:ext cx="0" cy="0"/>
          <a:chOff x="0" y="0"/>
          <a:chExt cx="0" cy="0"/>
        </a:xfrm>
      </p:grpSpPr>
      <p:sp>
        <p:nvSpPr>
          <p:cNvPr id="2" name="Title"/>
          <p:cNvSpPr>
            <a:spLocks noGrp="1"/>
          </p:cNvSpPr>
          <p:nvPr>
            <p:ph type="title"/>
          </p:nvPr>
        </p:nvSpPr>
        <p:spPr>
          <a:xfrm>
            <a:off x="457200" y="228600"/>
            <a:ext cx="11277600" cy="685800"/>
          </a:xfrm>
        </p:spPr>
        <p:txBody>
          <a:bodyPr rtlCol="0" anchor="ctr"/>
          <a:lstStyle/>
          <a:p>
            <a:r>
              <a:rPr lang="en-US" sz="2800" b="1" dirty="0">
                <a:solidFill>
                  <a:srgbClr val="FFFFFF"/>
                </a:solidFill>
              </a:rPr>
              <a:t>Types of Graphs</a:t>
            </a:r>
          </a:p>
        </p:txBody>
      </p:sp>
      <p:sp>
        <p:nvSpPr>
          <p:cNvPr id="3" name="LeftHeader"/>
          <p:cNvSpPr/>
          <p:nvPr/>
        </p:nvSpPr>
        <p:spPr>
          <a:xfrm>
            <a:off x="457200" y="1028700"/>
            <a:ext cx="5486400" cy="571500"/>
          </a:xfrm>
          <a:prstGeom prst="rect">
            <a:avLst/>
          </a:prstGeom>
          <a:solidFill>
            <a:srgbClr val="E63946"/>
          </a:solidFill>
          <a:ln>
            <a:noFill/>
          </a:ln>
        </p:spPr>
        <p:txBody>
          <a:bodyPr lIns="182880" tIns="91440" rIns="182880" bIns="91440" rtlCol="0" anchor="ctr"/>
          <a:lstStyle/>
          <a:p>
            <a:pPr algn="ctr"/>
            <a:r>
              <a:rPr lang="en-US" sz="1800" b="1" dirty="0">
                <a:solidFill>
                  <a:srgbClr val="FFFFFF"/>
                </a:solidFill>
              </a:rPr>
              <a:t>Based on Direction</a:t>
            </a:r>
          </a:p>
        </p:txBody>
      </p:sp>
      <p:sp>
        <p:nvSpPr>
          <p:cNvPr id="4" name="LeftContent"/>
          <p:cNvSpPr/>
          <p:nvPr/>
        </p:nvSpPr>
        <p:spPr>
          <a:xfrm>
            <a:off x="457200" y="1600200"/>
            <a:ext cx="5486400" cy="5029800"/>
          </a:xfrm>
          <a:prstGeom prst="rect">
            <a:avLst/>
          </a:prstGeom>
          <a:solidFill>
            <a:srgbClr val="243B55"/>
          </a:solidFill>
          <a:ln>
            <a:noFill/>
          </a:ln>
        </p:spPr>
        <p:txBody>
          <a:bodyPr lIns="182880" tIns="182880" rIns="182880" bIns="182880" rtlCol="0" anchor="t">
            <a:normAutofit/>
          </a:bodyPr>
          <a:lstStyle/>
          <a:p>
            <a:pPr>
              <a:buChar char="•"/>
            </a:pPr>
            <a:r>
              <a:rPr lang="en-US" sz="1600" dirty="0">
                <a:solidFill>
                  <a:srgbClr val="E0E8F0"/>
                </a:solidFill>
              </a:rPr>
              <a:t>Undirected Graph: Edges have no direction (bidirectional)</a:t>
            </a:r>
          </a:p>
          <a:p>
            <a:pPr>
              <a:buChar char="•"/>
            </a:pPr>
            <a:r>
              <a:rPr lang="en-US" sz="1600" dirty="0">
                <a:solidFill>
                  <a:srgbClr val="E0E8F0"/>
                </a:solidFill>
              </a:rPr>
              <a:t>Directed Graph (Digraph): Edges have a specific direction</a:t>
            </a:r>
          </a:p>
          <a:p>
            <a:pPr>
              <a:buChar char="•"/>
            </a:pPr>
            <a:r>
              <a:rPr lang="en-US" sz="1600" dirty="0">
                <a:solidFill>
                  <a:srgbClr val="E0E8F0"/>
                </a:solidFill>
              </a:rPr>
              <a:t>Weighted Graph: Each edge has an associated weight/cost</a:t>
            </a:r>
          </a:p>
          <a:p>
            <a:pPr>
              <a:buChar char="•"/>
            </a:pPr>
            <a:r>
              <a:rPr lang="en-US" sz="1600" dirty="0">
                <a:solidFill>
                  <a:srgbClr val="E0E8F0"/>
                </a:solidFill>
              </a:rPr>
              <a:t>Unweighted Graph: Edges have no weights</a:t>
            </a:r>
          </a:p>
        </p:txBody>
      </p:sp>
      <p:sp>
        <p:nvSpPr>
          <p:cNvPr id="5" name="RightHeader"/>
          <p:cNvSpPr/>
          <p:nvPr/>
        </p:nvSpPr>
        <p:spPr>
          <a:xfrm>
            <a:off x="6248400" y="1028700"/>
            <a:ext cx="5486400" cy="571500"/>
          </a:xfrm>
          <a:prstGeom prst="rect">
            <a:avLst/>
          </a:prstGeom>
          <a:solidFill>
            <a:srgbClr val="2A9D8F"/>
          </a:solidFill>
          <a:ln>
            <a:noFill/>
          </a:ln>
        </p:spPr>
        <p:txBody>
          <a:bodyPr lIns="182880" tIns="91440" rIns="182880" bIns="91440" rtlCol="0" anchor="ctr"/>
          <a:lstStyle/>
          <a:p>
            <a:pPr algn="ctr"/>
            <a:r>
              <a:rPr lang="en-US" sz="1800" b="1" dirty="0">
                <a:solidFill>
                  <a:srgbClr val="FFFFFF"/>
                </a:solidFill>
              </a:rPr>
              <a:t>Based on Connectivity</a:t>
            </a:r>
          </a:p>
        </p:txBody>
      </p:sp>
      <p:sp>
        <p:nvSpPr>
          <p:cNvPr id="6" name="RightContent"/>
          <p:cNvSpPr/>
          <p:nvPr/>
        </p:nvSpPr>
        <p:spPr>
          <a:xfrm>
            <a:off x="6248400" y="1600200"/>
            <a:ext cx="5486400" cy="5029800"/>
          </a:xfrm>
          <a:prstGeom prst="rect">
            <a:avLst/>
          </a:prstGeom>
          <a:solidFill>
            <a:srgbClr val="243B55"/>
          </a:solidFill>
          <a:ln>
            <a:noFill/>
          </a:ln>
        </p:spPr>
        <p:txBody>
          <a:bodyPr lIns="182880" tIns="182880" rIns="182880" bIns="182880" rtlCol="0" anchor="t">
            <a:normAutofit/>
          </a:bodyPr>
          <a:lstStyle/>
          <a:p>
            <a:pPr>
              <a:buChar char="•"/>
            </a:pPr>
            <a:r>
              <a:rPr lang="en-US" sz="1600" dirty="0">
                <a:solidFill>
                  <a:srgbClr val="E0E8F0"/>
                </a:solidFill>
              </a:rPr>
              <a:t>Connected Graph: There is a path between every pair of vertices</a:t>
            </a:r>
          </a:p>
          <a:p>
            <a:pPr>
              <a:buChar char="•"/>
            </a:pPr>
            <a:r>
              <a:rPr lang="en-US" sz="1600" dirty="0">
                <a:solidFill>
                  <a:srgbClr val="E0E8F0"/>
                </a:solidFill>
              </a:rPr>
              <a:t>Disconnected Graph: Some vertices are not reachable from others</a:t>
            </a:r>
          </a:p>
          <a:p>
            <a:pPr>
              <a:buChar char="•"/>
            </a:pPr>
            <a:r>
              <a:rPr lang="en-US" sz="1600" dirty="0">
                <a:solidFill>
                  <a:srgbClr val="E0E8F0"/>
                </a:solidFill>
              </a:rPr>
              <a:t>Complete Graph: Every vertex is connected to every other vertex</a:t>
            </a:r>
          </a:p>
          <a:p>
            <a:pPr>
              <a:buChar char="•"/>
            </a:pPr>
            <a:r>
              <a:rPr lang="en-US" sz="1600" dirty="0">
                <a:solidFill>
                  <a:srgbClr val="E0E8F0"/>
                </a:solidFill>
              </a:rPr>
              <a:t>Cyclic / Acyclic: Graph with or without cycles (DAG = Directed Acyclic Graph)</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1A2E44"/>
        </a:solidFill>
        <a:effectLst/>
      </p:bgPr>
    </p:bg>
    <p:spTree>
      <p:nvGrpSpPr>
        <p:cNvPr id="1" name=""/>
        <p:cNvGrpSpPr/>
        <p:nvPr/>
      </p:nvGrpSpPr>
      <p:grpSpPr>
        <a:xfrm>
          <a:off x="0" y="0"/>
          <a:ext cx="0" cy="0"/>
          <a:chOff x="0" y="0"/>
          <a:chExt cx="0" cy="0"/>
        </a:xfrm>
      </p:grpSpPr>
      <p:sp>
        <p:nvSpPr>
          <p:cNvPr id="2" name="Title"/>
          <p:cNvSpPr>
            <a:spLocks noGrp="1"/>
          </p:cNvSpPr>
          <p:nvPr>
            <p:ph type="title"/>
          </p:nvPr>
        </p:nvSpPr>
        <p:spPr>
          <a:xfrm>
            <a:off x="457200" y="228600"/>
            <a:ext cx="11277600" cy="685800"/>
          </a:xfrm>
        </p:spPr>
        <p:txBody>
          <a:bodyPr rtlCol="0" anchor="ctr"/>
          <a:lstStyle/>
          <a:p>
            <a:r>
              <a:rPr lang="en-US" sz="2800" b="1" dirty="0">
                <a:solidFill>
                  <a:srgbClr val="FFFFFF"/>
                </a:solidFill>
              </a:rPr>
              <a:t>Graph Representations</a:t>
            </a:r>
          </a:p>
        </p:txBody>
      </p:sp>
      <p:sp>
        <p:nvSpPr>
          <p:cNvPr id="3" name="LeftHeader"/>
          <p:cNvSpPr/>
          <p:nvPr/>
        </p:nvSpPr>
        <p:spPr>
          <a:xfrm>
            <a:off x="457200" y="1028700"/>
            <a:ext cx="5486400" cy="571500"/>
          </a:xfrm>
          <a:prstGeom prst="rect">
            <a:avLst/>
          </a:prstGeom>
          <a:solidFill>
            <a:srgbClr val="E63946"/>
          </a:solidFill>
          <a:ln>
            <a:noFill/>
          </a:ln>
        </p:spPr>
        <p:txBody>
          <a:bodyPr lIns="182880" tIns="91440" rIns="182880" bIns="91440" rtlCol="0" anchor="ctr"/>
          <a:lstStyle/>
          <a:p>
            <a:pPr algn="ctr"/>
            <a:r>
              <a:rPr lang="en-US" sz="1800" b="1" dirty="0">
                <a:solidFill>
                  <a:srgbClr val="FFFFFF"/>
                </a:solidFill>
              </a:rPr>
              <a:t>Adjacency Matrix</a:t>
            </a:r>
          </a:p>
        </p:txBody>
      </p:sp>
      <p:sp>
        <p:nvSpPr>
          <p:cNvPr id="4" name="LeftContent"/>
          <p:cNvSpPr/>
          <p:nvPr/>
        </p:nvSpPr>
        <p:spPr>
          <a:xfrm>
            <a:off x="457200" y="1600200"/>
            <a:ext cx="5486400" cy="5029800"/>
          </a:xfrm>
          <a:prstGeom prst="rect">
            <a:avLst/>
          </a:prstGeom>
          <a:solidFill>
            <a:srgbClr val="243B55"/>
          </a:solidFill>
          <a:ln>
            <a:noFill/>
          </a:ln>
        </p:spPr>
        <p:txBody>
          <a:bodyPr lIns="182880" tIns="182880" rIns="182880" bIns="182880" rtlCol="0" anchor="t">
            <a:normAutofit/>
          </a:bodyPr>
          <a:lstStyle/>
          <a:p>
            <a:pPr>
              <a:buChar char="•"/>
            </a:pPr>
            <a:r>
              <a:rPr lang="en-US" sz="1600" dirty="0">
                <a:solidFill>
                  <a:srgbClr val="E0E8F0"/>
                </a:solidFill>
              </a:rPr>
              <a:t>A 2D array of size V x V</a:t>
            </a:r>
          </a:p>
          <a:p>
            <a:pPr>
              <a:buChar char="•"/>
            </a:pPr>
            <a:r>
              <a:rPr lang="en-US" sz="1600" dirty="0">
                <a:solidFill>
                  <a:srgbClr val="E0E8F0"/>
                </a:solidFill>
              </a:rPr>
              <a:t>matrix[i][j] = 1 if edge exists between vertex i and j</a:t>
            </a:r>
          </a:p>
          <a:p>
            <a:pPr>
              <a:buChar char="•"/>
            </a:pPr>
            <a:r>
              <a:rPr lang="en-US" sz="1600" dirty="0">
                <a:solidFill>
                  <a:srgbClr val="E0E8F0"/>
                </a:solidFill>
              </a:rPr>
              <a:t>Simple but uses O(V^2) space</a:t>
            </a:r>
          </a:p>
          <a:p>
            <a:pPr>
              <a:buChar char="•"/>
            </a:pPr>
            <a:r>
              <a:rPr lang="en-US" sz="1600" dirty="0">
                <a:solidFill>
                  <a:srgbClr val="E0E8F0"/>
                </a:solidFill>
              </a:rPr>
              <a:t>Best for dense graphs</a:t>
            </a:r>
          </a:p>
        </p:txBody>
      </p:sp>
      <p:sp>
        <p:nvSpPr>
          <p:cNvPr id="5" name="RightHeader"/>
          <p:cNvSpPr/>
          <p:nvPr/>
        </p:nvSpPr>
        <p:spPr>
          <a:xfrm>
            <a:off x="6248400" y="1028700"/>
            <a:ext cx="5486400" cy="571500"/>
          </a:xfrm>
          <a:prstGeom prst="rect">
            <a:avLst/>
          </a:prstGeom>
          <a:solidFill>
            <a:srgbClr val="2A9D8F"/>
          </a:solidFill>
          <a:ln>
            <a:noFill/>
          </a:ln>
        </p:spPr>
        <p:txBody>
          <a:bodyPr lIns="182880" tIns="91440" rIns="182880" bIns="91440" rtlCol="0" anchor="ctr"/>
          <a:lstStyle/>
          <a:p>
            <a:pPr algn="ctr"/>
            <a:r>
              <a:rPr lang="en-US" sz="1800" b="1" dirty="0">
                <a:solidFill>
                  <a:srgbClr val="FFFFFF"/>
                </a:solidFill>
              </a:rPr>
              <a:t>Adjacency List</a:t>
            </a:r>
          </a:p>
        </p:txBody>
      </p:sp>
      <p:sp>
        <p:nvSpPr>
          <p:cNvPr id="6" name="RightContent"/>
          <p:cNvSpPr/>
          <p:nvPr/>
        </p:nvSpPr>
        <p:spPr>
          <a:xfrm>
            <a:off x="6248400" y="1600200"/>
            <a:ext cx="5486400" cy="5029800"/>
          </a:xfrm>
          <a:prstGeom prst="rect">
            <a:avLst/>
          </a:prstGeom>
          <a:solidFill>
            <a:srgbClr val="243B55"/>
          </a:solidFill>
          <a:ln>
            <a:noFill/>
          </a:ln>
        </p:spPr>
        <p:txBody>
          <a:bodyPr lIns="182880" tIns="182880" rIns="182880" bIns="182880" rtlCol="0" anchor="t">
            <a:normAutofit/>
          </a:bodyPr>
          <a:lstStyle/>
          <a:p>
            <a:pPr>
              <a:buChar char="•"/>
            </a:pPr>
            <a:r>
              <a:rPr lang="en-US" sz="1600" dirty="0">
                <a:solidFill>
                  <a:srgbClr val="E0E8F0"/>
                </a:solidFill>
              </a:rPr>
              <a:t>Array of linked lists or arrays</a:t>
            </a:r>
          </a:p>
          <a:p>
            <a:pPr>
              <a:buChar char="•"/>
            </a:pPr>
            <a:r>
              <a:rPr lang="en-US" sz="1600" dirty="0">
                <a:solidFill>
                  <a:srgbClr val="E0E8F0"/>
                </a:solidFill>
              </a:rPr>
              <a:t>Each index stores a list of neighbors</a:t>
            </a:r>
          </a:p>
          <a:p>
            <a:pPr>
              <a:buChar char="•"/>
            </a:pPr>
            <a:r>
              <a:rPr lang="en-US" sz="1600" dirty="0">
                <a:solidFill>
                  <a:srgbClr val="E0E8F0"/>
                </a:solidFill>
              </a:rPr>
              <a:t>Space efficient: O(V + E)</a:t>
            </a:r>
          </a:p>
          <a:p>
            <a:pPr>
              <a:buChar char="•"/>
            </a:pPr>
            <a:r>
              <a:rPr lang="en-US" sz="1600" dirty="0">
                <a:solidFill>
                  <a:srgbClr val="E0E8F0"/>
                </a:solidFill>
              </a:rPr>
              <a:t>Best for sparse graphs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2" name="Title"/>
          <p:cNvSpPr>
            <a:spLocks noGrp="1"/>
          </p:cNvSpPr>
          <p:nvPr>
            <p:ph type="title"/>
          </p:nvPr>
        </p:nvSpPr>
        <p:spPr>
          <a:xfrm>
            <a:off x="457200" y="228600"/>
            <a:ext cx="11277600" cy="685800"/>
          </a:xfrm>
        </p:spPr>
        <p:txBody>
          <a:bodyPr rtlCol="0" anchor="ctr"/>
          <a:lstStyle/>
          <a:p>
            <a:r>
              <a:rPr lang="en-US" sz="2800" b="1" dirty="0">
                <a:solidFill>
                  <a:srgbClr val="1A2E44"/>
                </a:solidFill>
              </a:rPr>
              <a:t>Graph Traversal Algorithms</a:t>
            </a:r>
          </a:p>
        </p:txBody>
      </p:sp>
      <p:sp>
        <p:nvSpPr>
          <p:cNvPr id="10" name="Op0"/>
          <p:cNvSpPr/>
          <p:nvPr/>
        </p:nvSpPr>
        <p:spPr>
          <a:xfrm>
            <a:off x="457200" y="1000000"/>
            <a:ext cx="3657600" cy="2200000"/>
          </a:xfrm>
          <a:prstGeom prst="roundRect">
            <a:avLst>
              <a:gd name="adj" fmla="val 20000"/>
            </a:avLst>
          </a:prstGeom>
          <a:solidFill>
            <a:srgbClr val="E63946"/>
          </a:solidFill>
          <a:ln>
            <a:noFill/>
          </a:ln>
        </p:spPr>
        <p:txBody>
          <a:bodyPr lIns="182880" tIns="182880" rIns="182880" bIns="182880" rtlCol="0" anchor="ctr"/>
          <a:lstStyle/>
          <a:p>
            <a:pPr algn="ctr"/>
            <a:r>
              <a:rPr lang="en-US" sz="1800" b="1" dirty="0">
                <a:solidFill>
                  <a:srgbClr val="FFFFFF"/>
                </a:solidFill>
              </a:rPr>
              <a:t>BFS
(Breadth-First Search)</a:t>
            </a:r>
          </a:p>
          <a:p>
            <a:pPr algn="ctr"/>
            <a:r>
              <a:rPr lang="en-US" sz="1300" dirty="0">
                <a:solidFill>
                  <a:srgbClr val="F0F0F0"/>
                </a:solidFill>
              </a:rPr>
              <a:t>Explore level by level from source. Uses a QUEUE. Finds shortest path in unweighted graphs.</a:t>
            </a:r>
          </a:p>
        </p:txBody>
      </p:sp>
      <p:sp>
        <p:nvSpPr>
          <p:cNvPr id="11" name="Op1"/>
          <p:cNvSpPr/>
          <p:nvPr/>
        </p:nvSpPr>
        <p:spPr>
          <a:xfrm>
            <a:off x="4343400" y="1000000"/>
            <a:ext cx="3657600" cy="2200000"/>
          </a:xfrm>
          <a:prstGeom prst="roundRect">
            <a:avLst>
              <a:gd name="adj" fmla="val 20000"/>
            </a:avLst>
          </a:prstGeom>
          <a:solidFill>
            <a:srgbClr val="2A9D8F"/>
          </a:solidFill>
          <a:ln>
            <a:noFill/>
          </a:ln>
        </p:spPr>
        <p:txBody>
          <a:bodyPr lIns="182880" tIns="182880" rIns="182880" bIns="182880" rtlCol="0" anchor="ctr"/>
          <a:lstStyle/>
          <a:p>
            <a:pPr algn="ctr"/>
            <a:r>
              <a:rPr lang="en-US" sz="1800" b="1" dirty="0">
                <a:solidFill>
                  <a:srgbClr val="FFFFFF"/>
                </a:solidFill>
              </a:rPr>
              <a:t>DFS
(Depth-First Search)</a:t>
            </a:r>
          </a:p>
          <a:p>
            <a:pPr algn="ctr"/>
            <a:r>
              <a:rPr lang="en-US" sz="1300" dirty="0">
                <a:solidFill>
                  <a:srgbClr val="F0F0F0"/>
                </a:solidFill>
              </a:rPr>
              <a:t>Explore as far as possible along a branch before backtracking. Uses a STACK or Recursion.</a:t>
            </a:r>
          </a:p>
        </p:txBody>
      </p:sp>
      <p:sp>
        <p:nvSpPr>
          <p:cNvPr id="12" name="Op2"/>
          <p:cNvSpPr/>
          <p:nvPr/>
        </p:nvSpPr>
        <p:spPr>
          <a:xfrm>
            <a:off x="8229600" y="1000000"/>
            <a:ext cx="3657600" cy="2200000"/>
          </a:xfrm>
          <a:prstGeom prst="roundRect">
            <a:avLst>
              <a:gd name="adj" fmla="val 20000"/>
            </a:avLst>
          </a:prstGeom>
          <a:solidFill>
            <a:srgbClr val="E9C46A"/>
          </a:solidFill>
          <a:ln>
            <a:noFill/>
          </a:ln>
        </p:spPr>
        <p:txBody>
          <a:bodyPr lIns="182880" tIns="182880" rIns="182880" bIns="182880" rtlCol="0" anchor="ctr"/>
          <a:lstStyle/>
          <a:p>
            <a:pPr algn="ctr"/>
            <a:r>
              <a:rPr lang="en-US" sz="1800" b="1" dirty="0">
                <a:solidFill>
                  <a:srgbClr val="FFFFFF"/>
                </a:solidFill>
              </a:rPr>
              <a:t>Dijkstra's Algorithm</a:t>
            </a:r>
          </a:p>
          <a:p>
            <a:pPr algn="ctr"/>
            <a:r>
              <a:rPr lang="en-US" sz="1300" dirty="0">
                <a:solidFill>
                  <a:srgbClr val="F0F0F0"/>
                </a:solidFill>
              </a:rPr>
              <a:t>Finds the shortest path in a weighted graph from a source vertex to all others.</a:t>
            </a:r>
          </a:p>
        </p:txBody>
      </p:sp>
      <p:sp>
        <p:nvSpPr>
          <p:cNvPr id="13" name="Op3"/>
          <p:cNvSpPr/>
          <p:nvPr/>
        </p:nvSpPr>
        <p:spPr>
          <a:xfrm>
            <a:off x="457200" y="3350000"/>
            <a:ext cx="3657600" cy="2200000"/>
          </a:xfrm>
          <a:prstGeom prst="roundRect">
            <a:avLst>
              <a:gd name="adj" fmla="val 20000"/>
            </a:avLst>
          </a:prstGeom>
          <a:solidFill>
            <a:srgbClr val="457B9D"/>
          </a:solidFill>
          <a:ln>
            <a:noFill/>
          </a:ln>
        </p:spPr>
        <p:txBody>
          <a:bodyPr lIns="182880" tIns="182880" rIns="182880" bIns="182880" rtlCol="0" anchor="ctr"/>
          <a:lstStyle/>
          <a:p>
            <a:pPr algn="ctr"/>
            <a:r>
              <a:rPr lang="en-US" sz="1800" b="1" dirty="0">
                <a:solidFill>
                  <a:srgbClr val="FFFFFF"/>
                </a:solidFill>
              </a:rPr>
              <a:t>Kruskal's Algorithm</a:t>
            </a:r>
          </a:p>
          <a:p>
            <a:pPr algn="ctr"/>
            <a:r>
              <a:rPr lang="en-US" sz="1300" dirty="0">
                <a:solidFill>
                  <a:srgbClr val="F0F0F0"/>
                </a:solidFill>
              </a:rPr>
              <a:t>Finds the Minimum Spanning Tree by sorting edges and adding smallest non-cycle edges.</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1A2E44"/>
        </a:solidFill>
        <a:effectLst/>
      </p:bgPr>
    </p:bg>
    <p:spTree>
      <p:nvGrpSpPr>
        <p:cNvPr id="1" name=""/>
        <p:cNvGrpSpPr/>
        <p:nvPr/>
      </p:nvGrpSpPr>
      <p:grpSpPr>
        <a:xfrm>
          <a:off x="0" y="0"/>
          <a:ext cx="0" cy="0"/>
          <a:chOff x="0" y="0"/>
          <a:chExt cx="0" cy="0"/>
        </a:xfrm>
      </p:grpSpPr>
      <p:sp>
        <p:nvSpPr>
          <p:cNvPr id="2" name="Title"/>
          <p:cNvSpPr>
            <a:spLocks noGrp="1"/>
          </p:cNvSpPr>
          <p:nvPr>
            <p:ph type="title"/>
          </p:nvPr>
        </p:nvSpPr>
        <p:spPr>
          <a:xfrm>
            <a:off x="457200" y="228600"/>
            <a:ext cx="11277600" cy="800000"/>
          </a:xfrm>
        </p:spPr>
        <p:txBody>
          <a:bodyPr rtlCol="0" anchor="ctr"/>
          <a:lstStyle/>
          <a:p>
            <a:r>
              <a:rPr lang="en-US" sz="2800" b="1" dirty="0">
                <a:solidFill>
                  <a:srgbClr val="FFFFFF"/>
                </a:solidFill>
              </a:rPr>
              <a:t>Applications of Graphs</a:t>
            </a:r>
          </a:p>
        </p:txBody>
      </p:sp>
      <p:sp>
        <p:nvSpPr>
          <p:cNvPr id="3" name="Content"/>
          <p:cNvSpPr/>
          <p:nvPr/>
        </p:nvSpPr>
        <p:spPr>
          <a:xfrm>
            <a:off x="457200" y="1143000"/>
            <a:ext cx="11277600" cy="5486400"/>
          </a:xfrm>
          <a:prstGeom prst="rect">
            <a:avLst/>
          </a:prstGeom>
          <a:noFill/>
          <a:ln>
            <a:noFill/>
          </a:ln>
        </p:spPr>
        <p:txBody>
          <a:bodyPr lIns="91440" tIns="91440" rIns="91440" bIns="91440" rtlCol="0" anchor="t">
            <a:normAutofit/>
          </a:bodyPr>
          <a:lstStyle/>
          <a:p>
            <a:pPr>
              <a:buChar char="•"/>
            </a:pPr>
            <a:r>
              <a:rPr lang="en-US" sz="1800" dirty="0">
                <a:solidFill>
                  <a:srgbClr val="E0E8F0"/>
                </a:solidFill>
              </a:rPr>
              <a:t>Social Networks (Facebook friend connections, LinkedIn)</a:t>
            </a:r>
          </a:p>
          <a:p>
            <a:pPr>
              <a:buChar char="•"/>
            </a:pPr>
            <a:r>
              <a:rPr lang="en-US" sz="1800" dirty="0">
                <a:solidFill>
                  <a:srgbClr val="E0E8F0"/>
                </a:solidFill>
              </a:rPr>
              <a:t>Maps &amp; Navigation (Google Maps, Shortest Path algorithms)</a:t>
            </a:r>
          </a:p>
          <a:p>
            <a:pPr>
              <a:buChar char="•"/>
            </a:pPr>
            <a:r>
              <a:rPr lang="en-US" sz="1800" dirty="0">
                <a:solidFill>
                  <a:srgbClr val="E0E8F0"/>
                </a:solidFill>
              </a:rPr>
              <a:t>Web Page Ranking (Google's PageRank algorithm uses directed graphs)</a:t>
            </a:r>
          </a:p>
          <a:p>
            <a:pPr>
              <a:buChar char="•"/>
            </a:pPr>
            <a:r>
              <a:rPr lang="en-US" sz="1800" dirty="0">
                <a:solidFill>
                  <a:srgbClr val="E0E8F0"/>
                </a:solidFill>
              </a:rPr>
              <a:t>Network Routing (Computer networks, Internet routing protocols)</a:t>
            </a:r>
          </a:p>
          <a:p>
            <a:pPr>
              <a:buChar char="•"/>
            </a:pPr>
            <a:r>
              <a:rPr lang="en-US" sz="1800" dirty="0">
                <a:solidFill>
                  <a:srgbClr val="E0E8F0"/>
                </a:solidFill>
              </a:rPr>
              <a:t>Recommendation Systems (Amazon, Netflix — items connected by similarity)</a:t>
            </a:r>
          </a:p>
          <a:p>
            <a:pPr>
              <a:buChar char="•"/>
            </a:pPr>
            <a:r>
              <a:rPr lang="en-US" sz="1800" dirty="0">
                <a:solidFill>
                  <a:srgbClr val="E0E8F0"/>
                </a:solidFill>
              </a:rPr>
              <a:t>Scheduling Problems (Task dependencies represented as DAGs)</a:t>
            </a:r>
          </a:p>
          <a:p>
            <a:pPr>
              <a:buChar char="•"/>
            </a:pPr>
            <a:r>
              <a:rPr lang="en-US" sz="1800" dirty="0">
                <a:solidFill>
                  <a:srgbClr val="E0E8F0"/>
                </a:solidFill>
              </a:rPr>
              <a:t>Electrical Circuits (Circuit analysis and design)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380</TotalTime>
  <Words>1264</Words>
  <Application>Microsoft Office PowerPoint</Application>
  <PresentationFormat>Widescreen</PresentationFormat>
  <Paragraphs>156</Paragraphs>
  <Slides>54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54</vt:i4>
      </vt:variant>
    </vt:vector>
  </HeadingPairs>
  <TitlesOfParts>
    <vt:vector size="59" baseType="lpstr">
      <vt:lpstr>Aptos</vt:lpstr>
      <vt:lpstr>Aptos Display</vt:lpstr>
      <vt:lpstr>Arial</vt:lpstr>
      <vt:lpstr>Calibri</vt:lpstr>
      <vt:lpstr>Office Theme</vt:lpstr>
      <vt:lpstr>Introduction to Data Structures</vt:lpstr>
      <vt:lpstr>Data Structures Definition</vt:lpstr>
      <vt:lpstr>Classification of Data Structures Data Structures are majorly classified into 2 types</vt:lpstr>
      <vt:lpstr>Detailed Classification</vt:lpstr>
      <vt:lpstr>Linear Data Structures</vt:lpstr>
      <vt:lpstr>Non Linear Data Structures</vt:lpstr>
      <vt:lpstr>Let’s understand the importance of each linear data structure one by one.</vt:lpstr>
      <vt:lpstr>Arrays</vt:lpstr>
      <vt:lpstr>Arrays</vt:lpstr>
      <vt:lpstr>Advantages of Arrays</vt:lpstr>
      <vt:lpstr>Disadvantages of Arrays</vt:lpstr>
      <vt:lpstr>Why deleting or inserting an element in an array is tedious?</vt:lpstr>
      <vt:lpstr>Why deleting or inserting an element in an array is tedious?</vt:lpstr>
      <vt:lpstr>Why deleting or inserting an element in an array is tedious?</vt:lpstr>
      <vt:lpstr>Why deleting or inserting an element in an array is tedious?</vt:lpstr>
      <vt:lpstr>To deal with those disadvantages we have a concept  called</vt:lpstr>
      <vt:lpstr>Linked Lists</vt:lpstr>
      <vt:lpstr>Linked Lists</vt:lpstr>
      <vt:lpstr>Array (Elements at contiguous memory locations)</vt:lpstr>
      <vt:lpstr>Linked List (Elements stored at random memory locations)</vt:lpstr>
      <vt:lpstr>Linked List (Elements stored at random memory locations)</vt:lpstr>
      <vt:lpstr>Linked List Nodes</vt:lpstr>
      <vt:lpstr>Linked List Nodes</vt:lpstr>
      <vt:lpstr>Linked List Nodes</vt:lpstr>
      <vt:lpstr>Linked List Nodes</vt:lpstr>
      <vt:lpstr>Linked List Nodes</vt:lpstr>
      <vt:lpstr>Types of Linked Lists</vt:lpstr>
      <vt:lpstr>Linked List Operations</vt:lpstr>
      <vt:lpstr>Advantages of Linked Lists</vt:lpstr>
      <vt:lpstr>Dynamic and Memory Efficient</vt:lpstr>
      <vt:lpstr>Insertions &amp; Deletions are relatively easy</vt:lpstr>
      <vt:lpstr>Deleting an element from a linked list</vt:lpstr>
      <vt:lpstr>Deleting an element from a linked list</vt:lpstr>
      <vt:lpstr>Disadvantages of linked lists</vt:lpstr>
      <vt:lpstr>Applications of linked lists</vt:lpstr>
      <vt:lpstr>Where are linked lists being used?</vt:lpstr>
      <vt:lpstr>Stacks</vt:lpstr>
      <vt:lpstr>Stack  (Last In First Out (LIFO) or (First In Last Out (FILO)) Structures </vt:lpstr>
      <vt:lpstr>Here’s an example (Organizing Books)</vt:lpstr>
      <vt:lpstr>Inserting 1st Book</vt:lpstr>
      <vt:lpstr>Inserting 2nd Book</vt:lpstr>
      <vt:lpstr>Inserting 3rd Book</vt:lpstr>
      <vt:lpstr>Inserting 4th Book</vt:lpstr>
      <vt:lpstr>Inserting 5th Book</vt:lpstr>
      <vt:lpstr>Now deleting the books inserted</vt:lpstr>
      <vt:lpstr>Deleting Book 5 (Which was inserted as the LAST element into the stack)</vt:lpstr>
      <vt:lpstr>Deleting Book 4</vt:lpstr>
      <vt:lpstr>Deleting Book 3</vt:lpstr>
      <vt:lpstr>Deleting Book 2</vt:lpstr>
      <vt:lpstr>Deleting Book 1 (Thus by making Stack empty)</vt:lpstr>
      <vt:lpstr>Stack Operations</vt:lpstr>
      <vt:lpstr>Stacks can be implemented using</vt:lpstr>
      <vt:lpstr>Applications of Stack</vt:lpstr>
      <vt:lpstr>Queue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 Structures</dc:title>
  <dc:creator>PAVAN B</dc:creator>
  <cp:lastModifiedBy>Nagendra Ganapathi</cp:lastModifiedBy>
  <cp:revision>14</cp:revision>
  <dcterms:created xsi:type="dcterms:W3CDTF">2024-03-10T11:53:28Z</dcterms:created>
  <dcterms:modified xsi:type="dcterms:W3CDTF">2026-01-27T12:53:46Z</dcterms:modified>
</cp:coreProperties>
</file>