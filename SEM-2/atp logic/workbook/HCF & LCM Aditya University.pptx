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Overlock"/>
      <p:regular r:id="rId25"/>
      <p:bold r:id="rId26"/>
      <p:italic r:id="rId27"/>
      <p:boldItalic r:id="rId28"/>
    </p:embeddedFont>
    <p:embeddedFont>
      <p:font typeface="Nuni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47">
          <p15:clr>
            <a:srgbClr val="000000"/>
          </p15:clr>
        </p15:guide>
      </p15:notesGuideLst>
    </p:ext>
    <p:ext uri="GoogleSlidesCustomDataVersion2">
      <go:slidesCustomData xmlns:go="http://customooxmlschemas.google.com/" r:id="rId33" roundtripDataSignature="AMtx7mhGq401mF7ZKSg31WQnMIAR6wC3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1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47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verlock-bold.fntdata"/><Relationship Id="rId25" Type="http://schemas.openxmlformats.org/officeDocument/2006/relationships/font" Target="fonts/Overlock-regular.fntdata"/><Relationship Id="rId28" Type="http://schemas.openxmlformats.org/officeDocument/2006/relationships/font" Target="fonts/Overlock-boldItalic.fntdata"/><Relationship Id="rId27" Type="http://schemas.openxmlformats.org/officeDocument/2006/relationships/font" Target="fonts/Overloc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-italic.fntdata"/><Relationship Id="rId30" Type="http://schemas.openxmlformats.org/officeDocument/2006/relationships/font" Target="fonts/Nunito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Nuni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Multiples of 48 =&gt; 48,96,144,192</a:t>
            </a:r>
            <a:br>
              <a:rPr lang="en-US"/>
            </a:br>
            <a:r>
              <a:rPr lang="en-US"/>
              <a:t>Multiples of 32 =&gt; 32,64,96,128</a:t>
            </a:r>
            <a:br>
              <a:rPr lang="en-US"/>
            </a:br>
            <a:r>
              <a:rPr lang="en-US"/>
              <a:t>Least common multiple is 96. </a:t>
            </a:r>
            <a:br>
              <a:rPr lang="en-US"/>
            </a:br>
            <a:r>
              <a:rPr lang="en-US"/>
              <a:t>Alternate :</a:t>
            </a:r>
            <a:br>
              <a:rPr lang="en-US"/>
            </a:br>
            <a:r>
              <a:rPr lang="en-US"/>
              <a:t>Express 48, 32 as ratio.</a:t>
            </a:r>
            <a:br>
              <a:rPr lang="en-US"/>
            </a:br>
            <a:r>
              <a:rPr lang="en-US"/>
              <a:t>48 : 96</a:t>
            </a:r>
            <a:br>
              <a:rPr lang="en-US"/>
            </a:br>
            <a:r>
              <a:rPr lang="en-US"/>
              <a:t>3 : 2</a:t>
            </a:r>
            <a:br>
              <a:rPr lang="en-US"/>
            </a:br>
            <a:r>
              <a:rPr lang="en-US"/>
              <a:t>48 x 2 = 96</a:t>
            </a:r>
            <a:br>
              <a:rPr lang="en-US"/>
            </a:br>
            <a:r>
              <a:rPr lang="en-US"/>
              <a:t>32 x 3= 96 (cross multiplying the ratios)Hence, the LCM is 96.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question is application of HCF.</a:t>
            </a:r>
            <a:br>
              <a:rPr lang="en-US"/>
            </a:br>
            <a:r>
              <a:rPr lang="en-US"/>
              <a:t>The factors of 12 - 1,2,3,4,6,12</a:t>
            </a:r>
            <a:br>
              <a:rPr lang="en-US"/>
            </a:br>
            <a:r>
              <a:rPr lang="en-US"/>
              <a:t>The factors of 36 - 1,2,3,4,6,9,12,18,36</a:t>
            </a:r>
            <a:br>
              <a:rPr lang="en-US"/>
            </a:br>
            <a:r>
              <a:rPr lang="en-US"/>
              <a:t>The factors of 54 - 1,2,3,6,9,18,54</a:t>
            </a:r>
            <a:br>
              <a:rPr lang="en-US"/>
            </a:br>
            <a:r>
              <a:rPr lang="en-US"/>
              <a:t>The common factors are 1,2,3,6</a:t>
            </a:r>
            <a:br>
              <a:rPr lang="en-US"/>
            </a:br>
            <a:r>
              <a:rPr lang="en-US"/>
              <a:t>The highest value (HCF) is 6.Hence, 6 is the greatest number that will divide 12, 36 and 54 exactly.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Answer:</a:t>
            </a:r>
            <a:endParaRPr b="1"/>
          </a:p>
        </p:txBody>
      </p:sp>
      <p:sp>
        <p:nvSpPr>
          <p:cNvPr id="65" name="Google Shape;6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  1. H.C.F. =H.C.F. of Numerators / L.C.M. of Denominators    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2. L.C.M. =L.C.M. of Numerators / H.C.F. of Denominators</a:t>
            </a:r>
            <a:br>
              <a:rPr lang="en-US"/>
            </a:b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LCM=(LCM of numerator) / (HCF of denominator) 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LCM of (7, 63, 9) / HCF of (9, 8, 7)=63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HCF of numerators=1 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LCM of denominators=504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Thus HCF= 1/504.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the answer is </a:t>
            </a:r>
            <a:r>
              <a:rPr b="1" lang="en-US"/>
              <a:t>63, 1/504.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Answer:B</a:t>
            </a:r>
            <a:endParaRPr b="1"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Required number = H.C.F. of (91 - 43), (183 - 91) and (183 - 43)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= H.C.F. of 48, 92 and 140 =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Answer:B</a:t>
            </a:r>
            <a:endParaRPr/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LCM of 7, 10, 15, 21 and 28 is 420. Now, checking the</a:t>
            </a:r>
            <a:br>
              <a:rPr lang="en-US"/>
            </a:br>
            <a:r>
              <a:rPr lang="en-US"/>
              <a:t>options, greatest number divisible by 420 is 99960.</a:t>
            </a:r>
            <a:endParaRPr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L.C.M. of 2, 4, 6, 8, 10, 12 is 120.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So, the bells will toll together after every 120 seconds(2 minutes).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30 minutes, they will toll together 30/2+ 1 = 16 times.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Greatest number of 4-digits is 9999.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L.C.M. of 15, 25, 40 and 75 is 600.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dividing 9999 by 600, the remainder is 399.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Required number (9999 - 399) = 9600.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Answer:C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HCF[(367-135),(259-135),(367-259)]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HCF(232,124,108) = 4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the greatest number which when it divides 367, 135 and 259 will leave the same remainder in each case is 4.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Thus, the correct answer is </a:t>
            </a:r>
            <a:r>
              <a:rPr b="1" lang="en-US"/>
              <a:t>4</a:t>
            </a:r>
            <a:r>
              <a:rPr lang="en-US"/>
              <a:t>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Answer:A</a:t>
            </a:r>
            <a:endParaRPr b="1"/>
          </a:p>
        </p:txBody>
      </p:sp>
      <p:sp>
        <p:nvSpPr>
          <p:cNvPr id="113" name="Google Shape;11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should meet together at the same point. That common point is nothing but LCM of the given numbers.</a:t>
            </a:r>
            <a:br>
              <a:rPr lang="en-US"/>
            </a:br>
            <a:br>
              <a:rPr lang="en-US"/>
            </a:br>
            <a:r>
              <a:rPr lang="en-US"/>
              <a:t>LCM (11, 22, 44) = 44</a:t>
            </a:r>
            <a:br>
              <a:rPr lang="en-US"/>
            </a:br>
            <a:r>
              <a:rPr lang="en-US"/>
              <a:t>So, after 44 minutes it will happen again.</a:t>
            </a:r>
            <a:br>
              <a:rPr lang="en-US"/>
            </a:br>
            <a:br>
              <a:rPr lang="en-US"/>
            </a:br>
            <a:r>
              <a:rPr lang="en-US"/>
              <a:t>From 10:16 + 44 = 11.60 = 11 A.M.</a:t>
            </a:r>
            <a:endParaRPr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Answer:C</a:t>
            </a:r>
            <a:endParaRPr b="1"/>
          </a:p>
        </p:txBody>
      </p:sp>
      <p:sp>
        <p:nvSpPr>
          <p:cNvPr id="121" name="Google Shape;121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 the numbers be 3x, 4x and 5x.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Then, their L.C.M. = 60x.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So, 60x = 2400 or x = 40.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The numbers are (3 x 40), (4 x 40) and (5 x 40).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required H.C.F. = 40.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Answer:B</a:t>
            </a:r>
            <a:endParaRPr b="1"/>
          </a:p>
        </p:txBody>
      </p:sp>
      <p:sp>
        <p:nvSpPr>
          <p:cNvPr id="129" name="Google Shape;129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Taking the HCF of all the three numbers will give the maximum capacity of the measure.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HCF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3456= 2</a:t>
            </a:r>
            <a:r>
              <a:rPr baseline="30000" lang="en-US"/>
              <a:t>7</a:t>
            </a:r>
            <a:r>
              <a:rPr lang="en-US"/>
              <a:t> * 3</a:t>
            </a:r>
            <a:r>
              <a:rPr baseline="30000" lang="en-US"/>
              <a:t>3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1926= 2 * 3</a:t>
            </a:r>
            <a:r>
              <a:rPr baseline="30000" lang="en-US"/>
              <a:t>2 </a:t>
            </a:r>
            <a:r>
              <a:rPr lang="en-US"/>
              <a:t>* 107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198 = 2 * 3</a:t>
            </a:r>
            <a:r>
              <a:rPr baseline="30000" lang="en-US"/>
              <a:t>2</a:t>
            </a:r>
            <a:r>
              <a:rPr lang="en-US"/>
              <a:t> * 11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Thus, Common factor is 2 * 3 * 3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the answer is 18.</a:t>
            </a:r>
            <a:endParaRPr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Answer:C</a:t>
            </a:r>
            <a:endParaRPr b="1"/>
          </a:p>
        </p:txBody>
      </p:sp>
      <p:sp>
        <p:nvSpPr>
          <p:cNvPr id="137" name="Google Shape;137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Given ratio of the numbers is 13:7.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 the numbers be 13x and 7x.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HCF of 13x and 7x will be x.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Given that: x = 15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sum of two numbers= 13x + 7x = 20x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sum of the two numbers = 20 * 15= </a:t>
            </a:r>
            <a:r>
              <a:rPr b="1" lang="en-US"/>
              <a:t>300</a:t>
            </a:r>
            <a:r>
              <a:rPr lang="en-US"/>
              <a:t>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Application of LCM.</a:t>
            </a:r>
            <a:br>
              <a:rPr lang="en-US"/>
            </a:br>
            <a:r>
              <a:rPr lang="en-US"/>
              <a:t>Divisor         Remainder</a:t>
            </a:r>
            <a:br>
              <a:rPr lang="en-US"/>
            </a:br>
            <a:r>
              <a:rPr lang="en-US"/>
              <a:t>5                         6</a:t>
            </a:r>
            <a:br>
              <a:rPr lang="en-US"/>
            </a:br>
            <a:r>
              <a:rPr lang="en-US"/>
              <a:t>7                         6</a:t>
            </a:r>
            <a:br>
              <a:rPr lang="en-US"/>
            </a:br>
            <a:r>
              <a:rPr lang="en-US"/>
              <a:t>11                       6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Finding the LCM of these 3 numbers result in a number which is exactly divided by the given numbers.</a:t>
            </a:r>
            <a:br>
              <a:rPr lang="en-US"/>
            </a:br>
            <a:r>
              <a:rPr lang="en-US"/>
              <a:t>The required number = LCM of (5,7,11) + 6</a:t>
            </a:r>
            <a:br>
              <a:rPr lang="en-US"/>
            </a:br>
            <a:r>
              <a:rPr lang="en-US"/>
              <a:t>LCM of the given numbers = 385 (they are co-prime numbers)</a:t>
            </a:r>
            <a:br>
              <a:rPr lang="en-US"/>
            </a:br>
            <a:r>
              <a:rPr lang="en-US"/>
              <a:t>LCM + 6 = 385+6 = 391 is the required number.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Application of HCF</a:t>
            </a:r>
            <a:r>
              <a:rPr lang="en-US"/>
              <a:t> (Since, result divides the given numbers)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is given that the remainder is 3 in each case.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we need to subtract 3 from each number and need to find the HCF for the resultant numbers.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So, we need to find the HCF of 711, 432, and 612.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HCF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711 = 3</a:t>
            </a:r>
            <a:r>
              <a:rPr baseline="30000" lang="en-US"/>
              <a:t>2</a:t>
            </a:r>
            <a:r>
              <a:rPr lang="en-US"/>
              <a:t>*79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432 = 2</a:t>
            </a:r>
            <a:r>
              <a:rPr baseline="30000" lang="en-US"/>
              <a:t>4</a:t>
            </a:r>
            <a:r>
              <a:rPr lang="en-US"/>
              <a:t>*3</a:t>
            </a:r>
            <a:r>
              <a:rPr baseline="30000" lang="en-US"/>
              <a:t>3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612 = 2</a:t>
            </a:r>
            <a:r>
              <a:rPr baseline="30000" lang="en-US"/>
              <a:t>2</a:t>
            </a:r>
            <a:r>
              <a:rPr lang="en-US"/>
              <a:t>*3</a:t>
            </a:r>
            <a:r>
              <a:rPr baseline="30000" lang="en-US"/>
              <a:t>2</a:t>
            </a:r>
            <a:r>
              <a:rPr lang="en-US"/>
              <a:t>*17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Thus, the HCF is 9.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Hence, the answer is </a:t>
            </a:r>
            <a:r>
              <a:rPr b="1" lang="en-US"/>
              <a:t>9</a:t>
            </a:r>
            <a:r>
              <a:rPr lang="en-US"/>
              <a:t>.</a:t>
            </a: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Answer:C</a:t>
            </a:r>
            <a:endParaRPr b="1"/>
          </a:p>
        </p:txBody>
      </p:sp>
      <p:sp>
        <p:nvSpPr>
          <p:cNvPr id="161" name="Google Shape;161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 the numbers be 3x and 4x. Then, their H.C.F. = x. So, x =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So, the numbers 12 and 16.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L.C.M. of 12 and 16 = 48.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Answer:C</a:t>
            </a:r>
            <a:endParaRPr b="1"/>
          </a:p>
        </p:txBody>
      </p:sp>
      <p:sp>
        <p:nvSpPr>
          <p:cNvPr id="169" name="Google Shape;169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524000" y="1854199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8" name="Google Shape;1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3592" y="592088"/>
            <a:ext cx="7609140" cy="100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2"/>
          <p:cNvSpPr txBox="1"/>
          <p:nvPr>
            <p:ph idx="10" type="dt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69085" y="1561876"/>
            <a:ext cx="10515600" cy="4531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623392" y="980728"/>
            <a:ext cx="10696612" cy="24288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HCF &amp; LCM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911424" y="4005064"/>
            <a:ext cx="10696612" cy="1656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Department of Training &amp; Placement </a:t>
            </a:r>
            <a:endParaRPr b="0" i="0" sz="2000" u="none" cap="none" strike="noStrike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Aditya University</a:t>
            </a:r>
            <a:endParaRPr b="0" i="0" sz="2000" u="none" cap="none" strike="noStrike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623392" y="1052736"/>
            <a:ext cx="11161240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983432" y="237520"/>
            <a:ext cx="105615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23392" y="1340768"/>
            <a:ext cx="11017224" cy="4615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Definition of LCM and HCF:</a:t>
            </a:r>
            <a:endParaRPr b="1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Lowest Common Multiple (LCM):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least or smallest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common multiple of any two or more given natural numbers are termed as LCM. For example, LCM of 10, 15, and 20 is 60.</a:t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65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1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Highest Common Factor (HCF):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largest or greatest factor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common to any two or more given natural numbers is termed as HCF of given numbers. Also known as GCD (Greatest Common Divisor). For example, HCF of 4, 6 and 8 is 2.</a:t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683082" y="1064166"/>
            <a:ext cx="11161240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983432" y="1052736"/>
            <a:ext cx="10585176" cy="224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HCF and LCM Formulas:</a:t>
            </a:r>
            <a:endParaRPr b="1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LCM × HCF = Product of the Numbers</a:t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LCM of Co-prime Numbers = Product Of The Numbers</a:t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65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045" y="3018155"/>
            <a:ext cx="7518400" cy="192151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 txBox="1"/>
          <p:nvPr/>
        </p:nvSpPr>
        <p:spPr>
          <a:xfrm>
            <a:off x="4094480" y="45085"/>
            <a:ext cx="5061585" cy="158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-US" sz="36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Formulae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Ques.1</a:t>
            </a:r>
            <a:r>
              <a:rPr b="1"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LCM of 48 and 32.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96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16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144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156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Ques.2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greatest number that will divide 12, 36 and 54 exactly.</a:t>
            </a:r>
            <a:endParaRPr b="1" i="1" sz="2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 2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6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 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 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551384" y="1052736"/>
            <a:ext cx="11089232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Ques.3</a:t>
            </a:r>
            <a:r>
              <a:rPr b="1"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LCM and HCF of 7/9, 63/8, 9/7.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a)63, 504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b)63,1/504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c)72,75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d)1/63,504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623392" y="908720"/>
            <a:ext cx="11017224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Find the greatest number that will divide 43, 91 and 183 so as to leave the same remainder in each case.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a)9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b)4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c)7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d)13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8"/>
          <p:cNvSpPr txBox="1"/>
          <p:nvPr/>
        </p:nvSpPr>
        <p:spPr>
          <a:xfrm>
            <a:off x="551384" y="980728"/>
            <a:ext cx="11089232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Ques.5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greatest five-digit number which is divisible by 7, 10, 15, 21 and 28.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a)99540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b)99960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c)99990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d)99988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479376" y="1124744"/>
            <a:ext cx="11161240" cy="489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Ques.6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Six bells commence tolling together and toll at intervals of 2, 4, 6, 8 10 and 12 seconds respectively. In 30 minutes, how many times do they together.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a)4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b)10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c)12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d)16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479376" y="1052736"/>
            <a:ext cx="11161240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Ques.7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greatest number of four digits which is divisible by 15, 25, 40 and 75 is:</a:t>
            </a:r>
            <a:endParaRPr b="0" i="0" sz="25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 9000</a:t>
            </a:r>
            <a:endParaRPr b="0" i="0" sz="25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</a:t>
            </a: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9400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9600 </a:t>
            </a:r>
            <a:b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5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 9800</a:t>
            </a:r>
            <a:endParaRPr b="0" i="0" sz="25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623392" y="980728"/>
            <a:ext cx="11017224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Ques.8</a:t>
            </a:r>
            <a:r>
              <a:rPr b="1"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greatest number which when it divides 367, 135 and 259 will leave the same remainder in each case.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 4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6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 8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2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551384" y="980728"/>
            <a:ext cx="11089232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Ques.9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Three bells are heard at the intervals of 11, 22, 44 minutes respectively. If all bells toll together exactly at 10:16 A.M., they will again be heard together at __________.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 12:00 A.M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11:00 P.M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 11:00 A.M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 11:40 A.M</a:t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478876" y="1417770"/>
            <a:ext cx="11161200" cy="51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Ques.10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Three number are in the ratio of 3 : 4 : 5 and their L.C.M. is 2400. Their H.C.F. is: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 80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</a:t>
            </a: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40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 120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 160</a:t>
            </a:r>
            <a:endParaRPr b="0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91974" y="1053118"/>
            <a:ext cx="11089232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Ques.11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should be the maximum capacity of the measure to draw 3456, 1926 and 198 litres from three different cans?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 6</a:t>
            </a:r>
            <a:b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 12</a:t>
            </a:r>
            <a:b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 18</a:t>
            </a:r>
            <a:endParaRPr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d)24</a:t>
            </a:r>
            <a:endParaRPr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Ques.12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ratio of two numbers is 13:7 and their HCF is 15. What is the sum of two numbers?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 50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66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 44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 300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79376" y="1052736"/>
            <a:ext cx="11161240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QUES.13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least number which when divided by 5, 7 and 11, leaves a remainder 6 in each case.</a:t>
            </a:r>
            <a:endParaRPr b="1" i="1" sz="3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 431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391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378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 385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QUES.14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Find the greatest number which when it divides 714, 435 and 615 will leave 3 as remainder in each case.</a:t>
            </a:r>
            <a:endParaRPr b="1" i="1" sz="2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a)15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b)12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c)9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d)14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96616" y="1268760"/>
            <a:ext cx="10944000" cy="4752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QUE.15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The ratio of two numbers is 3 : 4 and their H.C.F. is 4. Their L.C.M. is: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12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16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 48</a:t>
            </a:r>
            <a:b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 24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983432" y="219113"/>
            <a:ext cx="10561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1156271" y="2295452"/>
            <a:ext cx="9215502" cy="1363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51435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2F5496"/>
                </a:solidFill>
                <a:latin typeface="Overlock"/>
                <a:ea typeface="Overlock"/>
                <a:cs typeface="Overlock"/>
                <a:sym typeface="Overlock"/>
              </a:rPr>
              <a:t>Thank You</a:t>
            </a:r>
            <a:endParaRPr b="1" sz="7200">
              <a:solidFill>
                <a:srgbClr val="2F5496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79" name="Google Shape;179;p19"/>
          <p:cNvSpPr txBox="1"/>
          <p:nvPr>
            <p:ph idx="12" type="sldNum"/>
          </p:nvPr>
        </p:nvSpPr>
        <p:spPr>
          <a:xfrm>
            <a:off x="10272464" y="6376243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2019-12-14T03:50:00Z</dcterms:created>
  <dc:creator>admin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D11F0A3DA03A4FEAAB4CA717F70B2603_12</vt:lpwstr>
  </property>
  <property fmtid="{D5CDD505-2E9C-101B-9397-08002B2CF9AE}" pid="3" name="KSOProductBuildVer">
    <vt:lpwstr>1033-12.2.0.23196</vt:lpwstr>
  </property>
</Properties>
</file>