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0"/>
  </p:notesMasterIdLst>
  <p:handoutMasterIdLst>
    <p:handoutMasterId r:id="rId21"/>
  </p:handoutMasterIdLst>
  <p:sldIdLst>
    <p:sldId id="256" r:id="rId2"/>
    <p:sldId id="430" r:id="rId3"/>
    <p:sldId id="477" r:id="rId4"/>
    <p:sldId id="461" r:id="rId5"/>
    <p:sldId id="463" r:id="rId6"/>
    <p:sldId id="464" r:id="rId7"/>
    <p:sldId id="465" r:id="rId8"/>
    <p:sldId id="466" r:id="rId9"/>
    <p:sldId id="467" r:id="rId10"/>
    <p:sldId id="468" r:id="rId11"/>
    <p:sldId id="469" r:id="rId12"/>
    <p:sldId id="470" r:id="rId13"/>
    <p:sldId id="471" r:id="rId14"/>
    <p:sldId id="472" r:id="rId15"/>
    <p:sldId id="473" r:id="rId16"/>
    <p:sldId id="475" r:id="rId17"/>
    <p:sldId id="474" r:id="rId18"/>
    <p:sldId id="29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7CB79E-3222-4264-2A01-5E0328AE9DC0}" v="5" dt="2026-02-16T08:51:49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63762" autoAdjust="0"/>
  </p:normalViewPr>
  <p:slideViewPr>
    <p:cSldViewPr>
      <p:cViewPr varScale="1">
        <p:scale>
          <a:sx n="50" d="100"/>
          <a:sy n="50" d="100"/>
        </p:scale>
        <p:origin x="1910" y="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359f896-71e2-4dae-b8a3-15cdf97f2f10::" providerId="AD" clId="Web-{5C7CB79E-3222-4264-2A01-5E0328AE9DC0}"/>
    <pc:docChg chg="delSld modSld">
      <pc:chgData name="Guest User" userId="S::urn:spo:tenantanon#7359f896-71e2-4dae-b8a3-15cdf97f2f10::" providerId="AD" clId="Web-{5C7CB79E-3222-4264-2A01-5E0328AE9DC0}" dt="2026-02-16T08:51:36.510" v="3" actId="20577"/>
      <pc:docMkLst>
        <pc:docMk/>
      </pc:docMkLst>
      <pc:sldChg chg="modSp">
        <pc:chgData name="Guest User" userId="S::urn:spo:tenantanon#7359f896-71e2-4dae-b8a3-15cdf97f2f10::" providerId="AD" clId="Web-{5C7CB79E-3222-4264-2A01-5E0328AE9DC0}" dt="2026-02-16T08:51:36.510" v="3" actId="20577"/>
        <pc:sldMkLst>
          <pc:docMk/>
          <pc:sldMk cId="4016939702" sldId="475"/>
        </pc:sldMkLst>
        <pc:spChg chg="mod">
          <ac:chgData name="Guest User" userId="S::urn:spo:tenantanon#7359f896-71e2-4dae-b8a3-15cdf97f2f10::" providerId="AD" clId="Web-{5C7CB79E-3222-4264-2A01-5E0328AE9DC0}" dt="2026-02-16T08:51:36.510" v="3" actId="20577"/>
          <ac:spMkLst>
            <pc:docMk/>
            <pc:sldMk cId="4016939702" sldId="475"/>
            <ac:spMk id="5" creationId="{72D49CDD-EADB-8B88-BB2C-7E0C4DC04010}"/>
          </ac:spMkLst>
        </pc:spChg>
      </pc:sldChg>
      <pc:sldChg chg="del">
        <pc:chgData name="Guest User" userId="S::urn:spo:tenantanon#7359f896-71e2-4dae-b8a3-15cdf97f2f10::" providerId="AD" clId="Web-{5C7CB79E-3222-4264-2A01-5E0328AE9DC0}" dt="2026-02-16T08:50:43.587" v="0"/>
        <pc:sldMkLst>
          <pc:docMk/>
          <pc:sldMk cId="4274152784" sldId="4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349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the percentage to a decimal and multiply: </a:t>
            </a:r>
          </a:p>
          <a:p>
            <a:endParaRPr lang="en-US" dirty="0"/>
          </a:p>
          <a:p>
            <a:r>
              <a:rPr lang="en-US" dirty="0"/>
              <a:t>0.15 X 480 = 72.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26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C28B-62D7-FD5E-555C-DF4A1BC9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8CD0B-C387-7193-F915-F9E0DB0AA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7CF8C-17D4-AE77-C2DE-777E0FC43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 ÷ Whole x 100</a:t>
            </a:r>
          </a:p>
          <a:p>
            <a:endParaRPr lang="en-US" dirty="0"/>
          </a:p>
          <a:p>
            <a:r>
              <a:rPr lang="en-US" dirty="0"/>
              <a:t>27/45 * 100</a:t>
            </a:r>
          </a:p>
          <a:p>
            <a:endParaRPr lang="en-US" dirty="0"/>
          </a:p>
          <a:p>
            <a:r>
              <a:rPr lang="en-US" dirty="0"/>
              <a:t>60%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2E404-A165-0ED3-69D1-60E6C8D32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57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21CB-D6D5-5104-49BE-1C0F2F28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FCC8D-563F-93D0-6ACA-A73CC5C89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085D3-5AE6-E544-855E-5CAF79EC6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: ( Increase ÷ Whole )* 100</a:t>
            </a:r>
          </a:p>
          <a:p>
            <a:r>
              <a:rPr lang="en-US" dirty="0"/>
              <a:t> 200 ÷ 800 * 100</a:t>
            </a:r>
          </a:p>
          <a:p>
            <a:r>
              <a:rPr lang="en-US" dirty="0"/>
              <a:t>= 25 %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EA4A8-C519-41DB-CEF4-84FB6BA2A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90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9780A-03F7-0E27-A37B-6F91BD7A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03A86-A189-11FC-CD6C-B5C1EB6D4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57B7D75-D565-50D1-0D55-6FEDA183BE5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</m:t>
                      </m:r>
                      <m:r>
                        <a:rPr lang="en-I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%−20%=80%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  <a:p>
                <a:pPr rtl="0"/>
                <a14:m>
                  <m:oMath xmlns:m="http://schemas.openxmlformats.org/officeDocument/2006/math">
                    <m:r>
                      <a:rPr lang="en-IN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0.80</m:t>
                    </m:r>
                    <m:r>
                      <a:rPr lang="en-I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m:rPr>
                        <m:nor/>
                      </m:rPr>
                      <a:rPr lang="en-IN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Original</m:t>
                    </m:r>
                    <m:r>
                      <a:rPr lang="en-IN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=96</m:t>
                    </m:r>
                  </m:oMath>
                </a14:m>
                <a:r>
                  <a:rPr lang="en-IN" baseline="0" dirty="0">
                    <a:effectLst/>
                  </a:rPr>
                  <a:t>	 </a:t>
                </a:r>
                <a:r>
                  <a:rPr lang="en-IN" baseline="0" dirty="0">
                    <a:effectLst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Original</m:t>
                    </m:r>
                    <m:r>
                      <a:rPr lang="en-IN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=96÷0.80=120</m:t>
                    </m:r>
                  </m:oMath>
                </a14:m>
                <a:endParaRPr lang="en-IN" dirty="0">
                  <a:effectLst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57B7D75-D565-50D1-0D55-6FEDA183BE5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 rt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100%−20%=80%</a:t>
                </a:r>
                <a:br>
                  <a:rPr lang="en-IN" dirty="0"/>
                </a:br>
                <a:endParaRPr lang="en-IN" dirty="0"/>
              </a:p>
              <a:p>
                <a:pPr rtl="0"/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0.80×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"Original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"=96</a:t>
                </a:r>
                <a:r>
                  <a:rPr lang="en-IN" baseline="0" dirty="0">
                    <a:effectLst/>
                  </a:rPr>
                  <a:t>	 </a:t>
                </a:r>
                <a:r>
                  <a:rPr lang="en-IN" baseline="0" dirty="0">
                    <a:effectLst/>
                    <a:sym typeface="Wingdings" panose="05000000000000000000" pitchFamily="2" charset="2"/>
                  </a:rPr>
                  <a:t> </a:t>
                </a:r>
                <a:r>
                  <a:rPr lang="en-IN" b="0" i="0">
                    <a:latin typeface="Cambria Math" panose="02040503050406030204" pitchFamily="18" charset="0"/>
                  </a:rPr>
                  <a:t>"Original</a:t>
                </a:r>
                <a:r>
                  <a:rPr lang="en-I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"=96÷0.80=120</a:t>
                </a:r>
                <a:endParaRPr lang="en-IN" dirty="0">
                  <a:effectLst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1A8E5-508F-7E95-A5F9-125805FD2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12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A333D-9648-1959-5F86-E7F79FE4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0D8D2-9E98-A36C-CBC7-6456424E1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F3350-B49A-8A30-E316-B6C7775AB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Multiply the decimals: </a:t>
            </a:r>
            <a:r>
              <a:rPr lang="en-US" dirty="0">
                <a:effectLst/>
              </a:rPr>
              <a:t> 0.25×0.40=0.10.</a:t>
            </a:r>
            <a:endParaRPr lang="en-US" dirty="0"/>
          </a:p>
          <a:p>
            <a:r>
              <a:rPr lang="en-US" baseline="0" dirty="0"/>
              <a:t> 0.10 </a:t>
            </a:r>
            <a:r>
              <a:rPr lang="en-US" dirty="0"/>
              <a:t>converted to a percentage is </a:t>
            </a:r>
            <a:r>
              <a:rPr lang="en-US" dirty="0">
                <a:effectLst/>
              </a:rPr>
              <a:t>10%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1A8B3-9D0F-332C-ABA0-584C77020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77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95F7-5089-F21B-708E-B62EDAE6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6C32B-3F2A-6581-BCD9-3FCC98618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3DCF9-3D96-AD80-0937-153F31DC8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the starting price is $100. </a:t>
            </a:r>
          </a:p>
          <a:p>
            <a:r>
              <a:rPr lang="en-US" dirty="0"/>
              <a:t>Monday (+10%): $100 + $10 = $110. </a:t>
            </a:r>
          </a:p>
          <a:p>
            <a:r>
              <a:rPr lang="en-US" dirty="0"/>
              <a:t>Tuesday (-10% of $110): $110 - $11 = $99.</a:t>
            </a:r>
          </a:p>
          <a:p>
            <a:r>
              <a:rPr lang="en-US" dirty="0"/>
              <a:t> $100 to $99 is a 1% decrease.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1E468-E5D6-778E-622F-824796A7E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8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BEC8-6DB1-D85C-4868-05456A66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2D30E-AD8C-C540-B62E-94BD978C6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301D3-729C-6F61-2D43-EE5EC61F8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spend 65%, their savings represent 35% of their salary</a:t>
            </a:r>
          </a:p>
          <a:p>
            <a:r>
              <a:rPr lang="en-US" dirty="0"/>
              <a:t> ( 100% - 65% = 35% )</a:t>
            </a:r>
          </a:p>
          <a:p>
            <a:r>
              <a:rPr lang="en-US" dirty="0"/>
              <a:t>0.35 x Salary = 700</a:t>
            </a:r>
          </a:p>
          <a:p>
            <a:r>
              <a:rPr lang="en-US" dirty="0"/>
              <a:t>Salary = 700 ÷0.35 = 2000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35F2-F6CE-00EF-4DE9-247999402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53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F287F-EFD6-02DC-20B6-2B44E891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EA0F3-AE55-BA5E-FA9B-4BD7F0BF7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2C68A-8D2D-2B04-252D-4172CD16E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 Year 1 : 5000 x 1.20 = 6000</a:t>
            </a:r>
          </a:p>
          <a:p>
            <a:r>
              <a:rPr lang="en-IN" dirty="0"/>
              <a:t> Year 2 : 6000 X 1.25 = 6300</a:t>
            </a:r>
          </a:p>
          <a:p>
            <a:r>
              <a:rPr lang="en-IN" dirty="0"/>
              <a:t>5000 x 1.20 x 1.05 = 6300 </a:t>
            </a:r>
            <a:r>
              <a:rPr lang="en-IN"/>
              <a:t>( Short cut 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82B0A-2C1F-C419-536B-25359EF63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72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0199-ACFD-844D-F40B-9D07E1D6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3D864-9012-8862-ED07-75E3751FB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3A261-FC82-E7B8-5F3F-AB545CDC7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the population is 100</a:t>
            </a:r>
          </a:p>
          <a:p>
            <a:r>
              <a:rPr lang="en-US" dirty="0"/>
              <a:t>.Male Graduates: 20% of 45 = 9.</a:t>
            </a:r>
          </a:p>
          <a:p>
            <a:r>
              <a:rPr lang="en-US" dirty="0"/>
              <a:t>Female Graduates: 10% of 35 = 3.5.</a:t>
            </a:r>
          </a:p>
          <a:p>
            <a:r>
              <a:rPr lang="en-US" dirty="0"/>
              <a:t>Total Graduates: (9+3.5=12.5).Percentage = 12.5%.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BEFD8-EECE-D3AE-DA07-13082E16F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2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E34A-7E71-0FCC-6CEF-06853E2E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1D28A-A53C-1F40-97E6-72B6271D7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AD044-34FA-CFC8-A2E3-9B9B8AC36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amount increased in tax is equal to the amount decreased in net income.</a:t>
            </a:r>
          </a:p>
          <a:p>
            <a:r>
              <a:rPr lang="en-US" dirty="0"/>
              <a:t>19% of tax = 1% of Net Income</a:t>
            </a:r>
          </a:p>
          <a:p>
            <a:endParaRPr lang="en-US" dirty="0"/>
          </a:p>
          <a:p>
            <a:r>
              <a:rPr lang="en-US" dirty="0"/>
              <a:t>Tax ÷ Income =1/19</a:t>
            </a:r>
          </a:p>
          <a:p>
            <a:endParaRPr lang="en-US" dirty="0"/>
          </a:p>
          <a:p>
            <a:r>
              <a:rPr lang="en-US" dirty="0"/>
              <a:t>Total Income = Tax + Net Income =  1+ 19 =20</a:t>
            </a:r>
          </a:p>
          <a:p>
            <a:endParaRPr lang="en-US" dirty="0"/>
          </a:p>
          <a:p>
            <a:r>
              <a:rPr lang="en-US" dirty="0"/>
              <a:t>Tax rate = (1÷20)*100 = 5%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B9F17-BCD4-493A-EA6F-855E2C04D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03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77B1-5DFF-8264-E65B-F4C84847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C5DC2-87FA-B36B-1A73-E11BF2F9A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07D36-8A4D-262E-9CB9-6DF0CD9BE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acid = 20% of 10 = 2L. Let </a:t>
            </a:r>
            <a:r>
              <a:rPr lang="en-US" dirty="0">
                <a:effectLst/>
              </a:rPr>
              <a:t>𝑥 </a:t>
            </a:r>
            <a:r>
              <a:rPr lang="en-US" dirty="0"/>
              <a:t>be the acid added.</a:t>
            </a:r>
          </a:p>
          <a:p>
            <a:endParaRPr lang="en-US" dirty="0"/>
          </a:p>
          <a:p>
            <a:r>
              <a:rPr lang="en-US" dirty="0"/>
              <a:t>New Total = 10 + x : New Acid = 2 + x </a:t>
            </a:r>
          </a:p>
          <a:p>
            <a:endParaRPr lang="en-US" dirty="0"/>
          </a:p>
          <a:p>
            <a:r>
              <a:rPr lang="en-US" dirty="0"/>
              <a:t>Set equation :   (2 + x) / (10 + x) = 0.50</a:t>
            </a:r>
          </a:p>
          <a:p>
            <a:endParaRPr lang="en-US" dirty="0"/>
          </a:p>
          <a:p>
            <a:r>
              <a:rPr lang="en-US" dirty="0"/>
              <a:t>2 + x = 5 + 0.5x </a:t>
            </a:r>
            <a:r>
              <a:rPr lang="en-US" dirty="0">
                <a:sym typeface="Wingdings" panose="05000000000000000000" pitchFamily="2" charset="2"/>
              </a:rPr>
              <a:t> 0.5x = 3  x = 6.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B606E-3363-A8A2-14D1-47683F822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26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833CA-50CA-7C87-3B68-52B927C8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26914-E070-C00C-BCBB-8FFB2ED60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6A492-4EE1-6307-377D-BB5EA2A6A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Let total voters =</a:t>
            </a:r>
            <a:r>
              <a:rPr lang="en-IN" dirty="0">
                <a:effectLst/>
              </a:rPr>
              <a:t>𝑥</a:t>
            </a:r>
            <a:r>
              <a:rPr lang="en-IN" dirty="0"/>
              <a:t>. </a:t>
            </a:r>
          </a:p>
          <a:p>
            <a:r>
              <a:rPr lang="en-IN" dirty="0"/>
              <a:t>Votes polled = </a:t>
            </a:r>
            <a:r>
              <a:rPr lang="en-IN" dirty="0">
                <a:effectLst/>
              </a:rPr>
              <a:t>0.90𝑥</a:t>
            </a:r>
            <a:r>
              <a:rPr lang="en-IN" dirty="0"/>
              <a:t>. </a:t>
            </a:r>
          </a:p>
          <a:p>
            <a:r>
              <a:rPr lang="en-IN" dirty="0"/>
              <a:t>Valid votes =  </a:t>
            </a:r>
            <a:r>
              <a:rPr lang="en-IN" dirty="0">
                <a:effectLst/>
              </a:rPr>
              <a:t>0.90×0.90𝑥=0.81𝑥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Winner got 54%, so Loser got 46% (of valid votes).</a:t>
            </a:r>
            <a:br>
              <a:rPr lang="en-IN" dirty="0"/>
            </a:br>
            <a:r>
              <a:rPr lang="en-IN" dirty="0"/>
              <a:t>Gap = </a:t>
            </a:r>
            <a:r>
              <a:rPr lang="en-IN" dirty="0">
                <a:effectLst/>
              </a:rPr>
              <a:t>54%−46%=8%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Equation: </a:t>
            </a:r>
            <a:r>
              <a:rPr lang="en-IN" dirty="0">
                <a:effectLst/>
              </a:rPr>
              <a:t>0.08×0.81𝑥=1620</a:t>
            </a:r>
            <a:r>
              <a:rPr lang="en-IN" dirty="0"/>
              <a:t>.</a:t>
            </a:r>
            <a:endParaRPr lang="en-IN" dirty="0">
              <a:effectLst/>
            </a:endParaRPr>
          </a:p>
          <a:p>
            <a:pPr rtl="0"/>
            <a:r>
              <a:rPr lang="en-IN" dirty="0">
                <a:effectLst/>
              </a:rPr>
              <a:t>0.0648𝑥=1620→𝑥=𝟐𝟓,𝟎𝟎𝟎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40963-2E07-46EC-50F9-89FCB856E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44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5921-BA8B-1037-6541-E2A50581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20E0A-1767-6FE0-145B-8550D3853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65256-A701-DBAB-FB8A-38F997A72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Marks required to pass = 220 ( scored ) + 20 ( shortfall ).</a:t>
            </a:r>
            <a:br>
              <a:rPr lang="en-IN" dirty="0"/>
            </a:br>
            <a:r>
              <a:rPr lang="en-IN" dirty="0"/>
              <a:t>If 40% = 240, then 1% =  </a:t>
            </a:r>
            <a:r>
              <a:rPr lang="en-IN" dirty="0">
                <a:effectLst/>
              </a:rPr>
              <a:t>240÷40=6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Maximum marks (100%) = </a:t>
            </a:r>
            <a:r>
              <a:rPr lang="en-IN" dirty="0">
                <a:effectLst/>
              </a:rPr>
              <a:t>6×100=𝟔𝟎𝟎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C09A6-BD2D-DB1B-B2CD-7CCFC7846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52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264C0-DD60-5A98-9FC6-45E44FA8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C218C-5AEE-F19D-2AAA-2D01DB1A9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D3853E1-D954-E92F-0729-3BCACFCCE1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 </a:t>
                </a:r>
              </a:p>
              <a:p>
                <a:pPr rtl="0"/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𝑅</m:t>
                            </m:r>
                          </m:num>
                          <m:den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100</m:t>
                            </m:r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𝑅</m:t>
                            </m:r>
                          </m:den>
                        </m:f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100</m:t>
                    </m:r>
                  </m:oMath>
                </a14:m>
                <a:r>
                  <a:rPr lang="en-US" dirty="0">
                    <a:effectLst/>
                  </a:rPr>
                  <a:t>,</a:t>
                </a:r>
                <a:r>
                  <a:rPr lang="ar-AE" dirty="0"/>
                  <a:t> </a:t>
                </a:r>
                <a:r>
                  <a:rPr lang="en-IN" dirty="0"/>
                  <a:t>where  </a:t>
                </a:r>
                <a:r>
                  <a:rPr lang="en-IN" dirty="0">
                    <a:effectLst/>
                  </a:rPr>
                  <a:t>𝑅 </a:t>
                </a:r>
                <a:r>
                  <a:rPr lang="en-IN" dirty="0"/>
                  <a:t>is the rate of increase.</a:t>
                </a:r>
                <a:br>
                  <a:rPr lang="en-IN" dirty="0"/>
                </a:br>
                <a:endParaRPr lang="en-IN" dirty="0"/>
              </a:p>
              <a:p>
                <a:pPr rtl="0"/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lang="ar-AE" sz="120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25</m:t>
                            </m:r>
                          </m:num>
                          <m:den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125</m:t>
                            </m:r>
                          </m:den>
                        </m:f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100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den>
                    </m:f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100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20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%</m:t>
                    </m:r>
                  </m:oMath>
                </a14:m>
                <a:r>
                  <a:rPr lang="ar-AE" dirty="0"/>
                  <a:t>.</a:t>
                </a:r>
                <a:br>
                  <a:rPr lang="ar-AE" dirty="0"/>
                </a:br>
                <a:r>
                  <a:rPr lang="en-IN" i="1" dirty="0"/>
                  <a:t>Logic:</a:t>
                </a:r>
                <a:r>
                  <a:rPr lang="en-IN" dirty="0"/>
                  <a:t> If price goes from $100 to $125, you must reduce spending by $25. </a:t>
                </a:r>
              </a:p>
              <a:p>
                <a:pPr rtl="0"/>
                <a14:m>
                  <m:oMath xmlns:m="http://schemas.openxmlformats.org/officeDocument/2006/math"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25</m:t>
                        </m:r>
                      </m:num>
                      <m:den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125</m:t>
                        </m:r>
                      </m:den>
                    </m:f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20</m:t>
                    </m:r>
                    <m:r>
                      <a:rPr lang="ar-AE" sz="120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%</m:t>
                    </m:r>
                  </m:oMath>
                </a14:m>
                <a:r>
                  <a:rPr lang="ar-AE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D3853E1-D954-E92F-0729-3BCACFCCE1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 </a:t>
                </a:r>
              </a:p>
              <a:p>
                <a:pPr rtl="0"/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(𝑅/(100+𝑅))×100</a:t>
                </a:r>
                <a:r>
                  <a:rPr lang="en-US" dirty="0">
                    <a:effectLst/>
                  </a:rPr>
                  <a:t>,</a:t>
                </a:r>
                <a:r>
                  <a:rPr lang="ar-AE" dirty="0"/>
                  <a:t> </a:t>
                </a:r>
                <a:r>
                  <a:rPr lang="en-IN" dirty="0"/>
                  <a:t>where  </a:t>
                </a:r>
                <a:r>
                  <a:rPr lang="en-IN" dirty="0">
                    <a:effectLst/>
                  </a:rPr>
                  <a:t>𝑅 </a:t>
                </a:r>
                <a:r>
                  <a:rPr lang="en-IN" dirty="0"/>
                  <a:t>is the rate of increase.</a:t>
                </a:r>
                <a:br>
                  <a:rPr lang="en-IN" dirty="0"/>
                </a:br>
                <a:endParaRPr lang="en-IN" dirty="0"/>
              </a:p>
              <a:p>
                <a:pPr rtl="0"/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(25/125)×100=1/5×100=20%</a:t>
                </a:r>
                <a:r>
                  <a:rPr lang="ar-AE" dirty="0"/>
                  <a:t>.</a:t>
                </a:r>
                <a:br>
                  <a:rPr lang="ar-AE" dirty="0"/>
                </a:br>
                <a:r>
                  <a:rPr lang="en-IN" i="1" dirty="0"/>
                  <a:t>Logic:</a:t>
                </a:r>
                <a:r>
                  <a:rPr lang="en-IN" dirty="0"/>
                  <a:t> If price goes from $100 to $125, you must reduce spending by $25. </a:t>
                </a:r>
              </a:p>
              <a:p>
                <a:pPr rtl="0"/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25/125=20%</a:t>
                </a:r>
                <a:r>
                  <a:rPr lang="ar-AE" dirty="0"/>
                  <a:t>.</a:t>
                </a:r>
                <a:endParaRPr lang="en-I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8A1FE-7426-7D70-B5B4-0A6AC04E3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3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16-02-2026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16-02-2026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DBMS                                                                M.Srinu, Asst Professor, CSE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16-02-2026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51384" y="988736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PERCENTAGES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47694" y="4005064"/>
            <a:ext cx="10696612" cy="16561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P. Vijay Kumar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Aptitude Trainer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Department of</a:t>
            </a:r>
            <a:r>
              <a:rPr lang="en-US" sz="2400" baseline="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Training</a:t>
            </a:r>
            <a:r>
              <a:rPr lang="en-US" sz="24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&amp; Placement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24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Aditya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4B12F71-216B-4B4A-9933-2017B3D46F1E}"/>
              </a:ext>
            </a:extLst>
          </p:cNvPr>
          <p:cNvSpPr txBox="1">
            <a:spLocks/>
          </p:cNvSpPr>
          <p:nvPr/>
        </p:nvSpPr>
        <p:spPr>
          <a:xfrm>
            <a:off x="623392" y="1052736"/>
            <a:ext cx="11161240" cy="511256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983432" y="237520"/>
            <a:ext cx="10561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FD2957-E42B-5C18-2E5C-677FF9FDF214}"/>
              </a:ext>
            </a:extLst>
          </p:cNvPr>
          <p:cNvSpPr txBox="1"/>
          <p:nvPr/>
        </p:nvSpPr>
        <p:spPr>
          <a:xfrm>
            <a:off x="623392" y="1366897"/>
            <a:ext cx="109215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Percentage (%) = "Per 100."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It scales any number to a base of 100 for easy comparison.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Decimal </a:t>
            </a:r>
            <a:r>
              <a:rPr lang="en-US" sz="3200" b="1" dirty="0">
                <a:sym typeface="Wingdings" panose="05000000000000000000" pitchFamily="2" charset="2"/>
              </a:rPr>
              <a:t> % : Move decimal right 2 places ( 0.75  75% 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ym typeface="Wingdings" panose="05000000000000000000" pitchFamily="2" charset="2"/>
              </a:rPr>
              <a:t>%  Decimal : Move decimal left 2 places ( 85%  0.85 )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3200" b="1" dirty="0">
              <a:sym typeface="Wingdings" panose="05000000000000000000" pitchFamily="2" charset="2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ym typeface="Wingdings" panose="05000000000000000000" pitchFamily="2" charset="2"/>
              </a:rPr>
              <a:t>Fraction  % : ( Top / Bottom) X 100</a:t>
            </a:r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680478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E3C42-38CD-657E-945A-77C61D32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0BBE8-8FC6-BCBB-D3A6-A0D3565D76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0E3DEC5-22D8-C0E6-3892-DCE7D8795141}"/>
              </a:ext>
            </a:extLst>
          </p:cNvPr>
          <p:cNvSpPr txBox="1">
            <a:spLocks/>
          </p:cNvSpPr>
          <p:nvPr/>
        </p:nvSpPr>
        <p:spPr>
          <a:xfrm>
            <a:off x="623392" y="1052736"/>
            <a:ext cx="11161240" cy="511256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F1EB4-1479-95CD-4B9A-F4CDE84C9D56}"/>
              </a:ext>
            </a:extLst>
          </p:cNvPr>
          <p:cNvSpPr txBox="1"/>
          <p:nvPr/>
        </p:nvSpPr>
        <p:spPr>
          <a:xfrm>
            <a:off x="983432" y="237520"/>
            <a:ext cx="10561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Concept and Definitions</a:t>
            </a:r>
            <a:endParaRPr lang="en-I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CE3F0A-5902-B9DF-2D9B-1A7CF0D7CD3A}"/>
              </a:ext>
            </a:extLst>
          </p:cNvPr>
          <p:cNvSpPr txBox="1"/>
          <p:nvPr/>
        </p:nvSpPr>
        <p:spPr>
          <a:xfrm>
            <a:off x="983432" y="1556792"/>
            <a:ext cx="950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2061" name="Picture 13">
            <a:extLst>
              <a:ext uri="{FF2B5EF4-FFF2-40B4-BE49-F238E27FC236}">
                <a16:creationId xmlns:a16="http://schemas.microsoft.com/office/drawing/2014/main" id="{AE80A3FE-5367-231A-145C-28A7C2498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735A8573-9436-8070-B6B5-16FBC0000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>
            <a:extLst>
              <a:ext uri="{FF2B5EF4-FFF2-40B4-BE49-F238E27FC236}">
                <a16:creationId xmlns:a16="http://schemas.microsoft.com/office/drawing/2014/main" id="{8576D580-4670-B61E-D7D0-AE6ABE3E7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19A07910-D7C1-ACEF-1DFD-9748E904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7">
            <a:extLst>
              <a:ext uri="{FF2B5EF4-FFF2-40B4-BE49-F238E27FC236}">
                <a16:creationId xmlns:a16="http://schemas.microsoft.com/office/drawing/2014/main" id="{440ABCA6-19EA-67B0-E7F9-30D6F8AE2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8">
            <a:extLst>
              <a:ext uri="{FF2B5EF4-FFF2-40B4-BE49-F238E27FC236}">
                <a16:creationId xmlns:a16="http://schemas.microsoft.com/office/drawing/2014/main" id="{CC2AAB7E-5E7C-BA85-B4E8-861F8DBC2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E2DC15-F232-5785-0263-6B444DEDC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208487"/>
              </p:ext>
            </p:extLst>
          </p:nvPr>
        </p:nvGraphicFramePr>
        <p:xfrm>
          <a:off x="263352" y="1820674"/>
          <a:ext cx="11809311" cy="22267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13513">
                  <a:extLst>
                    <a:ext uri="{9D8B030D-6E8A-4147-A177-3AD203B41FA5}">
                      <a16:colId xmlns:a16="http://schemas.microsoft.com/office/drawing/2014/main" val="1475278136"/>
                    </a:ext>
                  </a:extLst>
                </a:gridCol>
                <a:gridCol w="4447899">
                  <a:extLst>
                    <a:ext uri="{9D8B030D-6E8A-4147-A177-3AD203B41FA5}">
                      <a16:colId xmlns:a16="http://schemas.microsoft.com/office/drawing/2014/main" val="153603438"/>
                    </a:ext>
                  </a:extLst>
                </a:gridCol>
                <a:gridCol w="4447899">
                  <a:extLst>
                    <a:ext uri="{9D8B030D-6E8A-4147-A177-3AD203B41FA5}">
                      <a16:colId xmlns:a16="http://schemas.microsoft.com/office/drawing/2014/main" val="1732488702"/>
                    </a:ext>
                  </a:extLst>
                </a:gridCol>
              </a:tblGrid>
              <a:tr h="672222">
                <a:tc>
                  <a:txBody>
                    <a:bodyPr/>
                    <a:lstStyle/>
                    <a:p>
                      <a:r>
                        <a:rPr lang="en-US" sz="2800" b="1" dirty="0"/>
                        <a:t>GOAL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LOGIC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FORMULA</a:t>
                      </a:r>
                      <a:endParaRPr lang="en-IN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40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Find Percentage 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What is the share ?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( Part ÷ Whole ) X 100</a:t>
                      </a:r>
                      <a:endParaRPr lang="en-IN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38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Find the Amount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What is X% of Y ?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( % ÷ 100 ) X 100</a:t>
                      </a:r>
                      <a:endParaRPr lang="en-IN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545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Find &amp; Change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How much growth ?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(Difference ÷ Original )X 100</a:t>
                      </a:r>
                      <a:endParaRPr lang="en-IN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493801"/>
                  </a:ext>
                </a:extLst>
              </a:tr>
            </a:tbl>
          </a:graphicData>
        </a:graphic>
      </p:graphicFrame>
      <p:pic>
        <p:nvPicPr>
          <p:cNvPr id="2049" name="Picture 1">
            <a:extLst>
              <a:ext uri="{FF2B5EF4-FFF2-40B4-BE49-F238E27FC236}">
                <a16:creationId xmlns:a16="http://schemas.microsoft.com/office/drawing/2014/main" id="{294E6566-EF4A-DF97-D4B1-A0C108284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77022ED-DF5C-C738-4F45-A929D1C8B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83FB5D36-E477-399C-D305-67D8C6D9C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1228915-1063-E3E2-ADED-0A7663CBA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E18751EC-BCF1-2F57-EBCC-38B1FC14F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256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D52A-2312-4494-524F-8210ACB2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EFD0-AAED-3B9E-983B-D717A65610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58A6430-F8FF-7E8B-53D5-26EA27816811}"/>
              </a:ext>
            </a:extLst>
          </p:cNvPr>
          <p:cNvSpPr txBox="1">
            <a:spLocks/>
          </p:cNvSpPr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Ques.1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What is 15% of 480? </a:t>
            </a:r>
            <a:endParaRPr lang="en-US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62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72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82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92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55227-08D9-662C-0333-85F6A89D79F2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271026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F163-FCEF-3E46-724E-8F997B44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3D7DC-4287-BD25-C31C-7D988E16C0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54A29A0-E7D2-39A5-F325-169EA4005304}"/>
              </a:ext>
            </a:extLst>
          </p:cNvPr>
          <p:cNvSpPr txBox="1">
            <a:spLocks/>
          </p:cNvSpPr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Ques.2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student scored 27 out of 45 on a test. What is their percentage?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4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40%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 60%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7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5%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DE201-C929-0DBF-BE49-AD4C481B2782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030851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19C4-5C31-B14B-6CBD-69965669F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A9A0C-41E9-4E21-C4DB-1AFE5C0EB4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E455E14-7EE5-92E8-3A48-3638D41C2687}"/>
              </a:ext>
            </a:extLst>
          </p:cNvPr>
          <p:cNvSpPr txBox="1">
            <a:spLocks/>
          </p:cNvSpPr>
          <p:nvPr/>
        </p:nvSpPr>
        <p:spPr>
          <a:xfrm>
            <a:off x="551384" y="1052736"/>
            <a:ext cx="11089232" cy="49685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Ques.3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laptop's price rose from $800 to $1,000. What is the percentage increase?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20%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25%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30%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35%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44EC8-E865-CA56-53B8-013D4FC7FDED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9897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C81C-DF1A-E8E4-48B3-DC290FB2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2F6D5-AEA0-AB61-6AA5-8D4C0B5D61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66B7E71-C383-F259-058A-60A8CA5649D3}"/>
              </a:ext>
            </a:extLst>
          </p:cNvPr>
          <p:cNvSpPr txBox="1">
            <a:spLocks/>
          </p:cNvSpPr>
          <p:nvPr/>
        </p:nvSpPr>
        <p:spPr>
          <a:xfrm>
            <a:off x="623392" y="908720"/>
            <a:ext cx="11017224" cy="51125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Ques.4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After 20% discount, a jacket costs Rs. 96. Find its Original price.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Rs.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116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Rs. 115.20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 120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Rs. 125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EA26A-03C5-EFEF-08F1-8716119C36A4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644391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C422-57FB-2C03-96A0-C5C3EAD6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0D732-3D33-FE24-F36A-AAF6DD4335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8E2C2FE-5842-5A79-867D-37DCB3A15F9A}"/>
              </a:ext>
            </a:extLst>
          </p:cNvPr>
          <p:cNvSpPr txBox="1">
            <a:spLocks/>
          </p:cNvSpPr>
          <p:nvPr/>
        </p:nvSpPr>
        <p:spPr>
          <a:xfrm>
            <a:off x="551384" y="980728"/>
            <a:ext cx="11089232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Ques.5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a town, 40% of the population are adults. 25% of the adults are seniors. What percentage of the total population are seniors?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16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20%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10%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99906-367C-7C1D-4C6E-5D8A6028CF57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577468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8182-E2E9-A263-B838-1A980287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2FDCC-28BA-8B78-03FE-FB92817C24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A9D25F0-E1E4-E55E-38A9-9B58DEFE70B4}"/>
              </a:ext>
            </a:extLst>
          </p:cNvPr>
          <p:cNvSpPr txBox="1">
            <a:spLocks/>
          </p:cNvSpPr>
          <p:nvPr/>
        </p:nvSpPr>
        <p:spPr>
          <a:xfrm>
            <a:off x="479376" y="1124744"/>
            <a:ext cx="11161240" cy="489654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Ques.6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stock price increases by 10% on Monday and then decreases by 10% on Tuesday. What is the net change from the original price?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0 % ( No change )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1 % increase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1 % decrease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2 % decrease</a:t>
            </a:r>
            <a:b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6EBFE-89F0-7D06-C6E5-D60F0CD8BD4B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956303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7420-3AF9-CB4E-A2AE-56738F41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0C62A-F8F3-2518-ACB7-1DD2C7FC57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BF97749-4AB2-A1D4-CE56-0174E97E10FC}"/>
              </a:ext>
            </a:extLst>
          </p:cNvPr>
          <p:cNvSpPr txBox="1">
            <a:spLocks/>
          </p:cNvSpPr>
          <p:nvPr/>
        </p:nvSpPr>
        <p:spPr>
          <a:xfrm>
            <a:off x="479376" y="1052736"/>
            <a:ext cx="11161240" cy="49685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Ques.7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person spends 65% of their salary and saves the remaining $700. What is their total monthly salary?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1800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2000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2200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2500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F92EF-7D49-A387-520E-C3F5ADB8E1A7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52960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DCB1-4690-61F8-A478-0D48DA45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9D92D-3542-48C2-9270-5EA27A6245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238572C-AB4D-07EC-313B-6B746EBA4307}"/>
              </a:ext>
            </a:extLst>
          </p:cNvPr>
          <p:cNvSpPr txBox="1">
            <a:spLocks/>
          </p:cNvSpPr>
          <p:nvPr/>
        </p:nvSpPr>
        <p:spPr>
          <a:xfrm>
            <a:off x="623392" y="980728"/>
            <a:ext cx="11017224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Ques.8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A population of 5,000 increases by 20% in the first year and 5% in the second year. What is the final population?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6400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6300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6150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64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00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5E6EC-08E0-4668-9E7C-DDDC2E268D0B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20235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C0359-A9D4-7EA3-171A-ABFD125B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1BE2A-31AF-0BE0-F4E6-98D6F42D0F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7AE0080-9EE8-2B98-115A-53CE01E96A90}"/>
              </a:ext>
            </a:extLst>
          </p:cNvPr>
          <p:cNvSpPr txBox="1">
            <a:spLocks/>
          </p:cNvSpPr>
          <p:nvPr/>
        </p:nvSpPr>
        <p:spPr>
          <a:xfrm>
            <a:off x="551384" y="980728"/>
            <a:ext cx="11089232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Ques.9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a city, 45% of the population are men and 35% are women. If 20% of the men and 10% of the women are university graduates, what percentage of the total population are graduates?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18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% 	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12.5% 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16.8% 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1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5.3%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67FDD-2B3E-677F-0158-5443A202991E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475534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350F4-6599-D688-3541-344B5CC3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FA9FF-B558-695B-3461-91EAAC1A82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B2B2837-FF1F-BE0D-BA48-CD8B7DED7ABE}"/>
              </a:ext>
            </a:extLst>
          </p:cNvPr>
          <p:cNvSpPr txBox="1">
            <a:spLocks/>
          </p:cNvSpPr>
          <p:nvPr/>
        </p:nvSpPr>
        <p:spPr>
          <a:xfrm>
            <a:off x="479376" y="908720"/>
            <a:ext cx="11161240" cy="51125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Ques.10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If the income tax is increased by 19%, the net income is reduced by 1%. What is the rate of income tax?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5%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6%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7%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3A1C5-C6E0-90B1-A503-77B9C720A97F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50543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8788-7010-62E1-3661-D8757B79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A6EA8-1EBF-8398-C7AF-4E18EA50A8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0EA48DB-4500-E571-F262-FEAC73C10E09}"/>
              </a:ext>
            </a:extLst>
          </p:cNvPr>
          <p:cNvSpPr txBox="1">
            <a:spLocks/>
          </p:cNvSpPr>
          <p:nvPr/>
        </p:nvSpPr>
        <p:spPr>
          <a:xfrm>
            <a:off x="551384" y="980728"/>
            <a:ext cx="11089232" cy="50405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Ques.11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How many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litres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of pure acid must be added to 10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litres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of a 20% acid solution to make it a 50% acid solution?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[Infosys 2025]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4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litres</a:t>
            </a:r>
            <a:b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 5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litres</a:t>
            </a:r>
            <a:b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6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litres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8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litres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C3FB2-F57F-8DE3-31F3-47B048BC9500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555688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4ABB-1C0B-D58D-B4E2-ECB1730FE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ED8D1-B2E2-BB92-DF96-15C1201071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FB53142-8EC6-48B6-DACE-B50EFF6ECCEA}"/>
              </a:ext>
            </a:extLst>
          </p:cNvPr>
          <p:cNvSpPr txBox="1">
            <a:spLocks/>
          </p:cNvSpPr>
          <p:nvPr/>
        </p:nvSpPr>
        <p:spPr>
          <a:xfrm>
            <a:off x="446902" y="1052736"/>
            <a:ext cx="10944000" cy="47525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Ques.12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 an election between two candidates, 10% of voters didn't vote and 10% of the votes polled were invalid. The winning candidate got 54% of the valid votes and won by 1,620 votes. How many total voters were enrolled?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25000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27500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30000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31000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D42C3-C27F-262E-BB8A-DD91B0A72ED8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583285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68AB-705E-0446-14A2-D067DADE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67B97-E0E9-6044-53F8-440C0B8F4B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2D49CDD-EADB-8B88-BB2C-7E0C4DC04010}"/>
              </a:ext>
            </a:extLst>
          </p:cNvPr>
          <p:cNvSpPr txBox="1">
            <a:spLocks/>
          </p:cNvSpPr>
          <p:nvPr/>
        </p:nvSpPr>
        <p:spPr>
          <a:xfrm>
            <a:off x="479376" y="1052736"/>
            <a:ext cx="11161240" cy="496855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Ques.13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 an exam, a student must get 40% to pass. Candidate A gets 220 marks and fails by 20 marks. What are the maximum possible marks for the exam?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Cambria"/>
                <a:cs typeface="Times New Roman"/>
              </a:rPr>
              <a:t>a)  4</a:t>
            </a:r>
            <a:r>
              <a:rPr lang="en-US" dirty="0">
                <a:solidFill>
                  <a:srgbClr val="000000"/>
                </a:solidFill>
                <a:latin typeface="Cambria"/>
                <a:ea typeface="Cambria"/>
                <a:cs typeface="Times New Roman"/>
              </a:rPr>
              <a:t>50</a:t>
            </a:r>
            <a:br>
              <a:rPr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/>
                <a:ea typeface="Cambria"/>
                <a:cs typeface="Times New Roman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/>
                <a:ea typeface="Cambria"/>
                <a:cs typeface="Times New Roman"/>
              </a:rPr>
              <a:t> 600</a:t>
            </a:r>
            <a:endParaRPr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/>
              <a:ea typeface="Cambria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550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520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CBACE-A9D8-B675-AF20-7A7ED324249E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16939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368A-BFF0-2BBF-8283-5606B41A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013BF-C08B-C19E-FFDB-E96F4C604B9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DEFE611-5CB7-11E2-EA42-986D9658A9CA}"/>
              </a:ext>
            </a:extLst>
          </p:cNvPr>
          <p:cNvSpPr txBox="1">
            <a:spLocks/>
          </p:cNvSpPr>
          <p:nvPr/>
        </p:nvSpPr>
        <p:spPr>
          <a:xfrm>
            <a:off x="416422" y="1052736"/>
            <a:ext cx="10944000" cy="47525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Ques.14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The price of sugar rises by 25%. By what percentage must a household reduce its consumption of sugar so that their total expenditure on sugar remains the same?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a)  2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8% 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b)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25 % 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20% 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d) 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18%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D75C64-442B-89A5-04E3-909A13D31F3B}"/>
              </a:ext>
            </a:extLst>
          </p:cNvPr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755647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156271" y="2295452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7129</TotalTime>
  <Words>1339</Words>
  <Application>Microsoft Office PowerPoint</Application>
  <PresentationFormat>Widescreen</PresentationFormat>
  <Paragraphs>170</Paragraphs>
  <Slides>18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Vijay Peddamalla</dc:creator>
  <cp:lastModifiedBy>vijay peddamalla</cp:lastModifiedBy>
  <cp:revision>822</cp:revision>
  <cp:lastPrinted>2023-06-09T04:58:36Z</cp:lastPrinted>
  <dcterms:created xsi:type="dcterms:W3CDTF">2019-12-14T03:50:52Z</dcterms:created>
  <dcterms:modified xsi:type="dcterms:W3CDTF">2026-02-16T08:51:55Z</dcterms:modified>
</cp:coreProperties>
</file>