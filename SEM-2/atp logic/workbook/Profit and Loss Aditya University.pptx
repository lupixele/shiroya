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256" r:id="rId2"/>
    <p:sldId id="430" r:id="rId3"/>
    <p:sldId id="477" r:id="rId4"/>
    <p:sldId id="478" r:id="rId5"/>
    <p:sldId id="461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5" r:id="rId18"/>
    <p:sldId id="474" r:id="rId19"/>
    <p:sldId id="476" r:id="rId20"/>
    <p:sldId id="29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7345" autoAdjust="0"/>
  </p:normalViewPr>
  <p:slideViewPr>
    <p:cSldViewPr>
      <p:cViewPr varScale="1">
        <p:scale>
          <a:sx n="72" d="100"/>
          <a:sy n="72" d="100"/>
        </p:scale>
        <p:origin x="107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3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C.P</a:t>
            </a:r>
            <a:r>
              <a:rPr lang="en-IN" baseline="0" dirty="0"/>
              <a:t> x 130/100=1040</a:t>
            </a:r>
          </a:p>
          <a:p>
            <a:r>
              <a:rPr lang="en-IN" baseline="0" dirty="0"/>
              <a:t>C.P= 1040 x100/130=800</a:t>
            </a:r>
          </a:p>
          <a:p>
            <a:r>
              <a:rPr lang="en-IN" baseline="0" dirty="0"/>
              <a:t>ANS     A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C28B-62D7-FD5E-555C-DF4A1BC9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8CD0B-C387-7193-F915-F9E0DB0AA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7CF8C-17D4-AE77-C2DE-777E0FC43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C.P=5000</a:t>
            </a:r>
          </a:p>
          <a:p>
            <a:r>
              <a:rPr lang="en-IN" dirty="0"/>
              <a:t>S.P=</a:t>
            </a:r>
            <a:r>
              <a:rPr lang="en-IN" baseline="0" dirty="0"/>
              <a:t> 7000 x80/100=5600</a:t>
            </a:r>
          </a:p>
          <a:p>
            <a:r>
              <a:rPr lang="en-IN" baseline="0" dirty="0"/>
              <a:t>Profit- 5600-5000=600</a:t>
            </a:r>
          </a:p>
          <a:p>
            <a:r>
              <a:rPr lang="en-IN" baseline="0" dirty="0"/>
              <a:t>Profit %= 600 x100/5000=12</a:t>
            </a:r>
          </a:p>
          <a:p>
            <a:r>
              <a:rPr lang="en-IN" baseline="0" dirty="0"/>
              <a:t>ANS    A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2E404-A165-0ED3-69D1-60E6C8D3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57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21CB-D6D5-5104-49BE-1C0F2F28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FCC8D-563F-93D0-6ACA-A73CC5C89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85D3-5AE6-E544-855E-5CAF79EC6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When</a:t>
            </a:r>
            <a:r>
              <a:rPr lang="en-IN" baseline="0" dirty="0"/>
              <a:t> article with S’P is less than profit% and when article with S.P is more then loss%</a:t>
            </a:r>
          </a:p>
          <a:p>
            <a:r>
              <a:rPr lang="en-IN" baseline="0" dirty="0"/>
              <a:t>Profit % or loss%= difference of article x100/ article with S.P</a:t>
            </a:r>
          </a:p>
          <a:p>
            <a:r>
              <a:rPr lang="en-IN" baseline="0" dirty="0"/>
              <a:t>                            =( 25-20) X100/20=25</a:t>
            </a:r>
          </a:p>
          <a:p>
            <a:r>
              <a:rPr lang="en-IN" baseline="0" dirty="0"/>
              <a:t>ANS   B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A4A8-C519-41DB-CEF4-84FB6BA2A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90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780A-03F7-0E27-A37B-6F91BD7A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03A86-A189-11FC-CD6C-B5C1EB6D4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B7D75-D565-50D1-0D55-6FEDA183B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2400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X90/100=C.P X108/100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C.P= 2400 X100/90  X 100/108=2000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A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1A8E5-508F-7E95-A5F9-125805FD2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12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333D-9648-1959-5F86-E7F79FE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0D8D2-9E98-A36C-CBC7-6456424E1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F3350-B49A-8A30-E316-B6C7775AB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C.P=900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S.P=1000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X125/100 X  90/100 =1125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Profit=1125-900=225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Profit%= 225 x100/900=25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C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A8B3-9D0F-332C-ABA0-584C77020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77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95F7-5089-F21B-708E-B62EDAE6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6C32B-3F2A-6581-BCD9-3FCC98618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DCF9-3D96-AD80-0937-153F31DC8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(Second)=S.P(First) x(100 plus or minus  profit or loss second)/(100 plus or minus loss or profit first)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= 900 x115/90=1150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A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1E468-E5D6-778E-622F-824796A7E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BEC8-6DB1-D85C-4868-05456A66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2D30E-AD8C-C540-B62E-94BD978C6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301D3-729C-6F61-2D43-EE5EC61F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C.P(First)=2000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S.P(First)=2000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x110/100=2200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C.P(Second)=2000 x90/100=1800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S.P(Second)= 2200+100=2300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Profit=2300-1800=500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Profit%= 500 x100/1800=250/9=27.78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D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35F2-F6CE-00EF-4DE9-247999402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5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287F-EFD6-02DC-20B6-2B44E891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EA0F3-AE55-BA5E-FA9B-4BD7F0BF7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2C68A-8D2D-2B04-252D-4172CD16E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S.P=C.P X120/100= 120/100  C.P</a:t>
            </a:r>
          </a:p>
          <a:p>
            <a:r>
              <a:rPr lang="en-US" dirty="0"/>
              <a:t>C.P X130/100= 120/100 C.P  +40</a:t>
            </a:r>
          </a:p>
          <a:p>
            <a:r>
              <a:rPr lang="en-US" dirty="0"/>
              <a:t>130/100 C.P – 120/100 C.P=40</a:t>
            </a:r>
          </a:p>
          <a:p>
            <a:r>
              <a:rPr lang="en-US" dirty="0"/>
              <a:t>10/100 C.P=40</a:t>
            </a:r>
          </a:p>
          <a:p>
            <a:r>
              <a:rPr lang="en-US" dirty="0"/>
              <a:t>C.P=400</a:t>
            </a:r>
          </a:p>
          <a:p>
            <a:r>
              <a:rPr lang="en-US" dirty="0"/>
              <a:t>ANS</a:t>
            </a:r>
            <a:r>
              <a:rPr lang="en-US" baseline="0" dirty="0"/>
              <a:t>    A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82B0A-2C1F-C419-536B-25359EF63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0199-ACFD-844D-F40B-9D07E1D6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3D864-9012-8862-ED07-75E3751FB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3A261-FC82-E7B8-5F3F-AB545CDC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C.P=1000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X5=5000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S.P(First)= 1000 x20/100  x5  x120/100=1200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S.P(Second)= 1000 x50/100 x5  110/100=2750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S.P(Third)= 1000 x30/100 x5 x95/100=1425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Total</a:t>
            </a:r>
            <a:r>
              <a:rPr lang="en-US" baseline="0" dirty="0"/>
              <a:t> S.P=1200+2750+1425=5375</a:t>
            </a:r>
          </a:p>
          <a:p>
            <a:r>
              <a:rPr lang="en-US" baseline="0" dirty="0"/>
              <a:t>Profit= 5375-5000=375</a:t>
            </a:r>
          </a:p>
          <a:p>
            <a:r>
              <a:rPr lang="en-US" baseline="0" dirty="0"/>
              <a:t>Profit %= 375 x100/5000=7.5=8</a:t>
            </a:r>
          </a:p>
          <a:p>
            <a:r>
              <a:rPr lang="en-US" baseline="0" dirty="0"/>
              <a:t>ANS  A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EFD8-EECE-D3AE-DA07-13082E16F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2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E34A-7E71-0FCC-6CEF-06853E2E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1D28A-A53C-1F40-97E6-72B6271D7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AD044-34FA-CFC8-A2E3-9B9B8AC36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1200-200=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C.P +100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C.P=1000-100=900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A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9F17-BCD4-493A-EA6F-855E2C04D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03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77B1-5DFF-8264-E65B-F4C84847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C5DC2-87FA-B36B-1A73-E11BF2F9A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07D36-8A4D-262E-9CB9-6DF0CD9BE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600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X150/100 X80/100 X90/100=648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ANS</a:t>
            </a:r>
            <a:r>
              <a:rPr lang="en-US" baseline="0" dirty="0"/>
              <a:t>  B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B606E-3363-A8A2-14D1-47683F822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6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33CA-50CA-7C87-3B68-52B927C8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26914-E070-C00C-BCBB-8FFB2ED60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6A492-4EE1-6307-377D-BB5EA2A6A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X125/100 X110/100=2750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  B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40963-2E07-46EC-50F9-89FCB856E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4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5921-BA8B-1037-6541-E2A50581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20E0A-1767-6FE0-145B-8550D3853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65256-A701-DBAB-FB8A-38F997A7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50) x 120/100=600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X=550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    C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C09A6-BD2D-DB1B-B2CD-7CCFC7846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52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64C0-DD60-5A98-9FC6-45E44FA8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C218C-5AEE-F19D-2AAA-2D01DB1A9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853E1-D954-E92F-0729-3BCACFCCE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S.P=4000 x2=80000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C.P=4000 X100/80  + 4000 X100/125=8200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Loss= 200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Loss%= 200x100/8200=100/41=2.439=2.44 %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C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8A1FE-7426-7D70-B5B4-0A6AC04E3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33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DE94-EC5A-A5D9-0E32-F95A7970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15D68-8E3E-A2FE-AE5D-D2C134CBA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79060-AA9D-4A52-9251-4F7B9BCC1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C.P=10000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S.P=10000/100 x 80 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150/1`00 x80/100=9600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Loss=10000-9600=400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Loss%= 400 x100/10000=4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    B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BF55B-86A5-3215-010A-6297C226E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21-01-2026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21-01-2026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M.Srinu, Asst Professor, CSE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21-01-2026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23392" y="980728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PROFIT AND LOSS</a:t>
            </a: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DISCOUNT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1424" y="4005064"/>
            <a:ext cx="10696612" cy="1656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P. Vijay Kumar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Aptitude Trainer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Department of</a:t>
            </a:r>
            <a:r>
              <a:rPr lang="en-US" sz="2000" baseline="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Training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&amp; Placement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0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E0749-CE29-B2E3-24F5-017D6355E7E6}"/>
              </a:ext>
            </a:extLst>
          </p:cNvPr>
          <p:cNvSpPr txBox="1"/>
          <p:nvPr/>
        </p:nvSpPr>
        <p:spPr>
          <a:xfrm>
            <a:off x="623392" y="1340768"/>
            <a:ext cx="1101722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Profit, Loss, &amp; Discount covers core concepts like 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Cost Price (CP)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Selling Price (SP)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Profit/Loss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Marked Price (MP)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and 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Discount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focusing on calculating percentages, finding missing values (CP, SP, MP), and solving problems involving successive discounts, false weights (dishonest shopkeepers), and cash discounts, using formulas like Profit = SP - CP and % Profit = (Profit/CP) x 100. 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7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E3C42-38CD-657E-945A-77C61D32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0BBE8-8FC6-BCBB-D3A6-A0D3565D76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0E3DEC5-22D8-C0E6-3892-DCE7D8795141}"/>
              </a:ext>
            </a:extLst>
          </p:cNvPr>
          <p:cNvSpPr txBox="1">
            <a:spLocks/>
          </p:cNvSpPr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F1EB4-1479-95CD-4B9A-F4CDE84C9D56}"/>
              </a:ext>
            </a:extLst>
          </p:cNvPr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Concept and Definitions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D9828-1DD2-C6BC-B9F8-C3709CC59374}"/>
              </a:ext>
            </a:extLst>
          </p:cNvPr>
          <p:cNvSpPr txBox="1"/>
          <p:nvPr/>
        </p:nvSpPr>
        <p:spPr>
          <a:xfrm>
            <a:off x="983432" y="1052736"/>
            <a:ext cx="10585176" cy="530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Cost Price(CP) 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Price at which an item is bought/produced.</a:t>
            </a:r>
          </a:p>
          <a:p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Selling Price(SP) 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Price at which an item is bought/produced.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Profit(P) : </a:t>
            </a: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 &gt; CP (Profit = SP - CP).</a:t>
            </a:r>
          </a:p>
          <a:p>
            <a:br>
              <a:rPr lang="fr-FR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28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Loss</a:t>
            </a:r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(L): 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CP &gt; SP (Loss = CP - SP).</a:t>
            </a:r>
          </a:p>
          <a:p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Marked Price(MP) 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Labeled/Listed Price before discount.</a:t>
            </a:r>
          </a:p>
          <a:p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Discount :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Reduction from MP (Discount = MP – SP).</a:t>
            </a:r>
          </a:p>
          <a:p>
            <a:endParaRPr lang="en-IN"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5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ACC5B-B4B1-B78D-7328-01B15A72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DAFA9-02D3-563A-7146-5EF4B7964D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1EB1639-57F4-73FB-AA7B-11CC401C931C}"/>
              </a:ext>
            </a:extLst>
          </p:cNvPr>
          <p:cNvSpPr txBox="1">
            <a:spLocks/>
          </p:cNvSpPr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404CC-C19E-56C1-A104-E7DF0E7D8FDE}"/>
              </a:ext>
            </a:extLst>
          </p:cNvPr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Key Formulae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B0AC8-1001-B1E1-0446-9CC154B68892}"/>
              </a:ext>
            </a:extLst>
          </p:cNvPr>
          <p:cNvSpPr txBox="1"/>
          <p:nvPr/>
        </p:nvSpPr>
        <p:spPr>
          <a:xfrm>
            <a:off x="983432" y="908720"/>
            <a:ext cx="100811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Profit %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(Profit / CP) × 100.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Loss %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(Loss / CP) × 100.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Discount %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(Discount / MP) × 100.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Finding SP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With Profit %: SP = CP (1 + Profit%/100).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With Loss %: SP = CP (1 - Loss%/100).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Finding CP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With SP &amp; Profit %: CP = SP / (1 + Profit%/100).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With SP &amp; Loss %: CP = SP / (1 - Loss%/100).</a:t>
            </a:r>
          </a:p>
          <a:p>
            <a:pPr lvl="1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Successive Discounts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Calculating equivalent single discount for multiple discounts (e.g., m% and n%).</a:t>
            </a:r>
          </a:p>
          <a:p>
            <a:pPr lvl="1"/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15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D52A-2312-4494-524F-8210ACB2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EFD0-AAED-3B9E-983B-D717A65610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58A6430-F8FF-7E8B-53D5-26EA27816811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retailer increases the price of a product by 30%. If the new price is ₹1,040, Find the original cost price.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800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750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850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940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55227-08D9-662C-0333-85F6A89D79F2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7102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F163-FCEF-3E46-724E-8F997B44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3D7DC-4287-BD25-C31C-7D988E16C0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54A29A0-E7D2-39A5-F325-169EA4005304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Ques.2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trader buys goods for ₹5,000 and marks them at ₹7,000. He offers a discount of 20% and sells them. What is his profit percentage?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15%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DE201-C929-0DBF-BE49-AD4C481B2782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03085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19C4-5C31-B14B-6CBD-69965669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A9A0C-41E9-4E21-C4DB-1AFE5C0EB4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E455E14-7EE5-92E8-3A48-3638D41C2687}"/>
              </a:ext>
            </a:extLst>
          </p:cNvPr>
          <p:cNvSpPr txBox="1">
            <a:spLocks/>
          </p:cNvSpPr>
          <p:nvPr/>
        </p:nvSpPr>
        <p:spPr>
          <a:xfrm>
            <a:off x="551384" y="1052736"/>
            <a:ext cx="11089232" cy="49685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Ques.3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If selling price of 20 articles equals the cost price of 25 articles, what is the profit percentage?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25%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30%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44EC8-E865-CA56-53B8-013D4FC7FDED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9897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C81C-DF1A-E8E4-48B3-DC290FB2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F6D5-AEA0-AB61-6AA5-8D4C0B5D61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66B7E71-C383-F259-058A-60A8CA5649D3}"/>
              </a:ext>
            </a:extLst>
          </p:cNvPr>
          <p:cNvSpPr txBox="1">
            <a:spLocks/>
          </p:cNvSpPr>
          <p:nvPr/>
        </p:nvSpPr>
        <p:spPr>
          <a:xfrm>
            <a:off x="623392" y="908720"/>
            <a:ext cx="11017224" cy="51125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Ques.4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product is marked at ₹2,400. A shopkeeper gives a discount of 10% on the marked price and earns a profit of 8%. What is the cost price?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 2000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Rs. 2050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2100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2150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A26A-03C5-EFEF-08F1-8716119C36A4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644391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C422-57FB-2C03-96A0-C5C3EAD6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0D732-3D33-FE24-F36A-AAF6DD4335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8E2C2FE-5842-5A79-867D-37DCB3A15F9A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Ques.5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merchant uses a 1 kg weight that is 100 grams less. He marks up his goods by 25% and offers a discount of 10%. What is his overall profit percentage?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16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99906-367C-7C1D-4C6E-5D8A6028CF57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77468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8182-E2E9-A263-B838-1A980287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FDCC-28BA-8B78-03FE-FB92817C24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A9D25F0-E1E4-E55E-38A9-9B58DEFE70B4}"/>
              </a:ext>
            </a:extLst>
          </p:cNvPr>
          <p:cNvSpPr txBox="1">
            <a:spLocks/>
          </p:cNvSpPr>
          <p:nvPr/>
        </p:nvSpPr>
        <p:spPr>
          <a:xfrm>
            <a:off x="479376" y="1124744"/>
            <a:ext cx="11161240" cy="48965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Ques.6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By selling an article at ₹900, a shopkeeper incurs a loss of 10%. At what price should he sell it to gain 15%?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 1150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Rs. 1200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1180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1250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6EBFE-89F0-7D06-C6E5-D60F0CD8BD4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5630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7420-3AF9-CB4E-A2AE-56738F41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0C62A-F8F3-2518-ACB7-1DD2C7FC57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BF97749-4AB2-A1D4-CE56-0174E97E10FC}"/>
              </a:ext>
            </a:extLst>
          </p:cNvPr>
          <p:cNvSpPr txBox="1">
            <a:spLocks/>
          </p:cNvSpPr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Ques.7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man buys an article for ₹2,000 and sells it at 10% profit. If he had bought it at a 10% lower price and sold it at a price ₹100 higher, what would have been his profit percentage?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25%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20%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15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27.78%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F92EF-7D49-A387-520E-C3F5ADB8E1A7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529604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DCB1-4690-61F8-A478-0D48DA45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9D92D-3542-48C2-9270-5EA27A6245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238572C-AB4D-07EC-313B-6B746EBA4307}"/>
              </a:ext>
            </a:extLst>
          </p:cNvPr>
          <p:cNvSpPr txBox="1">
            <a:spLocks/>
          </p:cNvSpPr>
          <p:nvPr/>
        </p:nvSpPr>
        <p:spPr>
          <a:xfrm>
            <a:off x="623392" y="980728"/>
            <a:ext cx="11017224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Ques.8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man sells an article at 20% profit. If he had sold it for ₹40 more, his profit percentage would have been 30%. What is the cost price?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Rs.400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Rs.360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Rs.320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Rs.300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5E6EC-08E0-4668-9E7C-DDDC2E268D0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202353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0359-A9D4-7EA3-171A-ABFD125B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BE2A-31AF-0BE0-F4E6-98D6F42D0F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7AE0080-9EE8-2B98-115A-53CE01E96A90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Ques.9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trader bought 1,000 articles at ₹5 each. He sold 20% of the articles at a 20% profit, 50% of the articles at a 10% profit, and the rest at a 5% loss. What is his overall profit or loss percentage?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8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 Profit	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7% Profit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6% Profit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5% Profit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67FDD-2B3E-677F-0158-5443A202991E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7553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50F4-6599-D688-3541-344B5CC3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A9FF-B558-695B-3461-91EAAC1A82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B2B2837-FF1F-BE0D-BA48-CD8B7DED7ABE}"/>
              </a:ext>
            </a:extLst>
          </p:cNvPr>
          <p:cNvSpPr txBox="1">
            <a:spLocks/>
          </p:cNvSpPr>
          <p:nvPr/>
        </p:nvSpPr>
        <p:spPr>
          <a:xfrm>
            <a:off x="479376" y="908720"/>
            <a:ext cx="11161240" cy="51125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Ques.10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marked price of an article is ₹1,200, and the shopkeeper gives a discount of ₹200 while still earning a profit of ₹100. What is the cost price?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 900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Rs. 1000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850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800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3A1C5-C6E0-90B1-A503-77B9C720A97F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50543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8788-7010-62E1-3661-D8757B79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6EA8-1EBF-8398-C7AF-4E18EA50A8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EA48DB-4500-E571-F262-FEAC73C10E09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Ques.11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retailer buys an article at ₹600 and marks it 50% above the cost price. He gives two successive discounts of 20% and 10%. What is his final selling price?						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[Infosys 2025]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 900</a:t>
            </a:r>
            <a:b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 Rs. 1000</a:t>
            </a:r>
            <a:b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Rs. 850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Rs. 800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C3FB2-F57F-8DE3-31F3-47B048BC9500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55688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4ABB-1C0B-D58D-B4E2-ECB1730F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ED8D1-B2E2-BB92-DF96-15C1201071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FB53142-8EC6-48B6-DACE-B50EFF6ECCEA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Ques.12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man buys an article for ₹2,000 and sells it to his friend at a profit of 25%. His friend sells it to another person at a profit of 10%. What is the final selling price of the article?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a)  Rs.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2500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Rs. 2750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c)  Rs. 3000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d)  Rs. 3100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D42C3-C27F-262E-BB8A-DD91B0A72ED8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583285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68AB-705E-0446-14A2-D067DADE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67B97-E0E9-6044-53F8-440C0B8F4B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2D49CDD-EADB-8B88-BB2C-7E0C4DC04010}"/>
              </a:ext>
            </a:extLst>
          </p:cNvPr>
          <p:cNvSpPr txBox="1">
            <a:spLocks/>
          </p:cNvSpPr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QUES.13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shopkeeper reduces the cost price of an article by ₹50 and still makes a profit of 20% by selling it at ₹600. What was the original cost price?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a)  Rs. 4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Rs. 50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c)  Rs.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550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d)  Rs.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CBACE-A9D8-B675-AF20-7A7ED324249E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16939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368A-BFF0-2BBF-8283-5606B41A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013BF-C08B-C19E-FFDB-E96F4C604B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DEFE611-5CB7-11E2-EA42-986D9658A9CA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QUES.14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shopkeeper sells two articles at ₹4,000 each. On one, he incurs a loss of 20%, and on the other, he gains 25%. What is his overall gain or loss percentage?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a) 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1.08% Gain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2.8 % Gain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c) 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2.44% Loss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d) 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1.08% Loss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75C64-442B-89A5-04E3-909A13D31F3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755647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6977-7B27-F131-CF83-4A560A44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4ABC-CF84-8D77-EFEC-6479C63062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686B7B2-7747-1096-A25A-91B0BD25B8C3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QUE.15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trader purchases 100 identical items at a total cost of ₹10,000. He marks each item at 50% above its cost price. Due to defects, 20 items are unsellable and discarded. The remaining items are sold at a discount of 20% on the marked price. What is the overall profit or loss percentage for the trader?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a) 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Profit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4% Loss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c) 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12% Profit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d)  8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Loss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BACA9-F807-55EE-F95C-D115BFDAB738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356295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156271" y="2295452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7043</TotalTime>
  <Words>1669</Words>
  <Application>Microsoft Office PowerPoint</Application>
  <PresentationFormat>Widescreen</PresentationFormat>
  <Paragraphs>183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Maiandra GD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M.Srinu</cp:lastModifiedBy>
  <cp:revision>815</cp:revision>
  <cp:lastPrinted>2023-06-09T04:58:36Z</cp:lastPrinted>
  <dcterms:created xsi:type="dcterms:W3CDTF">2019-12-14T03:50:52Z</dcterms:created>
  <dcterms:modified xsi:type="dcterms:W3CDTF">2026-01-21T10:23:54Z</dcterms:modified>
</cp:coreProperties>
</file>