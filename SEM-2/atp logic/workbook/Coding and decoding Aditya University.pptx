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9"/>
  </p:notesMasterIdLst>
  <p:handoutMasterIdLst>
    <p:handoutMasterId r:id="rId30"/>
  </p:handoutMasterIdLst>
  <p:sldIdLst>
    <p:sldId id="256" r:id="rId2"/>
    <p:sldId id="430" r:id="rId3"/>
    <p:sldId id="477" r:id="rId4"/>
    <p:sldId id="461" r:id="rId5"/>
    <p:sldId id="479" r:id="rId6"/>
    <p:sldId id="480" r:id="rId7"/>
    <p:sldId id="481" r:id="rId8"/>
    <p:sldId id="482" r:id="rId9"/>
    <p:sldId id="483" r:id="rId10"/>
    <p:sldId id="484" r:id="rId11"/>
    <p:sldId id="485" r:id="rId12"/>
    <p:sldId id="486" r:id="rId13"/>
    <p:sldId id="487" r:id="rId14"/>
    <p:sldId id="488" r:id="rId15"/>
    <p:sldId id="489" r:id="rId16"/>
    <p:sldId id="490" r:id="rId17"/>
    <p:sldId id="491" r:id="rId18"/>
    <p:sldId id="492" r:id="rId19"/>
    <p:sldId id="493" r:id="rId20"/>
    <p:sldId id="494" r:id="rId21"/>
    <p:sldId id="495" r:id="rId22"/>
    <p:sldId id="496" r:id="rId23"/>
    <p:sldId id="497" r:id="rId24"/>
    <p:sldId id="498" r:id="rId25"/>
    <p:sldId id="499" r:id="rId26"/>
    <p:sldId id="500" r:id="rId27"/>
    <p:sldId id="29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7B172D-D56E-1BCA-380B-EB86A93ED593}" v="3" dt="2026-03-02T08:35:03.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9903" autoAdjust="0"/>
  </p:normalViewPr>
  <p:slideViewPr>
    <p:cSldViewPr>
      <p:cViewPr varScale="1">
        <p:scale>
          <a:sx n="70" d="100"/>
          <a:sy n="70" d="100"/>
        </p:scale>
        <p:origin x="1142" y="7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8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ddamalla Vijay Kumar" userId="S::vijaykumarp@adityauniversity.in::b7949eae-ac85-4676-a6a6-082abda126ce" providerId="AD" clId="Web-{F87B172D-D56E-1BCA-380B-EB86A93ED593}"/>
    <pc:docChg chg="modSld">
      <pc:chgData name="Peddamalla Vijay Kumar" userId="S::vijaykumarp@adityauniversity.in::b7949eae-ac85-4676-a6a6-082abda126ce" providerId="AD" clId="Web-{F87B172D-D56E-1BCA-380B-EB86A93ED593}" dt="2026-03-02T08:35:03.508" v="2" actId="20577"/>
      <pc:docMkLst>
        <pc:docMk/>
      </pc:docMkLst>
      <pc:sldChg chg="modSp">
        <pc:chgData name="Peddamalla Vijay Kumar" userId="S::vijaykumarp@adityauniversity.in::b7949eae-ac85-4676-a6a6-082abda126ce" providerId="AD" clId="Web-{F87B172D-D56E-1BCA-380B-EB86A93ED593}" dt="2026-03-02T08:35:03.508" v="2" actId="20577"/>
        <pc:sldMkLst>
          <pc:docMk/>
          <pc:sldMk cId="2113509576" sldId="496"/>
        </pc:sldMkLst>
        <pc:spChg chg="mod">
          <ac:chgData name="Peddamalla Vijay Kumar" userId="S::vijaykumarp@adityauniversity.in::b7949eae-ac85-4676-a6a6-082abda126ce" providerId="AD" clId="Web-{F87B172D-D56E-1BCA-380B-EB86A93ED593}" dt="2026-03-02T08:35:03.508" v="2" actId="20577"/>
          <ac:spMkLst>
            <pc:docMk/>
            <pc:sldMk cId="2113509576" sldId="496"/>
            <ac:spMk id="5" creationId="{E279F709-13A9-1E49-709F-3F22CBC8C96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3/2/2026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3/2/2026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extLst>
      <p:ext uri="{BB962C8B-B14F-4D97-AF65-F5344CB8AC3E}">
        <p14:creationId xmlns:p14="http://schemas.microsoft.com/office/powerpoint/2010/main" val="20256349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+2,+1 for every letter </a:t>
            </a:r>
          </a:p>
          <a:p>
            <a:r>
              <a:rPr lang="en-US" dirty="0"/>
              <a:t> HVBAA is correct answer</a:t>
            </a:r>
            <a:endParaRPr lang="en-IN" dirty="0"/>
          </a:p>
        </p:txBody>
      </p:sp>
      <p:sp>
        <p:nvSpPr>
          <p:cNvPr id="4" name="Slide Number Placeholder 3"/>
          <p:cNvSpPr>
            <a:spLocks noGrp="1"/>
          </p:cNvSpPr>
          <p:nvPr>
            <p:ph type="sldNum" sz="quarter" idx="5"/>
          </p:nvPr>
        </p:nvSpPr>
        <p:spPr/>
        <p:txBody>
          <a:bodyPr/>
          <a:lstStyle/>
          <a:p>
            <a:fld id="{4BB36BD8-3BE0-4B04-B520-77C1F1F1FB7F}" type="slidenum">
              <a:rPr lang="en-US" smtClean="0"/>
              <a:pPr/>
              <a:t>4</a:t>
            </a:fld>
            <a:endParaRPr lang="en-US"/>
          </a:p>
        </p:txBody>
      </p:sp>
    </p:spTree>
    <p:extLst>
      <p:ext uri="{BB962C8B-B14F-4D97-AF65-F5344CB8AC3E}">
        <p14:creationId xmlns:p14="http://schemas.microsoft.com/office/powerpoint/2010/main" val="3413626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43332-0BC6-1460-E168-3A3305153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FDA66-5F78-F028-40DC-ADD3A3F89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B59AC-1164-9EB0-6AB6-E47D8E4519F4}"/>
              </a:ext>
            </a:extLst>
          </p:cNvPr>
          <p:cNvSpPr>
            <a:spLocks noGrp="1"/>
          </p:cNvSpPr>
          <p:nvPr>
            <p:ph type="body" idx="1"/>
          </p:nvPr>
        </p:nvSpPr>
        <p:spPr/>
        <p:txBody>
          <a:bodyPr/>
          <a:lstStyle/>
          <a:p>
            <a:r>
              <a:rPr lang="en-US" dirty="0"/>
              <a:t>0,-1,+2, 0,-1,+2…</a:t>
            </a:r>
          </a:p>
          <a:p>
            <a:r>
              <a:rPr lang="en-US" dirty="0"/>
              <a:t>BEYOND </a:t>
            </a:r>
            <a:r>
              <a:rPr lang="en-US" dirty="0">
                <a:sym typeface="Wingdings" panose="05000000000000000000" pitchFamily="2" charset="2"/>
              </a:rPr>
              <a:t> B D A O M G</a:t>
            </a:r>
            <a:endParaRPr lang="en-IN" dirty="0"/>
          </a:p>
        </p:txBody>
      </p:sp>
      <p:sp>
        <p:nvSpPr>
          <p:cNvPr id="4" name="Slide Number Placeholder 3">
            <a:extLst>
              <a:ext uri="{FF2B5EF4-FFF2-40B4-BE49-F238E27FC236}">
                <a16:creationId xmlns:a16="http://schemas.microsoft.com/office/drawing/2014/main" id="{E2F38C10-F3DD-341F-615B-EBEBA0F55C61}"/>
              </a:ext>
            </a:extLst>
          </p:cNvPr>
          <p:cNvSpPr>
            <a:spLocks noGrp="1"/>
          </p:cNvSpPr>
          <p:nvPr>
            <p:ph type="sldNum" sz="quarter" idx="5"/>
          </p:nvPr>
        </p:nvSpPr>
        <p:spPr/>
        <p:txBody>
          <a:bodyPr/>
          <a:lstStyle/>
          <a:p>
            <a:fld id="{4BB36BD8-3BE0-4B04-B520-77C1F1F1FB7F}" type="slidenum">
              <a:rPr lang="en-US" smtClean="0"/>
              <a:pPr/>
              <a:t>5</a:t>
            </a:fld>
            <a:endParaRPr lang="en-US"/>
          </a:p>
        </p:txBody>
      </p:sp>
    </p:spTree>
    <p:extLst>
      <p:ext uri="{BB962C8B-B14F-4D97-AF65-F5344CB8AC3E}">
        <p14:creationId xmlns:p14="http://schemas.microsoft.com/office/powerpoint/2010/main" val="789465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6BDB0-F9BF-9716-F626-7CAFEABC1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2F769-3F41-AF11-1A2E-4FB76B6D2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F68F9-EEFF-424B-DDB7-D300A7028AC5}"/>
              </a:ext>
            </a:extLst>
          </p:cNvPr>
          <p:cNvSpPr>
            <a:spLocks noGrp="1"/>
          </p:cNvSpPr>
          <p:nvPr>
            <p:ph type="body" idx="1"/>
          </p:nvPr>
        </p:nvSpPr>
        <p:spPr/>
        <p:txBody>
          <a:bodyPr/>
          <a:lstStyle/>
          <a:p>
            <a:r>
              <a:rPr lang="en-US" dirty="0"/>
              <a:t>Divide them into equal parts leaving the middle letter as same and reverse them</a:t>
            </a:r>
          </a:p>
          <a:p>
            <a:r>
              <a:rPr lang="en-US" dirty="0"/>
              <a:t>A N I M I S M</a:t>
            </a:r>
          </a:p>
          <a:p>
            <a:endParaRPr lang="en-IN" dirty="0"/>
          </a:p>
          <a:p>
            <a:r>
              <a:rPr lang="en-IN" dirty="0"/>
              <a:t>I N A M </a:t>
            </a:r>
            <a:r>
              <a:rPr lang="en-IN" dirty="0" err="1"/>
              <a:t>M</a:t>
            </a:r>
            <a:r>
              <a:rPr lang="en-IN" dirty="0"/>
              <a:t> S I </a:t>
            </a:r>
          </a:p>
          <a:p>
            <a:endParaRPr lang="en-IN" dirty="0"/>
          </a:p>
          <a:p>
            <a:r>
              <a:rPr lang="en-IN" dirty="0"/>
              <a:t>F U L  F I L </a:t>
            </a:r>
            <a:r>
              <a:rPr lang="en-IN" dirty="0" err="1"/>
              <a:t>L</a:t>
            </a:r>
            <a:endParaRPr lang="en-IN" dirty="0"/>
          </a:p>
          <a:p>
            <a:endParaRPr lang="en-IN" dirty="0"/>
          </a:p>
          <a:p>
            <a:r>
              <a:rPr lang="en-IN" dirty="0"/>
              <a:t>L U F  </a:t>
            </a:r>
            <a:r>
              <a:rPr lang="en-IN" dirty="0" err="1"/>
              <a:t>F</a:t>
            </a:r>
            <a:r>
              <a:rPr lang="en-IN" dirty="0"/>
              <a:t> L </a:t>
            </a:r>
            <a:r>
              <a:rPr lang="en-IN" dirty="0" err="1"/>
              <a:t>L</a:t>
            </a:r>
            <a:r>
              <a:rPr lang="en-IN" dirty="0"/>
              <a:t> I</a:t>
            </a:r>
          </a:p>
        </p:txBody>
      </p:sp>
      <p:sp>
        <p:nvSpPr>
          <p:cNvPr id="4" name="Slide Number Placeholder 3">
            <a:extLst>
              <a:ext uri="{FF2B5EF4-FFF2-40B4-BE49-F238E27FC236}">
                <a16:creationId xmlns:a16="http://schemas.microsoft.com/office/drawing/2014/main" id="{6AF6DD31-AC3F-2785-3501-B56B82F4138B}"/>
              </a:ext>
            </a:extLst>
          </p:cNvPr>
          <p:cNvSpPr>
            <a:spLocks noGrp="1"/>
          </p:cNvSpPr>
          <p:nvPr>
            <p:ph type="sldNum" sz="quarter" idx="5"/>
          </p:nvPr>
        </p:nvSpPr>
        <p:spPr/>
        <p:txBody>
          <a:bodyPr/>
          <a:lstStyle/>
          <a:p>
            <a:fld id="{4BB36BD8-3BE0-4B04-B520-77C1F1F1FB7F}" type="slidenum">
              <a:rPr lang="en-US" smtClean="0"/>
              <a:pPr/>
              <a:t>6</a:t>
            </a:fld>
            <a:endParaRPr lang="en-US"/>
          </a:p>
        </p:txBody>
      </p:sp>
    </p:spTree>
    <p:extLst>
      <p:ext uri="{BB962C8B-B14F-4D97-AF65-F5344CB8AC3E}">
        <p14:creationId xmlns:p14="http://schemas.microsoft.com/office/powerpoint/2010/main" val="188408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EF005-CB1E-1062-A96B-2B0DD4523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79C42-6F08-00B2-2BC1-F4B69287D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52FDE2-9840-55BE-1416-F72968389C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C3DD4A-500E-8533-0EDC-95035D5E4936}"/>
              </a:ext>
            </a:extLst>
          </p:cNvPr>
          <p:cNvSpPr>
            <a:spLocks noGrp="1"/>
          </p:cNvSpPr>
          <p:nvPr>
            <p:ph type="sldNum" sz="quarter" idx="5"/>
          </p:nvPr>
        </p:nvSpPr>
        <p:spPr/>
        <p:txBody>
          <a:bodyPr/>
          <a:lstStyle/>
          <a:p>
            <a:fld id="{4BB36BD8-3BE0-4B04-B520-77C1F1F1FB7F}" type="slidenum">
              <a:rPr lang="en-US" smtClean="0"/>
              <a:pPr/>
              <a:t>7</a:t>
            </a:fld>
            <a:endParaRPr lang="en-US"/>
          </a:p>
        </p:txBody>
      </p:sp>
    </p:spTree>
    <p:extLst>
      <p:ext uri="{BB962C8B-B14F-4D97-AF65-F5344CB8AC3E}">
        <p14:creationId xmlns:p14="http://schemas.microsoft.com/office/powerpoint/2010/main" val="2945288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EF9E-B0C4-5D8F-6B94-9AF66BBB5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2E538-1F4D-B9F8-0467-2BFB88409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C4B50-A252-4D0C-57F5-C0C9CEF3D2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A6C901-4DE8-8CFC-CD00-F4060F18FDED}"/>
              </a:ext>
            </a:extLst>
          </p:cNvPr>
          <p:cNvSpPr>
            <a:spLocks noGrp="1"/>
          </p:cNvSpPr>
          <p:nvPr>
            <p:ph type="sldNum" sz="quarter" idx="5"/>
          </p:nvPr>
        </p:nvSpPr>
        <p:spPr/>
        <p:txBody>
          <a:bodyPr/>
          <a:lstStyle/>
          <a:p>
            <a:fld id="{4BB36BD8-3BE0-4B04-B520-77C1F1F1FB7F}" type="slidenum">
              <a:rPr lang="en-US" smtClean="0"/>
              <a:pPr/>
              <a:t>8</a:t>
            </a:fld>
            <a:endParaRPr lang="en-US"/>
          </a:p>
        </p:txBody>
      </p:sp>
    </p:spTree>
    <p:extLst>
      <p:ext uri="{BB962C8B-B14F-4D97-AF65-F5344CB8AC3E}">
        <p14:creationId xmlns:p14="http://schemas.microsoft.com/office/powerpoint/2010/main" val="7772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46C4D-7440-4EFA-FF6F-7E2D262F9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230EE-232E-85FD-FF61-294DE9DD0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E4DB9-1EA1-2C45-2E56-6B2AD6662E1E}"/>
              </a:ext>
            </a:extLst>
          </p:cNvPr>
          <p:cNvSpPr>
            <a:spLocks noGrp="1"/>
          </p:cNvSpPr>
          <p:nvPr>
            <p:ph type="body" idx="1"/>
          </p:nvPr>
        </p:nvSpPr>
        <p:spPr/>
        <p:txBody>
          <a:bodyPr/>
          <a:lstStyle/>
          <a:p>
            <a:r>
              <a:rPr lang="en-US" dirty="0"/>
              <a:t>Follow the order</a:t>
            </a:r>
          </a:p>
          <a:p>
            <a:r>
              <a:rPr lang="en-US" dirty="0"/>
              <a:t> 1,2,3,4 Positions will interchange as 4,2,1,3</a:t>
            </a:r>
          </a:p>
          <a:p>
            <a:r>
              <a:rPr lang="en-US" dirty="0"/>
              <a:t>EOSM </a:t>
            </a:r>
            <a:endParaRPr lang="en-IN" dirty="0"/>
          </a:p>
        </p:txBody>
      </p:sp>
      <p:sp>
        <p:nvSpPr>
          <p:cNvPr id="4" name="Slide Number Placeholder 3">
            <a:extLst>
              <a:ext uri="{FF2B5EF4-FFF2-40B4-BE49-F238E27FC236}">
                <a16:creationId xmlns:a16="http://schemas.microsoft.com/office/drawing/2014/main" id="{E9E9B89B-4D2E-8D56-838B-B9021DC6FEEB}"/>
              </a:ext>
            </a:extLst>
          </p:cNvPr>
          <p:cNvSpPr>
            <a:spLocks noGrp="1"/>
          </p:cNvSpPr>
          <p:nvPr>
            <p:ph type="sldNum" sz="quarter" idx="5"/>
          </p:nvPr>
        </p:nvSpPr>
        <p:spPr/>
        <p:txBody>
          <a:bodyPr/>
          <a:lstStyle/>
          <a:p>
            <a:fld id="{4BB36BD8-3BE0-4B04-B520-77C1F1F1FB7F}" type="slidenum">
              <a:rPr lang="en-US" smtClean="0"/>
              <a:pPr/>
              <a:t>9</a:t>
            </a:fld>
            <a:endParaRPr lang="en-US"/>
          </a:p>
        </p:txBody>
      </p:sp>
    </p:spTree>
    <p:extLst>
      <p:ext uri="{BB962C8B-B14F-4D97-AF65-F5344CB8AC3E}">
        <p14:creationId xmlns:p14="http://schemas.microsoft.com/office/powerpoint/2010/main" val="357534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33FB4-2A11-890D-45C3-BC293262D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56B61-2B61-4CF8-4A29-4378A057B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29AE2-8FC7-3F67-C06D-8B7FA8FB01E4}"/>
              </a:ext>
            </a:extLst>
          </p:cNvPr>
          <p:cNvSpPr>
            <a:spLocks noGrp="1"/>
          </p:cNvSpPr>
          <p:nvPr>
            <p:ph type="body" idx="1"/>
          </p:nvPr>
        </p:nvSpPr>
        <p:spPr/>
        <p:txBody>
          <a:bodyPr/>
          <a:lstStyle/>
          <a:p>
            <a:r>
              <a:rPr lang="en-US" dirty="0"/>
              <a:t>Remain first and last letter constant, rest of them interchange as pairs</a:t>
            </a:r>
          </a:p>
          <a:p>
            <a:endParaRPr lang="en-US" dirty="0"/>
          </a:p>
          <a:p>
            <a:r>
              <a:rPr lang="en-US" dirty="0"/>
              <a:t>ECONOMIC</a:t>
            </a:r>
          </a:p>
          <a:p>
            <a:endParaRPr lang="en-US" dirty="0"/>
          </a:p>
          <a:p>
            <a:r>
              <a:rPr lang="en-US" dirty="0"/>
              <a:t>EOCONIMC</a:t>
            </a:r>
            <a:endParaRPr lang="en-IN" dirty="0"/>
          </a:p>
        </p:txBody>
      </p:sp>
      <p:sp>
        <p:nvSpPr>
          <p:cNvPr id="4" name="Slide Number Placeholder 3">
            <a:extLst>
              <a:ext uri="{FF2B5EF4-FFF2-40B4-BE49-F238E27FC236}">
                <a16:creationId xmlns:a16="http://schemas.microsoft.com/office/drawing/2014/main" id="{F81B3461-C8B1-D6CB-FE27-DB8B8015F803}"/>
              </a:ext>
            </a:extLst>
          </p:cNvPr>
          <p:cNvSpPr>
            <a:spLocks noGrp="1"/>
          </p:cNvSpPr>
          <p:nvPr>
            <p:ph type="sldNum" sz="quarter" idx="5"/>
          </p:nvPr>
        </p:nvSpPr>
        <p:spPr/>
        <p:txBody>
          <a:bodyPr/>
          <a:lstStyle/>
          <a:p>
            <a:fld id="{4BB36BD8-3BE0-4B04-B520-77C1F1F1FB7F}" type="slidenum">
              <a:rPr lang="en-US" smtClean="0"/>
              <a:pPr/>
              <a:t>10</a:t>
            </a:fld>
            <a:endParaRPr lang="en-US"/>
          </a:p>
        </p:txBody>
      </p:sp>
    </p:spTree>
    <p:extLst>
      <p:ext uri="{BB962C8B-B14F-4D97-AF65-F5344CB8AC3E}">
        <p14:creationId xmlns:p14="http://schemas.microsoft.com/office/powerpoint/2010/main" val="842847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E14CD-01F5-75B1-1610-42A034653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9F64-9225-6253-2C9A-4708B8146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B9678-C74A-7F77-ED5E-807CC448E507}"/>
              </a:ext>
            </a:extLst>
          </p:cNvPr>
          <p:cNvSpPr>
            <a:spLocks noGrp="1"/>
          </p:cNvSpPr>
          <p:nvPr>
            <p:ph type="body" idx="1"/>
          </p:nvPr>
        </p:nvSpPr>
        <p:spPr/>
        <p:txBody>
          <a:bodyPr/>
          <a:lstStyle/>
          <a:p>
            <a:pPr marL="0" lvl="0" indent="0" algn="l" rtl="0">
              <a:lnSpc>
                <a:spcPct val="100000"/>
              </a:lnSpc>
              <a:spcBef>
                <a:spcPts val="0"/>
              </a:spcBef>
              <a:spcAft>
                <a:spcPts val="0"/>
              </a:spcAft>
              <a:buSzPts val="1400"/>
              <a:buNone/>
            </a:pPr>
            <a:r>
              <a:rPr lang="en-US" dirty="0" err="1"/>
              <a:t>Option:C</a:t>
            </a: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Get code of each letter from the given info.</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ATION is common and the code is WYQCL</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As SEPARATION also ending with </a:t>
            </a:r>
            <a:r>
              <a:rPr lang="en-US" dirty="0" err="1"/>
              <a:t>ATION,code</a:t>
            </a:r>
            <a:r>
              <a:rPr lang="en-US" dirty="0"/>
              <a:t> is JFXWBWYQCL.</a:t>
            </a:r>
          </a:p>
          <a:p>
            <a:endParaRPr lang="en-IN" dirty="0"/>
          </a:p>
        </p:txBody>
      </p:sp>
      <p:sp>
        <p:nvSpPr>
          <p:cNvPr id="4" name="Slide Number Placeholder 3">
            <a:extLst>
              <a:ext uri="{FF2B5EF4-FFF2-40B4-BE49-F238E27FC236}">
                <a16:creationId xmlns:a16="http://schemas.microsoft.com/office/drawing/2014/main" id="{89B543B0-2F95-0814-06F7-70C24B8D09DE}"/>
              </a:ext>
            </a:extLst>
          </p:cNvPr>
          <p:cNvSpPr>
            <a:spLocks noGrp="1"/>
          </p:cNvSpPr>
          <p:nvPr>
            <p:ph type="sldNum" sz="quarter" idx="5"/>
          </p:nvPr>
        </p:nvSpPr>
        <p:spPr/>
        <p:txBody>
          <a:bodyPr/>
          <a:lstStyle/>
          <a:p>
            <a:fld id="{4BB36BD8-3BE0-4B04-B520-77C1F1F1FB7F}" type="slidenum">
              <a:rPr lang="en-US" smtClean="0"/>
              <a:pPr/>
              <a:t>11</a:t>
            </a:fld>
            <a:endParaRPr lang="en-US"/>
          </a:p>
        </p:txBody>
      </p:sp>
    </p:spTree>
    <p:extLst>
      <p:ext uri="{BB962C8B-B14F-4D97-AF65-F5344CB8AC3E}">
        <p14:creationId xmlns:p14="http://schemas.microsoft.com/office/powerpoint/2010/main" val="3886874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2B74-E9A7-BA3E-DE47-0F54F21AE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47B2F-58D3-20AC-9069-FC9471CEE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72E0A-FDAD-DCD6-C6C1-517A4F977A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Times New Roman" panose="02020603050405020304"/>
                <a:ea typeface="Times New Roman" panose="02020603050405020304"/>
                <a:cs typeface="Times New Roman" panose="02020603050405020304"/>
                <a:sym typeface="Times New Roman" panose="02020603050405020304"/>
              </a:rPr>
              <a:t>Answer : QSWAGN : AWTXDH</a:t>
            </a:r>
            <a:endParaRPr lang="en-US"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endParaRPr lang="en-IN" dirty="0"/>
          </a:p>
        </p:txBody>
      </p:sp>
      <p:sp>
        <p:nvSpPr>
          <p:cNvPr id="4" name="Slide Number Placeholder 3">
            <a:extLst>
              <a:ext uri="{FF2B5EF4-FFF2-40B4-BE49-F238E27FC236}">
                <a16:creationId xmlns:a16="http://schemas.microsoft.com/office/drawing/2014/main" id="{058DFDF2-03A2-C4BA-54C8-518FA24B1D92}"/>
              </a:ext>
            </a:extLst>
          </p:cNvPr>
          <p:cNvSpPr>
            <a:spLocks noGrp="1"/>
          </p:cNvSpPr>
          <p:nvPr>
            <p:ph type="sldNum" sz="quarter" idx="5"/>
          </p:nvPr>
        </p:nvSpPr>
        <p:spPr/>
        <p:txBody>
          <a:bodyPr/>
          <a:lstStyle/>
          <a:p>
            <a:fld id="{4BB36BD8-3BE0-4B04-B520-77C1F1F1FB7F}" type="slidenum">
              <a:rPr lang="en-US" smtClean="0"/>
              <a:pPr/>
              <a:t>12</a:t>
            </a:fld>
            <a:endParaRPr lang="en-US"/>
          </a:p>
        </p:txBody>
      </p:sp>
    </p:spTree>
    <p:extLst>
      <p:ext uri="{BB962C8B-B14F-4D97-AF65-F5344CB8AC3E}">
        <p14:creationId xmlns:p14="http://schemas.microsoft.com/office/powerpoint/2010/main" val="2191084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09F1C-70CA-051F-4C36-C4F6ABC64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7F1F4-FD11-09AE-9806-8EB14B2F5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0E95F-A72B-3E2E-2528-04AE7062A606}"/>
              </a:ext>
            </a:extLst>
          </p:cNvPr>
          <p:cNvSpPr>
            <a:spLocks noGrp="1"/>
          </p:cNvSpPr>
          <p:nvPr>
            <p:ph type="body" idx="1"/>
          </p:nvPr>
        </p:nvSpPr>
        <p:spPr/>
        <p:txBody>
          <a:bodyPr/>
          <a:lstStyle/>
          <a:p>
            <a:pPr marL="0" lvl="0" indent="0" algn="l" rtl="0">
              <a:lnSpc>
                <a:spcPct val="100000"/>
              </a:lnSpc>
              <a:spcBef>
                <a:spcPts val="0"/>
              </a:spcBef>
              <a:spcAft>
                <a:spcPts val="0"/>
              </a:spcAft>
              <a:buSzPts val="1400"/>
              <a:buNone/>
            </a:pPr>
            <a:r>
              <a:rPr lang="en-US" dirty="0"/>
              <a:t>Option:4</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Solution:</a:t>
            </a:r>
          </a:p>
          <a:p>
            <a:pPr marL="0" lvl="0" indent="0" algn="l" rtl="0">
              <a:lnSpc>
                <a:spcPct val="100000"/>
              </a:lnSpc>
              <a:spcBef>
                <a:spcPts val="0"/>
              </a:spcBef>
              <a:spcAft>
                <a:spcPts val="0"/>
              </a:spcAft>
              <a:buSzPts val="1400"/>
              <a:buNone/>
            </a:pPr>
            <a:r>
              <a:rPr lang="en-US" dirty="0"/>
              <a:t>C    O     N     C     E      P      T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+1  +2    +3   +4   +5    +6    +7</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D     Q       </a:t>
            </a:r>
            <a:r>
              <a:rPr lang="en-US" dirty="0" err="1"/>
              <a:t>Q</a:t>
            </a:r>
            <a:r>
              <a:rPr lang="en-US" dirty="0"/>
              <a:t>    G    J      V     A</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Natural number</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E    X    E    C    U     T    I     O    N</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+1  +2   +3  +4  +5   +6  +7   +8   +9</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F    Z     H   G    Z     </a:t>
            </a:r>
            <a:r>
              <a:rPr lang="en-US" dirty="0" err="1"/>
              <a:t>Z</a:t>
            </a:r>
            <a:r>
              <a:rPr lang="en-US" dirty="0"/>
              <a:t>    P     W   </a:t>
            </a:r>
            <a:r>
              <a:rPr lang="en-US" dirty="0" err="1"/>
              <a:t>W</a:t>
            </a:r>
            <a:endParaRPr lang="en-US" dirty="0"/>
          </a:p>
          <a:p>
            <a:endParaRPr lang="en-IN" dirty="0"/>
          </a:p>
        </p:txBody>
      </p:sp>
      <p:sp>
        <p:nvSpPr>
          <p:cNvPr id="4" name="Slide Number Placeholder 3">
            <a:extLst>
              <a:ext uri="{FF2B5EF4-FFF2-40B4-BE49-F238E27FC236}">
                <a16:creationId xmlns:a16="http://schemas.microsoft.com/office/drawing/2014/main" id="{3EC5C001-9C81-C77F-9ADF-2D21DC04EF00}"/>
              </a:ext>
            </a:extLst>
          </p:cNvPr>
          <p:cNvSpPr>
            <a:spLocks noGrp="1"/>
          </p:cNvSpPr>
          <p:nvPr>
            <p:ph type="sldNum" sz="quarter" idx="5"/>
          </p:nvPr>
        </p:nvSpPr>
        <p:spPr/>
        <p:txBody>
          <a:bodyPr/>
          <a:lstStyle/>
          <a:p>
            <a:fld id="{4BB36BD8-3BE0-4B04-B520-77C1F1F1FB7F}" type="slidenum">
              <a:rPr lang="en-US" smtClean="0"/>
              <a:pPr/>
              <a:t>13</a:t>
            </a:fld>
            <a:endParaRPr lang="en-US"/>
          </a:p>
        </p:txBody>
      </p:sp>
    </p:spTree>
    <p:extLst>
      <p:ext uri="{BB962C8B-B14F-4D97-AF65-F5344CB8AC3E}">
        <p14:creationId xmlns:p14="http://schemas.microsoft.com/office/powerpoint/2010/main" val="1978280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BB8B-345B-E38C-3360-EB2739208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52EFA-36B9-85E4-B3DB-E73060260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D3239-FD10-7769-99C9-6B04934E3A22}"/>
              </a:ext>
            </a:extLst>
          </p:cNvPr>
          <p:cNvSpPr>
            <a:spLocks noGrp="1"/>
          </p:cNvSpPr>
          <p:nvPr>
            <p:ph type="body" idx="1"/>
          </p:nvPr>
        </p:nvSpPr>
        <p:spPr/>
        <p:txBody>
          <a:bodyPr/>
          <a:lstStyle/>
          <a:p>
            <a:r>
              <a:rPr lang="en-US" dirty="0"/>
              <a:t>Divide them into 2 equal halves, write them in reverse order</a:t>
            </a:r>
          </a:p>
          <a:p>
            <a:r>
              <a:rPr lang="en-US" dirty="0"/>
              <a:t> SOPPONOITI</a:t>
            </a:r>
            <a:endParaRPr lang="en-IN" dirty="0"/>
          </a:p>
        </p:txBody>
      </p:sp>
      <p:sp>
        <p:nvSpPr>
          <p:cNvPr id="4" name="Slide Number Placeholder 3">
            <a:extLst>
              <a:ext uri="{FF2B5EF4-FFF2-40B4-BE49-F238E27FC236}">
                <a16:creationId xmlns:a16="http://schemas.microsoft.com/office/drawing/2014/main" id="{22E88B34-8E14-621F-EDDA-5D2BDDBA515A}"/>
              </a:ext>
            </a:extLst>
          </p:cNvPr>
          <p:cNvSpPr>
            <a:spLocks noGrp="1"/>
          </p:cNvSpPr>
          <p:nvPr>
            <p:ph type="sldNum" sz="quarter" idx="5"/>
          </p:nvPr>
        </p:nvSpPr>
        <p:spPr/>
        <p:txBody>
          <a:bodyPr/>
          <a:lstStyle/>
          <a:p>
            <a:fld id="{4BB36BD8-3BE0-4B04-B520-77C1F1F1FB7F}" type="slidenum">
              <a:rPr lang="en-US" smtClean="0"/>
              <a:pPr/>
              <a:t>14</a:t>
            </a:fld>
            <a:endParaRPr lang="en-US"/>
          </a:p>
        </p:txBody>
      </p:sp>
    </p:spTree>
    <p:extLst>
      <p:ext uri="{BB962C8B-B14F-4D97-AF65-F5344CB8AC3E}">
        <p14:creationId xmlns:p14="http://schemas.microsoft.com/office/powerpoint/2010/main" val="2989654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75B2-D170-E448-9F48-647BF5350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C1E62-ED72-F75A-0A18-B4599EAFA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13603-063B-EAD4-FE81-F93CB0790DC4}"/>
              </a:ext>
            </a:extLst>
          </p:cNvPr>
          <p:cNvSpPr>
            <a:spLocks noGrp="1"/>
          </p:cNvSpPr>
          <p:nvPr>
            <p:ph type="body" idx="1"/>
          </p:nvPr>
        </p:nvSpPr>
        <p:spPr/>
        <p:txBody>
          <a:bodyPr/>
          <a:lstStyle/>
          <a:p>
            <a:pPr marL="0" lvl="0" indent="0" algn="l" rtl="0">
              <a:lnSpc>
                <a:spcPct val="100000"/>
              </a:lnSpc>
              <a:spcBef>
                <a:spcPts val="0"/>
              </a:spcBef>
              <a:spcAft>
                <a:spcPts val="0"/>
              </a:spcAft>
              <a:buSzPts val="1400"/>
              <a:buNone/>
            </a:pPr>
            <a:r>
              <a:rPr lang="pt-BR" dirty="0"/>
              <a:t>Solution:</a:t>
            </a:r>
          </a:p>
          <a:p>
            <a:pPr marL="0" lvl="0" indent="0" algn="l" rtl="0">
              <a:lnSpc>
                <a:spcPct val="100000"/>
              </a:lnSpc>
              <a:spcBef>
                <a:spcPts val="0"/>
              </a:spcBef>
              <a:spcAft>
                <a:spcPts val="0"/>
              </a:spcAft>
              <a:buSzPts val="1400"/>
              <a:buNone/>
            </a:pPr>
            <a:r>
              <a:rPr lang="pt-BR" dirty="0"/>
              <a:t>G   R    A    D    U    A    T    E</a:t>
            </a: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r>
              <a:rPr lang="pt-BR" dirty="0"/>
              <a:t>+1 -1  +2   -2   +3  -3   +4  -4</a:t>
            </a: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r>
              <a:rPr lang="pt-BR" dirty="0"/>
              <a:t>H   Q    C    B    X    X    X    A</a:t>
            </a: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r>
              <a:rPr lang="pt-BR" dirty="0"/>
              <a:t>SIMILARLY</a:t>
            </a: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r>
              <a:rPr lang="pt-BR" dirty="0"/>
              <a:t>L    A    B    O    R    A    T    O    R    Y</a:t>
            </a: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r>
              <a:rPr lang="pt-BR" dirty="0"/>
              <a:t>+1 -1   +2   -2   +3  -3   +4  -4  +5  -5</a:t>
            </a: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r>
              <a:rPr lang="pt-BR" dirty="0"/>
              <a:t>M   Z    D    M    U    X    X   K    W   T</a:t>
            </a: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r>
              <a:rPr lang="pt-BR" dirty="0"/>
              <a:t>+1 – 1 +2 – 2 +3 –3 +4 - 4</a:t>
            </a:r>
          </a:p>
          <a:p>
            <a:endParaRPr lang="en-IN" dirty="0"/>
          </a:p>
        </p:txBody>
      </p:sp>
      <p:sp>
        <p:nvSpPr>
          <p:cNvPr id="4" name="Slide Number Placeholder 3">
            <a:extLst>
              <a:ext uri="{FF2B5EF4-FFF2-40B4-BE49-F238E27FC236}">
                <a16:creationId xmlns:a16="http://schemas.microsoft.com/office/drawing/2014/main" id="{0DA635AF-5CA6-10A3-B06E-A10FB996074B}"/>
              </a:ext>
            </a:extLst>
          </p:cNvPr>
          <p:cNvSpPr>
            <a:spLocks noGrp="1"/>
          </p:cNvSpPr>
          <p:nvPr>
            <p:ph type="sldNum" sz="quarter" idx="5"/>
          </p:nvPr>
        </p:nvSpPr>
        <p:spPr/>
        <p:txBody>
          <a:bodyPr/>
          <a:lstStyle/>
          <a:p>
            <a:fld id="{4BB36BD8-3BE0-4B04-B520-77C1F1F1FB7F}" type="slidenum">
              <a:rPr lang="en-US" smtClean="0"/>
              <a:pPr/>
              <a:t>15</a:t>
            </a:fld>
            <a:endParaRPr lang="en-US"/>
          </a:p>
        </p:txBody>
      </p:sp>
    </p:spTree>
    <p:extLst>
      <p:ext uri="{BB962C8B-B14F-4D97-AF65-F5344CB8AC3E}">
        <p14:creationId xmlns:p14="http://schemas.microsoft.com/office/powerpoint/2010/main" val="1514366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39379-EFB8-F351-F9A5-B0FC614FB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C283FA-A196-1940-3A65-96936C28C3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545688-37DA-333C-E4FC-1C35A2582F64}"/>
              </a:ext>
            </a:extLst>
          </p:cNvPr>
          <p:cNvSpPr>
            <a:spLocks noGrp="1"/>
          </p:cNvSpPr>
          <p:nvPr>
            <p:ph type="body" idx="1"/>
          </p:nvPr>
        </p:nvSpPr>
        <p:spPr/>
        <p:txBody>
          <a:bodyPr/>
          <a:lstStyle/>
          <a:p>
            <a:r>
              <a:rPr lang="en-US" dirty="0"/>
              <a:t>7 letter word = 42 ( 7 * 6 =42 )</a:t>
            </a:r>
          </a:p>
          <a:p>
            <a:endParaRPr lang="en-US" dirty="0"/>
          </a:p>
          <a:p>
            <a:r>
              <a:rPr lang="en-US" dirty="0"/>
              <a:t>6 letter word = 30 ( 6 * 5 = 30 )</a:t>
            </a:r>
            <a:endParaRPr lang="en-IN" dirty="0"/>
          </a:p>
        </p:txBody>
      </p:sp>
      <p:sp>
        <p:nvSpPr>
          <p:cNvPr id="4" name="Slide Number Placeholder 3">
            <a:extLst>
              <a:ext uri="{FF2B5EF4-FFF2-40B4-BE49-F238E27FC236}">
                <a16:creationId xmlns:a16="http://schemas.microsoft.com/office/drawing/2014/main" id="{530C4D2C-6376-93F2-BEB1-9B5B0DF8A51C}"/>
              </a:ext>
            </a:extLst>
          </p:cNvPr>
          <p:cNvSpPr>
            <a:spLocks noGrp="1"/>
          </p:cNvSpPr>
          <p:nvPr>
            <p:ph type="sldNum" sz="quarter" idx="5"/>
          </p:nvPr>
        </p:nvSpPr>
        <p:spPr/>
        <p:txBody>
          <a:bodyPr/>
          <a:lstStyle/>
          <a:p>
            <a:fld id="{4BB36BD8-3BE0-4B04-B520-77C1F1F1FB7F}" type="slidenum">
              <a:rPr lang="en-US" smtClean="0"/>
              <a:pPr/>
              <a:t>16</a:t>
            </a:fld>
            <a:endParaRPr lang="en-US"/>
          </a:p>
        </p:txBody>
      </p:sp>
    </p:spTree>
    <p:extLst>
      <p:ext uri="{BB962C8B-B14F-4D97-AF65-F5344CB8AC3E}">
        <p14:creationId xmlns:p14="http://schemas.microsoft.com/office/powerpoint/2010/main" val="2209968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F184C-41BD-F96C-CC62-89F3AB111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D0824-CA45-5596-DC65-BA1119550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DD4C8-4C96-05E3-7A65-382ADBF70209}"/>
              </a:ext>
            </a:extLst>
          </p:cNvPr>
          <p:cNvSpPr>
            <a:spLocks noGrp="1"/>
          </p:cNvSpPr>
          <p:nvPr>
            <p:ph type="body" idx="1"/>
          </p:nvPr>
        </p:nvSpPr>
        <p:spPr/>
        <p:txBody>
          <a:bodyPr/>
          <a:lstStyle/>
          <a:p>
            <a:r>
              <a:rPr lang="en-US" dirty="0"/>
              <a:t>Square of number of letters </a:t>
            </a:r>
          </a:p>
          <a:p>
            <a:r>
              <a:rPr lang="en-US" dirty="0"/>
              <a:t> 11² = 121</a:t>
            </a:r>
            <a:endParaRPr lang="en-IN" dirty="0"/>
          </a:p>
        </p:txBody>
      </p:sp>
      <p:sp>
        <p:nvSpPr>
          <p:cNvPr id="4" name="Slide Number Placeholder 3">
            <a:extLst>
              <a:ext uri="{FF2B5EF4-FFF2-40B4-BE49-F238E27FC236}">
                <a16:creationId xmlns:a16="http://schemas.microsoft.com/office/drawing/2014/main" id="{EF7188E8-1005-1F8E-3CB4-43EB6E1EBD75}"/>
              </a:ext>
            </a:extLst>
          </p:cNvPr>
          <p:cNvSpPr>
            <a:spLocks noGrp="1"/>
          </p:cNvSpPr>
          <p:nvPr>
            <p:ph type="sldNum" sz="quarter" idx="5"/>
          </p:nvPr>
        </p:nvSpPr>
        <p:spPr/>
        <p:txBody>
          <a:bodyPr/>
          <a:lstStyle/>
          <a:p>
            <a:fld id="{4BB36BD8-3BE0-4B04-B520-77C1F1F1FB7F}" type="slidenum">
              <a:rPr lang="en-US" smtClean="0"/>
              <a:pPr/>
              <a:t>17</a:t>
            </a:fld>
            <a:endParaRPr lang="en-US"/>
          </a:p>
        </p:txBody>
      </p:sp>
    </p:spTree>
    <p:extLst>
      <p:ext uri="{BB962C8B-B14F-4D97-AF65-F5344CB8AC3E}">
        <p14:creationId xmlns:p14="http://schemas.microsoft.com/office/powerpoint/2010/main" val="859298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62BEC-101F-D4B5-3FC3-3FF324AF6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973F2-F9FD-99EB-CDB4-6841317AA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5C30F-BBDF-2125-3D7C-2ABE267A615D}"/>
              </a:ext>
            </a:extLst>
          </p:cNvPr>
          <p:cNvSpPr>
            <a:spLocks noGrp="1"/>
          </p:cNvSpPr>
          <p:nvPr>
            <p:ph type="body" idx="1"/>
          </p:nvPr>
        </p:nvSpPr>
        <p:spPr/>
        <p:txBody>
          <a:bodyPr/>
          <a:lstStyle/>
          <a:p>
            <a:r>
              <a:rPr lang="en-US" dirty="0"/>
              <a:t>Get the common letters and common values from the given data</a:t>
            </a:r>
          </a:p>
          <a:p>
            <a:r>
              <a:rPr lang="en-US" dirty="0"/>
              <a:t> we get, r =4, s=8</a:t>
            </a:r>
          </a:p>
          <a:p>
            <a:endParaRPr lang="en-US" dirty="0"/>
          </a:p>
          <a:p>
            <a:r>
              <a:rPr lang="en-US" dirty="0"/>
              <a:t>So, Sir should contain 8,4 and a new value apart from the given values. So, 841</a:t>
            </a:r>
            <a:endParaRPr lang="en-IN" dirty="0"/>
          </a:p>
        </p:txBody>
      </p:sp>
      <p:sp>
        <p:nvSpPr>
          <p:cNvPr id="4" name="Slide Number Placeholder 3">
            <a:extLst>
              <a:ext uri="{FF2B5EF4-FFF2-40B4-BE49-F238E27FC236}">
                <a16:creationId xmlns:a16="http://schemas.microsoft.com/office/drawing/2014/main" id="{EA9B8B97-99EB-16C5-DCD1-5807C9D51EFB}"/>
              </a:ext>
            </a:extLst>
          </p:cNvPr>
          <p:cNvSpPr>
            <a:spLocks noGrp="1"/>
          </p:cNvSpPr>
          <p:nvPr>
            <p:ph type="sldNum" sz="quarter" idx="5"/>
          </p:nvPr>
        </p:nvSpPr>
        <p:spPr/>
        <p:txBody>
          <a:bodyPr/>
          <a:lstStyle/>
          <a:p>
            <a:fld id="{4BB36BD8-3BE0-4B04-B520-77C1F1F1FB7F}" type="slidenum">
              <a:rPr lang="en-US" smtClean="0"/>
              <a:pPr/>
              <a:t>18</a:t>
            </a:fld>
            <a:endParaRPr lang="en-US"/>
          </a:p>
        </p:txBody>
      </p:sp>
    </p:spTree>
    <p:extLst>
      <p:ext uri="{BB962C8B-B14F-4D97-AF65-F5344CB8AC3E}">
        <p14:creationId xmlns:p14="http://schemas.microsoft.com/office/powerpoint/2010/main" val="1455132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530E5-2780-CECC-A46D-053C4A853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8C6B5E-1B47-70C3-EC51-BB2FD6B31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8A41F-176A-DE9A-823C-81AC73CD5E46}"/>
              </a:ext>
            </a:extLst>
          </p:cNvPr>
          <p:cNvSpPr>
            <a:spLocks noGrp="1"/>
          </p:cNvSpPr>
          <p:nvPr>
            <p:ph type="body" idx="1"/>
          </p:nvPr>
        </p:nvSpPr>
        <p:spPr/>
        <p:txBody>
          <a:bodyPr/>
          <a:lstStyle/>
          <a:p>
            <a:r>
              <a:rPr lang="en-US" dirty="0"/>
              <a:t>Get code of each letter from the given data, we get c=4, a =6,o=5,,,,,etc</a:t>
            </a:r>
          </a:p>
          <a:p>
            <a:endParaRPr lang="en-US" dirty="0"/>
          </a:p>
          <a:p>
            <a:r>
              <a:rPr lang="en-US" dirty="0"/>
              <a:t>Option B</a:t>
            </a:r>
            <a:endParaRPr lang="en-IN" dirty="0"/>
          </a:p>
        </p:txBody>
      </p:sp>
      <p:sp>
        <p:nvSpPr>
          <p:cNvPr id="4" name="Slide Number Placeholder 3">
            <a:extLst>
              <a:ext uri="{FF2B5EF4-FFF2-40B4-BE49-F238E27FC236}">
                <a16:creationId xmlns:a16="http://schemas.microsoft.com/office/drawing/2014/main" id="{855F58A2-CFB4-98AD-7B56-39CC0F064F1B}"/>
              </a:ext>
            </a:extLst>
          </p:cNvPr>
          <p:cNvSpPr>
            <a:spLocks noGrp="1"/>
          </p:cNvSpPr>
          <p:nvPr>
            <p:ph type="sldNum" sz="quarter" idx="5"/>
          </p:nvPr>
        </p:nvSpPr>
        <p:spPr/>
        <p:txBody>
          <a:bodyPr/>
          <a:lstStyle/>
          <a:p>
            <a:fld id="{4BB36BD8-3BE0-4B04-B520-77C1F1F1FB7F}" type="slidenum">
              <a:rPr lang="en-US" smtClean="0"/>
              <a:pPr/>
              <a:t>19</a:t>
            </a:fld>
            <a:endParaRPr lang="en-US"/>
          </a:p>
        </p:txBody>
      </p:sp>
    </p:spTree>
    <p:extLst>
      <p:ext uri="{BB962C8B-B14F-4D97-AF65-F5344CB8AC3E}">
        <p14:creationId xmlns:p14="http://schemas.microsoft.com/office/powerpoint/2010/main" val="3186688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4011-FCA8-BE19-A893-F973C02C5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132EF-911D-5610-D5B1-83E7C7F6C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CA741-49C3-D9BA-8E67-B8D4985AFACD}"/>
              </a:ext>
            </a:extLst>
          </p:cNvPr>
          <p:cNvSpPr>
            <a:spLocks noGrp="1"/>
          </p:cNvSpPr>
          <p:nvPr>
            <p:ph type="body" idx="1"/>
          </p:nvPr>
        </p:nvSpPr>
        <p:spPr/>
        <p:txBody>
          <a:bodyPr/>
          <a:lstStyle/>
          <a:p>
            <a:r>
              <a:rPr lang="en-US" dirty="0"/>
              <a:t>Option D</a:t>
            </a:r>
            <a:endParaRPr lang="en-IN" dirty="0"/>
          </a:p>
        </p:txBody>
      </p:sp>
      <p:sp>
        <p:nvSpPr>
          <p:cNvPr id="4" name="Slide Number Placeholder 3">
            <a:extLst>
              <a:ext uri="{FF2B5EF4-FFF2-40B4-BE49-F238E27FC236}">
                <a16:creationId xmlns:a16="http://schemas.microsoft.com/office/drawing/2014/main" id="{D72D9B93-65C0-1D82-7362-0CCFF8220389}"/>
              </a:ext>
            </a:extLst>
          </p:cNvPr>
          <p:cNvSpPr>
            <a:spLocks noGrp="1"/>
          </p:cNvSpPr>
          <p:nvPr>
            <p:ph type="sldNum" sz="quarter" idx="5"/>
          </p:nvPr>
        </p:nvSpPr>
        <p:spPr/>
        <p:txBody>
          <a:bodyPr/>
          <a:lstStyle/>
          <a:p>
            <a:fld id="{4BB36BD8-3BE0-4B04-B520-77C1F1F1FB7F}" type="slidenum">
              <a:rPr lang="en-US" smtClean="0"/>
              <a:pPr/>
              <a:t>20</a:t>
            </a:fld>
            <a:endParaRPr lang="en-US"/>
          </a:p>
        </p:txBody>
      </p:sp>
    </p:spTree>
    <p:extLst>
      <p:ext uri="{BB962C8B-B14F-4D97-AF65-F5344CB8AC3E}">
        <p14:creationId xmlns:p14="http://schemas.microsoft.com/office/powerpoint/2010/main" val="37057193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D7833-449E-F437-B5D8-D9AB7E465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E3F00-549F-718E-AE02-8E33EFD87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5BF520-14D3-93E5-FE84-0AA532A21C0E}"/>
              </a:ext>
            </a:extLst>
          </p:cNvPr>
          <p:cNvSpPr>
            <a:spLocks noGrp="1"/>
          </p:cNvSpPr>
          <p:nvPr>
            <p:ph type="body" idx="1"/>
          </p:nvPr>
        </p:nvSpPr>
        <p:spPr/>
        <p:txBody>
          <a:bodyPr/>
          <a:lstStyle/>
          <a:p>
            <a:r>
              <a:rPr lang="en-US" dirty="0"/>
              <a:t>Add the numerical values of the word and multiply with 100</a:t>
            </a:r>
          </a:p>
          <a:p>
            <a:endParaRPr lang="en-US" dirty="0"/>
          </a:p>
          <a:p>
            <a:r>
              <a:rPr lang="en-US" dirty="0"/>
              <a:t>We get, WALL =48*100=4800</a:t>
            </a:r>
            <a:endParaRPr lang="en-IN" dirty="0"/>
          </a:p>
        </p:txBody>
      </p:sp>
      <p:sp>
        <p:nvSpPr>
          <p:cNvPr id="4" name="Slide Number Placeholder 3">
            <a:extLst>
              <a:ext uri="{FF2B5EF4-FFF2-40B4-BE49-F238E27FC236}">
                <a16:creationId xmlns:a16="http://schemas.microsoft.com/office/drawing/2014/main" id="{BF6E40B4-A87F-4030-230A-FC9B8D0AC70B}"/>
              </a:ext>
            </a:extLst>
          </p:cNvPr>
          <p:cNvSpPr>
            <a:spLocks noGrp="1"/>
          </p:cNvSpPr>
          <p:nvPr>
            <p:ph type="sldNum" sz="quarter" idx="5"/>
          </p:nvPr>
        </p:nvSpPr>
        <p:spPr/>
        <p:txBody>
          <a:bodyPr/>
          <a:lstStyle/>
          <a:p>
            <a:fld id="{4BB36BD8-3BE0-4B04-B520-77C1F1F1FB7F}" type="slidenum">
              <a:rPr lang="en-US" smtClean="0"/>
              <a:pPr/>
              <a:t>21</a:t>
            </a:fld>
            <a:endParaRPr lang="en-US"/>
          </a:p>
        </p:txBody>
      </p:sp>
    </p:spTree>
    <p:extLst>
      <p:ext uri="{BB962C8B-B14F-4D97-AF65-F5344CB8AC3E}">
        <p14:creationId xmlns:p14="http://schemas.microsoft.com/office/powerpoint/2010/main" val="3415975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5B81-D897-48C8-CFE3-9CB593B75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C9A87-CC3E-9D7E-02C8-BFAAF1955E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6F0774-44A9-6728-AFAE-0FDF73150A51}"/>
              </a:ext>
            </a:extLst>
          </p:cNvPr>
          <p:cNvSpPr>
            <a:spLocks noGrp="1"/>
          </p:cNvSpPr>
          <p:nvPr>
            <p:ph type="body" idx="1"/>
          </p:nvPr>
        </p:nvSpPr>
        <p:spPr/>
        <p:txBody>
          <a:bodyPr/>
          <a:lstStyle/>
          <a:p>
            <a:pPr marL="0" lvl="0" indent="0" algn="l" rtl="0">
              <a:lnSpc>
                <a:spcPct val="100000"/>
              </a:lnSpc>
              <a:spcBef>
                <a:spcPts val="0"/>
              </a:spcBef>
              <a:spcAft>
                <a:spcPts val="0"/>
              </a:spcAft>
              <a:buSzPts val="1400"/>
              <a:buNone/>
            </a:pPr>
            <a:r>
              <a:rPr lang="en-US" dirty="0"/>
              <a:t>In this question the coding of words is given in symbol form. So we need to first decode and understand which symbol represents which letter. Now RADAR is coded as *?*?#. There are 2 ‘R’ and ‘A’ in RADAR and in code also there are 2 ‘*’ and ‘?’. So it is very clear from this that D=#.</a:t>
            </a:r>
          </a:p>
          <a:p>
            <a:pPr marL="0" lvl="0" indent="0" algn="l" rtl="0">
              <a:lnSpc>
                <a:spcPct val="100000"/>
              </a:lnSpc>
              <a:spcBef>
                <a:spcPts val="0"/>
              </a:spcBef>
              <a:spcAft>
                <a:spcPts val="0"/>
              </a:spcAft>
              <a:buSzPts val="1400"/>
              <a:buNone/>
            </a:pPr>
            <a:r>
              <a:rPr lang="en-US" dirty="0"/>
              <a:t>Now let’s take next word which is DOOR. So DOOR is coded as ?%%#. There are 2 ‘O’’s and 2 ‘%’. So, O=%. D is already decoded as #. So the remaining alphabet is R and its symbol is ?. So R=?. As R=? so from RADAR we can easily draw a conclusion t that A=*. So for DAM we know 2 symbols would be # and *. Now looking at the options we can easily eliminate options A and D. Now ? is for R and in the word DAM there is no R. So correct option would be c.</a:t>
            </a:r>
          </a:p>
          <a:p>
            <a:endParaRPr lang="en-IN" dirty="0"/>
          </a:p>
        </p:txBody>
      </p:sp>
      <p:sp>
        <p:nvSpPr>
          <p:cNvPr id="4" name="Slide Number Placeholder 3">
            <a:extLst>
              <a:ext uri="{FF2B5EF4-FFF2-40B4-BE49-F238E27FC236}">
                <a16:creationId xmlns:a16="http://schemas.microsoft.com/office/drawing/2014/main" id="{53F1EB93-45CF-BCB3-C13C-76BB7B7C6CB7}"/>
              </a:ext>
            </a:extLst>
          </p:cNvPr>
          <p:cNvSpPr>
            <a:spLocks noGrp="1"/>
          </p:cNvSpPr>
          <p:nvPr>
            <p:ph type="sldNum" sz="quarter" idx="5"/>
          </p:nvPr>
        </p:nvSpPr>
        <p:spPr/>
        <p:txBody>
          <a:bodyPr/>
          <a:lstStyle/>
          <a:p>
            <a:fld id="{4BB36BD8-3BE0-4B04-B520-77C1F1F1FB7F}" type="slidenum">
              <a:rPr lang="en-US" smtClean="0"/>
              <a:pPr/>
              <a:t>22</a:t>
            </a:fld>
            <a:endParaRPr lang="en-US"/>
          </a:p>
        </p:txBody>
      </p:sp>
    </p:spTree>
    <p:extLst>
      <p:ext uri="{BB962C8B-B14F-4D97-AF65-F5344CB8AC3E}">
        <p14:creationId xmlns:p14="http://schemas.microsoft.com/office/powerpoint/2010/main" val="11498829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F872D-FD89-18A4-678F-CB79F77D0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A769C-E274-1479-5A24-3728621232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550EA-7F1B-26F1-026C-CB951E21B664}"/>
              </a:ext>
            </a:extLst>
          </p:cNvPr>
          <p:cNvSpPr>
            <a:spLocks noGrp="1"/>
          </p:cNvSpPr>
          <p:nvPr>
            <p:ph type="body" idx="1"/>
          </p:nvPr>
        </p:nvSpPr>
        <p:spPr/>
        <p:txBody>
          <a:bodyPr/>
          <a:lstStyle/>
          <a:p>
            <a:r>
              <a:rPr lang="en-US" dirty="0"/>
              <a:t>Option D</a:t>
            </a:r>
            <a:endParaRPr lang="en-IN" dirty="0"/>
          </a:p>
        </p:txBody>
      </p:sp>
      <p:sp>
        <p:nvSpPr>
          <p:cNvPr id="4" name="Slide Number Placeholder 3">
            <a:extLst>
              <a:ext uri="{FF2B5EF4-FFF2-40B4-BE49-F238E27FC236}">
                <a16:creationId xmlns:a16="http://schemas.microsoft.com/office/drawing/2014/main" id="{1EBF5143-07F7-1F4D-5036-40AC9F51A15C}"/>
              </a:ext>
            </a:extLst>
          </p:cNvPr>
          <p:cNvSpPr>
            <a:spLocks noGrp="1"/>
          </p:cNvSpPr>
          <p:nvPr>
            <p:ph type="sldNum" sz="quarter" idx="5"/>
          </p:nvPr>
        </p:nvSpPr>
        <p:spPr/>
        <p:txBody>
          <a:bodyPr/>
          <a:lstStyle/>
          <a:p>
            <a:fld id="{4BB36BD8-3BE0-4B04-B520-77C1F1F1FB7F}" type="slidenum">
              <a:rPr lang="en-US" smtClean="0"/>
              <a:pPr/>
              <a:t>23</a:t>
            </a:fld>
            <a:endParaRPr lang="en-US"/>
          </a:p>
        </p:txBody>
      </p:sp>
    </p:spTree>
    <p:extLst>
      <p:ext uri="{BB962C8B-B14F-4D97-AF65-F5344CB8AC3E}">
        <p14:creationId xmlns:p14="http://schemas.microsoft.com/office/powerpoint/2010/main" val="1682214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220DF-CF06-273D-3B87-657DC38FF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7AAE9-EF55-9809-0FDE-2C05A90F1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8CC210-7743-ECB7-31F0-96BCD78D7DC0}"/>
              </a:ext>
            </a:extLst>
          </p:cNvPr>
          <p:cNvSpPr>
            <a:spLocks noGrp="1"/>
          </p:cNvSpPr>
          <p:nvPr>
            <p:ph type="body" idx="1"/>
          </p:nvPr>
        </p:nvSpPr>
        <p:spPr/>
        <p:txBody>
          <a:bodyPr/>
          <a:lstStyle/>
          <a:p>
            <a:r>
              <a:rPr lang="en-US" dirty="0"/>
              <a:t>Option B</a:t>
            </a:r>
            <a:endParaRPr lang="en-IN" dirty="0"/>
          </a:p>
        </p:txBody>
      </p:sp>
      <p:sp>
        <p:nvSpPr>
          <p:cNvPr id="4" name="Slide Number Placeholder 3">
            <a:extLst>
              <a:ext uri="{FF2B5EF4-FFF2-40B4-BE49-F238E27FC236}">
                <a16:creationId xmlns:a16="http://schemas.microsoft.com/office/drawing/2014/main" id="{216B49FF-28A3-C637-EFE9-B3D13A9FFDE3}"/>
              </a:ext>
            </a:extLst>
          </p:cNvPr>
          <p:cNvSpPr>
            <a:spLocks noGrp="1"/>
          </p:cNvSpPr>
          <p:nvPr>
            <p:ph type="sldNum" sz="quarter" idx="5"/>
          </p:nvPr>
        </p:nvSpPr>
        <p:spPr/>
        <p:txBody>
          <a:bodyPr/>
          <a:lstStyle/>
          <a:p>
            <a:fld id="{4BB36BD8-3BE0-4B04-B520-77C1F1F1FB7F}" type="slidenum">
              <a:rPr lang="en-US" smtClean="0"/>
              <a:pPr/>
              <a:t>24</a:t>
            </a:fld>
            <a:endParaRPr lang="en-US"/>
          </a:p>
        </p:txBody>
      </p:sp>
    </p:spTree>
    <p:extLst>
      <p:ext uri="{BB962C8B-B14F-4D97-AF65-F5344CB8AC3E}">
        <p14:creationId xmlns:p14="http://schemas.microsoft.com/office/powerpoint/2010/main" val="1546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8FF44-B5CD-2185-6B0A-F79F0850B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D0B7A-739E-78AA-00FE-C46D1FD09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65B6A-0FED-6B93-498E-13120A4919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FD00511-D310-3720-AFF0-5E4E41B3CB73}"/>
              </a:ext>
            </a:extLst>
          </p:cNvPr>
          <p:cNvSpPr>
            <a:spLocks noGrp="1"/>
          </p:cNvSpPr>
          <p:nvPr>
            <p:ph type="sldNum" sz="quarter" idx="5"/>
          </p:nvPr>
        </p:nvSpPr>
        <p:spPr/>
        <p:txBody>
          <a:bodyPr/>
          <a:lstStyle/>
          <a:p>
            <a:fld id="{4BB36BD8-3BE0-4B04-B520-77C1F1F1FB7F}" type="slidenum">
              <a:rPr lang="en-US" smtClean="0"/>
              <a:pPr/>
              <a:t>25</a:t>
            </a:fld>
            <a:endParaRPr lang="en-US"/>
          </a:p>
        </p:txBody>
      </p:sp>
    </p:spTree>
    <p:extLst>
      <p:ext uri="{BB962C8B-B14F-4D97-AF65-F5344CB8AC3E}">
        <p14:creationId xmlns:p14="http://schemas.microsoft.com/office/powerpoint/2010/main" val="2116267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275EC-F650-A3B2-C33A-C7B10DB74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6F0E0-B696-57EF-66CA-D507A2788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53F5B-B7EA-787F-68E0-59F5C8013F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435AB55-BD26-7308-8F96-B449DA91F3FF}"/>
              </a:ext>
            </a:extLst>
          </p:cNvPr>
          <p:cNvSpPr>
            <a:spLocks noGrp="1"/>
          </p:cNvSpPr>
          <p:nvPr>
            <p:ph type="sldNum" sz="quarter" idx="5"/>
          </p:nvPr>
        </p:nvSpPr>
        <p:spPr/>
        <p:txBody>
          <a:bodyPr/>
          <a:lstStyle/>
          <a:p>
            <a:fld id="{4BB36BD8-3BE0-4B04-B520-77C1F1F1FB7F}" type="slidenum">
              <a:rPr lang="en-US" smtClean="0"/>
              <a:pPr/>
              <a:t>26</a:t>
            </a:fld>
            <a:endParaRPr lang="en-US"/>
          </a:p>
        </p:txBody>
      </p:sp>
    </p:spTree>
    <p:extLst>
      <p:ext uri="{BB962C8B-B14F-4D97-AF65-F5344CB8AC3E}">
        <p14:creationId xmlns:p14="http://schemas.microsoft.com/office/powerpoint/2010/main" val="20523493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23592"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02-03-2026</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02-03-2026</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DBMS                                                                M.Srinu, Asst Professor, CSE Dept.</a:t>
            </a:r>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pPr/>
              <a:t>02-03-2026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Name                                                                Faculty Name, Designation, Dept.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623392" y="980728"/>
            <a:ext cx="10696612" cy="2428892"/>
          </a:xfrm>
          <a:prstGeom prst="rect">
            <a:avLst/>
          </a:prstGeom>
        </p:spPr>
        <p:txBody>
          <a:bodyPr vert="horz" lIns="91440" tIns="45720" rIns="91440" bIns="45720" rtlCol="0" anchor="b">
            <a:noAutofit/>
          </a:bodyPr>
          <a:lstStyle/>
          <a:p>
            <a:pPr lvl="0" algn="ctr" defTabSz="914400">
              <a:lnSpc>
                <a:spcPct val="90000"/>
              </a:lnSpc>
              <a:spcBef>
                <a:spcPct val="0"/>
              </a:spcBef>
              <a:defRPr/>
            </a:pPr>
            <a:r>
              <a:rPr lang="en-IN" sz="3600" b="1" dirty="0">
                <a:latin typeface="Verdana" panose="020B0604030504040204" pitchFamily="34" charset="0"/>
                <a:ea typeface="Verdana" panose="020B0604030504040204" pitchFamily="34" charset="0"/>
                <a:cs typeface="Times New Roman" panose="02020603050405020304" pitchFamily="18" charset="0"/>
              </a:rPr>
              <a:t>CODING</a:t>
            </a:r>
            <a:r>
              <a:rPr kumimoji="0" lang="en-IN" sz="36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Times New Roman" panose="02020603050405020304" pitchFamily="18" charset="0"/>
              </a:rPr>
              <a:t> AND DECODING</a:t>
            </a:r>
          </a:p>
        </p:txBody>
      </p:sp>
      <p:sp>
        <p:nvSpPr>
          <p:cNvPr id="6" name="Subtitle 2"/>
          <p:cNvSpPr txBox="1">
            <a:spLocks/>
          </p:cNvSpPr>
          <p:nvPr/>
        </p:nvSpPr>
        <p:spPr>
          <a:xfrm>
            <a:off x="911424" y="4005064"/>
            <a:ext cx="10696612" cy="1656184"/>
          </a:xfrm>
          <a:prstGeom prst="rect">
            <a:avLst/>
          </a:prstGeom>
        </p:spPr>
        <p:txBody>
          <a:bodyPr vert="horz" lIns="91440" tIns="45720" rIns="91440" bIns="45720" rtlCol="0">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rPr>
              <a:t>P. Vijay Kumar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000" dirty="0">
                <a:solidFill>
                  <a:srgbClr val="002060"/>
                </a:solidFill>
                <a:latin typeface="Cambria" panose="02040503050406030204" pitchFamily="18" charset="0"/>
                <a:ea typeface="Cambria" panose="02040503050406030204" pitchFamily="18" charset="0"/>
              </a:rPr>
              <a:t>Aptitude Trainer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Cambria" panose="02040503050406030204" pitchFamily="18" charset="0"/>
                <a:ea typeface="Cambria" panose="02040503050406030204" pitchFamily="18" charset="0"/>
              </a:rPr>
              <a:t>Department of</a:t>
            </a:r>
            <a:r>
              <a:rPr lang="en-US" sz="2000" baseline="0" dirty="0">
                <a:solidFill>
                  <a:srgbClr val="002060"/>
                </a:solidFill>
                <a:latin typeface="Cambria" panose="02040503050406030204" pitchFamily="18" charset="0"/>
                <a:ea typeface="Cambria" panose="02040503050406030204" pitchFamily="18" charset="0"/>
              </a:rPr>
              <a:t> Training</a:t>
            </a:r>
            <a:r>
              <a:rPr lang="en-US" sz="2000" dirty="0">
                <a:solidFill>
                  <a:srgbClr val="002060"/>
                </a:solidFill>
                <a:latin typeface="Cambria" panose="02040503050406030204" pitchFamily="18" charset="0"/>
                <a:ea typeface="Cambria" panose="02040503050406030204" pitchFamily="18" charset="0"/>
              </a:rPr>
              <a:t> &amp; Placement</a:t>
            </a:r>
            <a:r>
              <a:rPr kumimoji="0" lang="en-US" sz="2000" b="0" i="0" u="none" strike="noStrike" kern="1200" cap="none" spc="0" normalizeH="0" baseline="0" noProof="0" dirty="0">
                <a:ln>
                  <a:noFill/>
                </a:ln>
                <a:solidFill>
                  <a:srgbClr val="002060"/>
                </a:solidFill>
                <a:effectLst/>
                <a:uLnTx/>
                <a:uFillTx/>
                <a:latin typeface="Cambria" panose="02040503050406030204" pitchFamily="18" charset="0"/>
                <a:ea typeface="Cambria" panose="02040503050406030204" pitchFamily="18" charset="0"/>
              </a:rPr>
              <a:t> </a:t>
            </a:r>
            <a:endParaRPr lang="en-US" sz="2000" dirty="0">
              <a:solidFill>
                <a:srgbClr val="002060"/>
              </a:solidFill>
              <a:latin typeface="Cambria" panose="02040503050406030204" pitchFamily="18" charset="0"/>
              <a:ea typeface="Cambria" panose="02040503050406030204" pitchFamily="18"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srgbClr val="002060"/>
                </a:solidFill>
                <a:effectLst/>
                <a:uLnTx/>
                <a:uFillTx/>
                <a:latin typeface="Cambria" panose="02040503050406030204" pitchFamily="18" charset="0"/>
                <a:ea typeface="Cambria" panose="02040503050406030204" pitchFamily="18" charset="0"/>
              </a:rPr>
              <a:t>Aditya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3"/>
          </p:nvPr>
        </p:nvSpPr>
        <p:spPr/>
        <p:txBody>
          <a:bodyPr/>
          <a:lstStyle/>
          <a:p>
            <a:fld id="{326EF2E3-409D-4D76-AD02-397A36B0DAF9}" type="slidenum">
              <a:rPr lang="en-US" smtClean="0"/>
              <a:pPr/>
              <a:t>2</a:t>
            </a:fld>
            <a:endParaRPr lang="en-US"/>
          </a:p>
        </p:txBody>
      </p:sp>
      <p:sp>
        <p:nvSpPr>
          <p:cNvPr id="5" name="Content Placeholder 1">
            <a:extLst>
              <a:ext uri="{FF2B5EF4-FFF2-40B4-BE49-F238E27FC236}">
                <a16:creationId xmlns:a16="http://schemas.microsoft.com/office/drawing/2014/main" id="{C4B12F71-216B-4B4A-9933-2017B3D46F1E}"/>
              </a:ext>
            </a:extLst>
          </p:cNvPr>
          <p:cNvSpPr txBox="1">
            <a:spLocks/>
          </p:cNvSpPr>
          <p:nvPr/>
        </p:nvSpPr>
        <p:spPr>
          <a:xfrm>
            <a:off x="623392" y="1052736"/>
            <a:ext cx="11161240" cy="51125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IN" sz="22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7862E4AC-212E-43EC-956C-B30F3E8CC9D6}"/>
              </a:ext>
            </a:extLst>
          </p:cNvPr>
          <p:cNvSpPr txBox="1"/>
          <p:nvPr/>
        </p:nvSpPr>
        <p:spPr>
          <a:xfrm>
            <a:off x="983432" y="237520"/>
            <a:ext cx="10561550" cy="646331"/>
          </a:xfrm>
          <a:prstGeom prst="rect">
            <a:avLst/>
          </a:prstGeom>
          <a:noFill/>
        </p:spPr>
        <p:txBody>
          <a:bodyPr wrap="square" rtlCol="0">
            <a:spAutoFit/>
          </a:bodyPr>
          <a:lstStyle/>
          <a:p>
            <a:pPr algn="ctr"/>
            <a:r>
              <a:rPr lang="en-IN" sz="3600" b="1" dirty="0">
                <a:solidFill>
                  <a:schemeClr val="accent2">
                    <a:lumMod val="75000"/>
                  </a:schemeClr>
                </a:solidFill>
                <a:latin typeface="Times New Roman" pitchFamily="18" charset="0"/>
                <a:cs typeface="Times New Roman" pitchFamily="18" charset="0"/>
              </a:rPr>
              <a:t>Introduction</a:t>
            </a:r>
            <a:endParaRPr lang="en-IN" sz="3600" b="1" dirty="0"/>
          </a:p>
        </p:txBody>
      </p:sp>
      <p:sp>
        <p:nvSpPr>
          <p:cNvPr id="7" name="TextBox 6">
            <a:extLst>
              <a:ext uri="{FF2B5EF4-FFF2-40B4-BE49-F238E27FC236}">
                <a16:creationId xmlns:a16="http://schemas.microsoft.com/office/drawing/2014/main" id="{F90E0749-CE29-B2E3-24F5-017D6355E7E6}"/>
              </a:ext>
            </a:extLst>
          </p:cNvPr>
          <p:cNvSpPr txBox="1"/>
          <p:nvPr/>
        </p:nvSpPr>
        <p:spPr>
          <a:xfrm>
            <a:off x="623392" y="1340768"/>
            <a:ext cx="11017224" cy="5262979"/>
          </a:xfrm>
          <a:prstGeom prst="rect">
            <a:avLst/>
          </a:prstGeom>
          <a:noFill/>
        </p:spPr>
        <p:txBody>
          <a:bodyPr wrap="square" rtlCol="0">
            <a:spAutoFit/>
          </a:bodyPr>
          <a:lstStyle/>
          <a:p>
            <a:pPr lvl="0">
              <a:buClr>
                <a:srgbClr val="000000"/>
              </a:buClr>
              <a:buSzPts val="1800"/>
            </a:pPr>
            <a:r>
              <a:rPr lang="en-US" sz="2800" b="1">
                <a:solidFill>
                  <a:srgbClr val="000000"/>
                </a:solidFill>
                <a:latin typeface="Times New Roman" panose="02020603050405020304" pitchFamily="18" charset="0"/>
                <a:cs typeface="Times New Roman" panose="02020603050405020304" pitchFamily="18" charset="0"/>
                <a:sym typeface="Arial" panose="020B0604020202020204"/>
              </a:rPr>
              <a:t>Coding and Decoding</a:t>
            </a:r>
            <a:endParaRPr lang="en-US" sz="280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285750" lvl="0" indent="-184150">
              <a:buClr>
                <a:srgbClr val="000000"/>
              </a:buClr>
              <a:buSzPts val="1600"/>
            </a:pPr>
            <a:endParaRPr lang="en-US" sz="280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285750" lvl="0" indent="-285750">
              <a:buClr>
                <a:srgbClr val="000000"/>
              </a:buClr>
              <a:buSzPts val="1600"/>
              <a:buFont typeface="Noto Sans Symbols"/>
              <a:buChar char="▪"/>
            </a:pPr>
            <a:r>
              <a:rPr lang="en-US" sz="2800">
                <a:solidFill>
                  <a:srgbClr val="000000"/>
                </a:solidFill>
                <a:latin typeface="Times New Roman" panose="02020603050405020304" pitchFamily="18" charset="0"/>
                <a:cs typeface="Times New Roman" panose="02020603050405020304" pitchFamily="18" charset="0"/>
                <a:sym typeface="Arial" panose="020B0604020202020204"/>
              </a:rPr>
              <a:t>The coding questions will provide you with some information that is in code form. This information can be decoded using the key that is present either within the question or within the options. </a:t>
            </a:r>
            <a:endParaRPr lang="en-US" sz="280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600"/>
            </a:pPr>
            <a:endParaRPr lang="en-US" sz="280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800"/>
            </a:pPr>
            <a:r>
              <a:rPr lang="en-US" sz="2800" b="1">
                <a:solidFill>
                  <a:srgbClr val="000000"/>
                </a:solidFill>
                <a:latin typeface="Times New Roman" panose="02020603050405020304" pitchFamily="18" charset="0"/>
                <a:cs typeface="Times New Roman" panose="02020603050405020304" pitchFamily="18" charset="0"/>
                <a:sym typeface="Arial" panose="020B0604020202020204"/>
              </a:rPr>
              <a:t>Letter Coding</a:t>
            </a:r>
            <a:endParaRPr lang="en-US" sz="2800" b="1">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800"/>
            </a:pPr>
            <a:endParaRPr lang="en-US" sz="280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285750" lvl="0" indent="-285750">
              <a:buClr>
                <a:srgbClr val="000000"/>
              </a:buClr>
              <a:buSzPts val="1600"/>
              <a:buFont typeface="Noto Sans Symbols"/>
              <a:buChar char="▪"/>
            </a:pPr>
            <a:r>
              <a:rPr lang="en-US" sz="2800">
                <a:solidFill>
                  <a:srgbClr val="000000"/>
                </a:solidFill>
                <a:latin typeface="Times New Roman" panose="02020603050405020304" pitchFamily="18" charset="0"/>
                <a:cs typeface="Times New Roman" panose="02020603050405020304" pitchFamily="18" charset="0"/>
                <a:sym typeface="Arial" panose="020B0604020202020204"/>
              </a:rPr>
              <a:t>This is the code that is derived on the basis of alphabets. usually, the position of alphabets is used. </a:t>
            </a:r>
            <a:endParaRPr lang="en-US" sz="280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600"/>
            </a:pPr>
            <a:endParaRPr lang="en-US" sz="280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478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E3C42-38CD-657E-945A-77C61D320B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70BBE8-8FC6-BCBB-D3A6-A0D3565D76DE}"/>
              </a:ext>
            </a:extLst>
          </p:cNvPr>
          <p:cNvSpPr>
            <a:spLocks noGrp="1"/>
          </p:cNvSpPr>
          <p:nvPr>
            <p:ph type="sldNum" sz="quarter" idx="13"/>
          </p:nvPr>
        </p:nvSpPr>
        <p:spPr/>
        <p:txBody>
          <a:bodyPr/>
          <a:lstStyle/>
          <a:p>
            <a:fld id="{326EF2E3-409D-4D76-AD02-397A36B0DAF9}" type="slidenum">
              <a:rPr lang="en-US" smtClean="0"/>
              <a:pPr/>
              <a:t>3</a:t>
            </a:fld>
            <a:endParaRPr lang="en-US"/>
          </a:p>
        </p:txBody>
      </p:sp>
      <p:sp>
        <p:nvSpPr>
          <p:cNvPr id="5" name="Content Placeholder 1">
            <a:extLst>
              <a:ext uri="{FF2B5EF4-FFF2-40B4-BE49-F238E27FC236}">
                <a16:creationId xmlns:a16="http://schemas.microsoft.com/office/drawing/2014/main" id="{30E3DEC5-22D8-C0E6-3892-DCE7D8795141}"/>
              </a:ext>
            </a:extLst>
          </p:cNvPr>
          <p:cNvSpPr txBox="1">
            <a:spLocks/>
          </p:cNvSpPr>
          <p:nvPr/>
        </p:nvSpPr>
        <p:spPr>
          <a:xfrm>
            <a:off x="623392" y="1052736"/>
            <a:ext cx="11161240" cy="51125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IN" sz="22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8EBF1EB4-1479-95CD-4B9A-F4CDE84C9D56}"/>
              </a:ext>
            </a:extLst>
          </p:cNvPr>
          <p:cNvSpPr txBox="1"/>
          <p:nvPr/>
        </p:nvSpPr>
        <p:spPr>
          <a:xfrm>
            <a:off x="983432" y="237520"/>
            <a:ext cx="10561550" cy="646331"/>
          </a:xfrm>
          <a:prstGeom prst="rect">
            <a:avLst/>
          </a:prstGeom>
          <a:noFill/>
        </p:spPr>
        <p:txBody>
          <a:bodyPr wrap="square" rtlCol="0">
            <a:spAutoFit/>
          </a:bodyPr>
          <a:lstStyle/>
          <a:p>
            <a:pPr algn="ctr"/>
            <a:r>
              <a:rPr lang="en-IN" sz="3600" b="1" dirty="0">
                <a:solidFill>
                  <a:schemeClr val="accent2">
                    <a:lumMod val="75000"/>
                  </a:schemeClr>
                </a:solidFill>
                <a:latin typeface="Times New Roman" pitchFamily="18" charset="0"/>
                <a:cs typeface="Times New Roman" pitchFamily="18" charset="0"/>
              </a:rPr>
              <a:t>Concept and Definitions</a:t>
            </a:r>
            <a:endParaRPr lang="en-IN" sz="3600" b="1" dirty="0"/>
          </a:p>
        </p:txBody>
      </p:sp>
      <p:sp>
        <p:nvSpPr>
          <p:cNvPr id="3" name="TextBox 2">
            <a:extLst>
              <a:ext uri="{FF2B5EF4-FFF2-40B4-BE49-F238E27FC236}">
                <a16:creationId xmlns:a16="http://schemas.microsoft.com/office/drawing/2014/main" id="{2D2D9828-1DD2-C6BC-B9F8-C3709CC59374}"/>
              </a:ext>
            </a:extLst>
          </p:cNvPr>
          <p:cNvSpPr txBox="1"/>
          <p:nvPr/>
        </p:nvSpPr>
        <p:spPr>
          <a:xfrm>
            <a:off x="983432" y="1052736"/>
            <a:ext cx="10585176" cy="5262979"/>
          </a:xfrm>
          <a:prstGeom prst="rect">
            <a:avLst/>
          </a:prstGeom>
          <a:noFill/>
        </p:spPr>
        <p:txBody>
          <a:bodyPr wrap="square" rtlCol="0">
            <a:spAutoFit/>
          </a:bodyPr>
          <a:lstStyle/>
          <a:p>
            <a:pPr lvl="0">
              <a:buClr>
                <a:srgbClr val="000000"/>
              </a:buClr>
              <a:buSzPts val="1800"/>
            </a:pPr>
            <a:r>
              <a:rPr lang="en-US" sz="2800" b="1" dirty="0">
                <a:latin typeface="Times New Roman" panose="02020603050405020304" pitchFamily="18" charset="0"/>
                <a:cs typeface="Times New Roman" panose="02020603050405020304" pitchFamily="18" charset="0"/>
                <a:sym typeface="Arial" panose="020B0604020202020204"/>
              </a:rPr>
              <a:t>Number Coding</a:t>
            </a:r>
            <a:endParaRPr lang="en-US" sz="2800" b="1"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800"/>
            </a:pPr>
            <a:endParaRPr lang="en-US" sz="280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600"/>
            </a:pPr>
            <a:r>
              <a:rPr lang="en-US" sz="2800" dirty="0">
                <a:latin typeface="Times New Roman" panose="02020603050405020304" pitchFamily="18" charset="0"/>
                <a:cs typeface="Times New Roman" panose="02020603050405020304" pitchFamily="18" charset="0"/>
                <a:sym typeface="Arial" panose="020B0604020202020204"/>
              </a:rPr>
              <a:t>In this if letters of words are coded in number, then we have to decode it in particular letters and vice-versa.</a:t>
            </a:r>
            <a:endParaRPr lang="en-US" sz="280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800"/>
            </a:pPr>
            <a:endParaRPr lang="en-US" sz="280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800"/>
            </a:pPr>
            <a:r>
              <a:rPr lang="en-US" sz="2800" b="1" dirty="0">
                <a:latin typeface="Times New Roman" panose="02020603050405020304" pitchFamily="18" charset="0"/>
                <a:cs typeface="Times New Roman" panose="02020603050405020304" pitchFamily="18" charset="0"/>
                <a:sym typeface="Arial" panose="020B0604020202020204"/>
              </a:rPr>
              <a:t>Symbol Coding</a:t>
            </a:r>
            <a:endParaRPr lang="en-US" sz="2800" b="1"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800"/>
            </a:pPr>
            <a:endParaRPr lang="en-US" sz="280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600"/>
            </a:pPr>
            <a:r>
              <a:rPr lang="en-US" sz="2800" dirty="0">
                <a:solidFill>
                  <a:schemeClr val="dk1"/>
                </a:solidFill>
                <a:latin typeface="Times New Roman" panose="02020603050405020304" pitchFamily="18" charset="0"/>
                <a:cs typeface="Times New Roman" panose="02020603050405020304" pitchFamily="18" charset="0"/>
                <a:sym typeface="Arial" panose="020B0604020202020204"/>
              </a:rPr>
              <a:t>In the symbol coding, we use the symbols like “!@#$%^&amp;*()_”, to represent words or letters. These codes are then used to determine a code for the words that are written </a:t>
            </a:r>
            <a:endParaRPr lang="en-US" sz="280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buClr>
                <a:srgbClr val="000000"/>
              </a:buClr>
              <a:buSzPts val="1600"/>
            </a:pPr>
            <a:endParaRPr lang="en-US" sz="280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endParaRPr lang="en-IN" sz="28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333256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0D52A-2312-4494-524F-8210ACB285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AFEFD0-AAED-3B9E-983B-D717A65610EB}"/>
              </a:ext>
            </a:extLst>
          </p:cNvPr>
          <p:cNvSpPr>
            <a:spLocks noGrp="1"/>
          </p:cNvSpPr>
          <p:nvPr>
            <p:ph type="sldNum" sz="quarter" idx="13"/>
          </p:nvPr>
        </p:nvSpPr>
        <p:spPr/>
        <p:txBody>
          <a:bodyPr/>
          <a:lstStyle/>
          <a:p>
            <a:fld id="{326EF2E3-409D-4D76-AD02-397A36B0DAF9}" type="slidenum">
              <a:rPr lang="en-US" smtClean="0"/>
              <a:pPr/>
              <a:t>4</a:t>
            </a:fld>
            <a:endParaRPr lang="en-US"/>
          </a:p>
        </p:txBody>
      </p:sp>
      <p:sp>
        <p:nvSpPr>
          <p:cNvPr id="5" name="Content Placeholder 1">
            <a:extLst>
              <a:ext uri="{FF2B5EF4-FFF2-40B4-BE49-F238E27FC236}">
                <a16:creationId xmlns:a16="http://schemas.microsoft.com/office/drawing/2014/main" id="{B58A6430-F8FF-7E8B-53D5-26EA27816811}"/>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'MAZZA' is written as 'OBBAC' and 'BLACK' is written as 'DMCDM'. How will 'FUZZY' be written in that language?</a:t>
            </a:r>
          </a:p>
          <a:p>
            <a:pPr marL="0" indent="0" algn="just">
              <a:lnSpc>
                <a:spcPct val="150000"/>
              </a:lnSpc>
              <a:buNone/>
            </a:pP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HVBBA</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HVBAA</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HTBAA</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HVBZA</a:t>
            </a:r>
            <a:endPar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A955227-08D9-662C-0333-85F6A89D79F2}"/>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271026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F1548-BC08-0A95-6075-27F599922C8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653B13-E85A-9748-7E5B-98E3E011EC6C}"/>
              </a:ext>
            </a:extLst>
          </p:cNvPr>
          <p:cNvSpPr>
            <a:spLocks noGrp="1"/>
          </p:cNvSpPr>
          <p:nvPr>
            <p:ph type="sldNum" sz="quarter" idx="13"/>
          </p:nvPr>
        </p:nvSpPr>
        <p:spPr/>
        <p:txBody>
          <a:bodyPr/>
          <a:lstStyle/>
          <a:p>
            <a:fld id="{326EF2E3-409D-4D76-AD02-397A36B0DAF9}" type="slidenum">
              <a:rPr lang="en-US" smtClean="0"/>
              <a:pPr/>
              <a:t>5</a:t>
            </a:fld>
            <a:endParaRPr lang="en-US"/>
          </a:p>
        </p:txBody>
      </p:sp>
      <p:sp>
        <p:nvSpPr>
          <p:cNvPr id="5" name="Content Placeholder 1">
            <a:extLst>
              <a:ext uri="{FF2B5EF4-FFF2-40B4-BE49-F238E27FC236}">
                <a16:creationId xmlns:a16="http://schemas.microsoft.com/office/drawing/2014/main" id="{1834B90F-495B-C374-3DBF-CA70F9FE20ED}"/>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2.</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'ALWAYS' is coded as 'AKYAXU'. What is the code for 'BEYOND' in that code language?</a:t>
            </a:r>
          </a:p>
          <a:p>
            <a:pPr marL="0" indent="0" algn="just">
              <a:lnSpc>
                <a:spcPct val="150000"/>
              </a:lnSpc>
              <a:buNone/>
            </a:pP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BDAOMG</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BDAOME</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BDAOMF</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BDBOMF</a:t>
            </a:r>
            <a:endPar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19E44D6-4DCA-0F62-4776-A18E15261987}"/>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022034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578FF-0082-798C-F6F2-43F7149A0C5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A3F3C2-325E-06B3-F2E2-49D8169C50B1}"/>
              </a:ext>
            </a:extLst>
          </p:cNvPr>
          <p:cNvSpPr>
            <a:spLocks noGrp="1"/>
          </p:cNvSpPr>
          <p:nvPr>
            <p:ph type="sldNum" sz="quarter" idx="13"/>
          </p:nvPr>
        </p:nvSpPr>
        <p:spPr/>
        <p:txBody>
          <a:bodyPr/>
          <a:lstStyle/>
          <a:p>
            <a:fld id="{326EF2E3-409D-4D76-AD02-397A36B0DAF9}" type="slidenum">
              <a:rPr lang="en-US" smtClean="0"/>
              <a:pPr/>
              <a:t>6</a:t>
            </a:fld>
            <a:endParaRPr lang="en-US"/>
          </a:p>
        </p:txBody>
      </p:sp>
      <p:sp>
        <p:nvSpPr>
          <p:cNvPr id="5" name="Content Placeholder 1">
            <a:extLst>
              <a:ext uri="{FF2B5EF4-FFF2-40B4-BE49-F238E27FC236}">
                <a16:creationId xmlns:a16="http://schemas.microsoft.com/office/drawing/2014/main" id="{3F511B4C-2CCD-E17B-8811-66A36DFF07A5}"/>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3.</a:t>
            </a:r>
            <a:r>
              <a:rPr lang="en-US" b="1" dirty="0">
                <a:latin typeface="Cambria" panose="02040503050406030204" pitchFamily="18" charset="0"/>
                <a:ea typeface="Cambria" panose="020405030504060302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 a certain code language, 'ANIMISM' is written as 'INAMMSI' and 'EAGERLY' is written as 'GAEEYLR'. How will 'FULFILL' be written in that language?</a:t>
            </a:r>
          </a:p>
          <a:p>
            <a:pPr marL="0" indent="0" algn="just">
              <a:lnSpc>
                <a:spcPct val="150000"/>
              </a:lnSpc>
              <a:buNone/>
            </a:pP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LUFLFLI</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LUFFLLI</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LUFFLIL</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LUFFILL</a:t>
            </a:r>
            <a:endPar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6D14606-F18B-8963-ED0A-C3A06202A637}"/>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240199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542B-30D3-C416-90A8-A705449AEF2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CD1589-B8D8-8098-4BA1-09DA800FB043}"/>
              </a:ext>
            </a:extLst>
          </p:cNvPr>
          <p:cNvSpPr>
            <a:spLocks noGrp="1"/>
          </p:cNvSpPr>
          <p:nvPr>
            <p:ph type="sldNum" sz="quarter" idx="13"/>
          </p:nvPr>
        </p:nvSpPr>
        <p:spPr/>
        <p:txBody>
          <a:bodyPr/>
          <a:lstStyle/>
          <a:p>
            <a:fld id="{326EF2E3-409D-4D76-AD02-397A36B0DAF9}" type="slidenum">
              <a:rPr lang="en-US" smtClean="0"/>
              <a:pPr/>
              <a:t>7</a:t>
            </a:fld>
            <a:endParaRPr lang="en-US"/>
          </a:p>
        </p:txBody>
      </p:sp>
      <p:sp>
        <p:nvSpPr>
          <p:cNvPr id="5" name="Content Placeholder 1">
            <a:extLst>
              <a:ext uri="{FF2B5EF4-FFF2-40B4-BE49-F238E27FC236}">
                <a16:creationId xmlns:a16="http://schemas.microsoft.com/office/drawing/2014/main" id="{EE33ADA3-FA94-2F6E-2C06-5E3299600F5E}"/>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4.</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'FELLOW' is written as 'NGHYQN' and 'PURPLE' is written as 'TWRGNR'. How will 'SUPRISED' be written in that language?</a:t>
            </a:r>
          </a:p>
          <a:p>
            <a:pPr marL="0" indent="0" algn="just">
              <a:lnSpc>
                <a:spcPct val="150000"/>
              </a:lnSpc>
              <a:buNone/>
            </a:pP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KUGFUWRT</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TRWUFGUK</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TRUWFGUK</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UWRTKUGF</a:t>
            </a:r>
            <a:endPar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233A331-C700-B227-C5AC-5797B69E6395}"/>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210917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1B671-153C-59AB-38A6-73E078DFA0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068000-9027-1757-247B-E2EE5BA6606D}"/>
              </a:ext>
            </a:extLst>
          </p:cNvPr>
          <p:cNvSpPr>
            <a:spLocks noGrp="1"/>
          </p:cNvSpPr>
          <p:nvPr>
            <p:ph type="sldNum" sz="quarter" idx="13"/>
          </p:nvPr>
        </p:nvSpPr>
        <p:spPr/>
        <p:txBody>
          <a:bodyPr/>
          <a:lstStyle/>
          <a:p>
            <a:fld id="{326EF2E3-409D-4D76-AD02-397A36B0DAF9}" type="slidenum">
              <a:rPr lang="en-US" smtClean="0"/>
              <a:pPr/>
              <a:t>8</a:t>
            </a:fld>
            <a:endParaRPr lang="en-US"/>
          </a:p>
        </p:txBody>
      </p:sp>
      <p:sp>
        <p:nvSpPr>
          <p:cNvPr id="5" name="Content Placeholder 1">
            <a:extLst>
              <a:ext uri="{FF2B5EF4-FFF2-40B4-BE49-F238E27FC236}">
                <a16:creationId xmlns:a16="http://schemas.microsoft.com/office/drawing/2014/main" id="{7E72A143-DE18-325F-A220-A0324E0F01B2}"/>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9F4FB4F-9377-BAFC-6E26-40562C3184C3}"/>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pic>
        <p:nvPicPr>
          <p:cNvPr id="2" name="Picture 1">
            <a:extLst>
              <a:ext uri="{FF2B5EF4-FFF2-40B4-BE49-F238E27FC236}">
                <a16:creationId xmlns:a16="http://schemas.microsoft.com/office/drawing/2014/main" id="{AC2A0C1A-855B-1E2E-9825-EE38AD9E55F0}"/>
              </a:ext>
            </a:extLst>
          </p:cNvPr>
          <p:cNvPicPr>
            <a:picLocks noChangeAspect="1"/>
          </p:cNvPicPr>
          <p:nvPr/>
        </p:nvPicPr>
        <p:blipFill>
          <a:blip r:embed="rId3"/>
          <a:stretch>
            <a:fillRect/>
          </a:stretch>
        </p:blipFill>
        <p:spPr>
          <a:xfrm>
            <a:off x="1332230" y="1037591"/>
            <a:ext cx="6996018" cy="4983698"/>
          </a:xfrm>
          <a:prstGeom prst="rect">
            <a:avLst/>
          </a:prstGeom>
        </p:spPr>
      </p:pic>
    </p:spTree>
    <p:extLst>
      <p:ext uri="{BB962C8B-B14F-4D97-AF65-F5344CB8AC3E}">
        <p14:creationId xmlns:p14="http://schemas.microsoft.com/office/powerpoint/2010/main" val="391509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DC33F-50BC-881C-EFE4-67294DBFE77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EAEFEA-DD1C-F949-BE5B-7AA49940E0BA}"/>
              </a:ext>
            </a:extLst>
          </p:cNvPr>
          <p:cNvSpPr>
            <a:spLocks noGrp="1"/>
          </p:cNvSpPr>
          <p:nvPr>
            <p:ph type="sldNum" sz="quarter" idx="13"/>
          </p:nvPr>
        </p:nvSpPr>
        <p:spPr/>
        <p:txBody>
          <a:bodyPr/>
          <a:lstStyle/>
          <a:p>
            <a:fld id="{326EF2E3-409D-4D76-AD02-397A36B0DAF9}" type="slidenum">
              <a:rPr lang="en-US" smtClean="0"/>
              <a:pPr/>
              <a:t>9</a:t>
            </a:fld>
            <a:endParaRPr lang="en-US"/>
          </a:p>
        </p:txBody>
      </p:sp>
      <p:sp>
        <p:nvSpPr>
          <p:cNvPr id="5" name="Content Placeholder 1">
            <a:extLst>
              <a:ext uri="{FF2B5EF4-FFF2-40B4-BE49-F238E27FC236}">
                <a16:creationId xmlns:a16="http://schemas.microsoft.com/office/drawing/2014/main" id="{C843427C-DE73-3DF8-63E5-E45A6FF043DA}"/>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5.</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"EASY" is written as "YAES", and "KIND" is written as "DIKN". How will "SOME" be written in that language?</a:t>
            </a:r>
          </a:p>
          <a:p>
            <a:pPr marL="0" indent="0" algn="just">
              <a:lnSpc>
                <a:spcPct val="150000"/>
              </a:lnSpc>
              <a:buNone/>
            </a:pP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ESOM</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EOSM</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EOMS</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OESM</a:t>
            </a:r>
            <a:endPar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7F0F2BC-8348-372C-8409-32C2EDC4B6CF}"/>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557418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86113-98DA-9F05-0371-42C15ABED5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5228FA-6EFB-5FD5-6D2E-917B13B6C1A4}"/>
              </a:ext>
            </a:extLst>
          </p:cNvPr>
          <p:cNvSpPr>
            <a:spLocks noGrp="1"/>
          </p:cNvSpPr>
          <p:nvPr>
            <p:ph type="sldNum" sz="quarter" idx="13"/>
          </p:nvPr>
        </p:nvSpPr>
        <p:spPr/>
        <p:txBody>
          <a:bodyPr/>
          <a:lstStyle/>
          <a:p>
            <a:fld id="{326EF2E3-409D-4D76-AD02-397A36B0DAF9}" type="slidenum">
              <a:rPr lang="en-US" smtClean="0"/>
              <a:pPr/>
              <a:t>10</a:t>
            </a:fld>
            <a:endParaRPr lang="en-US"/>
          </a:p>
        </p:txBody>
      </p:sp>
      <p:sp>
        <p:nvSpPr>
          <p:cNvPr id="5" name="Content Placeholder 1">
            <a:extLst>
              <a:ext uri="{FF2B5EF4-FFF2-40B4-BE49-F238E27FC236}">
                <a16:creationId xmlns:a16="http://schemas.microsoft.com/office/drawing/2014/main" id="{CCD30A5B-8FD6-F310-6829-6BB1EC5A116E}"/>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6.</a:t>
            </a:r>
            <a:r>
              <a:rPr lang="en-US" b="1" dirty="0">
                <a:latin typeface="Cambria" panose="02040503050406030204" pitchFamily="18" charset="0"/>
                <a:ea typeface="Cambria" panose="02040503050406030204" pitchFamily="18" charset="0"/>
                <a:cs typeface="Times New Roman" panose="02020603050405020304" pitchFamily="18" charset="0"/>
              </a:rPr>
              <a:t>In a certain code language, "CAUTIOUS" is written as "CUAITUOS", and "DEADLINE" is written as "DAELDNIE". How will "ECONOMIC" be written in that language?</a:t>
            </a:r>
          </a:p>
          <a:p>
            <a:pPr marL="0" indent="0" algn="just">
              <a:lnSpc>
                <a:spcPct val="150000"/>
              </a:lnSpc>
              <a:buNone/>
            </a:pPr>
            <a:endPar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ECOONIMC</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b)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EOCOINMC</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c) EOOCNIMC</a:t>
            </a:r>
            <a:b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br>
            <a:r>
              <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rPr>
              <a:t>d) </a:t>
            </a:r>
            <a:r>
              <a:rPr lang="en-US" dirty="0">
                <a:solidFill>
                  <a:srgbClr val="000000"/>
                </a:solidFill>
                <a:latin typeface="Cambria" panose="02040503050406030204" pitchFamily="18" charset="0"/>
                <a:ea typeface="Cambria" panose="02040503050406030204" pitchFamily="18" charset="0"/>
                <a:cs typeface="Times New Roman" panose="02020603050405020304" pitchFamily="18" charset="0"/>
              </a:rPr>
              <a:t>EOCONIMC</a:t>
            </a:r>
            <a:endParaRPr kumimoji="0" lang="en-US"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B8BC968-CC4C-A1C9-6DC6-0C89C6F009A0}"/>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635881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BA1DA-585F-843C-17EB-8495F0A5314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B317F9-2E6E-3B99-C4DE-949DBBD2D521}"/>
              </a:ext>
            </a:extLst>
          </p:cNvPr>
          <p:cNvSpPr>
            <a:spLocks noGrp="1"/>
          </p:cNvSpPr>
          <p:nvPr>
            <p:ph type="sldNum" sz="quarter" idx="13"/>
          </p:nvPr>
        </p:nvSpPr>
        <p:spPr/>
        <p:txBody>
          <a:bodyPr/>
          <a:lstStyle/>
          <a:p>
            <a:fld id="{326EF2E3-409D-4D76-AD02-397A36B0DAF9}" type="slidenum">
              <a:rPr lang="en-US" smtClean="0"/>
              <a:pPr/>
              <a:t>11</a:t>
            </a:fld>
            <a:endParaRPr lang="en-US"/>
          </a:p>
        </p:txBody>
      </p:sp>
      <p:sp>
        <p:nvSpPr>
          <p:cNvPr id="5" name="Content Placeholder 1">
            <a:extLst>
              <a:ext uri="{FF2B5EF4-FFF2-40B4-BE49-F238E27FC236}">
                <a16:creationId xmlns:a16="http://schemas.microsoft.com/office/drawing/2014/main" id="{E1082E2F-9ECE-6D4E-04FB-61E2053D919C}"/>
              </a:ext>
            </a:extLst>
          </p:cNvPr>
          <p:cNvSpPr txBox="1">
            <a:spLocks/>
          </p:cNvSpPr>
          <p:nvPr/>
        </p:nvSpPr>
        <p:spPr>
          <a:xfrm>
            <a:off x="696616" y="1268760"/>
            <a:ext cx="10944000" cy="4752528"/>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7.</a:t>
            </a:r>
            <a:r>
              <a:rPr lang="en-US" b="1" dirty="0">
                <a:latin typeface="Cambria" panose="02040503050406030204" pitchFamily="18" charset="0"/>
                <a:ea typeface="Cambria" panose="02040503050406030204" pitchFamily="18" charset="0"/>
                <a:cs typeface="Times New Roman" panose="02020603050405020304" pitchFamily="18" charset="0"/>
              </a:rPr>
              <a:t> If in a code language, ORGANISATION is written as CBDWLQJWYQCL and OPERATION is written as CXFBWYQCL, then how is SEPARATION coded?</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a)QCLYWBFXJE</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b)JFQYWBCXQL</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c)JFXWBWYQCL</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d)EJXEBEYQCL</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81D3F88-943A-78FE-A1EE-2499B28D0992}"/>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612301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CF35C-1DBC-190A-0A7E-0AA8687DBE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22D0AB-6D4E-D02C-C577-F1DB0E3BD057}"/>
              </a:ext>
            </a:extLst>
          </p:cNvPr>
          <p:cNvSpPr>
            <a:spLocks noGrp="1"/>
          </p:cNvSpPr>
          <p:nvPr>
            <p:ph type="sldNum" sz="quarter" idx="13"/>
          </p:nvPr>
        </p:nvSpPr>
        <p:spPr/>
        <p:txBody>
          <a:bodyPr/>
          <a:lstStyle/>
          <a:p>
            <a:fld id="{326EF2E3-409D-4D76-AD02-397A36B0DAF9}" type="slidenum">
              <a:rPr lang="en-US" smtClean="0"/>
              <a:pPr/>
              <a:t>12</a:t>
            </a:fld>
            <a:endParaRPr lang="en-US"/>
          </a:p>
        </p:txBody>
      </p:sp>
      <p:sp>
        <p:nvSpPr>
          <p:cNvPr id="5" name="Content Placeholder 1">
            <a:extLst>
              <a:ext uri="{FF2B5EF4-FFF2-40B4-BE49-F238E27FC236}">
                <a16:creationId xmlns:a16="http://schemas.microsoft.com/office/drawing/2014/main" id="{F89C89F9-4F8C-A6E6-2864-53589BAAB131}"/>
              </a:ext>
            </a:extLst>
          </p:cNvPr>
          <p:cNvSpPr txBox="1">
            <a:spLocks/>
          </p:cNvSpPr>
          <p:nvPr/>
        </p:nvSpPr>
        <p:spPr>
          <a:xfrm>
            <a:off x="696616" y="1268760"/>
            <a:ext cx="10944000" cy="4752528"/>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8.</a:t>
            </a:r>
            <a:r>
              <a:rPr lang="en-US" b="1" dirty="0">
                <a:latin typeface="Cambria" panose="02040503050406030204" pitchFamily="18" charset="0"/>
                <a:ea typeface="Cambria" panose="02040503050406030204" pitchFamily="18" charset="0"/>
                <a:cs typeface="Times New Roman" panose="02020603050405020304" pitchFamily="18" charset="0"/>
              </a:rPr>
              <a:t> Four letter – cluster pairs have been given, out of which there are alike in some manner and one is different. Select the one that is different.</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a)SUYEMW : CAYWQI</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b)QSWAGN : AWTXDH</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c)CEIOWG : ASMKIG</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d)DFJPXH : BTNLJH</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99BC136-2265-8592-A256-77156543CBFE}"/>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904251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76F9-4BDB-BE9D-1A3F-F7CEC18753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74728B-2550-93B2-5F94-8A4A1A8F75A9}"/>
              </a:ext>
            </a:extLst>
          </p:cNvPr>
          <p:cNvSpPr>
            <a:spLocks noGrp="1"/>
          </p:cNvSpPr>
          <p:nvPr>
            <p:ph type="sldNum" sz="quarter" idx="13"/>
          </p:nvPr>
        </p:nvSpPr>
        <p:spPr/>
        <p:txBody>
          <a:bodyPr/>
          <a:lstStyle/>
          <a:p>
            <a:fld id="{326EF2E3-409D-4D76-AD02-397A36B0DAF9}" type="slidenum">
              <a:rPr lang="en-US" smtClean="0"/>
              <a:pPr/>
              <a:t>13</a:t>
            </a:fld>
            <a:endParaRPr lang="en-US"/>
          </a:p>
        </p:txBody>
      </p:sp>
      <p:sp>
        <p:nvSpPr>
          <p:cNvPr id="5" name="Content Placeholder 1">
            <a:extLst>
              <a:ext uri="{FF2B5EF4-FFF2-40B4-BE49-F238E27FC236}">
                <a16:creationId xmlns:a16="http://schemas.microsoft.com/office/drawing/2014/main" id="{298BEFC6-02F6-5E16-770D-C5B2EA6AA800}"/>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9.</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if the word 'CONCEPT' is coded as DQQGJVA, then how will you code the word 'EXECUTION' in that language?</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 FZHFGZZPW  (b) FZHGYZPWW</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FZHGZZPXW  (d) FZHGZZPWW</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D7723B-1F7A-F4F4-2A17-91EE08420C9F}"/>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467168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E4EF0-05A1-99BF-C1D3-5ABAEB98A3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E2CF3F-AEA8-7A8E-8011-C95E55F73540}"/>
              </a:ext>
            </a:extLst>
          </p:cNvPr>
          <p:cNvSpPr>
            <a:spLocks noGrp="1"/>
          </p:cNvSpPr>
          <p:nvPr>
            <p:ph type="sldNum" sz="quarter" idx="13"/>
          </p:nvPr>
        </p:nvSpPr>
        <p:spPr/>
        <p:txBody>
          <a:bodyPr/>
          <a:lstStyle/>
          <a:p>
            <a:fld id="{326EF2E3-409D-4D76-AD02-397A36B0DAF9}" type="slidenum">
              <a:rPr lang="en-US" smtClean="0"/>
              <a:pPr/>
              <a:t>14</a:t>
            </a:fld>
            <a:endParaRPr lang="en-US"/>
          </a:p>
        </p:txBody>
      </p:sp>
      <p:sp>
        <p:nvSpPr>
          <p:cNvPr id="5" name="Content Placeholder 1">
            <a:extLst>
              <a:ext uri="{FF2B5EF4-FFF2-40B4-BE49-F238E27FC236}">
                <a16:creationId xmlns:a16="http://schemas.microsoft.com/office/drawing/2014/main" id="{F2A9B508-2367-23E8-98A0-1854603252C8}"/>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10.</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if the word SECTOR is coded as 'CESROT' then how will you code the word 'OPPOSITION' ?</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A.SOPPONOITI</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B.NOITISOPPO</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C.SOPOPNOITI</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D.SOPPONOTIT</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E5D8854-FB46-AF5C-6069-27F6FC4BF3E2}"/>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239211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BCE65-DBE7-7E76-2A6A-8A9A7BE8658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A6B62C-94DF-74A1-5657-6594CEA81DB0}"/>
              </a:ext>
            </a:extLst>
          </p:cNvPr>
          <p:cNvSpPr>
            <a:spLocks noGrp="1"/>
          </p:cNvSpPr>
          <p:nvPr>
            <p:ph type="sldNum" sz="quarter" idx="13"/>
          </p:nvPr>
        </p:nvSpPr>
        <p:spPr/>
        <p:txBody>
          <a:bodyPr/>
          <a:lstStyle/>
          <a:p>
            <a:fld id="{326EF2E3-409D-4D76-AD02-397A36B0DAF9}" type="slidenum">
              <a:rPr lang="en-US" smtClean="0"/>
              <a:pPr/>
              <a:t>15</a:t>
            </a:fld>
            <a:endParaRPr lang="en-US"/>
          </a:p>
        </p:txBody>
      </p:sp>
      <p:sp>
        <p:nvSpPr>
          <p:cNvPr id="5" name="Content Placeholder 1">
            <a:extLst>
              <a:ext uri="{FF2B5EF4-FFF2-40B4-BE49-F238E27FC236}">
                <a16:creationId xmlns:a16="http://schemas.microsoft.com/office/drawing/2014/main" id="{23D3DBEA-3E97-30FC-67C0-C76983B29CB9}"/>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11.</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if the word 'GRADUATE' is coded as HQCBXXXA, then how will you code the word 'LABORATORY'</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in that language?</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 MZDMRXXKWT (b) MZDMVWXKWT</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MZDMUXXKWT (d) MZDMUXWKWT</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C0CA8E-C18F-69A7-4F23-07CEBCAAF3F6}"/>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4259874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A5DF1-D4F9-334F-79D4-C77B04C864D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BEC2D5-6DD7-CFD3-DC5A-E5EDFB435445}"/>
              </a:ext>
            </a:extLst>
          </p:cNvPr>
          <p:cNvSpPr>
            <a:spLocks noGrp="1"/>
          </p:cNvSpPr>
          <p:nvPr>
            <p:ph type="sldNum" sz="quarter" idx="13"/>
          </p:nvPr>
        </p:nvSpPr>
        <p:spPr/>
        <p:txBody>
          <a:bodyPr/>
          <a:lstStyle/>
          <a:p>
            <a:fld id="{326EF2E3-409D-4D76-AD02-397A36B0DAF9}" type="slidenum">
              <a:rPr lang="en-US" smtClean="0"/>
              <a:pPr/>
              <a:t>16</a:t>
            </a:fld>
            <a:endParaRPr lang="en-US"/>
          </a:p>
        </p:txBody>
      </p:sp>
      <p:sp>
        <p:nvSpPr>
          <p:cNvPr id="5" name="Content Placeholder 1">
            <a:extLst>
              <a:ext uri="{FF2B5EF4-FFF2-40B4-BE49-F238E27FC236}">
                <a16:creationId xmlns:a16="http://schemas.microsoft.com/office/drawing/2014/main" id="{51FC0AF0-7FA2-9D9E-D899-05F9CC87610D}"/>
              </a:ext>
            </a:extLst>
          </p:cNvPr>
          <p:cNvSpPr txBox="1">
            <a:spLocks/>
          </p:cNvSpPr>
          <p:nvPr/>
        </p:nvSpPr>
        <p:spPr>
          <a:xfrm>
            <a:off x="696616" y="1268760"/>
            <a:ext cx="10944000" cy="4752528"/>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12.</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if the value of  ‘INVADER’=42 and SECURE=30, then what is the value of ‘SITUATION’?</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(A)81</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(B)90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63</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72</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 55</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B971DE8-DB1F-382F-FC2F-8EBCB7D6D676}"/>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453475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3991B-2F4D-F8A8-0E85-5648259F44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8A45D5-BA4A-E47A-BFB3-5646BE5B014A}"/>
              </a:ext>
            </a:extLst>
          </p:cNvPr>
          <p:cNvSpPr>
            <a:spLocks noGrp="1"/>
          </p:cNvSpPr>
          <p:nvPr>
            <p:ph type="sldNum" sz="quarter" idx="13"/>
          </p:nvPr>
        </p:nvSpPr>
        <p:spPr/>
        <p:txBody>
          <a:bodyPr/>
          <a:lstStyle/>
          <a:p>
            <a:fld id="{326EF2E3-409D-4D76-AD02-397A36B0DAF9}" type="slidenum">
              <a:rPr lang="en-US" smtClean="0"/>
              <a:pPr/>
              <a:t>17</a:t>
            </a:fld>
            <a:endParaRPr lang="en-US"/>
          </a:p>
        </p:txBody>
      </p:sp>
      <p:sp>
        <p:nvSpPr>
          <p:cNvPr id="5" name="Content Placeholder 1">
            <a:extLst>
              <a:ext uri="{FF2B5EF4-FFF2-40B4-BE49-F238E27FC236}">
                <a16:creationId xmlns:a16="http://schemas.microsoft.com/office/drawing/2014/main" id="{7DD3EF7D-AADA-612E-B64F-72D3ED90C44E}"/>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13.</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if the value of 'ENERGY=36 and ACQUIRE=49, then what is the value of 'COMPETITION' in that code?</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 11</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(B)121</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81</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(D)100</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AF61D28-BCE2-C139-2C58-0799ABACDB4A}"/>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4259906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E4B5B-BCE6-AC52-AABB-BD5B7CDE57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9F2AAB-8BC9-3951-D117-09ECFD16BE01}"/>
              </a:ext>
            </a:extLst>
          </p:cNvPr>
          <p:cNvSpPr>
            <a:spLocks noGrp="1"/>
          </p:cNvSpPr>
          <p:nvPr>
            <p:ph type="sldNum" sz="quarter" idx="13"/>
          </p:nvPr>
        </p:nvSpPr>
        <p:spPr/>
        <p:txBody>
          <a:bodyPr/>
          <a:lstStyle/>
          <a:p>
            <a:fld id="{326EF2E3-409D-4D76-AD02-397A36B0DAF9}" type="slidenum">
              <a:rPr lang="en-US" smtClean="0"/>
              <a:pPr/>
              <a:t>18</a:t>
            </a:fld>
            <a:endParaRPr lang="en-US"/>
          </a:p>
        </p:txBody>
      </p:sp>
      <p:sp>
        <p:nvSpPr>
          <p:cNvPr id="5" name="Content Placeholder 1">
            <a:extLst>
              <a:ext uri="{FF2B5EF4-FFF2-40B4-BE49-F238E27FC236}">
                <a16:creationId xmlns:a16="http://schemas.microsoft.com/office/drawing/2014/main" id="{175C76AD-CD73-3302-B4C4-41AB53CECD30}"/>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14.</a:t>
            </a:r>
            <a:r>
              <a:rPr lang="en-US" b="1" dirty="0">
                <a:latin typeface="Cambria" panose="02040503050406030204" pitchFamily="18" charset="0"/>
                <a:ea typeface="Cambria" panose="02040503050406030204" pitchFamily="18" charset="0"/>
                <a:cs typeface="Times New Roman" panose="02020603050405020304" pitchFamily="18" charset="0"/>
              </a:rPr>
              <a:t> If brass is coded as 27848,run is coded as 549.what is the coded for sir?</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A.478</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B.829</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C.548</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D.841</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8D28CEA-8605-66B2-F6B6-694938F72E18}"/>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911869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45AE3-649E-8597-EFC5-52EE2CA6BD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EB9513-3CFB-E172-B62C-1C80BC4E35E3}"/>
              </a:ext>
            </a:extLst>
          </p:cNvPr>
          <p:cNvSpPr>
            <a:spLocks noGrp="1"/>
          </p:cNvSpPr>
          <p:nvPr>
            <p:ph type="sldNum" sz="quarter" idx="13"/>
          </p:nvPr>
        </p:nvSpPr>
        <p:spPr/>
        <p:txBody>
          <a:bodyPr/>
          <a:lstStyle/>
          <a:p>
            <a:fld id="{326EF2E3-409D-4D76-AD02-397A36B0DAF9}" type="slidenum">
              <a:rPr lang="en-US" smtClean="0"/>
              <a:pPr/>
              <a:t>19</a:t>
            </a:fld>
            <a:endParaRPr lang="en-US"/>
          </a:p>
        </p:txBody>
      </p:sp>
      <p:sp>
        <p:nvSpPr>
          <p:cNvPr id="5" name="Content Placeholder 1">
            <a:extLst>
              <a:ext uri="{FF2B5EF4-FFF2-40B4-BE49-F238E27FC236}">
                <a16:creationId xmlns:a16="http://schemas.microsoft.com/office/drawing/2014/main" id="{23AA1D42-171F-F448-FA7D-20890B1CAC19}"/>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15.</a:t>
            </a:r>
            <a:r>
              <a:rPr lang="en-US" b="1" dirty="0">
                <a:latin typeface="Cambria" panose="02040503050406030204" pitchFamily="18" charset="0"/>
                <a:ea typeface="Cambria" panose="02040503050406030204" pitchFamily="18" charset="0"/>
                <a:cs typeface="Times New Roman" panose="02020603050405020304" pitchFamily="18" charset="0"/>
              </a:rPr>
              <a:t> If CAR, TIN and BOAT are coded as 364, 182 and 7561 respectively, then CONTRACTOR is coded as</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 3521643154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 3521463154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3524163154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 3521634154</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466B875-2198-FCCA-03C9-383B43872C65}"/>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725656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4A299-40DF-2929-94E9-A12F9FE1511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D63E08-D9CC-69BA-9723-45C78D34B588}"/>
              </a:ext>
            </a:extLst>
          </p:cNvPr>
          <p:cNvSpPr>
            <a:spLocks noGrp="1"/>
          </p:cNvSpPr>
          <p:nvPr>
            <p:ph type="sldNum" sz="quarter" idx="13"/>
          </p:nvPr>
        </p:nvSpPr>
        <p:spPr/>
        <p:txBody>
          <a:bodyPr/>
          <a:lstStyle/>
          <a:p>
            <a:fld id="{326EF2E3-409D-4D76-AD02-397A36B0DAF9}" type="slidenum">
              <a:rPr lang="en-US" smtClean="0"/>
              <a:pPr/>
              <a:t>20</a:t>
            </a:fld>
            <a:endParaRPr lang="en-US"/>
          </a:p>
        </p:txBody>
      </p:sp>
      <p:sp>
        <p:nvSpPr>
          <p:cNvPr id="5" name="Content Placeholder 1">
            <a:extLst>
              <a:ext uri="{FF2B5EF4-FFF2-40B4-BE49-F238E27FC236}">
                <a16:creationId xmlns:a16="http://schemas.microsoft.com/office/drawing/2014/main" id="{60026229-0925-F8D5-6CE7-8E2B00F85482}"/>
              </a:ext>
            </a:extLst>
          </p:cNvPr>
          <p:cNvSpPr txBox="1">
            <a:spLocks/>
          </p:cNvSpPr>
          <p:nvPr/>
        </p:nvSpPr>
        <p:spPr>
          <a:xfrm>
            <a:off x="696616" y="1268760"/>
            <a:ext cx="10944000" cy="47525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16.</a:t>
            </a:r>
            <a:r>
              <a:rPr lang="en-US" b="1" dirty="0">
                <a:latin typeface="Cambria" panose="02040503050406030204" pitchFamily="18" charset="0"/>
                <a:ea typeface="Cambria" panose="02040503050406030204" pitchFamily="18" charset="0"/>
                <a:cs typeface="Times New Roman" panose="02020603050405020304" pitchFamily="18" charset="0"/>
              </a:rPr>
              <a:t> If BROTHER is coded as 2456784 and SISTER  is coded as 919684 , what is the code for ROBBERS ?</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A.4562684</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B.4562689</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C.4245789</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D.4522849</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3152A4B-B761-F02B-1C1A-9A17E8FD309F}"/>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2324572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3960-BDEE-ADDA-912B-795D405A37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20D813-80DC-0B62-503F-E7CAADF39F74}"/>
              </a:ext>
            </a:extLst>
          </p:cNvPr>
          <p:cNvSpPr>
            <a:spLocks noGrp="1"/>
          </p:cNvSpPr>
          <p:nvPr>
            <p:ph type="sldNum" sz="quarter" idx="13"/>
          </p:nvPr>
        </p:nvSpPr>
        <p:spPr/>
        <p:txBody>
          <a:bodyPr/>
          <a:lstStyle/>
          <a:p>
            <a:fld id="{326EF2E3-409D-4D76-AD02-397A36B0DAF9}" type="slidenum">
              <a:rPr lang="en-US" smtClean="0"/>
              <a:pPr/>
              <a:t>21</a:t>
            </a:fld>
            <a:endParaRPr lang="en-US"/>
          </a:p>
        </p:txBody>
      </p:sp>
      <p:sp>
        <p:nvSpPr>
          <p:cNvPr id="5" name="Content Placeholder 1">
            <a:extLst>
              <a:ext uri="{FF2B5EF4-FFF2-40B4-BE49-F238E27FC236}">
                <a16:creationId xmlns:a16="http://schemas.microsoft.com/office/drawing/2014/main" id="{DBE88AFF-4BF5-4603-7116-868B8AE086DB}"/>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17.</a:t>
            </a:r>
            <a:r>
              <a:rPr lang="en-US" b="1" dirty="0">
                <a:latin typeface="Cambria" panose="02040503050406030204" pitchFamily="18" charset="0"/>
                <a:ea typeface="Cambria" panose="02040503050406030204" pitchFamily="18" charset="0"/>
                <a:cs typeface="Times New Roman" panose="02020603050405020304" pitchFamily="18" charset="0"/>
              </a:rPr>
              <a:t> If SNOW is coded as 7100, then WALL will be coded as</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 5000</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 4700</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4800</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 4000</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D67DE29-DB2D-F7CF-93E6-795375A1F4E8}"/>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924702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DE89C-A538-E39A-950F-26322DFD3D8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65FAFF-4BEB-543D-3A03-7D07269B53A2}"/>
              </a:ext>
            </a:extLst>
          </p:cNvPr>
          <p:cNvSpPr>
            <a:spLocks noGrp="1"/>
          </p:cNvSpPr>
          <p:nvPr>
            <p:ph type="sldNum" sz="quarter" idx="13"/>
          </p:nvPr>
        </p:nvSpPr>
        <p:spPr/>
        <p:txBody>
          <a:bodyPr/>
          <a:lstStyle/>
          <a:p>
            <a:fld id="{326EF2E3-409D-4D76-AD02-397A36B0DAF9}" type="slidenum">
              <a:rPr lang="en-US" smtClean="0"/>
              <a:pPr/>
              <a:t>22</a:t>
            </a:fld>
            <a:endParaRPr lang="en-US"/>
          </a:p>
        </p:txBody>
      </p:sp>
      <p:sp>
        <p:nvSpPr>
          <p:cNvPr id="5" name="Content Placeholder 1">
            <a:extLst>
              <a:ext uri="{FF2B5EF4-FFF2-40B4-BE49-F238E27FC236}">
                <a16:creationId xmlns:a16="http://schemas.microsoft.com/office/drawing/2014/main" id="{E279F709-13A9-1E49-709F-3F22CBC8C963}"/>
              </a:ext>
            </a:extLst>
          </p:cNvPr>
          <p:cNvSpPr txBox="1">
            <a:spLocks/>
          </p:cNvSpPr>
          <p:nvPr/>
        </p:nvSpPr>
        <p:spPr>
          <a:xfrm>
            <a:off x="696616" y="1268760"/>
            <a:ext cx="10944000" cy="4752528"/>
          </a:xfrm>
          <a:prstGeom prst="rect">
            <a:avLst/>
          </a:prstGeom>
        </p:spPr>
        <p:txBody>
          <a:bodyPr lIns="91440" tIns="45720" rIns="91440" bIns="4572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a:ea typeface="Cambria"/>
                <a:cs typeface="Times New Roman"/>
              </a:rPr>
              <a:t>Ques</a:t>
            </a:r>
            <a:r>
              <a:rPr lang="en-US" b="1" dirty="0">
                <a:solidFill>
                  <a:srgbClr val="FF0000"/>
                </a:solidFill>
                <a:latin typeface="Cambria"/>
                <a:ea typeface="Cambria"/>
                <a:cs typeface="Times New Roman"/>
              </a:rPr>
              <a:t> 18.</a:t>
            </a:r>
            <a:r>
              <a:rPr lang="en-US" b="1">
                <a:latin typeface="Cambria"/>
                <a:ea typeface="Cambria"/>
                <a:cs typeface="Times New Roman"/>
              </a:rPr>
              <a:t> If RADAR is coded as "??#**" and DOOR is coded as "?%%#" </a:t>
            </a:r>
            <a:r>
              <a:rPr lang="en-US" b="1" dirty="0">
                <a:latin typeface="Cambria"/>
                <a:ea typeface="Cambria"/>
                <a:cs typeface="Times New Roman"/>
              </a:rPr>
              <a:t>then DAM will be coded as</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 ??#</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7E51661-042D-6889-98AA-91E85DACFE84}"/>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2113509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CF493-C6D7-03AA-C72A-35EA7661E2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5BA18F-A382-C9CE-8DFB-5EBB07899719}"/>
              </a:ext>
            </a:extLst>
          </p:cNvPr>
          <p:cNvSpPr>
            <a:spLocks noGrp="1"/>
          </p:cNvSpPr>
          <p:nvPr>
            <p:ph type="sldNum" sz="quarter" idx="13"/>
          </p:nvPr>
        </p:nvSpPr>
        <p:spPr/>
        <p:txBody>
          <a:bodyPr/>
          <a:lstStyle/>
          <a:p>
            <a:fld id="{326EF2E3-409D-4D76-AD02-397A36B0DAF9}" type="slidenum">
              <a:rPr lang="en-US" smtClean="0"/>
              <a:pPr/>
              <a:t>23</a:t>
            </a:fld>
            <a:endParaRPr lang="en-US"/>
          </a:p>
        </p:txBody>
      </p:sp>
      <p:sp>
        <p:nvSpPr>
          <p:cNvPr id="5" name="Content Placeholder 1">
            <a:extLst>
              <a:ext uri="{FF2B5EF4-FFF2-40B4-BE49-F238E27FC236}">
                <a16:creationId xmlns:a16="http://schemas.microsoft.com/office/drawing/2014/main" id="{0579AC70-6B29-CFCE-0624-1400E2E36AFF}"/>
              </a:ext>
            </a:extLst>
          </p:cNvPr>
          <p:cNvSpPr txBox="1">
            <a:spLocks/>
          </p:cNvSpPr>
          <p:nvPr/>
        </p:nvSpPr>
        <p:spPr>
          <a:xfrm>
            <a:off x="696616" y="1268760"/>
            <a:ext cx="10944000" cy="4752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19.</a:t>
            </a:r>
            <a:r>
              <a:rPr lang="en-US" b="1" dirty="0">
                <a:latin typeface="Cambria" panose="02040503050406030204" pitchFamily="18" charset="0"/>
                <a:ea typeface="Cambria" panose="02040503050406030204" pitchFamily="18" charset="0"/>
                <a:cs typeface="Times New Roman" panose="02020603050405020304" pitchFamily="18" charset="0"/>
              </a:rPr>
              <a:t> If FIRE is coded as ‘#*?%’, then FREEZE will be coded as</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 #&amp;%%?*</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 %%%?^^</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 ???%#@</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1DC621F-680A-33B7-9AD6-85FC33470312}"/>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3429647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6FF3-1C90-5435-BF24-1A3C2D7001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56217B-018B-41B3-41E3-141C0067F64A}"/>
              </a:ext>
            </a:extLst>
          </p:cNvPr>
          <p:cNvSpPr>
            <a:spLocks noGrp="1"/>
          </p:cNvSpPr>
          <p:nvPr>
            <p:ph type="sldNum" sz="quarter" idx="13"/>
          </p:nvPr>
        </p:nvSpPr>
        <p:spPr/>
        <p:txBody>
          <a:bodyPr/>
          <a:lstStyle/>
          <a:p>
            <a:fld id="{326EF2E3-409D-4D76-AD02-397A36B0DAF9}" type="slidenum">
              <a:rPr lang="en-US" smtClean="0"/>
              <a:pPr/>
              <a:t>24</a:t>
            </a:fld>
            <a:endParaRPr lang="en-US"/>
          </a:p>
        </p:txBody>
      </p:sp>
      <p:sp>
        <p:nvSpPr>
          <p:cNvPr id="5" name="Content Placeholder 1">
            <a:extLst>
              <a:ext uri="{FF2B5EF4-FFF2-40B4-BE49-F238E27FC236}">
                <a16:creationId xmlns:a16="http://schemas.microsoft.com/office/drawing/2014/main" id="{3957BEE9-8F8B-ACDF-3A49-0C678CA049D6}"/>
              </a:ext>
            </a:extLst>
          </p:cNvPr>
          <p:cNvSpPr txBox="1">
            <a:spLocks/>
          </p:cNvSpPr>
          <p:nvPr/>
        </p:nvSpPr>
        <p:spPr>
          <a:xfrm>
            <a:off x="696616" y="1268760"/>
            <a:ext cx="10944000" cy="4752528"/>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20.</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 'JAIL' is coded as '304', 'LAWN' is coded as '232'. What is the code for 'NAVY' in that code language?</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A.312</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B.184</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C.288</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D.172</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BFDBAF9-B697-D1DB-CAA6-2F5F6F3CB967}"/>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2921838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92912-BAD8-9E9E-7301-568700302F7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0E6A5F-10FC-7413-D73F-7E62B15C3A74}"/>
              </a:ext>
            </a:extLst>
          </p:cNvPr>
          <p:cNvSpPr>
            <a:spLocks noGrp="1"/>
          </p:cNvSpPr>
          <p:nvPr>
            <p:ph type="sldNum" sz="quarter" idx="13"/>
          </p:nvPr>
        </p:nvSpPr>
        <p:spPr/>
        <p:txBody>
          <a:bodyPr/>
          <a:lstStyle/>
          <a:p>
            <a:fld id="{326EF2E3-409D-4D76-AD02-397A36B0DAF9}" type="slidenum">
              <a:rPr lang="en-US" smtClean="0"/>
              <a:pPr/>
              <a:t>25</a:t>
            </a:fld>
            <a:endParaRPr lang="en-US"/>
          </a:p>
        </p:txBody>
      </p:sp>
      <p:sp>
        <p:nvSpPr>
          <p:cNvPr id="5" name="Content Placeholder 1">
            <a:extLst>
              <a:ext uri="{FF2B5EF4-FFF2-40B4-BE49-F238E27FC236}">
                <a16:creationId xmlns:a16="http://schemas.microsoft.com/office/drawing/2014/main" id="{3790DAC2-7706-1BAE-F0C4-FF8EA05988AC}"/>
              </a:ext>
            </a:extLst>
          </p:cNvPr>
          <p:cNvSpPr txBox="1">
            <a:spLocks/>
          </p:cNvSpPr>
          <p:nvPr/>
        </p:nvSpPr>
        <p:spPr>
          <a:xfrm>
            <a:off x="696616" y="1268760"/>
            <a:ext cx="10944000" cy="475252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Ques</a:t>
            </a:r>
            <a:r>
              <a:rPr lang="en-US"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21.</a:t>
            </a:r>
            <a:r>
              <a:rPr lang="en-US" b="1" dirty="0">
                <a:latin typeface="Cambria" panose="02040503050406030204" pitchFamily="18" charset="0"/>
                <a:ea typeface="Cambria" panose="02040503050406030204" pitchFamily="18" charset="0"/>
                <a:cs typeface="Times New Roman" panose="02020603050405020304" pitchFamily="18" charset="0"/>
              </a:rPr>
              <a:t> In a certain code language,</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‘Ajay like Batman movies’ is written as ‘@Y4, $E4, &amp;N6, #S6’</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‘Vidya loves bowling sport’ is written as ‘%T5, $S5, &amp;G7, ⋆A5’</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‘ISRO launched Mars mission’ is written as ‘$D8, #N7, !O4, #S4’</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‘Visual basic language support’ is written as ‘&amp;C5, $E8, %T7, ⋆L6’</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The code for the word ‘Mars’ is?</a:t>
            </a:r>
          </a:p>
          <a:p>
            <a:pPr marL="0" indent="0" algn="just">
              <a:lnSpc>
                <a:spcPct val="150000"/>
              </a:lnSpc>
              <a:buNone/>
            </a:pPr>
            <a:endParaRPr lang="en-US" b="1"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1.@M4	2.%E6		3.#S4		4.@R4</a:t>
            </a:r>
          </a:p>
          <a:p>
            <a:pPr marL="0" indent="0" algn="just">
              <a:lnSpc>
                <a:spcPct val="150000"/>
              </a:lnSpc>
              <a:buNone/>
            </a:pPr>
            <a:r>
              <a:rPr lang="en-US" b="1" dirty="0">
                <a:latin typeface="Cambria" panose="02040503050406030204" pitchFamily="18" charset="0"/>
                <a:ea typeface="Cambria" panose="02040503050406030204" pitchFamily="18" charset="0"/>
                <a:cs typeface="Times New Roman" panose="02020603050405020304" pitchFamily="18" charset="0"/>
              </a:rPr>
              <a:t>5.None of these</a:t>
            </a:r>
          </a:p>
          <a:p>
            <a:pPr marL="0" indent="0" algn="just">
              <a:lnSpc>
                <a:spcPct val="150000"/>
              </a:lnSpc>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3E83C81-F471-3A9D-E295-6A3707266FF6}"/>
              </a:ext>
            </a:extLst>
          </p:cNvPr>
          <p:cNvSpPr txBox="1"/>
          <p:nvPr/>
        </p:nvSpPr>
        <p:spPr>
          <a:xfrm>
            <a:off x="983432" y="219113"/>
            <a:ext cx="10561550" cy="584775"/>
          </a:xfrm>
          <a:prstGeom prst="rect">
            <a:avLst/>
          </a:prstGeom>
          <a:noFill/>
        </p:spPr>
        <p:txBody>
          <a:bodyPr wrap="square" rtlCol="0">
            <a:spAutoFit/>
          </a:bodyPr>
          <a:lstStyle/>
          <a:p>
            <a:pPr algn="ctr"/>
            <a:r>
              <a:rPr lang="en-IN" sz="3200" b="1" dirty="0">
                <a:solidFill>
                  <a:schemeClr val="accent2">
                    <a:lumMod val="75000"/>
                  </a:schemeClr>
                </a:solidFill>
                <a:latin typeface="Times New Roman" pitchFamily="18" charset="0"/>
                <a:cs typeface="Times New Roman" pitchFamily="18" charset="0"/>
              </a:rPr>
              <a:t>Questions</a:t>
            </a:r>
            <a:endParaRPr lang="en-IN" sz="3200" b="1" dirty="0"/>
          </a:p>
        </p:txBody>
      </p:sp>
    </p:spTree>
    <p:extLst>
      <p:ext uri="{BB962C8B-B14F-4D97-AF65-F5344CB8AC3E}">
        <p14:creationId xmlns:p14="http://schemas.microsoft.com/office/powerpoint/2010/main" val="1666108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30107-6A8B-A931-DCAA-D185E59869B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FA1836-B876-651A-30AA-FD0DA87E3650}"/>
              </a:ext>
            </a:extLst>
          </p:cNvPr>
          <p:cNvSpPr>
            <a:spLocks noGrp="1"/>
          </p:cNvSpPr>
          <p:nvPr>
            <p:ph type="sldNum" sz="quarter" idx="13"/>
          </p:nvPr>
        </p:nvSpPr>
        <p:spPr/>
        <p:txBody>
          <a:bodyPr/>
          <a:lstStyle/>
          <a:p>
            <a:fld id="{326EF2E3-409D-4D76-AD02-397A36B0DAF9}" type="slidenum">
              <a:rPr lang="en-US" smtClean="0"/>
              <a:pPr/>
              <a:t>26</a:t>
            </a:fld>
            <a:endParaRPr lang="en-US"/>
          </a:p>
        </p:txBody>
      </p:sp>
      <p:sp>
        <p:nvSpPr>
          <p:cNvPr id="5" name="Content Placeholder 1">
            <a:extLst>
              <a:ext uri="{FF2B5EF4-FFF2-40B4-BE49-F238E27FC236}">
                <a16:creationId xmlns:a16="http://schemas.microsoft.com/office/drawing/2014/main" id="{D9EF1DAA-7207-6C8C-9A4E-2C55704ABC64}"/>
              </a:ext>
            </a:extLst>
          </p:cNvPr>
          <p:cNvSpPr txBox="1">
            <a:spLocks/>
          </p:cNvSpPr>
          <p:nvPr/>
        </p:nvSpPr>
        <p:spPr>
          <a:xfrm>
            <a:off x="821577" y="134692"/>
            <a:ext cx="10944000" cy="47525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indent="0">
              <a:buNone/>
            </a:pPr>
            <a:r>
              <a:rPr lang="en-US" sz="1800" b="1" dirty="0">
                <a:latin typeface="Times New Roman" panose="02020603050405020304" pitchFamily="18" charset="0"/>
                <a:cs typeface="Times New Roman" panose="02020603050405020304" pitchFamily="18" charset="0"/>
              </a:rPr>
              <a:t>Here in code of word</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1) First element is symbol that represent first letter of that word.</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2) Middle element is a letter that is last letter of word.</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3) Last element of code is number that represent number of letter in last word.</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Ex: Ajay will be written as @Y4.</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Where @ → represent first letter of word which is A.</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Y → represent last letter of word.</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4 → represent number of letter in that word.</a:t>
            </a:r>
          </a:p>
          <a:p>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According to above logic we can code word as represent below.</a:t>
            </a:r>
          </a:p>
          <a:p>
            <a:pPr marL="0" indent="0" algn="just">
              <a:lnSpc>
                <a:spcPct val="150000"/>
              </a:lnSpc>
              <a:buNone/>
            </a:pPr>
            <a:endParaRPr lang="en-US" sz="1800" b="1" dirty="0">
              <a:latin typeface="Cambria" panose="02040503050406030204" pitchFamily="18" charset="0"/>
              <a:ea typeface="Cambria" panose="020405030504060302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211F6C1-9402-AA31-D444-274D51CBE7A9}"/>
              </a:ext>
            </a:extLst>
          </p:cNvPr>
          <p:cNvPicPr>
            <a:picLocks noChangeAspect="1"/>
          </p:cNvPicPr>
          <p:nvPr/>
        </p:nvPicPr>
        <p:blipFill>
          <a:blip r:embed="rId3"/>
          <a:stretch>
            <a:fillRect/>
          </a:stretch>
        </p:blipFill>
        <p:spPr>
          <a:xfrm>
            <a:off x="7512131" y="764704"/>
            <a:ext cx="4462267" cy="5328592"/>
          </a:xfrm>
          <a:prstGeom prst="rect">
            <a:avLst/>
          </a:prstGeom>
        </p:spPr>
      </p:pic>
    </p:spTree>
    <p:extLst>
      <p:ext uri="{BB962C8B-B14F-4D97-AF65-F5344CB8AC3E}">
        <p14:creationId xmlns:p14="http://schemas.microsoft.com/office/powerpoint/2010/main" val="1554836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1156271" y="2295452"/>
            <a:ext cx="9215502" cy="1363592"/>
          </a:xfrm>
          <a:prstGeom prst="rect">
            <a:avLst/>
          </a:prstGeom>
        </p:spPr>
        <p:txBody>
          <a:bodyPr vert="horz" lIns="91440" tIns="45720" rIns="91440" bIns="45720" rtlCol="0" anchor="ctr">
            <a:noAutofit/>
          </a:bodyPr>
          <a:lstStyle/>
          <a:p>
            <a:pPr marL="514350" indent="-514350" algn="ctr" defTabSz="914400">
              <a:lnSpc>
                <a:spcPct val="170000"/>
              </a:lnSpc>
              <a:spcBef>
                <a:spcPct val="0"/>
              </a:spcBef>
              <a:defRPr/>
            </a:pPr>
            <a:r>
              <a:rPr lang="en-US" sz="7200" b="1" spc="-50" dirty="0">
                <a:solidFill>
                  <a:schemeClr val="accent1">
                    <a:lumMod val="75000"/>
                  </a:schemeClr>
                </a:solidFill>
                <a:latin typeface="Maiandra GD" pitchFamily="34" charset="0"/>
              </a:rPr>
              <a:t>Thank You</a:t>
            </a:r>
          </a:p>
        </p:txBody>
      </p:sp>
      <p:sp>
        <p:nvSpPr>
          <p:cNvPr id="4" name="Slide Number Placeholder 3">
            <a:extLst>
              <a:ext uri="{FF2B5EF4-FFF2-40B4-BE49-F238E27FC236}">
                <a16:creationId xmlns:a16="http://schemas.microsoft.com/office/drawing/2014/main" id="{80214EE3-5496-7B8C-B18E-94D50E1BC7DF}"/>
              </a:ext>
            </a:extLst>
          </p:cNvPr>
          <p:cNvSpPr>
            <a:spLocks noGrp="1"/>
          </p:cNvSpPr>
          <p:nvPr>
            <p:ph type="sldNum" sz="quarter" idx="13"/>
          </p:nvPr>
        </p:nvSpPr>
        <p:spPr>
          <a:xfrm>
            <a:off x="10272464" y="6376243"/>
            <a:ext cx="1081336" cy="365125"/>
          </a:xfrm>
        </p:spPr>
        <p:txBody>
          <a:bodyPr/>
          <a:lstStyle/>
          <a:p>
            <a:fld id="{326EF2E3-409D-4D76-AD02-397A36B0DAF9}" type="slidenum">
              <a:rPr lang="en-US" smtClean="0"/>
              <a:pPr/>
              <a:t>27</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7087</TotalTime>
  <Words>1922</Words>
  <Application>Microsoft Office PowerPoint</Application>
  <PresentationFormat>Widescreen</PresentationFormat>
  <Paragraphs>310</Paragraphs>
  <Slides>27</Slides>
  <Notes>24</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Vijay Peddamalla</dc:creator>
  <cp:lastModifiedBy>vijay peddamalla</cp:lastModifiedBy>
  <cp:revision>820</cp:revision>
  <cp:lastPrinted>2023-06-09T04:58:36Z</cp:lastPrinted>
  <dcterms:created xsi:type="dcterms:W3CDTF">2019-12-14T03:50:52Z</dcterms:created>
  <dcterms:modified xsi:type="dcterms:W3CDTF">2026-03-02T08:37:12Z</dcterms:modified>
</cp:coreProperties>
</file>