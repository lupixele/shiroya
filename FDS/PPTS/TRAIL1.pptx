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3" r:id="rId6"/>
    <p:sldId id="264" r:id="rId7"/>
    <p:sldId id="257" r:id="rId8"/>
    <p:sldId id="258" r:id="rId9"/>
    <p:sldId id="259" r:id="rId10"/>
  </p:sldIdLst>
  <p:sldSz cx="9144000" cy="5143500" type="screen16x9"/>
  <p:notesSz cx="5143500" cy="9144000"/>
  <p:embeddedFontLst>
    <p:embeddedFont>
      <p:font typeface="Abadi" panose="020B0604020104020204" pitchFamily="34" charset="0"/>
      <p:regular r:id="rId12"/>
      <p:bold r:id="rId13"/>
    </p:embeddedFont>
    <p:embeddedFont>
      <p:font typeface="Arial Rounded MT Bold" panose="020F0704030504030204" pitchFamily="34" charset="0"/>
      <p:regular r:id="rId14"/>
    </p:embeddedFont>
    <p:embeddedFont>
      <p:font typeface="Libre Baskerville" panose="02000000000000000000" pitchFamily="2" charset="0"/>
      <p:regular r:id="rId15"/>
    </p:embeddedFont>
    <p:embeddedFont>
      <p:font typeface="Open Sans" panose="020B0606030504020204" pitchFamily="3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4A6CB28-FE53-49CE-863B-0E02FB6BA1BC}">
          <p14:sldIdLst>
            <p14:sldId id="256"/>
            <p14:sldId id="260"/>
            <p14:sldId id="261"/>
            <p14:sldId id="262"/>
            <p14:sldId id="263"/>
            <p14:sldId id="264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53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EC67E-6C99-AF45-B3BD-E2D41296B30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7D95D-2EC8-CC45-A306-974F1B51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4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90650"/>
            <a:ext cx="6858000" cy="1241822"/>
          </a:xfrm>
        </p:spPr>
        <p:txBody>
          <a:bodyPr rtlCol="0" anchor="b"/>
          <a:lstStyle>
            <a:lvl1pPr lvl="0" algn="ctr">
              <a:defRPr lang="en-US" sz="45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 rtlCol="0"/>
          <a:lstStyle>
            <a:lvl1pPr marL="0" lvl="0" indent="0" algn="ctr">
              <a:buNone/>
              <a:defRPr lang="en-US" sz="1800" dirty="0"/>
            </a:lvl1pPr>
            <a:lvl2pPr marL="342892" lvl="1" indent="0" algn="ctr">
              <a:buNone/>
              <a:defRPr lang="en-US" sz="1500" dirty="0"/>
            </a:lvl2pPr>
            <a:lvl3pPr marL="685783" lvl="2" indent="0" algn="ctr">
              <a:buNone/>
              <a:defRPr lang="en-US" sz="1350" dirty="0"/>
            </a:lvl3pPr>
            <a:lvl4pPr marL="1028674" lvl="3" indent="0" algn="ctr">
              <a:buNone/>
              <a:defRPr lang="en-US" sz="1200" dirty="0"/>
            </a:lvl4pPr>
            <a:lvl5pPr marL="1371566" lvl="4" indent="0" algn="ctr">
              <a:buNone/>
              <a:defRPr lang="en-US" sz="1200" dirty="0"/>
            </a:lvl5pPr>
            <a:lvl6pPr marL="1714457" lvl="5" indent="0" algn="ctr">
              <a:buNone/>
              <a:defRPr lang="en-US" sz="1200" dirty="0"/>
            </a:lvl6pPr>
            <a:lvl7pPr marL="2057349" lvl="6" indent="0" algn="ctr">
              <a:buNone/>
              <a:defRPr lang="en-US" sz="1200" dirty="0"/>
            </a:lvl7pPr>
            <a:lvl8pPr marL="2400240" lvl="7" indent="0" algn="ctr">
              <a:buNone/>
              <a:defRPr lang="en-US" sz="1200" dirty="0"/>
            </a:lvl8pPr>
            <a:lvl9pPr marL="2743131" lvl="8" indent="0" algn="ctr">
              <a:buNone/>
              <a:defRPr lang="en-US" sz="12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5706" y="444066"/>
            <a:ext cx="5706855" cy="756084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Pattabhirama Mohan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33762"/>
      </p:ex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791581" y="1275606"/>
            <a:ext cx="8022459" cy="145816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 algn="ctr" defTabSz="685783">
              <a:lnSpc>
                <a:spcPct val="90000"/>
              </a:lnSpc>
              <a:spcBef>
                <a:spcPct val="0"/>
              </a:spcBef>
            </a:pPr>
            <a:endParaRPr lang="en-US" sz="3000" kern="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671513" y="1414463"/>
            <a:ext cx="8022459" cy="145816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 algn="ctr" defTabSz="685783">
              <a:lnSpc>
                <a:spcPct val="90000"/>
              </a:lnSpc>
              <a:spcBef>
                <a:spcPct val="0"/>
              </a:spcBef>
            </a:pPr>
            <a:r>
              <a:rPr lang="en-US" sz="3000" b="1" kern="0" dirty="0">
                <a:solidFill>
                  <a:srgbClr val="002060"/>
                </a:solidFill>
                <a:latin typeface="Abadi"/>
              </a:rPr>
              <a:t>LIFE CYCLE OF DATA SCIENCE</a:t>
            </a:r>
          </a:p>
          <a:p>
            <a:pPr algn="ctr" defTabSz="685783">
              <a:lnSpc>
                <a:spcPct val="90000"/>
              </a:lnSpc>
              <a:spcBef>
                <a:spcPct val="0"/>
              </a:spcBef>
            </a:pPr>
            <a:r>
              <a:rPr lang="en-US" sz="3000" b="1" kern="0" dirty="0">
                <a:solidFill>
                  <a:srgbClr val="002060"/>
                </a:solidFill>
                <a:latin typeface="Abadi"/>
              </a:rPr>
              <a:t>&amp;</a:t>
            </a:r>
          </a:p>
          <a:p>
            <a:pPr algn="ctr" defTabSz="685783">
              <a:lnSpc>
                <a:spcPct val="90000"/>
              </a:lnSpc>
              <a:spcBef>
                <a:spcPct val="0"/>
              </a:spcBef>
            </a:pPr>
            <a:r>
              <a:rPr lang="en-US" sz="3000" b="1" kern="0" dirty="0">
                <a:solidFill>
                  <a:srgbClr val="002060"/>
                </a:solidFill>
                <a:latin typeface="Abadi"/>
              </a:rPr>
              <a:t>APPLICATIONS OF DATA SCIENCE</a:t>
            </a:r>
          </a:p>
        </p:txBody>
      </p:sp>
      <p:sp>
        <p:nvSpPr>
          <p:cNvPr id="5" name="Title 1">
            <a:extLst>
              <a:ext uri="{20663F85-F48B-43E1-96BA-3B1BE53937F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 flipV="1">
            <a:off x="157163" y="4837433"/>
            <a:ext cx="191505" cy="29406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 algn="ctr" defTabSz="685783">
              <a:lnSpc>
                <a:spcPct val="90000"/>
              </a:lnSpc>
              <a:spcBef>
                <a:spcPct val="0"/>
              </a:spcBef>
            </a:pPr>
            <a:endParaRPr lang="en-US" sz="3000" b="1" kern="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CBF8-A4BA-A80C-D824-B77817E6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36120" y="3887997"/>
            <a:ext cx="1478411" cy="539020"/>
          </a:xfrm>
        </p:spPr>
        <p:txBody>
          <a:bodyPr/>
          <a:lstStyle/>
          <a:p>
            <a:pPr defTabSz="685783"/>
            <a:r>
              <a:rPr lang="en-US" kern="0" dirty="0">
                <a:solidFill>
                  <a:srgbClr val="000000">
                    <a:tint val="75000"/>
                  </a:srgbClr>
                </a:solidFill>
                <a:latin typeface="Calibri"/>
              </a:rPr>
              <a:t>    P.VIVEK</a:t>
            </a:r>
          </a:p>
          <a:p>
            <a:pPr defTabSz="685783"/>
            <a:r>
              <a:rPr lang="en-US" kern="0" dirty="0">
                <a:solidFill>
                  <a:srgbClr val="000000">
                    <a:tint val="75000"/>
                  </a:srgbClr>
                </a:solidFill>
                <a:latin typeface="Calibri"/>
              </a:rPr>
              <a:t>25B11DS409</a:t>
            </a:r>
          </a:p>
        </p:txBody>
      </p:sp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10" y="377205"/>
            <a:ext cx="3291706" cy="4389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435" y="511410"/>
            <a:ext cx="4791447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Data Science Life Cycle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1465362"/>
            <a:ext cx="47227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data science project follows a structured, iterative path — from understanding the problem to deploying a model that drives real-world decisions.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263973"/>
            <a:ext cx="686619" cy="823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5715" y="2401267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15715" y="2695575"/>
            <a:ext cx="39031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Definition &amp; Data Collection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87960"/>
            <a:ext cx="686619" cy="8239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15715" y="3225254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15715" y="3519562"/>
            <a:ext cx="39031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Preparation &amp; Exploration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911947"/>
            <a:ext cx="686619" cy="8239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15715" y="4049241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15715" y="4343549"/>
            <a:ext cx="39031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Modeling, Evaluation &amp; Deployment</a:t>
            </a:r>
            <a:endParaRPr lang="en-US" sz="1050" dirty="0"/>
          </a:p>
        </p:txBody>
      </p:sp>
      <p:pic>
        <p:nvPicPr>
          <p:cNvPr id="15" name="Picture 14" descr="Aditya University - Admission 2026, Fees, Courses, Placement ...">
            <a:extLst>
              <a:ext uri="{FF2B5EF4-FFF2-40B4-BE49-F238E27FC236}">
                <a16:creationId xmlns:a16="http://schemas.microsoft.com/office/drawing/2014/main" id="{0C8B7B6E-0007-1FE3-46A3-60312860F7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263FC89-D684-6724-9E36-9B42C43D6E68}"/>
              </a:ext>
            </a:extLst>
          </p:cNvPr>
          <p:cNvSpPr txBox="1"/>
          <p:nvPr/>
        </p:nvSpPr>
        <p:spPr>
          <a:xfrm>
            <a:off x="2286000" y="238871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747EAD-57AA-06FF-AA2D-67D5AF783B7A}"/>
              </a:ext>
            </a:extLst>
          </p:cNvPr>
          <p:cNvSpPr txBox="1"/>
          <p:nvPr/>
        </p:nvSpPr>
        <p:spPr>
          <a:xfrm>
            <a:off x="2286000" y="238871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743"/>
            <a:ext cx="1334542" cy="212006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39564"/>
            <a:ext cx="1624310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 CYCLE — PHASE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466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Definition &amp; Data Collection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306785"/>
            <a:ext cx="4787801" cy="2841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0481" y="337460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81" y="337460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Identify Sources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86226" y="337460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Understand 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02844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 sets the foundation for the entire project — a well-defined problem and quality data are essential for everything that follows.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AA153-F906-D12E-CDBD-1041A562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13" name="Picture 12" descr="Aditya University - Admission 2026, Fees, Courses, Placement ...">
            <a:extLst>
              <a:ext uri="{FF2B5EF4-FFF2-40B4-BE49-F238E27FC236}">
                <a16:creationId xmlns:a16="http://schemas.microsoft.com/office/drawing/2014/main" id="{9C10B89F-CE2C-F8E8-5ED4-D6F02E2BE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53207"/>
            <a:ext cx="135508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95698"/>
            <a:ext cx="164217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 CYCLE — PHASE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252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&amp; Exploration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80853"/>
            <a:ext cx="2622724" cy="1709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2351" y="228719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927" y="2747814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3054325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 errors, remove duplicates, and fill in missing values.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2180853"/>
            <a:ext cx="2622724" cy="17093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6833" y="228719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1410" y="274781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327578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patterns and trends using charts and graphs.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2180853"/>
            <a:ext cx="2622724" cy="17093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316" y="228719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85892" y="2747814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5892" y="3054325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new variables to help make models work better.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0899CB-0AD8-C1A0-4658-3FB77E4DA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20" name="Picture 19" descr="Aditya University - Admission 2026, Fees, Courses, Placement ...">
            <a:extLst>
              <a:ext uri="{FF2B5EF4-FFF2-40B4-BE49-F238E27FC236}">
                <a16:creationId xmlns:a16="http://schemas.microsoft.com/office/drawing/2014/main" id="{6968BC61-897A-50AC-9FD0-66805F38A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" y="377205"/>
            <a:ext cx="3291706" cy="43890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25119" y="407119"/>
            <a:ext cx="1312366" cy="208583"/>
          </a:xfrm>
          <a:prstGeom prst="roundRect">
            <a:avLst>
              <a:gd name="adj" fmla="val 7901"/>
            </a:avLst>
          </a:prstGeom>
          <a:solidFill>
            <a:srgbClr val="D7D6F5"/>
          </a:solidFill>
          <a:ln/>
        </p:spPr>
      </p:sp>
      <p:sp>
        <p:nvSpPr>
          <p:cNvPr id="5" name="Text 2"/>
          <p:cNvSpPr/>
          <p:nvPr/>
        </p:nvSpPr>
        <p:spPr>
          <a:xfrm>
            <a:off x="4007495" y="448270"/>
            <a:ext cx="1604814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 CYCLE — PHASE 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668908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Modeling, Evaluation &amp; Deployment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925119" y="1726704"/>
            <a:ext cx="2294855" cy="1546473"/>
          </a:xfrm>
          <a:prstGeom prst="roundRect">
            <a:avLst>
              <a:gd name="adj" fmla="val 1332"/>
            </a:avLst>
          </a:prstGeom>
          <a:solidFill>
            <a:srgbClr val="EAE8F3"/>
          </a:solidFill>
          <a:ln/>
        </p:spPr>
      </p:sp>
      <p:sp>
        <p:nvSpPr>
          <p:cNvPr id="8" name="Shape 5"/>
          <p:cNvSpPr/>
          <p:nvPr/>
        </p:nvSpPr>
        <p:spPr>
          <a:xfrm>
            <a:off x="4062413" y="1863998"/>
            <a:ext cx="411956" cy="41195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5671" y="1977256"/>
            <a:ext cx="185365" cy="1853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2413" y="2408932"/>
            <a:ext cx="20202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Building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062413" y="2703240"/>
            <a:ext cx="20202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machine learning models using algorithms.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52952" y="1726704"/>
            <a:ext cx="2294930" cy="1546473"/>
          </a:xfrm>
          <a:prstGeom prst="roundRect">
            <a:avLst>
              <a:gd name="adj" fmla="val 1332"/>
            </a:avLst>
          </a:prstGeom>
          <a:solidFill>
            <a:srgbClr val="EAE8F3"/>
          </a:solidFill>
          <a:ln/>
        </p:spPr>
      </p:sp>
      <p:sp>
        <p:nvSpPr>
          <p:cNvPr id="13" name="Shape 9"/>
          <p:cNvSpPr/>
          <p:nvPr/>
        </p:nvSpPr>
        <p:spPr>
          <a:xfrm>
            <a:off x="6490246" y="1863998"/>
            <a:ext cx="411956" cy="41195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3504" y="1977256"/>
            <a:ext cx="185365" cy="1853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0246" y="2408932"/>
            <a:ext cx="20203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90246" y="2703240"/>
            <a:ext cx="20203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how well the model works with new data.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925119" y="3406155"/>
            <a:ext cx="4722763" cy="1330151"/>
          </a:xfrm>
          <a:prstGeom prst="roundRect">
            <a:avLst>
              <a:gd name="adj" fmla="val 1549"/>
            </a:avLst>
          </a:prstGeom>
          <a:solidFill>
            <a:srgbClr val="EAE8F3"/>
          </a:solidFill>
          <a:ln/>
        </p:spPr>
      </p:sp>
      <p:sp>
        <p:nvSpPr>
          <p:cNvPr id="18" name="Shape 13"/>
          <p:cNvSpPr/>
          <p:nvPr/>
        </p:nvSpPr>
        <p:spPr>
          <a:xfrm>
            <a:off x="4062413" y="3543449"/>
            <a:ext cx="411956" cy="41195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5671" y="3656707"/>
            <a:ext cx="185365" cy="1853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62413" y="4088383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062413" y="4382691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 the model into use for real-world tasks and monitor it.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0D6E84B-B52E-D741-C354-696826FE2B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25" name="Picture 24" descr="Aditya University - Admission 2026, Fees, Courses, Placement ...">
            <a:extLst>
              <a:ext uri="{FF2B5EF4-FFF2-40B4-BE49-F238E27FC236}">
                <a16:creationId xmlns:a16="http://schemas.microsoft.com/office/drawing/2014/main" id="{B29D8F6F-140A-69D9-0EB8-1B74D62513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35273"/>
            <a:ext cx="94171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77764"/>
            <a:ext cx="12287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073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APPLICATIONS OF DATA SCIENCE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62919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944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Manufacturing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009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machine failures for proactive maintenance and optimized production schedules.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62919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6944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0009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Optimizing logistics, routes, and traffic flow for efficiency and reduced environmental impact.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162919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6944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Entertainment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000970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Personalizing content recommendations and analyzing audience engagement for targeted experiences.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CA6A1F-AE97-9CEB-E4FC-2451EE1E7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17" name="Picture 16" descr="Aditya University - Admission 2026, Fees, Courses, Placement ...">
            <a:extLst>
              <a:ext uri="{FF2B5EF4-FFF2-40B4-BE49-F238E27FC236}">
                <a16:creationId xmlns:a16="http://schemas.microsoft.com/office/drawing/2014/main" id="{3DCAA81E-8BCE-BC87-6335-235A8850E8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8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73435"/>
            <a:ext cx="94171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15926"/>
            <a:ext cx="12287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454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Healthcare &amp; Medicine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01081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2099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Disease Prediction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51643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 health issues early using patient data.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101081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32099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Medical Imaging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51643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Spotting tumors in X-rays and scans with AI.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101081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32099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Drug Discovery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51643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Speeding up the creation of new medicines.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6A8F74-E125-03B9-4361-2AEFFC5E9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17" name="Picture 16" descr="Aditya University - Admission 2026, Fees, Courses, Placement ...">
            <a:extLst>
              <a:ext uri="{FF2B5EF4-FFF2-40B4-BE49-F238E27FC236}">
                <a16:creationId xmlns:a16="http://schemas.microsoft.com/office/drawing/2014/main" id="{8F324EF8-A0A2-6E7E-C754-4A876F4C5D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683716"/>
            <a:ext cx="94171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726207"/>
            <a:ext cx="12287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9557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Finance &amp; Banking</a:t>
            </a:r>
            <a:endParaRPr lang="en-US" sz="2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11362"/>
            <a:ext cx="4722763" cy="854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3127" y="177217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Fraud Detection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33127" y="2078682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Catching fake credit card charges right away.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08064"/>
            <a:ext cx="4722763" cy="8549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276887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Management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33127" y="3075384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Checking if a person can pay back a loan.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604766"/>
            <a:ext cx="4722763" cy="8549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3127" y="376557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Algorithmic Trading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33127" y="4072086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Making fast trades in the stock market.</a:t>
            </a:r>
            <a:endParaRPr lang="en-US" sz="1100" dirty="0"/>
          </a:p>
        </p:txBody>
      </p:sp>
      <p:pic>
        <p:nvPicPr>
          <p:cNvPr id="17" name="Picture 16" descr="Aditya University - Admission 2026, Fees, Courses, Placement ...">
            <a:extLst>
              <a:ext uri="{FF2B5EF4-FFF2-40B4-BE49-F238E27FC236}">
                <a16:creationId xmlns:a16="http://schemas.microsoft.com/office/drawing/2014/main" id="{1F3DE5F2-C07C-0BE6-D775-A551A45B0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4305"/>
            <a:ext cx="94171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76796"/>
            <a:ext cx="12287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063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E-Commerce &amp; Retail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1421"/>
            <a:ext cx="2628230" cy="2628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988" y="2261220"/>
            <a:ext cx="1631305" cy="1548631"/>
          </a:xfrm>
          <a:prstGeom prst="roundRect">
            <a:avLst>
              <a:gd name="adj" fmla="val 1373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3616747" y="2402979"/>
            <a:ext cx="134778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Recommendations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16747" y="3209106"/>
            <a:ext cx="13477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Showing items you might want to buy.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48052" y="2261220"/>
            <a:ext cx="1631379" cy="1548631"/>
          </a:xfrm>
          <a:prstGeom prst="roundRect">
            <a:avLst>
              <a:gd name="adj" fmla="val 1373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5389811" y="2402979"/>
            <a:ext cx="13478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Price Optimization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89811" y="2987650"/>
            <a:ext cx="13478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Changing prices based on supply and demand.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21190" y="2261220"/>
            <a:ext cx="1631379" cy="1548631"/>
          </a:xfrm>
          <a:prstGeom prst="roundRect">
            <a:avLst>
              <a:gd name="adj" fmla="val 1373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7162949" y="2402979"/>
            <a:ext cx="13478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Inventory Management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162949" y="2987650"/>
            <a:ext cx="13478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Keeping the right amount of goods in stock.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E1DE4D-AC73-FE62-DB9B-95E81DBC3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909" y="4727772"/>
            <a:ext cx="1630091" cy="415728"/>
          </a:xfrm>
          <a:prstGeom prst="rect">
            <a:avLst/>
          </a:prstGeom>
        </p:spPr>
      </p:pic>
      <p:pic>
        <p:nvPicPr>
          <p:cNvPr id="18" name="Picture 17" descr="Aditya University - Admission 2026, Fees, Courses, Placement ...">
            <a:extLst>
              <a:ext uri="{FF2B5EF4-FFF2-40B4-BE49-F238E27FC236}">
                <a16:creationId xmlns:a16="http://schemas.microsoft.com/office/drawing/2014/main" id="{E2ADD8D8-D420-850C-FE2F-416B0B4CF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7" y="32742"/>
            <a:ext cx="1156392" cy="3695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358</Words>
  <Application>Microsoft Office PowerPoint</Application>
  <PresentationFormat>On-screen Show (16:9)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Libre Baskerville</vt:lpstr>
      <vt:lpstr>Calibri</vt:lpstr>
      <vt:lpstr>Open Sans</vt:lpstr>
      <vt:lpstr>Arial Rounded MT Bold</vt:lpstr>
      <vt:lpstr>Aptos</vt:lpstr>
      <vt:lpstr>Times New Roman</vt:lpstr>
      <vt:lpstr>Abadi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vivek p</cp:lastModifiedBy>
  <cp:revision>5</cp:revision>
  <dcterms:created xsi:type="dcterms:W3CDTF">2026-07-29T15:26:42Z</dcterms:created>
  <dcterms:modified xsi:type="dcterms:W3CDTF">2026-07-30T03:57:58Z</dcterms:modified>
</cp:coreProperties>
</file>