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9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eya akasapu" userId="5084fa0f94211c94" providerId="LiveId" clId="{FFDD4761-192A-4080-8539-D2B3CD47B72A}"/>
    <pc:docChg chg="modSld">
      <pc:chgData name="karthikeya akasapu" userId="5084fa0f94211c94" providerId="LiveId" clId="{FFDD4761-192A-4080-8539-D2B3CD47B72A}" dt="2026-09-03T05:47:12.405" v="38" actId="1076"/>
      <pc:docMkLst>
        <pc:docMk/>
      </pc:docMkLst>
      <pc:sldChg chg="modSp mod">
        <pc:chgData name="karthikeya akasapu" userId="5084fa0f94211c94" providerId="LiveId" clId="{FFDD4761-192A-4080-8539-D2B3CD47B72A}" dt="2026-09-03T05:47:12.405" v="38" actId="1076"/>
        <pc:sldMkLst>
          <pc:docMk/>
          <pc:sldMk cId="2080998566" sldId="297"/>
        </pc:sldMkLst>
        <pc:spChg chg="mod">
          <ac:chgData name="karthikeya akasapu" userId="5084fa0f94211c94" providerId="LiveId" clId="{FFDD4761-192A-4080-8539-D2B3CD47B72A}" dt="2026-09-03T05:47:12.405" v="38" actId="1076"/>
          <ac:spMkLst>
            <pc:docMk/>
            <pc:sldMk cId="2080998566" sldId="297"/>
            <ac:spMk id="4" creationId="{EFEE904A-D8B2-E5A2-8205-6A52D22853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555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4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5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0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0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4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61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C6C0-94B4-71A3-0F3D-4E8331F73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185" y="1467556"/>
            <a:ext cx="10280415" cy="157103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DATABASE DESIGN CHALLENGE[DS]</a:t>
            </a:r>
            <a:b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</a:br>
            <a:b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</a:br>
            <a:endParaRPr 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B7B96-3192-9FD1-EFE0-0F9EDAF2F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5569" y="5144386"/>
            <a:ext cx="4502888" cy="1504507"/>
          </a:xfrm>
        </p:spPr>
        <p:txBody>
          <a:bodyPr vert="horz" lIns="108841" tIns="54421" rIns="108841" bIns="54421" rtlCol="0" anchor="t">
            <a:normAutofit fontScale="55000" lnSpcReduction="20000"/>
          </a:bodyPr>
          <a:lstStyle/>
          <a:p>
            <a:pPr defTabSz="761970">
              <a:lnSpc>
                <a:spcPct val="90000"/>
              </a:lnSpc>
              <a:spcBef>
                <a:spcPts val="833"/>
              </a:spcBef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Under The Guidance Of </a:t>
            </a:r>
          </a:p>
          <a:p>
            <a:pPr defTabSz="761970">
              <a:lnSpc>
                <a:spcPct val="90000"/>
              </a:lnSpc>
              <a:spcBef>
                <a:spcPts val="833"/>
              </a:spcBef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BHUSARAPU HEMA NAGAMANI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cs typeface="Times New Roman"/>
            </a:endParaRPr>
          </a:p>
          <a:p>
            <a:pPr defTabSz="761970">
              <a:lnSpc>
                <a:spcPct val="90000"/>
              </a:lnSpc>
              <a:spcBef>
                <a:spcPts val="833"/>
              </a:spcBef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Assistant Professor</a:t>
            </a:r>
          </a:p>
          <a:p>
            <a:pPr defTabSz="761970">
              <a:lnSpc>
                <a:spcPct val="90000"/>
              </a:lnSpc>
              <a:spcBef>
                <a:spcPts val="833"/>
              </a:spcBef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Department of IT&amp;DS </a:t>
            </a:r>
          </a:p>
          <a:p>
            <a:pPr defTabSz="761970">
              <a:lnSpc>
                <a:spcPct val="90000"/>
              </a:lnSpc>
              <a:spcBef>
                <a:spcPts val="833"/>
              </a:spcBef>
              <a:defRPr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Aditya University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3EC027-1E86-BE9A-D0FE-FC2AEDC6D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1" y="235186"/>
            <a:ext cx="8331199" cy="12323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EE904A-D8B2-E5A2-8205-6A52D22853B0}"/>
              </a:ext>
            </a:extLst>
          </p:cNvPr>
          <p:cNvSpPr txBox="1"/>
          <p:nvPr/>
        </p:nvSpPr>
        <p:spPr>
          <a:xfrm>
            <a:off x="351374" y="5258246"/>
            <a:ext cx="4217581" cy="11337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667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Calibri"/>
              <a:cs typeface="Arial"/>
            </a:endParaRP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25B11DS014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A KARTHIKEYA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6C072-E379-8708-2AF2-93DD1B340BC6}"/>
              </a:ext>
            </a:extLst>
          </p:cNvPr>
          <p:cNvSpPr txBox="1"/>
          <p:nvPr/>
        </p:nvSpPr>
        <p:spPr>
          <a:xfrm>
            <a:off x="2802285" y="3088434"/>
            <a:ext cx="7357715" cy="384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Challenge  •  ER Modeling &amp; Relational Schema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7BB262-1E1C-6AD2-0D03-915310C95FDA}"/>
              </a:ext>
            </a:extLst>
          </p:cNvPr>
          <p:cNvSpPr txBox="1"/>
          <p:nvPr/>
        </p:nvSpPr>
        <p:spPr>
          <a:xfrm>
            <a:off x="3226279" y="2151125"/>
            <a:ext cx="73803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kern="1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Mobile Service </a:t>
            </a:r>
            <a:r>
              <a:rPr lang="en-IN" sz="3200" b="1" kern="1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Center</a:t>
            </a:r>
            <a:r>
              <a:rPr lang="en-IN" sz="3200" b="1" kern="1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</a:t>
            </a:r>
            <a:endParaRPr lang="en-US" sz="3200" b="1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EF24E33F-5824-CF99-92CE-3623FA64DCA5}"/>
              </a:ext>
            </a:extLst>
          </p:cNvPr>
          <p:cNvSpPr/>
          <p:nvPr/>
        </p:nvSpPr>
        <p:spPr>
          <a:xfrm>
            <a:off x="1916341" y="2849760"/>
            <a:ext cx="10000192" cy="2294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Entities: Customer  •  Device  •  Technician  •  Service  •  SparePart  •  Bill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998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4088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Introduction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19672"/>
            <a:ext cx="12161520" cy="3383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288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ADITYA</a:t>
            </a:r>
            <a:r>
              <a:rPr lang="en-US" sz="11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652881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D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Service Center System  |  Database Design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5560" y="6528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783080"/>
            <a:ext cx="352044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Purpose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26517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centralized relational database for a mobile phone service center that tracks customers, devices, technicians, repair services, spare parts and billing.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06240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06240" y="1783080"/>
            <a:ext cx="352044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Scope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34840" y="26517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entities with clear primary/foreign keys, referential integrity, and a complete ER model converted into a practical relational schema.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09560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09560" y="1783080"/>
            <a:ext cx="352044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2103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Outcome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38160" y="26517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 schema ready for implementation in MySQL / PostgreSQL that eliminates data redundancy and supports efficient service operations.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4088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 Database is Needed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19672"/>
            <a:ext cx="12161520" cy="3383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288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ADITYA</a:t>
            </a:r>
            <a:r>
              <a:rPr lang="en-US" sz="11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652881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D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Service Center System  |  Database Design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5560" y="6528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737360"/>
            <a:ext cx="109728" cy="960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965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1874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Tracking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22128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and spreadsheets lead to lost device history and delayed repairs.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27889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788920"/>
            <a:ext cx="109728" cy="960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0175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2926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Part Inventory Link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32644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parts usage is not linked to specific service jobs, causing stock mismatches.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384048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840480"/>
            <a:ext cx="109728" cy="960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069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91640" y="3977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Billing Errors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91640" y="4315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charges because labour and parts are recorded in separate places.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489204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4892040"/>
            <a:ext cx="109728" cy="9601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120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91640" y="5029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Technician Workload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1640" y="53675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cannot easily see which technician is assigned to which open jobs.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ENTITIES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4088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Six Core Entities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19672"/>
            <a:ext cx="12161520" cy="3383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288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ADITYA</a:t>
            </a:r>
            <a:r>
              <a:rPr lang="en-US" sz="11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652881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D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Service Center System  |  Database Design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5560" y="6528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8308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783080"/>
            <a:ext cx="356616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03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2651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 brings devices for repair or service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51960" y="178308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783080"/>
            <a:ext cx="356616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2103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DEVICE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80560" y="2651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/ tablet registered for service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01000" y="178308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01000" y="1783080"/>
            <a:ext cx="356616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103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TECHNICIAN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0" y="2651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member who performs the repair work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38862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3886200"/>
            <a:ext cx="356616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" y="4754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repair / diagnostic job for a specific device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251960" y="38862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51960" y="3886200"/>
            <a:ext cx="356616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SPAREPART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480560" y="4754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component used during service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001000" y="38862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01000" y="3886200"/>
            <a:ext cx="3566160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29600" y="4754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invoice linking service, parts and payment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ATTRIBUTES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4088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Entities, Attributes &amp; Primary Keys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19672"/>
            <a:ext cx="12161520" cy="3383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288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ADITYA</a:t>
            </a:r>
            <a:r>
              <a:rPr lang="en-US" sz="11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652881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D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Service Center System  |  Database Design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5560" y="6528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10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55680" cy="4389119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Attributes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Customer_ID, Name, Phone, Email, Address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Device_ID, Customer_ID, Brand, Model, IMEI, Color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Technician_ID, Name, Phone, Specialization,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Technician_ID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Service_ID, Device_ID, Technician_ID, Issue, Status, Start_Date, End_Date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SPAREPART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Part_ID, Part_Name, Brand, Stock_Qty, Unit_Price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Bill_ID, Service_ID, Total_Amount, Payment_Status, Bill_Date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RELATIONSHIPS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4088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Entity Relationships &amp; Cardinality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19672"/>
            <a:ext cx="12161520" cy="3383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288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ADITYA</a:t>
            </a:r>
            <a:r>
              <a:rPr lang="en-US" sz="11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652881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D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Service Center System  |  Database Design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5560" y="6528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11155680" cy="4572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148840"/>
            <a:ext cx="111556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→ Device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: 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148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can register multiple devices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2788920"/>
            <a:ext cx="11155680" cy="640080"/>
          </a:xfrm>
          <a:prstGeom prst="rect">
            <a:avLst/>
          </a:prstGeom>
          <a:solidFill>
            <a:srgbClr val="F5EED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788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→ Service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17720" y="2788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: 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2788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 can have multiple service jobs over time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429000"/>
            <a:ext cx="111556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429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→ Service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3429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: 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3429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technician can handle many service jobs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4069080"/>
            <a:ext cx="11155680" cy="640080"/>
          </a:xfrm>
          <a:prstGeom prst="rect">
            <a:avLst/>
          </a:prstGeom>
          <a:solidFill>
            <a:srgbClr val="F5EED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069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→ Bill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4069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: 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46520" y="40690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completed service generates one bill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4709160"/>
            <a:ext cx="111556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709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↔ SparePart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17720" y="4709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 : 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46520" y="4709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can use many parts; a part can be used in many services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2920" y="5349240"/>
            <a:ext cx="11155680" cy="640080"/>
          </a:xfrm>
          <a:prstGeom prst="rect">
            <a:avLst/>
          </a:prstGeom>
          <a:solidFill>
            <a:srgbClr val="F5EED6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→ SparePart Usage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617720" y="5349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: 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46520" y="5349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SERVICE_PART junction records quantity used per job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ER DIAGRAM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4088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Entity-Relationship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19672"/>
            <a:ext cx="12161520" cy="3383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288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ADITYA</a:t>
            </a:r>
            <a:r>
              <a:rPr lang="en-US" sz="11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652881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D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Service Center System  |  Database Design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5560" y="6528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2377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691640"/>
            <a:ext cx="2377440" cy="34747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91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07568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(PK)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Address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1691640"/>
            <a:ext cx="2377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1691640"/>
            <a:ext cx="2377440" cy="34747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691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07568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Device_ID (PK)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(FK)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IMEI, Color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0" y="1691640"/>
            <a:ext cx="23774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0" y="1691640"/>
            <a:ext cx="2377440" cy="34747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1691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TECHNICIAN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35440" y="207568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Technician_ID (PK)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3657600"/>
            <a:ext cx="27432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0" y="3657600"/>
            <a:ext cx="2743200" cy="34747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3657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4640" y="4041648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Service_ID (PK)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Device_ID (FK)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Technician_ID (FK)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Issue, Status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Start_Date, End_Date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365760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0" y="3657600"/>
            <a:ext cx="2560320" cy="34747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3657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SPAREPART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404164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Part_ID (PK)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Part_Name, Brand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Stock_Qty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01200" y="3794760"/>
            <a:ext cx="21031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01200" y="3794760"/>
            <a:ext cx="2103120" cy="34747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0" y="3794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92640" y="417880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Bill_ID (PK)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Service_ID (FK)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Total_Amount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Payment_Status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Bill_Date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10896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0664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9536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0" y="5029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SCHEMA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4088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Relational Schema (Tables)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19672"/>
            <a:ext cx="12161520" cy="3383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288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ADITYA</a:t>
            </a:r>
            <a:r>
              <a:rPr lang="en-US" sz="11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652881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D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Service Center System  |  Database Design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5560" y="6528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737360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( Customer_ID PK, Name, Phone, Email, Address 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331720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31720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 ( Device_ID PK, Customer_ID FK, Brand, Model, IMEI, Color 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26080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TECHNICIAN ( Technician_ID PK, Name, Phone, Specialization, Status 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20440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( Service_ID PK, Device_ID FK, Technician_ID FK, Issue, Status, Start_Date, End_Date 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114800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114800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SPAREPART ( Part_ID PK, Part_Name, Brand, Stock_Qty, Unit_Price 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709160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5EED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709160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SERVICE_PART ( Service_ID FK, Part_ID FK, Quantity )   ← Junction for M:N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303520"/>
            <a:ext cx="11155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303520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 ( Bill_ID PK, Service_ID FK, Total_Amount, Payment_Status, Bill_Date 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91440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34747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INTEGRITY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4088" y="585216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Keys, Constraints &amp; Design Strengths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6473952"/>
            <a:ext cx="1216152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519672"/>
            <a:ext cx="12161520" cy="338328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5288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ADITYA</a:t>
            </a:r>
            <a:r>
              <a:rPr lang="en-US" sz="11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652881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D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Service Center System  |  Database Design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5560" y="6528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737360"/>
            <a:ext cx="548640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Primary &amp; Foreign Keys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514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tables have a clear Primary Key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2971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Device.Customer_ID → Customer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Service.Device_ID → Device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886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Service.Technician_ID → Technician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343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Bill.Service_ID → Service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SERVICE_PART links Service ↔ SparePart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17373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737360"/>
            <a:ext cx="5394960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Strengths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2514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Referential integrity via FKs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2971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redundant customer / device data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3429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Clear service history per device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83680" y="3886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Accurate part consumption tracking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0" y="4343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One-to-one bill per completed service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83680" y="4800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Ready for real MySQL implementation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103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097280" y="2971800"/>
            <a:ext cx="1828800" cy="6400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D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4023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Service Center System  •  Database Design Challenge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5394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University  •  Department of IT &amp; Data Science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1013</Words>
  <Application>Microsoft Office PowerPoint</Application>
  <PresentationFormat>Widescreen</PresentationFormat>
  <Paragraphs>194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Times New Roman</vt:lpstr>
      <vt:lpstr>Office Theme</vt:lpstr>
      <vt:lpstr>DATABASE DESIGN CHALLENGE[DS]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Service Center System – Database Design Challenge</dc:title>
  <dc:subject>DBMS Capstone – Entity Relationship Design</dc:subject>
  <dc:creator>Aditya University</dc:creator>
  <cp:lastModifiedBy>karthikeya akasapu</cp:lastModifiedBy>
  <cp:revision>2</cp:revision>
  <dcterms:created xsi:type="dcterms:W3CDTF">2026-08-28T09:33:02Z</dcterms:created>
  <dcterms:modified xsi:type="dcterms:W3CDTF">2026-09-03T05:47:16Z</dcterms:modified>
</cp:coreProperties>
</file>