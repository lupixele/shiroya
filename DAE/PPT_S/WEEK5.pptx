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36" r:id="rId3"/>
    <p:sldId id="437" r:id="rId4"/>
    <p:sldId id="438" r:id="rId5"/>
    <p:sldId id="439" r:id="rId6"/>
    <p:sldId id="440" r:id="rId7"/>
    <p:sldId id="442" r:id="rId8"/>
    <p:sldId id="443" r:id="rId9"/>
    <p:sldId id="444" r:id="rId10"/>
    <p:sldId id="446" r:id="rId11"/>
    <p:sldId id="448" r:id="rId12"/>
    <p:sldId id="450" r:id="rId13"/>
    <p:sldId id="451" r:id="rId14"/>
    <p:sldId id="452" r:id="rId15"/>
    <p:sldId id="29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24" autoAdjust="0"/>
  </p:normalViewPr>
  <p:slideViewPr>
    <p:cSldViewPr showGuides="1">
      <p:cViewPr varScale="1">
        <p:scale>
          <a:sx n="70" d="100"/>
          <a:sy n="70" d="100"/>
        </p:scale>
        <p:origin x="516" y="140"/>
      </p:cViewPr>
      <p:guideLst>
        <p:guide orient="horz" pos="2160"/>
        <p:guide pos="3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276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245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0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25-07-2026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44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Data Analysis Essentials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Tahoma" pitchFamily="34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809588" y="4797152"/>
            <a:ext cx="10358510" cy="14179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P</a:t>
            </a:r>
            <a:r>
              <a:rPr lang="en-US" sz="2000" dirty="0">
                <a:solidFill>
                  <a:srgbClr val="002060"/>
                </a:solidFill>
                <a:latin typeface="Tw Cen MT" panose="020B0602020104020603" pitchFamily="34" charset="0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Srilatha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srgbClr val="002060"/>
                </a:solidFill>
                <a:latin typeface="Tw Cen MT" panose="020B0602020104020603" pitchFamily="34" charset="0"/>
              </a:rPr>
              <a:t>Assistant Professor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Department of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Tw Cen MT" panose="020B0602020104020603" pitchFamily="34" charset="0"/>
              </a:rPr>
              <a:t>IT &amp; DS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 </a:t>
            </a:r>
            <a:endParaRPr lang="en-US" sz="20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Aditya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9588" y="476672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Practice</a:t>
            </a:r>
          </a:p>
        </p:txBody>
      </p:sp>
      <p:sp>
        <p:nvSpPr>
          <p:cNvPr id="6" name="Content Placeholder 1"/>
          <p:cNvSpPr txBox="1"/>
          <p:nvPr/>
        </p:nvSpPr>
        <p:spPr>
          <a:xfrm>
            <a:off x="855538" y="1412776"/>
            <a:ext cx="10515600" cy="411947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Practice: 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Week 5: Stacking and Concatenating </a:t>
            </a:r>
            <a:r>
              <a:rPr lang="en-IN" sz="2400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Numpy</a:t>
            </a:r>
            <a:r>
              <a:rPr lang="en-IN" sz="24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Arrays</a:t>
            </a:r>
            <a:r>
              <a:rPr lang="en-IN" sz="24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endParaRPr lang="en-IN" sz="24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lvl="0"/>
            <a:r>
              <a:rPr lang="en-IN" sz="2400" dirty="0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Stacking </a:t>
            </a:r>
            <a:r>
              <a:rPr lang="en-IN" sz="2400" dirty="0" err="1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ndarrays</a:t>
            </a:r>
            <a:r>
              <a:rPr lang="en-IN" sz="2400" dirty="0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</a:p>
          <a:p>
            <a:pPr lvl="0"/>
            <a:r>
              <a:rPr lang="en-IN" sz="2400" dirty="0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Concatenating </a:t>
            </a:r>
            <a:r>
              <a:rPr lang="en-IN" sz="2400" dirty="0" err="1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ndarrays</a:t>
            </a:r>
            <a:r>
              <a:rPr lang="en-IN" sz="2400" dirty="0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</a:p>
          <a:p>
            <a:pPr lvl="0"/>
            <a:r>
              <a:rPr lang="en-IN" sz="2400" dirty="0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Broadcasting in </a:t>
            </a:r>
            <a:r>
              <a:rPr lang="en-IN" sz="2400" dirty="0" err="1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Numpy</a:t>
            </a:r>
            <a:r>
              <a:rPr lang="en-IN" sz="2400" dirty="0">
                <a:highlight>
                  <a:srgbClr val="FFFF00"/>
                </a:highlight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Arrays 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92250" y="1124744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Stacking and Concatenating </a:t>
            </a:r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Arrays</a:t>
            </a:r>
            <a:endParaRPr lang="en-IN" sz="4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1"/>
          <p:cNvSpPr txBox="1"/>
          <p:nvPr/>
        </p:nvSpPr>
        <p:spPr>
          <a:xfrm>
            <a:off x="981000" y="2347181"/>
            <a:ext cx="10515600" cy="4531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provides several functions to combine arrays into larger arrays. The most commonly used operations are: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Stacking – Joins arrays by adding a new axis.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Concatenation – Joins arrays along an existing axis.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Broadcasting – Performs arithmetic operations on arrays of different shapes by automatically expanding the smaller array.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a) Stacking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ndarrays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Definition: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Stacking means combining two or more arrays by creating a new dimension.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IN" sz="24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np.stack</a:t>
            </a:r>
            <a:r>
              <a:rPr lang="en-IN" sz="24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((array1, array2), axis=0)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array1, array2 → Input arrays 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axis=0 → Stack row-wise 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axis=1 → Stack column-wise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548" y="332656"/>
            <a:ext cx="1056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Stacking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ndarrays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1127448" y="1345560"/>
            <a:ext cx="10515600" cy="4531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arr1 =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([1,2,3])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arr2 =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([4,5,6])</a:t>
            </a:r>
          </a:p>
          <a:p>
            <a:pPr marL="0" indent="0">
              <a:buNone/>
            </a:pPr>
            <a:r>
              <a:rPr lang="en-IN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result = </a:t>
            </a:r>
            <a:r>
              <a:rPr lang="en-IN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np.stack</a:t>
            </a:r>
            <a:r>
              <a:rPr lang="en-IN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((arr1, arr2))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print(result)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result.shape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[[1 2 3]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[4 5 6]]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(2, 3)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3455" y="368311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Two 1-D Arrays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932069" y="1052736"/>
            <a:ext cx="10515600" cy="4531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arr1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([1,2,3])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arr2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([4,5,6])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result = 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np.stack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((arr1, arr2), axis=1)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print(result)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result.shape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[[1 4]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[2 5]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[3 6]]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(3, 2) 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9085" y="476672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Column-wise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98476" y="1134739"/>
            <a:ext cx="10515600" cy="4531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arr1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([[1,2],[3,4]])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arr2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([[5,6],[7,8]])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np.vstack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((arr1, arr2)))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Print(“-_” * 30)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np.hstack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((arr1, arr2)))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[[1 2]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[3 4]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[5 6]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[7 8]]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[[1 2 5 6]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[3 4 7 8]] </a:t>
            </a:r>
          </a:p>
          <a:p>
            <a:pPr marL="0" indent="0">
              <a:buNone/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7448" y="488408"/>
            <a:ext cx="1056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 and Horizontal Stacking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903498" y="1040542"/>
            <a:ext cx="10515600" cy="511256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Concatenating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ndarrays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Concatenation joins arrays along an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existing axis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Syntax:   </a:t>
            </a:r>
            <a:r>
              <a:rPr lang="en-US" sz="24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np.concatenate</a:t>
            </a:r>
            <a:r>
              <a:rPr lang="en-US" sz="24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((array1, array2), axis=0)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arr1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([10,20,30])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arr2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([40,50,60])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np.concatenate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((arr1, arr2))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print(result)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[10 20 30 40 50 60] </a:t>
            </a: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548" y="332656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Concatenating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ndarrays</a:t>
            </a:r>
            <a:endParaRPr lang="en-IN" sz="4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903498" y="1119378"/>
            <a:ext cx="10515600" cy="4531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([[1,2],[3,4]])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([[5,6],[7,8]])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np.concatenate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), axis=0))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[[1 2]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[3 4]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[5 6]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[7 8]] 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548" y="332656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 Row-wise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57548" y="980728"/>
            <a:ext cx="10794255" cy="5279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([[1,2],[3,4]])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([[5,6],[7,8]])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np.concatenate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), axis=1))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[[1 2 5 6] 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[3 4 7 8]] </a:t>
            </a:r>
          </a:p>
          <a:p>
            <a:pPr marL="0" indent="0">
              <a:buNone/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548" y="332656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 Column-wise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86557" y="1051484"/>
            <a:ext cx="10515600" cy="489271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Broadcasting allows NumPy to perform operations on arrays of different shapes.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Rules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Dimensions must be equal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One dimension must be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Broadcasting Scalar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np</a:t>
            </a:r>
            <a:endParaRPr lang="en-US" sz="2000" dirty="0">
              <a:highlight>
                <a:srgbClr val="FFFF00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([10,20,30,40])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+ 5)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[15 25 35 45] </a:t>
            </a:r>
          </a:p>
          <a:p>
            <a:pPr marL="0" indent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5440" y="343598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Broadcasting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1"/>
          <p:cNvSpPr txBox="1"/>
          <p:nvPr>
            <p:custDataLst>
              <p:tags r:id="rId1"/>
            </p:custDataLst>
          </p:nvPr>
        </p:nvSpPr>
        <p:spPr>
          <a:xfrm>
            <a:off x="857548" y="1268760"/>
            <a:ext cx="10515600" cy="23218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matrix =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([[1,2,3],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	       [4,5,6]])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vector =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([10,20,30])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print(matrix + vector)</a:t>
            </a:r>
          </a:p>
          <a:p>
            <a:pPr marL="0" indent="0"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[[11 22 33] 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[14 25 36]] </a:t>
            </a: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2052" y="343598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Broadcasting 1-D with 2-D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matrix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([[1,2,3],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[4,5,6]])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column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([[10],[20]])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print(matrix + column)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Output-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[[11 12 13] 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[24 25 26]] 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548" y="332656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Broadcasting Column Vector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25-07-2026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DBMS      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np.array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([[1,2,3],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[4,5,6]])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* 2)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Output-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[[ 2 4 6] </a:t>
            </a:r>
          </a:p>
          <a:p>
            <a:pPr marL="0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[ 8 10 12]] </a:t>
            </a:r>
          </a:p>
        </p:txBody>
      </p:sp>
    </p:spTree>
    <p:extLst>
      <p:ext uri="{BB962C8B-B14F-4D97-AF65-F5344CB8AC3E}">
        <p14:creationId xmlns:p14="http://schemas.microsoft.com/office/powerpoint/2010/main" val="72962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15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t>25-07-2026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 dirty="0"/>
              <a:t>DAE                                                          </a:t>
            </a:r>
            <a:r>
              <a:rPr lang="en-US" dirty="0" err="1"/>
              <a:t>P.Srilatha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8588976377952,&quot;left&quot;:63.74708661417323,&quot;top&quot;:50.62346456692914,&quot;width&quot;:844.6848031496063}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887</TotalTime>
  <Words>808</Words>
  <Application>Microsoft Office PowerPoint</Application>
  <PresentationFormat>Widescreen</PresentationFormat>
  <Paragraphs>182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Maiandra GD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sri latha</cp:lastModifiedBy>
  <cp:revision>796</cp:revision>
  <cp:lastPrinted>2023-06-09T04:58:00Z</cp:lastPrinted>
  <dcterms:created xsi:type="dcterms:W3CDTF">2019-12-14T03:50:00Z</dcterms:created>
  <dcterms:modified xsi:type="dcterms:W3CDTF">2026-07-25T08:30:26Z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C323A45F88CA49A9ABA8E43EBA54F955_12</vt:lpwstr>
  </property>
  <property fmtid="{D5CDD505-2E9C-101B-9397-08002B2CF9AE}" pid="3" name="KSOProductBuildVer">
    <vt:lpwstr>1033-12.2.0.21931</vt:lpwstr>
  </property>
</Properties>
</file>