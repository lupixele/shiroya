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2" r:id="rId1"/>
  </p:sldMasterIdLst>
  <p:notesMasterIdLst>
    <p:notesMasterId r:id="rId24"/>
  </p:notesMasterIdLst>
  <p:handoutMasterIdLst>
    <p:handoutMasterId r:id="rId25"/>
  </p:handoutMasterIdLst>
  <p:sldIdLst>
    <p:sldId id="256" r:id="rId2"/>
    <p:sldId id="430" r:id="rId3"/>
    <p:sldId id="431" r:id="rId4"/>
    <p:sldId id="432" r:id="rId5"/>
    <p:sldId id="578" r:id="rId6"/>
    <p:sldId id="572" r:id="rId7"/>
    <p:sldId id="573" r:id="rId8"/>
    <p:sldId id="500" r:id="rId9"/>
    <p:sldId id="569" r:id="rId10"/>
    <p:sldId id="570" r:id="rId11"/>
    <p:sldId id="571" r:id="rId12"/>
    <p:sldId id="507" r:id="rId13"/>
    <p:sldId id="508" r:id="rId14"/>
    <p:sldId id="509" r:id="rId15"/>
    <p:sldId id="510" r:id="rId16"/>
    <p:sldId id="511" r:id="rId17"/>
    <p:sldId id="512" r:id="rId18"/>
    <p:sldId id="574" r:id="rId19"/>
    <p:sldId id="575" r:id="rId20"/>
    <p:sldId id="576" r:id="rId21"/>
    <p:sldId id="577" r:id="rId22"/>
    <p:sldId id="293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88" autoAdjust="0"/>
    <p:restoredTop sz="94662" autoAdjust="0"/>
  </p:normalViewPr>
  <p:slideViewPr>
    <p:cSldViewPr>
      <p:cViewPr varScale="1">
        <p:scale>
          <a:sx n="70" d="100"/>
          <a:sy n="70" d="100"/>
        </p:scale>
        <p:origin x="516" y="7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56" d="100"/>
          <a:sy n="56" d="100"/>
        </p:scale>
        <p:origin x="-2886" y="-8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2DB80D-D8DC-40C9-8603-2D92EB853E85}" type="datetimeFigureOut">
              <a:rPr lang="en-US" smtClean="0"/>
              <a:pPr/>
              <a:t>7/28/2026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72EF51-F63D-488E-9B3C-4A470AE4E6F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EF2DC9-9E6B-4115-80F7-AF3C0B919820}" type="datetimeFigureOut">
              <a:rPr lang="en-US" smtClean="0"/>
              <a:pPr/>
              <a:t>7/28/2026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B36BD8-3BE0-4B04-B520-77C1F1F1FB7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63493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B36BD8-3BE0-4B04-B520-77C1F1F1FB7F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854199"/>
            <a:ext cx="9144000" cy="1655763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125AD38-0796-B4A0-F437-8C37B4D1B9B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7608" y="592088"/>
            <a:ext cx="7609140" cy="1008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48100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9085" y="1561876"/>
            <a:ext cx="10515600" cy="4531419"/>
          </a:xfrm>
        </p:spPr>
        <p:txBody>
          <a:bodyPr/>
          <a:lstStyle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Date Placeholder 2">
            <a:extLst>
              <a:ext uri="{FF2B5EF4-FFF2-40B4-BE49-F238E27FC236}">
                <a16:creationId xmlns:a16="http://schemas.microsoft.com/office/drawing/2014/main" id="{C8CBE8F9-096B-48BD-AF91-C68E84B4AE0C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695400" y="6278770"/>
            <a:ext cx="1656183" cy="365125"/>
          </a:xfrm>
          <a:ln>
            <a:noFill/>
          </a:ln>
        </p:spPr>
        <p:txBody>
          <a:bodyPr/>
          <a:lstStyle>
            <a:lvl1pPr>
              <a:defRPr b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8368060C-F3A5-4600-9262-589A0797613D}" type="datetime1">
              <a:rPr lang="en-IN" smtClean="0"/>
              <a:pPr/>
              <a:t>28-07-2026</a:t>
            </a:fld>
            <a:endParaRPr lang="en-US" dirty="0"/>
          </a:p>
        </p:txBody>
      </p:sp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9B80BD04-4FB9-48ED-8F04-82E1E9B47D6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2567608" y="6278771"/>
            <a:ext cx="6912768" cy="365125"/>
          </a:xfrm>
          <a:ln>
            <a:noFill/>
          </a:ln>
        </p:spPr>
        <p:txBody>
          <a:bodyPr/>
          <a:lstStyle>
            <a:lvl1pPr>
              <a:defRPr b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Course Name                                                                Faculty Name, Designation, Dept.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A51A2048-2A34-7FBF-43D5-D3D3725F2AF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40709" y="-243408"/>
            <a:ext cx="3249644" cy="18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504257EF-5910-55BD-B426-CB8A9D6AA207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272464" y="6356350"/>
            <a:ext cx="1081336" cy="365125"/>
          </a:xfrm>
        </p:spPr>
        <p:txBody>
          <a:bodyPr/>
          <a:lstStyle/>
          <a:p>
            <a:fld id="{326EF2E3-409D-4D76-AD02-397A36B0DAF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47766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>
            <a:extLst>
              <a:ext uri="{FF2B5EF4-FFF2-40B4-BE49-F238E27FC236}">
                <a16:creationId xmlns:a16="http://schemas.microsoft.com/office/drawing/2014/main" id="{69367759-B4C6-4477-29E7-48E08870C81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40709" y="-243408"/>
            <a:ext cx="3249644" cy="18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Date Placeholder 2">
            <a:extLst>
              <a:ext uri="{FF2B5EF4-FFF2-40B4-BE49-F238E27FC236}">
                <a16:creationId xmlns:a16="http://schemas.microsoft.com/office/drawing/2014/main" id="{DBBF301A-453A-BED0-C53C-37286AA00C5A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695400" y="6278770"/>
            <a:ext cx="1656183" cy="365125"/>
          </a:xfrm>
          <a:ln>
            <a:noFill/>
          </a:ln>
        </p:spPr>
        <p:txBody>
          <a:bodyPr/>
          <a:lstStyle>
            <a:lvl1pPr>
              <a:defRPr b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8368060C-F3A5-4600-9262-589A0797613D}" type="datetime1">
              <a:rPr lang="en-IN" smtClean="0"/>
              <a:pPr/>
              <a:t>28-07-2026</a:t>
            </a:fld>
            <a:endParaRPr lang="en-US" dirty="0"/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1BBB8F58-91C5-AB5A-807E-19452F65565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2567608" y="6278771"/>
            <a:ext cx="6912768" cy="365125"/>
          </a:xfrm>
          <a:ln>
            <a:noFill/>
          </a:ln>
        </p:spPr>
        <p:txBody>
          <a:bodyPr/>
          <a:lstStyle>
            <a:lvl1pPr>
              <a:defRPr b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Data Science                                                                </a:t>
            </a:r>
            <a:r>
              <a:rPr lang="en-US" dirty="0" err="1"/>
              <a:t>P.Srilatha</a:t>
            </a:r>
            <a:r>
              <a:rPr lang="en-US" dirty="0"/>
              <a:t>.</a:t>
            </a:r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119C11AA-4309-9F6B-48A3-24FE199327D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272464" y="6356350"/>
            <a:ext cx="1081336" cy="365125"/>
          </a:xfrm>
        </p:spPr>
        <p:txBody>
          <a:bodyPr/>
          <a:lstStyle/>
          <a:p>
            <a:fld id="{326EF2E3-409D-4D76-AD02-397A36B0DAF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80796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33AD86-BCE5-402A-9A63-AC164DC60237}" type="datetime1">
              <a:rPr lang="en-IN" smtClean="0"/>
              <a:pPr/>
              <a:t>28-07-2026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Course Name                                                                Faculty Name, Designation, Dept.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6EF2E3-409D-4D76-AD02-397A36B0DAF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72357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9" r:id="rId3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1559496" y="2088296"/>
            <a:ext cx="9001000" cy="292488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 lvl="0" algn="ctr" defTabSz="914400">
              <a:lnSpc>
                <a:spcPct val="90000"/>
              </a:lnSpc>
              <a:spcBef>
                <a:spcPct val="0"/>
              </a:spcBef>
              <a:defRPr/>
            </a:pPr>
            <a:endParaRPr lang="en-IN" sz="4400" dirty="0">
              <a:latin typeface="Eras Bold ITC" panose="020B0907030504020204" pitchFamily="34" charset="0"/>
              <a:cs typeface="Times New Roman" panose="02020603050405020304" pitchFamily="18" charset="0"/>
            </a:endParaRPr>
          </a:p>
          <a:p>
            <a:pPr lvl="0" algn="ctr" defTabSz="914400">
              <a:lnSpc>
                <a:spcPct val="90000"/>
              </a:lnSpc>
              <a:spcBef>
                <a:spcPct val="0"/>
              </a:spcBef>
              <a:defRPr/>
            </a:pPr>
            <a:endParaRPr lang="en-IN" sz="4400" dirty="0">
              <a:latin typeface="Eras Bold ITC" panose="020B0907030504020204" pitchFamily="34" charset="0"/>
              <a:cs typeface="Times New Roman" panose="02020603050405020304" pitchFamily="18" charset="0"/>
            </a:endParaRPr>
          </a:p>
          <a:p>
            <a:pPr lvl="0" algn="ctr" defTabSz="914400">
              <a:lnSpc>
                <a:spcPct val="90000"/>
              </a:lnSpc>
              <a:spcBef>
                <a:spcPct val="0"/>
              </a:spcBef>
              <a:defRPr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ANAYSIS ESSENTIALS</a:t>
            </a:r>
          </a:p>
          <a:p>
            <a:pPr lvl="0" algn="ctr" defTabSz="914400">
              <a:lnSpc>
                <a:spcPct val="90000"/>
              </a:lnSpc>
              <a:spcBef>
                <a:spcPct val="0"/>
              </a:spcBef>
              <a:defRPr/>
            </a:pPr>
            <a:r>
              <a:rPr lang="en-US" sz="3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WEEK-6</a:t>
            </a:r>
            <a:endParaRPr lang="en-IN" sz="36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ctr" defTabSz="914400">
              <a:lnSpc>
                <a:spcPct val="90000"/>
              </a:lnSpc>
              <a:spcBef>
                <a:spcPct val="0"/>
              </a:spcBef>
              <a:defRPr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GETTING STARTED WITH PANDAS</a:t>
            </a:r>
          </a:p>
          <a:p>
            <a:pPr lvl="0" algn="ctr" defTabSz="914400">
              <a:lnSpc>
                <a:spcPct val="90000"/>
              </a:lnSpc>
              <a:spcBef>
                <a:spcPct val="0"/>
              </a:spcBef>
              <a:defRPr/>
            </a:pPr>
            <a:b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w Cen MT" pitchFamily="34" charset="0"/>
                <a:ea typeface="+mj-ea"/>
                <a:cs typeface="+mj-cs"/>
              </a:rPr>
            </a:br>
            <a:endParaRPr kumimoji="0" lang="en-IN" sz="44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w Cen MT" pitchFamily="34" charset="0"/>
              <a:ea typeface="+mj-ea"/>
              <a:cs typeface="+mj-cs"/>
            </a:endParaRPr>
          </a:p>
        </p:txBody>
      </p:sp>
      <p:sp>
        <p:nvSpPr>
          <p:cNvPr id="6" name="Subtitle 2"/>
          <p:cNvSpPr txBox="1">
            <a:spLocks/>
          </p:cNvSpPr>
          <p:nvPr/>
        </p:nvSpPr>
        <p:spPr>
          <a:xfrm>
            <a:off x="809588" y="4797152"/>
            <a:ext cx="10358510" cy="141793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w Cen MT" pitchFamily="34" charset="0"/>
                <a:ea typeface="+mn-ea"/>
                <a:cs typeface="+mn-cs"/>
              </a:rPr>
              <a:t>P.Srilatha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Tw Cen MT" pitchFamily="34" charset="0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2000" dirty="0">
                <a:solidFill>
                  <a:srgbClr val="002060"/>
                </a:solidFill>
                <a:latin typeface="Tw Cen MT" pitchFamily="34" charset="0"/>
              </a:rPr>
              <a:t>Assistant Professor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w Cen MT" pitchFamily="34" charset="0"/>
                <a:ea typeface="+mn-ea"/>
                <a:cs typeface="+mn-cs"/>
              </a:rPr>
              <a:t>Department of</a:t>
            </a:r>
            <a:r>
              <a:rPr kumimoji="0" lang="en-US" sz="2000" b="0" i="0" u="none" strike="noStrike" kern="1200" cap="none" spc="0" normalizeH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w Cen MT" pitchFamily="34" charset="0"/>
                <a:ea typeface="+mn-ea"/>
                <a:cs typeface="+mn-cs"/>
              </a:rPr>
              <a:t> </a:t>
            </a:r>
            <a:r>
              <a:rPr lang="en-US" sz="2000" dirty="0">
                <a:solidFill>
                  <a:srgbClr val="002060"/>
                </a:solidFill>
                <a:latin typeface="Tw Cen MT" pitchFamily="34" charset="0"/>
              </a:rPr>
              <a:t>IT&amp;DS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w Cen MT" pitchFamily="34" charset="0"/>
                <a:ea typeface="+mn-ea"/>
                <a:cs typeface="+mn-cs"/>
              </a:rPr>
              <a:t> </a:t>
            </a:r>
            <a:endParaRPr lang="en-US" sz="2000" dirty="0">
              <a:solidFill>
                <a:srgbClr val="002060"/>
              </a:solidFill>
              <a:latin typeface="Tw Cen MT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w Cen MT" pitchFamily="34" charset="0"/>
                <a:ea typeface="+mn-ea"/>
                <a:cs typeface="+mn-cs"/>
              </a:rPr>
              <a:t>Aditya University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8368060C-F3A5-4600-9262-589A0797613D}" type="datetime1">
              <a:rPr lang="en-IN" smtClean="0"/>
              <a:pPr/>
              <a:t>28-07-2026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Data Science                                                                </a:t>
            </a:r>
            <a:r>
              <a:rPr lang="en-US" dirty="0" err="1"/>
              <a:t>P.Srilatha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326EF2E3-409D-4D76-AD02-397A36B0DAF9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C4B12F71-216B-4B4A-9933-2017B3D46F1E}"/>
              </a:ext>
            </a:extLst>
          </p:cNvPr>
          <p:cNvSpPr txBox="1">
            <a:spLocks/>
          </p:cNvSpPr>
          <p:nvPr/>
        </p:nvSpPr>
        <p:spPr>
          <a:xfrm>
            <a:off x="869085" y="1561876"/>
            <a:ext cx="10515600" cy="4531419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/>
            <a:r>
              <a:rPr lang="en-US" dirty="0">
                <a:latin typeface="Times New Roman" pitchFamily="18" charset="0"/>
                <a:cs typeface="Times New Roman" pitchFamily="18" charset="0"/>
              </a:rPr>
              <a:t>pandas contains data structures and data manipulation tools designed to make data cleaning and analysis fast and easy in Python. </a:t>
            </a:r>
          </a:p>
          <a:p>
            <a:pPr fontAlgn="auto"/>
            <a:r>
              <a:rPr lang="en-US" dirty="0">
                <a:latin typeface="Times New Roman" pitchFamily="18" charset="0"/>
                <a:cs typeface="Times New Roman" pitchFamily="18" charset="0"/>
              </a:rPr>
              <a:t>Pandas used in numerical computing tools like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NumPy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and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SciPy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, analytical libraries like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statsmodels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and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scikit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-learn, and data visualization libraries like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matplotlib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fontAlgn="auto"/>
            <a:r>
              <a:rPr lang="en-US" dirty="0">
                <a:latin typeface="Times New Roman" pitchFamily="18" charset="0"/>
                <a:cs typeface="Times New Roman" pitchFamily="18" charset="0"/>
              </a:rPr>
              <a:t>pandas is designed for working with tabular or heterogeneous data.</a:t>
            </a:r>
          </a:p>
          <a:p>
            <a:pPr fontAlgn="auto"/>
            <a:r>
              <a:rPr lang="en-US" dirty="0" err="1">
                <a:latin typeface="Times New Roman" pitchFamily="18" charset="0"/>
                <a:cs typeface="Times New Roman" pitchFamily="18" charset="0"/>
              </a:rPr>
              <a:t>Numpy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is best suited for working with homogeneous numerical array data.</a:t>
            </a:r>
          </a:p>
          <a:p>
            <a:pPr fontAlgn="auto"/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fontAlgn="auto"/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862E4AC-212E-43EC-956C-B30F3E8CC9D6}"/>
              </a:ext>
            </a:extLst>
          </p:cNvPr>
          <p:cNvSpPr txBox="1"/>
          <p:nvPr/>
        </p:nvSpPr>
        <p:spPr>
          <a:xfrm>
            <a:off x="809588" y="642918"/>
            <a:ext cx="1056155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400" dirty="0">
                <a:solidFill>
                  <a:schemeClr val="accent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Introduction to Pandas</a:t>
            </a:r>
          </a:p>
          <a:p>
            <a:pPr algn="ctr"/>
            <a:endParaRPr lang="en-IN" sz="4400" dirty="0"/>
          </a:p>
        </p:txBody>
      </p:sp>
    </p:spTree>
    <p:extLst>
      <p:ext uri="{BB962C8B-B14F-4D97-AF65-F5344CB8AC3E}">
        <p14:creationId xmlns:p14="http://schemas.microsoft.com/office/powerpoint/2010/main" val="26804781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8368060C-F3A5-4600-9262-589A0797613D}" type="datetime1">
              <a:rPr lang="en-IN" smtClean="0"/>
              <a:pPr/>
              <a:t>28-07-2026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Data Science                                                                </a:t>
            </a:r>
            <a:r>
              <a:rPr lang="en-US" dirty="0" err="1"/>
              <a:t>P.Srilatha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326EF2E3-409D-4D76-AD02-397A36B0DAF9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862E4AC-212E-43EC-956C-B30F3E8CC9D6}"/>
              </a:ext>
            </a:extLst>
          </p:cNvPr>
          <p:cNvSpPr txBox="1"/>
          <p:nvPr/>
        </p:nvSpPr>
        <p:spPr>
          <a:xfrm>
            <a:off x="809588" y="642918"/>
            <a:ext cx="1056155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400" dirty="0">
                <a:solidFill>
                  <a:schemeClr val="accent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Features</a:t>
            </a:r>
          </a:p>
          <a:p>
            <a:pPr algn="ctr"/>
            <a:endParaRPr lang="en-IN" sz="4400" dirty="0"/>
          </a:p>
        </p:txBody>
      </p:sp>
      <p:sp>
        <p:nvSpPr>
          <p:cNvPr id="7" name="Content Placeholder 1">
            <a:extLst>
              <a:ext uri="{FF2B5EF4-FFF2-40B4-BE49-F238E27FC236}">
                <a16:creationId xmlns:a16="http://schemas.microsoft.com/office/drawing/2014/main" id="{C4B12F71-216B-4B4A-9933-2017B3D46F1E}"/>
              </a:ext>
            </a:extLst>
          </p:cNvPr>
          <p:cNvSpPr txBox="1">
            <a:spLocks/>
          </p:cNvSpPr>
          <p:nvPr/>
        </p:nvSpPr>
        <p:spPr>
          <a:xfrm>
            <a:off x="869085" y="1561876"/>
            <a:ext cx="10515600" cy="4531419"/>
          </a:xfrm>
          <a:prstGeom prst="rect">
            <a:avLst/>
          </a:prstGeom>
        </p:spPr>
        <p:txBody>
          <a:bodyPr>
            <a:normAutofit fontScale="6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/>
            <a:r>
              <a:rPr lang="en-IN" sz="3200" dirty="0">
                <a:latin typeface="Times New Roman" pitchFamily="18" charset="0"/>
                <a:cs typeface="Times New Roman" pitchFamily="18" charset="0"/>
              </a:rPr>
              <a:t>Handling of data </a:t>
            </a:r>
          </a:p>
          <a:p>
            <a:pPr fontAlgn="auto"/>
            <a:r>
              <a:rPr lang="en-IN" sz="3200" dirty="0">
                <a:latin typeface="Times New Roman" pitchFamily="18" charset="0"/>
                <a:cs typeface="Times New Roman" pitchFamily="18" charset="0"/>
              </a:rPr>
              <a:t>Alignment and indexing </a:t>
            </a:r>
          </a:p>
          <a:p>
            <a:pPr fontAlgn="auto"/>
            <a:r>
              <a:rPr lang="en-IN" sz="3200" dirty="0">
                <a:latin typeface="Times New Roman" pitchFamily="18" charset="0"/>
                <a:cs typeface="Times New Roman" pitchFamily="18" charset="0"/>
              </a:rPr>
              <a:t>Handling missing data </a:t>
            </a:r>
          </a:p>
          <a:p>
            <a:pPr fontAlgn="auto"/>
            <a:r>
              <a:rPr lang="en-IN" sz="3200" dirty="0">
                <a:latin typeface="Times New Roman" pitchFamily="18" charset="0"/>
                <a:cs typeface="Times New Roman" pitchFamily="18" charset="0"/>
              </a:rPr>
              <a:t>Cleaning up data </a:t>
            </a:r>
          </a:p>
          <a:p>
            <a:pPr fontAlgn="auto"/>
            <a:r>
              <a:rPr lang="en-IN" sz="3200" dirty="0">
                <a:latin typeface="Times New Roman" pitchFamily="18" charset="0"/>
                <a:cs typeface="Times New Roman" pitchFamily="18" charset="0"/>
              </a:rPr>
              <a:t>Multiple file formats supported </a:t>
            </a:r>
          </a:p>
          <a:p>
            <a:pPr fontAlgn="auto"/>
            <a:r>
              <a:rPr lang="en-IN" sz="3200" dirty="0">
                <a:latin typeface="Times New Roman" pitchFamily="18" charset="0"/>
                <a:cs typeface="Times New Roman" pitchFamily="18" charset="0"/>
              </a:rPr>
              <a:t>A lot of time series </a:t>
            </a:r>
          </a:p>
          <a:p>
            <a:pPr fontAlgn="auto"/>
            <a:r>
              <a:rPr lang="en-IN" sz="3200" dirty="0">
                <a:latin typeface="Times New Roman" pitchFamily="18" charset="0"/>
                <a:cs typeface="Times New Roman" pitchFamily="18" charset="0"/>
              </a:rPr>
              <a:t>Optimized performance </a:t>
            </a:r>
          </a:p>
          <a:p>
            <a:pPr fontAlgn="auto"/>
            <a:r>
              <a:rPr lang="en-IN" sz="3200" dirty="0">
                <a:latin typeface="Times New Roman" pitchFamily="18" charset="0"/>
                <a:cs typeface="Times New Roman" pitchFamily="18" charset="0"/>
              </a:rPr>
              <a:t>Python support </a:t>
            </a:r>
          </a:p>
          <a:p>
            <a:pPr fontAlgn="auto"/>
            <a:r>
              <a:rPr lang="en-IN" sz="3200" dirty="0">
                <a:latin typeface="Times New Roman" pitchFamily="18" charset="0"/>
                <a:cs typeface="Times New Roman" pitchFamily="18" charset="0"/>
              </a:rPr>
              <a:t>Visualize </a:t>
            </a:r>
          </a:p>
          <a:p>
            <a:pPr fontAlgn="auto"/>
            <a:r>
              <a:rPr lang="en-IN" sz="3200" dirty="0">
                <a:latin typeface="Times New Roman" pitchFamily="18" charset="0"/>
                <a:cs typeface="Times New Roman" pitchFamily="18" charset="0"/>
              </a:rPr>
              <a:t>Grouping </a:t>
            </a:r>
          </a:p>
          <a:p>
            <a:pPr fontAlgn="auto"/>
            <a:r>
              <a:rPr lang="en-IN" sz="3200" dirty="0">
                <a:latin typeface="Times New Roman" pitchFamily="18" charset="0"/>
                <a:cs typeface="Times New Roman" pitchFamily="18" charset="0"/>
              </a:rPr>
              <a:t>Mask data </a:t>
            </a:r>
          </a:p>
          <a:p>
            <a:pPr fontAlgn="auto"/>
            <a:r>
              <a:rPr lang="en-IN" sz="3200" dirty="0">
                <a:latin typeface="Times New Roman" pitchFamily="18" charset="0"/>
                <a:cs typeface="Times New Roman" pitchFamily="18" charset="0"/>
              </a:rPr>
              <a:t>Unique data </a:t>
            </a:r>
          </a:p>
          <a:p>
            <a:pPr fontAlgn="auto"/>
            <a:r>
              <a:rPr lang="en-IN" sz="3200" dirty="0">
                <a:latin typeface="Times New Roman" pitchFamily="18" charset="0"/>
                <a:cs typeface="Times New Roman" pitchFamily="18" charset="0"/>
              </a:rPr>
              <a:t>Perform mathematical operations on the data</a:t>
            </a:r>
          </a:p>
        </p:txBody>
      </p:sp>
    </p:spTree>
    <p:extLst>
      <p:ext uri="{BB962C8B-B14F-4D97-AF65-F5344CB8AC3E}">
        <p14:creationId xmlns:p14="http://schemas.microsoft.com/office/powerpoint/2010/main" val="28038023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8368060C-F3A5-4600-9262-589A0797613D}" type="datetime1">
              <a:rPr lang="en-IN" smtClean="0"/>
              <a:pPr/>
              <a:t>28-07-2026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Data Science                                                                </a:t>
            </a:r>
            <a:r>
              <a:rPr lang="en-US" dirty="0" err="1"/>
              <a:t>P.Srilatha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326EF2E3-409D-4D76-AD02-397A36B0DAF9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862E4AC-212E-43EC-956C-B30F3E8CC9D6}"/>
              </a:ext>
            </a:extLst>
          </p:cNvPr>
          <p:cNvSpPr txBox="1"/>
          <p:nvPr/>
        </p:nvSpPr>
        <p:spPr>
          <a:xfrm>
            <a:off x="809588" y="642918"/>
            <a:ext cx="1056155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>
                <a:solidFill>
                  <a:schemeClr val="accent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Applications</a:t>
            </a:r>
          </a:p>
        </p:txBody>
      </p:sp>
      <p:sp>
        <p:nvSpPr>
          <p:cNvPr id="6" name="Content Placeholder 1">
            <a:extLst>
              <a:ext uri="{FF2B5EF4-FFF2-40B4-BE49-F238E27FC236}">
                <a16:creationId xmlns:a16="http://schemas.microsoft.com/office/drawing/2014/main" id="{C4B12F71-216B-4B4A-9933-2017B3D46F1E}"/>
              </a:ext>
            </a:extLst>
          </p:cNvPr>
          <p:cNvSpPr txBox="1">
            <a:spLocks/>
          </p:cNvSpPr>
          <p:nvPr/>
        </p:nvSpPr>
        <p:spPr>
          <a:xfrm>
            <a:off x="869085" y="1561876"/>
            <a:ext cx="10515600" cy="4531419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/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Economics </a:t>
            </a:r>
          </a:p>
          <a:p>
            <a:pPr fontAlgn="auto"/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Recommendation Systems </a:t>
            </a:r>
          </a:p>
          <a:p>
            <a:pPr fontAlgn="auto"/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Stock Prediction </a:t>
            </a:r>
          </a:p>
          <a:p>
            <a:pPr fontAlgn="auto"/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Neuroscience </a:t>
            </a:r>
          </a:p>
          <a:p>
            <a:pPr fontAlgn="auto"/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Statistics </a:t>
            </a:r>
          </a:p>
          <a:p>
            <a:pPr fontAlgn="auto"/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Advertising </a:t>
            </a:r>
          </a:p>
          <a:p>
            <a:pPr fontAlgn="auto"/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Analytics </a:t>
            </a:r>
          </a:p>
          <a:p>
            <a:pPr fontAlgn="auto"/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Natural Language Processing </a:t>
            </a:r>
          </a:p>
          <a:p>
            <a:pPr fontAlgn="auto"/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Big Data </a:t>
            </a:r>
          </a:p>
          <a:p>
            <a:pPr fontAlgn="auto"/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Data Science</a:t>
            </a:r>
          </a:p>
        </p:txBody>
      </p:sp>
    </p:spTree>
    <p:extLst>
      <p:ext uri="{BB962C8B-B14F-4D97-AF65-F5344CB8AC3E}">
        <p14:creationId xmlns:p14="http://schemas.microsoft.com/office/powerpoint/2010/main" val="23300335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8368060C-F3A5-4600-9262-589A0797613D}" type="datetime1">
              <a:rPr lang="en-IN" smtClean="0"/>
              <a:pPr/>
              <a:t>28-07-2026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Data Science                                                                </a:t>
            </a:r>
            <a:r>
              <a:rPr lang="en-US" dirty="0" err="1"/>
              <a:t>P.Srilatha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326EF2E3-409D-4D76-AD02-397A36B0DAF9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1847528" y="1412776"/>
            <a:ext cx="8496944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A dataset is a structured collection of related data organized in rows and columns for storage, analysis, and processing. Each row represents an individual record (or observation), and each column represents a specific attribute (or feature) of that record.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In Pandas, a dataset is typically stored in a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DataFrame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, making it easy to manipulate, analyze, and visualize the data.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Ex:</a:t>
            </a: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Rows (Records): Each row contains information about one student. 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Columns (Attributes):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RollNo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, Name, Department, and Marks describe each student.</a:t>
            </a: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8855182"/>
              </p:ext>
            </p:extLst>
          </p:nvPr>
        </p:nvGraphicFramePr>
        <p:xfrm>
          <a:off x="3431704" y="3068960"/>
          <a:ext cx="5185792" cy="1463040"/>
        </p:xfrm>
        <a:graphic>
          <a:graphicData uri="http://schemas.openxmlformats.org/drawingml/2006/table">
            <a:tbl>
              <a:tblPr/>
              <a:tblGrid>
                <a:gridCol w="12964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64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07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7839">
                <a:tc>
                  <a:txBody>
                    <a:bodyPr/>
                    <a:lstStyle/>
                    <a:p>
                      <a:pPr algn="r"/>
                      <a:r>
                        <a:rPr lang="en-IN" dirty="0" err="1"/>
                        <a:t>RollNo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Name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Department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dirty="0"/>
                        <a:t>Marks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7839">
                <a:tc>
                  <a:txBody>
                    <a:bodyPr/>
                    <a:lstStyle/>
                    <a:p>
                      <a:pPr algn="r"/>
                      <a:r>
                        <a:rPr lang="en-IN"/>
                        <a:t>101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Alice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CSE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/>
                        <a:t>85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7839">
                <a:tc>
                  <a:txBody>
                    <a:bodyPr/>
                    <a:lstStyle/>
                    <a:p>
                      <a:pPr algn="r"/>
                      <a:r>
                        <a:rPr lang="en-IN"/>
                        <a:t>102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Bob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AIML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/>
                        <a:t>90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7839">
                <a:tc>
                  <a:txBody>
                    <a:bodyPr/>
                    <a:lstStyle/>
                    <a:p>
                      <a:pPr algn="r"/>
                      <a:r>
                        <a:rPr lang="en-IN"/>
                        <a:t>103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Charlie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ECE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dirty="0"/>
                        <a:t>78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7862E4AC-212E-43EC-956C-B30F3E8CC9D6}"/>
              </a:ext>
            </a:extLst>
          </p:cNvPr>
          <p:cNvSpPr txBox="1"/>
          <p:nvPr/>
        </p:nvSpPr>
        <p:spPr>
          <a:xfrm>
            <a:off x="809588" y="642918"/>
            <a:ext cx="1056155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>
                <a:solidFill>
                  <a:schemeClr val="accent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Dataset</a:t>
            </a:r>
          </a:p>
        </p:txBody>
      </p:sp>
    </p:spTree>
    <p:extLst>
      <p:ext uri="{BB962C8B-B14F-4D97-AF65-F5344CB8AC3E}">
        <p14:creationId xmlns:p14="http://schemas.microsoft.com/office/powerpoint/2010/main" val="12661681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8368060C-F3A5-4600-9262-589A0797613D}" type="datetime1">
              <a:rPr lang="en-IN" smtClean="0"/>
              <a:pPr/>
              <a:t>28-07-2026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Data Science                                                                </a:t>
            </a:r>
            <a:r>
              <a:rPr lang="en-US" dirty="0" err="1"/>
              <a:t>P.Srilatha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326EF2E3-409D-4D76-AD02-397A36B0DAF9}" type="slidenum">
              <a:rPr lang="en-US" smtClean="0"/>
              <a:pPr/>
              <a:t>6</a:t>
            </a:fld>
            <a:endParaRPr 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168"/>
          <a:stretch/>
        </p:blipFill>
        <p:spPr bwMode="auto">
          <a:xfrm>
            <a:off x="1055440" y="1124744"/>
            <a:ext cx="10200456" cy="5155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862E4AC-212E-43EC-956C-B30F3E8CC9D6}"/>
              </a:ext>
            </a:extLst>
          </p:cNvPr>
          <p:cNvSpPr txBox="1"/>
          <p:nvPr/>
        </p:nvSpPr>
        <p:spPr>
          <a:xfrm>
            <a:off x="1025498" y="355303"/>
            <a:ext cx="1056155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 err="1">
                <a:solidFill>
                  <a:schemeClr val="accent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Kaggle</a:t>
            </a:r>
            <a:r>
              <a:rPr lang="en-US" sz="4400" dirty="0">
                <a:solidFill>
                  <a:schemeClr val="accent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Dataset</a:t>
            </a:r>
          </a:p>
        </p:txBody>
      </p:sp>
    </p:spTree>
    <p:extLst>
      <p:ext uri="{BB962C8B-B14F-4D97-AF65-F5344CB8AC3E}">
        <p14:creationId xmlns:p14="http://schemas.microsoft.com/office/powerpoint/2010/main" val="9696096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8368060C-F3A5-4600-9262-589A0797613D}" type="datetime1">
              <a:rPr lang="en-IN" smtClean="0"/>
              <a:pPr/>
              <a:t>28-07-2026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Data Science                                                                </a:t>
            </a:r>
            <a:r>
              <a:rPr lang="en-US" dirty="0" err="1"/>
              <a:t>P.Srilatha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326EF2E3-409D-4D76-AD02-397A36B0DAF9}" type="slidenum">
              <a:rPr lang="en-US" smtClean="0"/>
              <a:pPr/>
              <a:t>7</a:t>
            </a:fld>
            <a:endParaRPr lang="en-US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059"/>
          <a:stretch/>
        </p:blipFill>
        <p:spPr bwMode="auto">
          <a:xfrm>
            <a:off x="1055440" y="1196752"/>
            <a:ext cx="10272464" cy="51429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862E4AC-212E-43EC-956C-B30F3E8CC9D6}"/>
              </a:ext>
            </a:extLst>
          </p:cNvPr>
          <p:cNvSpPr txBox="1"/>
          <p:nvPr/>
        </p:nvSpPr>
        <p:spPr>
          <a:xfrm>
            <a:off x="1199456" y="504254"/>
            <a:ext cx="1056155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000" dirty="0">
                <a:solidFill>
                  <a:schemeClr val="accent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UCI Machine Learning Repository</a:t>
            </a:r>
          </a:p>
          <a:p>
            <a:pPr algn="ctr"/>
            <a:endParaRPr lang="en-IN" sz="4400" dirty="0"/>
          </a:p>
        </p:txBody>
      </p:sp>
    </p:spTree>
    <p:extLst>
      <p:ext uri="{BB962C8B-B14F-4D97-AF65-F5344CB8AC3E}">
        <p14:creationId xmlns:p14="http://schemas.microsoft.com/office/powerpoint/2010/main" val="42101086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8368060C-F3A5-4600-9262-589A0797613D}" type="datetime1">
              <a:rPr lang="en-IN" smtClean="0"/>
              <a:pPr/>
              <a:t>28-07-2026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Data Science                                                                </a:t>
            </a:r>
            <a:r>
              <a:rPr lang="en-US" dirty="0" err="1"/>
              <a:t>P.Srilatha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326EF2E3-409D-4D76-AD02-397A36B0DAF9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1703512" y="1412776"/>
            <a:ext cx="8352928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Series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A Series is a one-dimensional array-like object containing a sequence of values of the same type and an associated array of data labels, called its </a:t>
            </a:r>
            <a:r>
              <a:rPr lang="en-US" sz="2000" i="1" dirty="0">
                <a:latin typeface="Times New Roman" pitchFamily="18" charset="0"/>
                <a:cs typeface="Times New Roman" pitchFamily="18" charset="0"/>
              </a:rPr>
              <a:t>index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. The simplest Series is formed from only an array of data:</a:t>
            </a:r>
          </a:p>
          <a:p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import pandas as </a:t>
            </a:r>
            <a:r>
              <a:rPr lang="fr-FR" sz="2000" dirty="0" err="1">
                <a:latin typeface="Times New Roman" pitchFamily="18" charset="0"/>
                <a:cs typeface="Times New Roman" pitchFamily="18" charset="0"/>
              </a:rPr>
              <a:t>pd</a:t>
            </a:r>
            <a:endParaRPr lang="fr-FR" sz="20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fr-FR" sz="2000" dirty="0" err="1">
                <a:latin typeface="Times New Roman" pitchFamily="18" charset="0"/>
                <a:cs typeface="Times New Roman" pitchFamily="18" charset="0"/>
              </a:rPr>
              <a:t>obj</a:t>
            </a:r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=</a:t>
            </a:r>
            <a:r>
              <a:rPr lang="fr-FR" sz="2000" dirty="0" err="1">
                <a:latin typeface="Times New Roman" pitchFamily="18" charset="0"/>
                <a:cs typeface="Times New Roman" pitchFamily="18" charset="0"/>
              </a:rPr>
              <a:t>pd.Series</a:t>
            </a:r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([4, 7, -5, 3])</a:t>
            </a:r>
          </a:p>
          <a:p>
            <a:r>
              <a:rPr lang="fr-FR" sz="2000" dirty="0" err="1">
                <a:latin typeface="Times New Roman" pitchFamily="18" charset="0"/>
                <a:cs typeface="Times New Roman" pitchFamily="18" charset="0"/>
              </a:rPr>
              <a:t>print</a:t>
            </a:r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fr-FR" sz="2000" dirty="0" err="1">
                <a:latin typeface="Times New Roman" pitchFamily="18" charset="0"/>
                <a:cs typeface="Times New Roman" pitchFamily="18" charset="0"/>
              </a:rPr>
              <a:t>obj</a:t>
            </a:r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0 4 </a:t>
            </a:r>
          </a:p>
          <a:p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1 7 </a:t>
            </a:r>
          </a:p>
          <a:p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2 -5</a:t>
            </a:r>
          </a:p>
          <a:p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3 3 </a:t>
            </a:r>
          </a:p>
          <a:p>
            <a:r>
              <a:rPr lang="en-IN" sz="2000" dirty="0" err="1">
                <a:latin typeface="Times New Roman" pitchFamily="18" charset="0"/>
                <a:cs typeface="Times New Roman" pitchFamily="18" charset="0"/>
              </a:rPr>
              <a:t>dtype</a:t>
            </a: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: int64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862E4AC-212E-43EC-956C-B30F3E8CC9D6}"/>
              </a:ext>
            </a:extLst>
          </p:cNvPr>
          <p:cNvSpPr txBox="1"/>
          <p:nvPr/>
        </p:nvSpPr>
        <p:spPr>
          <a:xfrm>
            <a:off x="809588" y="642918"/>
            <a:ext cx="1056155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400" dirty="0">
                <a:solidFill>
                  <a:schemeClr val="accent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Series</a:t>
            </a:r>
          </a:p>
          <a:p>
            <a:pPr algn="ctr"/>
            <a:endParaRPr lang="en-IN" sz="4400" dirty="0"/>
          </a:p>
        </p:txBody>
      </p:sp>
    </p:spTree>
    <p:extLst>
      <p:ext uri="{BB962C8B-B14F-4D97-AF65-F5344CB8AC3E}">
        <p14:creationId xmlns:p14="http://schemas.microsoft.com/office/powerpoint/2010/main" val="3401977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8368060C-F3A5-4600-9262-589A0797613D}" type="datetime1">
              <a:rPr lang="en-IN" smtClean="0"/>
              <a:pPr/>
              <a:t>28-07-2026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Data Science                                                                </a:t>
            </a:r>
            <a:r>
              <a:rPr lang="en-US" dirty="0" err="1"/>
              <a:t>P.Srilatha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326EF2E3-409D-4D76-AD02-397A36B0DAF9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862E4AC-212E-43EC-956C-B30F3E8CC9D6}"/>
              </a:ext>
            </a:extLst>
          </p:cNvPr>
          <p:cNvSpPr txBox="1"/>
          <p:nvPr/>
        </p:nvSpPr>
        <p:spPr>
          <a:xfrm>
            <a:off x="809588" y="642918"/>
            <a:ext cx="1056155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400" dirty="0">
                <a:solidFill>
                  <a:schemeClr val="accent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Mount your Google drive</a:t>
            </a:r>
          </a:p>
          <a:p>
            <a:pPr algn="ctr"/>
            <a:endParaRPr lang="en-IN" sz="44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5400" y="1818364"/>
            <a:ext cx="10204333" cy="16789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957351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8368060C-F3A5-4600-9262-589A0797613D}" type="datetime1">
              <a:rPr lang="en-IN" smtClean="0"/>
              <a:pPr/>
              <a:t>28-07-2026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Data Science                                                                </a:t>
            </a:r>
            <a:r>
              <a:rPr lang="en-US" dirty="0" err="1"/>
              <a:t>P.Srilatha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326EF2E3-409D-4D76-AD02-397A36B0DAF9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862E4AC-212E-43EC-956C-B30F3E8CC9D6}"/>
              </a:ext>
            </a:extLst>
          </p:cNvPr>
          <p:cNvSpPr txBox="1"/>
          <p:nvPr/>
        </p:nvSpPr>
        <p:spPr>
          <a:xfrm>
            <a:off x="1055440" y="642918"/>
            <a:ext cx="1056155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chemeClr val="accent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Read you file using full absolute path</a:t>
            </a:r>
            <a:endParaRPr lang="en-IN" sz="40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3392" y="1412776"/>
            <a:ext cx="11157185" cy="19196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542735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8368060C-F3A5-4600-9262-589A0797613D}" type="datetime1">
              <a:rPr lang="en-IN" smtClean="0"/>
              <a:pPr/>
              <a:t>28-07-2026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Data Science                                                                </a:t>
            </a:r>
            <a:r>
              <a:rPr lang="en-US" dirty="0" err="1"/>
              <a:t>P.Srilatha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326EF2E3-409D-4D76-AD02-397A36B0DAF9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862E4AC-212E-43EC-956C-B30F3E8CC9D6}"/>
              </a:ext>
            </a:extLst>
          </p:cNvPr>
          <p:cNvSpPr txBox="1"/>
          <p:nvPr/>
        </p:nvSpPr>
        <p:spPr>
          <a:xfrm>
            <a:off x="1055440" y="642918"/>
            <a:ext cx="1056155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chemeClr val="accent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Display first five and last five records</a:t>
            </a:r>
            <a:endParaRPr lang="en-IN" sz="4000" dirty="0"/>
          </a:p>
        </p:txBody>
      </p:sp>
      <p:sp>
        <p:nvSpPr>
          <p:cNvPr id="6" name="TextBox 5"/>
          <p:cNvSpPr txBox="1"/>
          <p:nvPr/>
        </p:nvSpPr>
        <p:spPr>
          <a:xfrm>
            <a:off x="1055440" y="1772816"/>
            <a:ext cx="950505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 err="1">
                <a:latin typeface="Times New Roman" pitchFamily="18" charset="0"/>
                <a:cs typeface="Times New Roman" pitchFamily="18" charset="0"/>
              </a:rPr>
              <a:t>data.head</a:t>
            </a: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()</a:t>
            </a:r>
          </a:p>
          <a:p>
            <a:r>
              <a:rPr lang="en-IN" sz="2400" dirty="0" err="1">
                <a:latin typeface="Times New Roman" pitchFamily="18" charset="0"/>
                <a:cs typeface="Times New Roman" pitchFamily="18" charset="0"/>
              </a:rPr>
              <a:t>data.tail</a:t>
            </a: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()</a:t>
            </a:r>
          </a:p>
          <a:p>
            <a:endParaRPr lang="en-IN" sz="24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Detect missing values</a:t>
            </a:r>
          </a:p>
          <a:p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Print(</a:t>
            </a:r>
            <a:r>
              <a:rPr lang="en-IN" sz="2400" dirty="0" err="1">
                <a:latin typeface="Times New Roman" pitchFamily="18" charset="0"/>
                <a:cs typeface="Times New Roman" pitchFamily="18" charset="0"/>
              </a:rPr>
              <a:t>data.isnull</a:t>
            </a:r>
            <a:r>
              <a:rPr lang="en-IN" sz="2400" dirty="0">
                <a:latin typeface="Times New Roman" pitchFamily="18" charset="0"/>
                <a:cs typeface="Times New Roman" pitchFamily="18" charset="0"/>
              </a:rPr>
              <a:t>().sum())</a:t>
            </a:r>
          </a:p>
          <a:p>
            <a:endParaRPr lang="en-IN" sz="24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71440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8368060C-F3A5-4600-9262-589A0797613D}" type="datetime1">
              <a:rPr lang="en-IN" smtClean="0"/>
              <a:pPr/>
              <a:t>28-07-2026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Data Science                                                                </a:t>
            </a:r>
            <a:r>
              <a:rPr lang="en-US" dirty="0" err="1"/>
              <a:t>P.Srilatha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326EF2E3-409D-4D76-AD02-397A36B0DAF9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1991544" y="764704"/>
            <a:ext cx="8424936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>
                <a:latin typeface="Times New Roman" pitchFamily="18" charset="0"/>
                <a:ea typeface="Tahoma" pitchFamily="34" charset="0"/>
                <a:cs typeface="Times New Roman" pitchFamily="18" charset="0"/>
              </a:rPr>
              <a:t>Data Frame</a:t>
            </a:r>
          </a:p>
          <a:p>
            <a:r>
              <a:rPr lang="en-IN" dirty="0">
                <a:latin typeface="Times New Roman" pitchFamily="18" charset="0"/>
                <a:ea typeface="Tahoma" pitchFamily="34" charset="0"/>
                <a:cs typeface="Times New Roman" pitchFamily="18" charset="0"/>
              </a:rPr>
              <a:t>A Data Frame represents a rectangular table of data and contains an ordered collection of columns, each of which can be different type(</a:t>
            </a:r>
            <a:r>
              <a:rPr lang="en-IN" dirty="0" err="1">
                <a:latin typeface="Times New Roman" pitchFamily="18" charset="0"/>
                <a:ea typeface="Tahoma" pitchFamily="34" charset="0"/>
                <a:cs typeface="Times New Roman" pitchFamily="18" charset="0"/>
              </a:rPr>
              <a:t>string,numeric,boolean</a:t>
            </a:r>
            <a:r>
              <a:rPr lang="en-IN" dirty="0">
                <a:latin typeface="Times New Roman" pitchFamily="18" charset="0"/>
                <a:ea typeface="Tahoma" pitchFamily="34" charset="0"/>
                <a:cs typeface="Times New Roman" pitchFamily="18" charset="0"/>
              </a:rPr>
              <a:t>)</a:t>
            </a:r>
          </a:p>
          <a:p>
            <a:pPr fontAlgn="auto"/>
            <a:r>
              <a:rPr lang="en-US" dirty="0">
                <a:latin typeface="Times New Roman" pitchFamily="18" charset="0"/>
                <a:ea typeface="Tahoma" pitchFamily="34" charset="0"/>
                <a:cs typeface="Times New Roman" pitchFamily="18" charset="0"/>
              </a:rPr>
              <a:t>The </a:t>
            </a:r>
            <a:r>
              <a:rPr lang="en-US" dirty="0" err="1">
                <a:latin typeface="Times New Roman" pitchFamily="18" charset="0"/>
                <a:ea typeface="Tahoma" pitchFamily="34" charset="0"/>
                <a:cs typeface="Times New Roman" pitchFamily="18" charset="0"/>
              </a:rPr>
              <a:t>DataFrame</a:t>
            </a:r>
            <a:r>
              <a:rPr lang="en-US" dirty="0">
                <a:latin typeface="Times New Roman" pitchFamily="18" charset="0"/>
                <a:ea typeface="Tahoma" pitchFamily="34" charset="0"/>
                <a:cs typeface="Times New Roman" pitchFamily="18" charset="0"/>
              </a:rPr>
              <a:t> has both a row and column index; it can be thought of as a </a:t>
            </a:r>
            <a:r>
              <a:rPr lang="en-US" dirty="0" err="1">
                <a:latin typeface="Times New Roman" pitchFamily="18" charset="0"/>
                <a:ea typeface="Tahoma" pitchFamily="34" charset="0"/>
                <a:cs typeface="Times New Roman" pitchFamily="18" charset="0"/>
              </a:rPr>
              <a:t>dict</a:t>
            </a:r>
            <a:r>
              <a:rPr lang="en-US" dirty="0">
                <a:latin typeface="Times New Roman" pitchFamily="18" charset="0"/>
                <a:ea typeface="Tahoma" pitchFamily="34" charset="0"/>
                <a:cs typeface="Times New Roman" pitchFamily="18" charset="0"/>
              </a:rPr>
              <a:t> of Series all sharing the same index. </a:t>
            </a:r>
          </a:p>
          <a:p>
            <a:pPr fontAlgn="auto"/>
            <a:r>
              <a:rPr lang="en-US" dirty="0">
                <a:latin typeface="Times New Roman" pitchFamily="18" charset="0"/>
                <a:ea typeface="Tahoma" pitchFamily="34" charset="0"/>
                <a:cs typeface="Times New Roman" pitchFamily="18" charset="0"/>
              </a:rPr>
              <a:t>There are many ways to construct a </a:t>
            </a:r>
            <a:r>
              <a:rPr lang="en-US" dirty="0" err="1">
                <a:latin typeface="Times New Roman" pitchFamily="18" charset="0"/>
                <a:ea typeface="Tahoma" pitchFamily="34" charset="0"/>
                <a:cs typeface="Times New Roman" pitchFamily="18" charset="0"/>
              </a:rPr>
              <a:t>DataFrame</a:t>
            </a:r>
            <a:r>
              <a:rPr lang="en-US" dirty="0">
                <a:latin typeface="Times New Roman" pitchFamily="18" charset="0"/>
                <a:ea typeface="Tahoma" pitchFamily="34" charset="0"/>
                <a:cs typeface="Times New Roman" pitchFamily="18" charset="0"/>
              </a:rPr>
              <a:t>, though one of the most common is </a:t>
            </a:r>
          </a:p>
          <a:p>
            <a:pPr fontAlgn="auto"/>
            <a:r>
              <a:rPr lang="en-US" dirty="0">
                <a:latin typeface="Times New Roman" pitchFamily="18" charset="0"/>
                <a:ea typeface="Tahoma" pitchFamily="34" charset="0"/>
                <a:cs typeface="Times New Roman" pitchFamily="18" charset="0"/>
              </a:rPr>
              <a:t>from a </a:t>
            </a:r>
            <a:r>
              <a:rPr lang="en-US" dirty="0" err="1">
                <a:latin typeface="Times New Roman" pitchFamily="18" charset="0"/>
                <a:ea typeface="Tahoma" pitchFamily="34" charset="0"/>
                <a:cs typeface="Times New Roman" pitchFamily="18" charset="0"/>
              </a:rPr>
              <a:t>dict</a:t>
            </a:r>
            <a:r>
              <a:rPr lang="en-US" dirty="0">
                <a:latin typeface="Times New Roman" pitchFamily="18" charset="0"/>
                <a:ea typeface="Tahoma" pitchFamily="34" charset="0"/>
                <a:cs typeface="Times New Roman" pitchFamily="18" charset="0"/>
              </a:rPr>
              <a:t> of equal-length lists or </a:t>
            </a:r>
            <a:r>
              <a:rPr lang="en-US" dirty="0" err="1">
                <a:latin typeface="Times New Roman" pitchFamily="18" charset="0"/>
                <a:ea typeface="Tahoma" pitchFamily="34" charset="0"/>
                <a:cs typeface="Times New Roman" pitchFamily="18" charset="0"/>
              </a:rPr>
              <a:t>NumPy</a:t>
            </a:r>
            <a:r>
              <a:rPr lang="en-US" dirty="0">
                <a:latin typeface="Times New Roman" pitchFamily="18" charset="0"/>
                <a:ea typeface="Tahoma" pitchFamily="34" charset="0"/>
                <a:cs typeface="Times New Roman" pitchFamily="18" charset="0"/>
              </a:rPr>
              <a:t> arrays: </a:t>
            </a:r>
          </a:p>
          <a:p>
            <a:pPr fontAlgn="auto"/>
            <a:r>
              <a:rPr lang="en-US" dirty="0">
                <a:latin typeface="Times New Roman" pitchFamily="18" charset="0"/>
                <a:ea typeface="Tahoma" pitchFamily="34" charset="0"/>
                <a:cs typeface="Times New Roman" pitchFamily="18" charset="0"/>
              </a:rPr>
              <a:t>import pandas as </a:t>
            </a:r>
            <a:r>
              <a:rPr lang="en-US" dirty="0" err="1">
                <a:latin typeface="Times New Roman" pitchFamily="18" charset="0"/>
                <a:ea typeface="Tahoma" pitchFamily="34" charset="0"/>
                <a:cs typeface="Times New Roman" pitchFamily="18" charset="0"/>
              </a:rPr>
              <a:t>pd</a:t>
            </a:r>
            <a:endParaRPr lang="en-US" dirty="0">
              <a:latin typeface="Times New Roman" pitchFamily="18" charset="0"/>
              <a:ea typeface="Tahoma" pitchFamily="34" charset="0"/>
              <a:cs typeface="Times New Roman" pitchFamily="18" charset="0"/>
            </a:endParaRPr>
          </a:p>
          <a:p>
            <a:pPr fontAlgn="auto"/>
            <a:r>
              <a:rPr lang="en-US" dirty="0">
                <a:latin typeface="Times New Roman" pitchFamily="18" charset="0"/>
                <a:ea typeface="Tahoma" pitchFamily="34" charset="0"/>
                <a:cs typeface="Times New Roman" pitchFamily="18" charset="0"/>
              </a:rPr>
              <a:t>data = {'state': ['Ohio', 'Ohio', 'Ohio', 'Nevada', 'Nevada', 'Nevada'], </a:t>
            </a:r>
          </a:p>
          <a:p>
            <a:pPr fontAlgn="auto"/>
            <a:r>
              <a:rPr lang="en-US" dirty="0">
                <a:latin typeface="Times New Roman" pitchFamily="18" charset="0"/>
                <a:ea typeface="Tahoma" pitchFamily="34" charset="0"/>
                <a:cs typeface="Times New Roman" pitchFamily="18" charset="0"/>
              </a:rPr>
              <a:t>'year': [2000, 2001, 2002, 2001, 2002, 2003], </a:t>
            </a:r>
          </a:p>
          <a:p>
            <a:pPr fontAlgn="auto"/>
            <a:r>
              <a:rPr lang="en-US" dirty="0">
                <a:latin typeface="Times New Roman" pitchFamily="18" charset="0"/>
                <a:ea typeface="Tahoma" pitchFamily="34" charset="0"/>
                <a:cs typeface="Times New Roman" pitchFamily="18" charset="0"/>
              </a:rPr>
              <a:t>'pop': [1.5, 1.7, 3.6, 2.4, 2.9, 3.2]} </a:t>
            </a:r>
          </a:p>
          <a:p>
            <a:pPr fontAlgn="auto"/>
            <a:r>
              <a:rPr lang="en-US" dirty="0">
                <a:latin typeface="Times New Roman" pitchFamily="18" charset="0"/>
                <a:ea typeface="Tahoma" pitchFamily="34" charset="0"/>
                <a:cs typeface="Times New Roman" pitchFamily="18" charset="0"/>
              </a:rPr>
              <a:t>frame = </a:t>
            </a:r>
            <a:r>
              <a:rPr lang="en-US" dirty="0" err="1">
                <a:latin typeface="Times New Roman" pitchFamily="18" charset="0"/>
                <a:ea typeface="Tahoma" pitchFamily="34" charset="0"/>
                <a:cs typeface="Times New Roman" pitchFamily="18" charset="0"/>
              </a:rPr>
              <a:t>pd.DataFrame</a:t>
            </a:r>
            <a:r>
              <a:rPr lang="en-US" dirty="0">
                <a:latin typeface="Times New Roman" pitchFamily="18" charset="0"/>
                <a:ea typeface="Tahoma" pitchFamily="34" charset="0"/>
                <a:cs typeface="Times New Roman" pitchFamily="18" charset="0"/>
              </a:rPr>
              <a:t>(data)</a:t>
            </a:r>
          </a:p>
          <a:p>
            <a:r>
              <a:rPr lang="en-IN" dirty="0">
                <a:latin typeface="Times New Roman" pitchFamily="18" charset="0"/>
                <a:ea typeface="Tahoma" pitchFamily="34" charset="0"/>
                <a:cs typeface="Times New Roman" pitchFamily="18" charset="0"/>
              </a:rPr>
              <a:t>print(frame)</a:t>
            </a:r>
          </a:p>
          <a:p>
            <a:r>
              <a:rPr lang="en-IN" dirty="0">
                <a:latin typeface="Times New Roman" pitchFamily="18" charset="0"/>
                <a:cs typeface="Times New Roman" pitchFamily="18" charset="0"/>
              </a:rPr>
              <a:t>       State year pop </a:t>
            </a:r>
          </a:p>
          <a:p>
            <a:r>
              <a:rPr lang="en-IN" dirty="0">
                <a:latin typeface="Times New Roman" pitchFamily="18" charset="0"/>
                <a:cs typeface="Times New Roman" pitchFamily="18" charset="0"/>
              </a:rPr>
              <a:t>0    Ohio 2000 1.5 </a:t>
            </a:r>
          </a:p>
          <a:p>
            <a:pPr marL="342900" indent="-342900">
              <a:buAutoNum type="arabicPlain"/>
            </a:pPr>
            <a:r>
              <a:rPr lang="en-IN" dirty="0">
                <a:latin typeface="Times New Roman" pitchFamily="18" charset="0"/>
                <a:cs typeface="Times New Roman" pitchFamily="18" charset="0"/>
              </a:rPr>
              <a:t>Ohio 2001 1.7 </a:t>
            </a:r>
          </a:p>
          <a:p>
            <a:pPr marL="342900" indent="-342900">
              <a:buAutoNum type="arabicPlain"/>
            </a:pPr>
            <a:r>
              <a:rPr lang="en-IN" dirty="0">
                <a:latin typeface="Times New Roman" pitchFamily="18" charset="0"/>
                <a:cs typeface="Times New Roman" pitchFamily="18" charset="0"/>
              </a:rPr>
              <a:t>Ohio 2002 3.6 </a:t>
            </a:r>
          </a:p>
          <a:p>
            <a:pPr marL="342900" indent="-342900">
              <a:buAutoNum type="arabicPlain"/>
            </a:pPr>
            <a:r>
              <a:rPr lang="en-IN" dirty="0">
                <a:latin typeface="Times New Roman" pitchFamily="18" charset="0"/>
                <a:cs typeface="Times New Roman" pitchFamily="18" charset="0"/>
              </a:rPr>
              <a:t>Nevada 2001 2.4 </a:t>
            </a:r>
          </a:p>
          <a:p>
            <a:pPr marL="342900" indent="-342900">
              <a:buAutoNum type="arabicPlain"/>
            </a:pPr>
            <a:r>
              <a:rPr lang="en-IN" dirty="0">
                <a:latin typeface="Times New Roman" pitchFamily="18" charset="0"/>
                <a:cs typeface="Times New Roman" pitchFamily="18" charset="0"/>
              </a:rPr>
              <a:t>Nevada 2002 2.9 </a:t>
            </a:r>
          </a:p>
          <a:p>
            <a:pPr marL="342900" indent="-342900">
              <a:buAutoNum type="arabicPlain"/>
            </a:pPr>
            <a:r>
              <a:rPr lang="en-IN" dirty="0">
                <a:latin typeface="Times New Roman" pitchFamily="18" charset="0"/>
                <a:cs typeface="Times New Roman" pitchFamily="18" charset="0"/>
              </a:rPr>
              <a:t> Nevada 2003 3.2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862E4AC-212E-43EC-956C-B30F3E8CC9D6}"/>
              </a:ext>
            </a:extLst>
          </p:cNvPr>
          <p:cNvSpPr txBox="1"/>
          <p:nvPr/>
        </p:nvSpPr>
        <p:spPr>
          <a:xfrm>
            <a:off x="1487488" y="188640"/>
            <a:ext cx="1056155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chemeClr val="accent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Data Frame</a:t>
            </a:r>
            <a:endParaRPr lang="en-IN" sz="4000" dirty="0"/>
          </a:p>
        </p:txBody>
      </p:sp>
    </p:spTree>
    <p:extLst>
      <p:ext uri="{BB962C8B-B14F-4D97-AF65-F5344CB8AC3E}">
        <p14:creationId xmlns:p14="http://schemas.microsoft.com/office/powerpoint/2010/main" val="16469508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8368060C-F3A5-4600-9262-589A0797613D}" type="datetime1">
              <a:rPr lang="en-IN" smtClean="0"/>
              <a:pPr/>
              <a:t>28-07-2026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Data Science                                                                </a:t>
            </a:r>
            <a:r>
              <a:rPr lang="en-US" dirty="0" err="1"/>
              <a:t>P.Srilatha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326EF2E3-409D-4D76-AD02-397A36B0DAF9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2721732" y="404664"/>
            <a:ext cx="8424936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>
                <a:latin typeface="Times New Roman" pitchFamily="18" charset="0"/>
                <a:ea typeface="Tahoma" pitchFamily="34" charset="0"/>
                <a:cs typeface="Times New Roman" pitchFamily="18" charset="0"/>
              </a:rPr>
              <a:t>The head selects first five rows</a:t>
            </a:r>
          </a:p>
          <a:p>
            <a:r>
              <a:rPr lang="en-IN" dirty="0" err="1">
                <a:latin typeface="Times New Roman" pitchFamily="18" charset="0"/>
                <a:ea typeface="Tahoma" pitchFamily="34" charset="0"/>
                <a:cs typeface="Times New Roman" pitchFamily="18" charset="0"/>
              </a:rPr>
              <a:t>frame.head</a:t>
            </a:r>
            <a:r>
              <a:rPr lang="en-IN" dirty="0">
                <a:latin typeface="Times New Roman" pitchFamily="18" charset="0"/>
                <a:ea typeface="Tahoma" pitchFamily="34" charset="0"/>
                <a:cs typeface="Times New Roman" pitchFamily="18" charset="0"/>
              </a:rPr>
              <a:t>()</a:t>
            </a:r>
          </a:p>
          <a:p>
            <a:endParaRPr lang="en-IN" dirty="0">
              <a:latin typeface="Times New Roman" pitchFamily="18" charset="0"/>
              <a:cs typeface="Times New Roman" pitchFamily="18" charset="0"/>
            </a:endParaRPr>
          </a:p>
          <a:p>
            <a:endParaRPr lang="en-IN" dirty="0">
              <a:latin typeface="Times New Roman" pitchFamily="18" charset="0"/>
              <a:cs typeface="Times New Roman" pitchFamily="18" charset="0"/>
            </a:endParaRPr>
          </a:p>
          <a:p>
            <a:endParaRPr lang="en-IN" dirty="0">
              <a:latin typeface="Times New Roman" pitchFamily="18" charset="0"/>
              <a:cs typeface="Times New Roman" pitchFamily="18" charset="0"/>
            </a:endParaRPr>
          </a:p>
          <a:p>
            <a:endParaRPr lang="en-IN" dirty="0">
              <a:latin typeface="Times New Roman" pitchFamily="18" charset="0"/>
              <a:cs typeface="Times New Roman" pitchFamily="18" charset="0"/>
            </a:endParaRPr>
          </a:p>
          <a:p>
            <a:endParaRPr lang="en-IN" dirty="0">
              <a:latin typeface="Times New Roman" pitchFamily="18" charset="0"/>
              <a:cs typeface="Times New Roman" pitchFamily="18" charset="0"/>
            </a:endParaRPr>
          </a:p>
          <a:p>
            <a:endParaRPr lang="en-IN" dirty="0">
              <a:latin typeface="Times New Roman" pitchFamily="18" charset="0"/>
              <a:cs typeface="Times New Roman" pitchFamily="18" charset="0"/>
            </a:endParaRPr>
          </a:p>
          <a:p>
            <a:endParaRPr lang="en-IN" dirty="0">
              <a:latin typeface="Times New Roman" pitchFamily="18" charset="0"/>
              <a:cs typeface="Times New Roman" pitchFamily="18" charset="0"/>
            </a:endParaRPr>
          </a:p>
          <a:p>
            <a:endParaRPr lang="en-IN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If you specify a sequence of columns, the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DataFrame’s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columns will be arranged in that order:                       </a:t>
            </a:r>
          </a:p>
          <a:p>
            <a:r>
              <a:rPr lang="en-US" dirty="0" err="1">
                <a:latin typeface="Times New Roman" pitchFamily="18" charset="0"/>
                <a:cs typeface="Times New Roman" pitchFamily="18" charset="0"/>
              </a:rPr>
              <a:t>pd.DataFrame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(data, columns=['year', 'state', 'pop']) </a:t>
            </a:r>
          </a:p>
          <a:p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3758136"/>
              </p:ext>
            </p:extLst>
          </p:nvPr>
        </p:nvGraphicFramePr>
        <p:xfrm>
          <a:off x="2855640" y="1052736"/>
          <a:ext cx="4824536" cy="2194560"/>
        </p:xfrm>
        <a:graphic>
          <a:graphicData uri="http://schemas.openxmlformats.org/drawingml/2006/table">
            <a:tbl>
              <a:tblPr/>
              <a:tblGrid>
                <a:gridCol w="12061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061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061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061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60462">
                <a:tc>
                  <a:txBody>
                    <a:bodyPr/>
                    <a:lstStyle/>
                    <a:p>
                      <a:pPr fontAlgn="t"/>
                      <a:endParaRPr lang="en-IN" dirty="0">
                        <a:effectLst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 dirty="0">
                          <a:effectLst/>
                        </a:rPr>
                        <a:t>state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>
                          <a:effectLst/>
                        </a:rPr>
                        <a:t>year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>
                          <a:effectLst/>
                        </a:rPr>
                        <a:t>pop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0462">
                <a:tc>
                  <a:txBody>
                    <a:bodyPr/>
                    <a:lstStyle/>
                    <a:p>
                      <a:pPr fontAlgn="t"/>
                      <a:r>
                        <a:rPr lang="en-IN">
                          <a:effectLst/>
                        </a:rPr>
                        <a:t>0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 dirty="0">
                          <a:effectLst/>
                        </a:rPr>
                        <a:t>Ohio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>
                          <a:effectLst/>
                        </a:rPr>
                        <a:t>2000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>
                          <a:effectLst/>
                        </a:rPr>
                        <a:t>1.5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0462">
                <a:tc>
                  <a:txBody>
                    <a:bodyPr/>
                    <a:lstStyle/>
                    <a:p>
                      <a:pPr fontAlgn="t"/>
                      <a:r>
                        <a:rPr lang="en-IN">
                          <a:effectLst/>
                        </a:rPr>
                        <a:t>1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>
                          <a:effectLst/>
                        </a:rPr>
                        <a:t>Ohio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>
                          <a:effectLst/>
                        </a:rPr>
                        <a:t>2001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>
                          <a:effectLst/>
                        </a:rPr>
                        <a:t>1.7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0462">
                <a:tc>
                  <a:txBody>
                    <a:bodyPr/>
                    <a:lstStyle/>
                    <a:p>
                      <a:pPr fontAlgn="t"/>
                      <a:r>
                        <a:rPr lang="en-IN">
                          <a:effectLst/>
                        </a:rPr>
                        <a:t>2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 dirty="0">
                          <a:effectLst/>
                        </a:rPr>
                        <a:t>Ohio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>
                          <a:effectLst/>
                        </a:rPr>
                        <a:t>2002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>
                          <a:effectLst/>
                        </a:rPr>
                        <a:t>3.6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0462">
                <a:tc>
                  <a:txBody>
                    <a:bodyPr/>
                    <a:lstStyle/>
                    <a:p>
                      <a:pPr fontAlgn="t"/>
                      <a:r>
                        <a:rPr lang="en-IN">
                          <a:effectLst/>
                        </a:rPr>
                        <a:t>3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>
                          <a:effectLst/>
                        </a:rPr>
                        <a:t>Nevada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>
                          <a:effectLst/>
                        </a:rPr>
                        <a:t>2001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>
                          <a:effectLst/>
                        </a:rPr>
                        <a:t>2.4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0462">
                <a:tc>
                  <a:txBody>
                    <a:bodyPr/>
                    <a:lstStyle/>
                    <a:p>
                      <a:pPr fontAlgn="t"/>
                      <a:r>
                        <a:rPr lang="en-IN" dirty="0">
                          <a:effectLst/>
                        </a:rPr>
                        <a:t>4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 dirty="0">
                          <a:effectLst/>
                        </a:rPr>
                        <a:t>Nevada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>
                          <a:effectLst/>
                        </a:rPr>
                        <a:t>2002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 dirty="0">
                          <a:effectLst/>
                        </a:rPr>
                        <a:t>2.9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838200" y="290353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36501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5312296"/>
              </p:ext>
            </p:extLst>
          </p:nvPr>
        </p:nvGraphicFramePr>
        <p:xfrm>
          <a:off x="3287688" y="4077072"/>
          <a:ext cx="3888432" cy="2560320"/>
        </p:xfrm>
        <a:graphic>
          <a:graphicData uri="http://schemas.openxmlformats.org/drawingml/2006/table">
            <a:tbl>
              <a:tblPr/>
              <a:tblGrid>
                <a:gridCol w="9721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21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21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7210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6128">
                <a:tc>
                  <a:txBody>
                    <a:bodyPr/>
                    <a:lstStyle/>
                    <a:p>
                      <a:pPr fontAlgn="t"/>
                      <a:endParaRPr lang="en-IN" dirty="0">
                        <a:effectLst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>
                          <a:effectLst/>
                        </a:rPr>
                        <a:t>year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>
                          <a:effectLst/>
                        </a:rPr>
                        <a:t>state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>
                          <a:effectLst/>
                        </a:rPr>
                        <a:t>pop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6128">
                <a:tc>
                  <a:txBody>
                    <a:bodyPr/>
                    <a:lstStyle/>
                    <a:p>
                      <a:pPr fontAlgn="t"/>
                      <a:r>
                        <a:rPr lang="en-IN">
                          <a:effectLst/>
                        </a:rPr>
                        <a:t>0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>
                          <a:effectLst/>
                        </a:rPr>
                        <a:t>2000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>
                          <a:effectLst/>
                        </a:rPr>
                        <a:t>Ohio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>
                          <a:effectLst/>
                        </a:rPr>
                        <a:t>1.5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6128">
                <a:tc>
                  <a:txBody>
                    <a:bodyPr/>
                    <a:lstStyle/>
                    <a:p>
                      <a:pPr fontAlgn="t"/>
                      <a:r>
                        <a:rPr lang="en-IN">
                          <a:effectLst/>
                        </a:rPr>
                        <a:t>1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>
                          <a:effectLst/>
                        </a:rPr>
                        <a:t>2001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>
                          <a:effectLst/>
                        </a:rPr>
                        <a:t>Ohio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>
                          <a:effectLst/>
                        </a:rPr>
                        <a:t>1.7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6128">
                <a:tc>
                  <a:txBody>
                    <a:bodyPr/>
                    <a:lstStyle/>
                    <a:p>
                      <a:pPr fontAlgn="t"/>
                      <a:r>
                        <a:rPr lang="en-IN">
                          <a:effectLst/>
                        </a:rPr>
                        <a:t>2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>
                          <a:effectLst/>
                        </a:rPr>
                        <a:t>2002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>
                          <a:effectLst/>
                        </a:rPr>
                        <a:t>Ohio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>
                          <a:effectLst/>
                        </a:rPr>
                        <a:t>3.6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6128">
                <a:tc>
                  <a:txBody>
                    <a:bodyPr/>
                    <a:lstStyle/>
                    <a:p>
                      <a:pPr fontAlgn="t"/>
                      <a:r>
                        <a:rPr lang="en-IN">
                          <a:effectLst/>
                        </a:rPr>
                        <a:t>3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 dirty="0">
                          <a:effectLst/>
                        </a:rPr>
                        <a:t>2001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>
                          <a:effectLst/>
                        </a:rPr>
                        <a:t>Nevada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>
                          <a:effectLst/>
                        </a:rPr>
                        <a:t>2.4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6128">
                <a:tc>
                  <a:txBody>
                    <a:bodyPr/>
                    <a:lstStyle/>
                    <a:p>
                      <a:pPr fontAlgn="t"/>
                      <a:r>
                        <a:rPr lang="en-IN">
                          <a:effectLst/>
                        </a:rPr>
                        <a:t>4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>
                          <a:effectLst/>
                        </a:rPr>
                        <a:t>2002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>
                          <a:effectLst/>
                        </a:rPr>
                        <a:t>Nevada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>
                          <a:effectLst/>
                        </a:rPr>
                        <a:t>2.9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6128">
                <a:tc>
                  <a:txBody>
                    <a:bodyPr/>
                    <a:lstStyle/>
                    <a:p>
                      <a:pPr fontAlgn="t"/>
                      <a:r>
                        <a:rPr lang="en-IN">
                          <a:effectLst/>
                        </a:rPr>
                        <a:t>5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>
                          <a:effectLst/>
                        </a:rPr>
                        <a:t>2003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>
                          <a:effectLst/>
                        </a:rPr>
                        <a:t>Nevada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 dirty="0">
                          <a:effectLst/>
                        </a:rPr>
                        <a:t>3.2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838200" y="272097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36501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93433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8368060C-F3A5-4600-9262-589A0797613D}" type="datetime1">
              <a:rPr lang="en-IN" smtClean="0"/>
              <a:pPr/>
              <a:t>28-07-2026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Data Science                                                                </a:t>
            </a:r>
            <a:r>
              <a:rPr lang="en-US" dirty="0" err="1"/>
              <a:t>P.Srilatha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326EF2E3-409D-4D76-AD02-397A36B0DAF9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1775520" y="1052736"/>
            <a:ext cx="9217024" cy="53553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If you pass a column that isn’t contained in the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dict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, it will appear with missing values in the result</a:t>
            </a:r>
          </a:p>
          <a:p>
            <a:r>
              <a:rPr lang="en-IN" dirty="0">
                <a:latin typeface="Times New Roman" pitchFamily="18" charset="0"/>
                <a:cs typeface="Times New Roman" pitchFamily="18" charset="0"/>
              </a:rPr>
              <a:t>Frame2=</a:t>
            </a:r>
            <a:r>
              <a:rPr lang="en-IN" dirty="0" err="1">
                <a:latin typeface="Times New Roman" pitchFamily="18" charset="0"/>
                <a:cs typeface="Times New Roman" pitchFamily="18" charset="0"/>
              </a:rPr>
              <a:t>pd.DataFrame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(data, columns=['year', 'state', 'pop', 'debt'], index=['one', 'two', 'three', 'four', 'five', 'six'])</a:t>
            </a:r>
          </a:p>
          <a:p>
            <a:r>
              <a:rPr lang="en-IN" dirty="0">
                <a:latin typeface="Times New Roman" pitchFamily="18" charset="0"/>
                <a:cs typeface="Times New Roman" pitchFamily="18" charset="0"/>
              </a:rPr>
              <a:t>Print(Frame2)</a:t>
            </a:r>
          </a:p>
          <a:p>
            <a:endParaRPr lang="en-IN" dirty="0">
              <a:latin typeface="Times New Roman" pitchFamily="18" charset="0"/>
              <a:cs typeface="Times New Roman" pitchFamily="18" charset="0"/>
            </a:endParaRPr>
          </a:p>
          <a:p>
            <a:endParaRPr lang="en-IN" dirty="0">
              <a:latin typeface="Times New Roman" pitchFamily="18" charset="0"/>
              <a:cs typeface="Times New Roman" pitchFamily="18" charset="0"/>
            </a:endParaRPr>
          </a:p>
          <a:p>
            <a:endParaRPr lang="en-IN" dirty="0">
              <a:latin typeface="Times New Roman" pitchFamily="18" charset="0"/>
              <a:cs typeface="Times New Roman" pitchFamily="18" charset="0"/>
            </a:endParaRPr>
          </a:p>
          <a:p>
            <a:endParaRPr lang="en-IN" dirty="0">
              <a:latin typeface="Times New Roman" pitchFamily="18" charset="0"/>
              <a:cs typeface="Times New Roman" pitchFamily="18" charset="0"/>
            </a:endParaRPr>
          </a:p>
          <a:p>
            <a:endParaRPr lang="en-IN" dirty="0">
              <a:latin typeface="Times New Roman" pitchFamily="18" charset="0"/>
              <a:cs typeface="Times New Roman" pitchFamily="18" charset="0"/>
            </a:endParaRPr>
          </a:p>
          <a:p>
            <a:endParaRPr lang="en-IN" dirty="0">
              <a:latin typeface="Times New Roman" pitchFamily="18" charset="0"/>
              <a:cs typeface="Times New Roman" pitchFamily="18" charset="0"/>
            </a:endParaRPr>
          </a:p>
          <a:p>
            <a:endParaRPr lang="en-IN" dirty="0">
              <a:latin typeface="Times New Roman" pitchFamily="18" charset="0"/>
              <a:cs typeface="Times New Roman" pitchFamily="18" charset="0"/>
            </a:endParaRPr>
          </a:p>
          <a:p>
            <a:endParaRPr lang="en-IN" dirty="0">
              <a:latin typeface="Times New Roman" pitchFamily="18" charset="0"/>
              <a:cs typeface="Times New Roman" pitchFamily="18" charset="0"/>
            </a:endParaRPr>
          </a:p>
          <a:p>
            <a:endParaRPr lang="en-IN" dirty="0">
              <a:latin typeface="Times New Roman" pitchFamily="18" charset="0"/>
              <a:cs typeface="Times New Roman" pitchFamily="18" charset="0"/>
            </a:endParaRPr>
          </a:p>
          <a:p>
            <a:endParaRPr lang="en-IN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IN" dirty="0">
                <a:latin typeface="Times New Roman" pitchFamily="18" charset="0"/>
                <a:cs typeface="Times New Roman" pitchFamily="18" charset="0"/>
              </a:rPr>
              <a:t>frame2.columns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Index(['year', 'state', 'pop', 'debt'],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dtype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='object')</a:t>
            </a:r>
            <a:endParaRPr lang="en-IN" dirty="0">
              <a:latin typeface="Times New Roman" pitchFamily="18" charset="0"/>
              <a:cs typeface="Times New Roman" pitchFamily="18" charset="0"/>
            </a:endParaRPr>
          </a:p>
          <a:p>
            <a:pPr fontAlgn="auto"/>
            <a:r>
              <a:rPr lang="en-US" dirty="0">
                <a:latin typeface="Times New Roman" pitchFamily="18" charset="0"/>
                <a:cs typeface="Times New Roman" pitchFamily="18" charset="0"/>
              </a:rPr>
              <a:t>A column in a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DataFrame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can be retrieved as a Series either by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dict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-like notation or </a:t>
            </a:r>
          </a:p>
          <a:p>
            <a:pPr fontAlgn="auto"/>
            <a:r>
              <a:rPr lang="en-US" dirty="0">
                <a:latin typeface="Times New Roman" pitchFamily="18" charset="0"/>
                <a:cs typeface="Times New Roman" pitchFamily="18" charset="0"/>
              </a:rPr>
              <a:t>by attribute</a:t>
            </a:r>
          </a:p>
          <a:p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838200" y="290353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36501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838200" y="272097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36501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3034244"/>
              </p:ext>
            </p:extLst>
          </p:nvPr>
        </p:nvGraphicFramePr>
        <p:xfrm>
          <a:off x="1919536" y="2204864"/>
          <a:ext cx="9218240" cy="2560320"/>
        </p:xfrm>
        <a:graphic>
          <a:graphicData uri="http://schemas.openxmlformats.org/drawingml/2006/table">
            <a:tbl>
              <a:tblPr/>
              <a:tblGrid>
                <a:gridCol w="18436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43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436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4364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4364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85210">
                <a:tc>
                  <a:txBody>
                    <a:bodyPr/>
                    <a:lstStyle/>
                    <a:p>
                      <a:pPr fontAlgn="t"/>
                      <a:endParaRPr lang="en-IN" dirty="0">
                        <a:effectLst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>
                          <a:effectLst/>
                        </a:rPr>
                        <a:t>year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>
                          <a:effectLst/>
                        </a:rPr>
                        <a:t>state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>
                          <a:effectLst/>
                        </a:rPr>
                        <a:t>pop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>
                          <a:effectLst/>
                        </a:rPr>
                        <a:t>debt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210">
                <a:tc>
                  <a:txBody>
                    <a:bodyPr/>
                    <a:lstStyle/>
                    <a:p>
                      <a:pPr fontAlgn="t"/>
                      <a:r>
                        <a:rPr lang="en-IN">
                          <a:effectLst/>
                        </a:rPr>
                        <a:t>one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>
                          <a:effectLst/>
                        </a:rPr>
                        <a:t>2000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>
                          <a:effectLst/>
                        </a:rPr>
                        <a:t>Ohio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>
                          <a:effectLst/>
                        </a:rPr>
                        <a:t>1.5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>
                          <a:effectLst/>
                        </a:rPr>
                        <a:t>NaN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210">
                <a:tc>
                  <a:txBody>
                    <a:bodyPr/>
                    <a:lstStyle/>
                    <a:p>
                      <a:pPr fontAlgn="t"/>
                      <a:r>
                        <a:rPr lang="en-IN">
                          <a:effectLst/>
                        </a:rPr>
                        <a:t>two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>
                          <a:effectLst/>
                        </a:rPr>
                        <a:t>2001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>
                          <a:effectLst/>
                        </a:rPr>
                        <a:t>Ohio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 dirty="0">
                          <a:effectLst/>
                        </a:rPr>
                        <a:t>1.7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>
                          <a:effectLst/>
                        </a:rPr>
                        <a:t>NaN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5210">
                <a:tc>
                  <a:txBody>
                    <a:bodyPr/>
                    <a:lstStyle/>
                    <a:p>
                      <a:pPr fontAlgn="t"/>
                      <a:r>
                        <a:rPr lang="en-IN">
                          <a:effectLst/>
                        </a:rPr>
                        <a:t>three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>
                          <a:effectLst/>
                        </a:rPr>
                        <a:t>2002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>
                          <a:effectLst/>
                        </a:rPr>
                        <a:t>Ohio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>
                          <a:effectLst/>
                        </a:rPr>
                        <a:t>3.6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>
                          <a:effectLst/>
                        </a:rPr>
                        <a:t>NaN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5210">
                <a:tc>
                  <a:txBody>
                    <a:bodyPr/>
                    <a:lstStyle/>
                    <a:p>
                      <a:pPr fontAlgn="t"/>
                      <a:r>
                        <a:rPr lang="en-IN">
                          <a:effectLst/>
                        </a:rPr>
                        <a:t>four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>
                          <a:effectLst/>
                        </a:rPr>
                        <a:t>2001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>
                          <a:effectLst/>
                        </a:rPr>
                        <a:t>Nevada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>
                          <a:effectLst/>
                        </a:rPr>
                        <a:t>2.4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>
                          <a:effectLst/>
                        </a:rPr>
                        <a:t>NaN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5210">
                <a:tc>
                  <a:txBody>
                    <a:bodyPr/>
                    <a:lstStyle/>
                    <a:p>
                      <a:pPr fontAlgn="t"/>
                      <a:r>
                        <a:rPr lang="en-IN">
                          <a:effectLst/>
                        </a:rPr>
                        <a:t>five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>
                          <a:effectLst/>
                        </a:rPr>
                        <a:t>2002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>
                          <a:effectLst/>
                        </a:rPr>
                        <a:t>Nevada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>
                          <a:effectLst/>
                        </a:rPr>
                        <a:t>2.9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>
                          <a:effectLst/>
                        </a:rPr>
                        <a:t>NaN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5210">
                <a:tc>
                  <a:txBody>
                    <a:bodyPr/>
                    <a:lstStyle/>
                    <a:p>
                      <a:pPr fontAlgn="t"/>
                      <a:r>
                        <a:rPr lang="en-IN" dirty="0">
                          <a:effectLst/>
                        </a:rPr>
                        <a:t>six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 dirty="0">
                          <a:effectLst/>
                        </a:rPr>
                        <a:t>2003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>
                          <a:effectLst/>
                        </a:rPr>
                        <a:t>Nevada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>
                          <a:effectLst/>
                        </a:rPr>
                        <a:t>3.2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 dirty="0" err="1">
                          <a:effectLst/>
                        </a:rPr>
                        <a:t>NaN</a:t>
                      </a:r>
                      <a:endParaRPr lang="en-IN" dirty="0">
                        <a:effectLst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1" name="Rectangle 1"/>
          <p:cNvSpPr>
            <a:spLocks noChangeArrowheads="1"/>
          </p:cNvSpPr>
          <p:nvPr/>
        </p:nvSpPr>
        <p:spPr bwMode="auto">
          <a:xfrm>
            <a:off x="838200" y="272097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36501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68886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8368060C-F3A5-4600-9262-589A0797613D}" type="datetime1">
              <a:rPr lang="en-IN" smtClean="0"/>
              <a:pPr/>
              <a:t>28-07-2026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Data Science                                                                </a:t>
            </a:r>
            <a:r>
              <a:rPr lang="en-US" dirty="0" err="1"/>
              <a:t>P.Srilatha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326EF2E3-409D-4D76-AD02-397A36B0DAF9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2567608" y="404664"/>
            <a:ext cx="9217024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/>
              <a:t>frame2['state']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frame2.year</a:t>
            </a:r>
          </a:p>
          <a:p>
            <a:endParaRPr lang="en-IN" dirty="0"/>
          </a:p>
          <a:p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838200" y="272097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36501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11" name="Rectangle 1"/>
          <p:cNvSpPr>
            <a:spLocks noChangeArrowheads="1"/>
          </p:cNvSpPr>
          <p:nvPr/>
        </p:nvSpPr>
        <p:spPr bwMode="auto">
          <a:xfrm>
            <a:off x="838200" y="272097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36501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6706943"/>
              </p:ext>
            </p:extLst>
          </p:nvPr>
        </p:nvGraphicFramePr>
        <p:xfrm>
          <a:off x="2582828" y="692696"/>
          <a:ext cx="4752528" cy="2560320"/>
        </p:xfrm>
        <a:graphic>
          <a:graphicData uri="http://schemas.openxmlformats.org/drawingml/2006/table">
            <a:tbl>
              <a:tblPr/>
              <a:tblGrid>
                <a:gridCol w="23762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62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1751">
                <a:tc>
                  <a:txBody>
                    <a:bodyPr/>
                    <a:lstStyle/>
                    <a:p>
                      <a:pPr fontAlgn="t"/>
                      <a:endParaRPr lang="en-IN" dirty="0">
                        <a:effectLst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>
                          <a:effectLst/>
                        </a:rPr>
                        <a:t>state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1751">
                <a:tc>
                  <a:txBody>
                    <a:bodyPr/>
                    <a:lstStyle/>
                    <a:p>
                      <a:pPr fontAlgn="t"/>
                      <a:r>
                        <a:rPr lang="en-IN" dirty="0">
                          <a:effectLst/>
                        </a:rPr>
                        <a:t>one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>
                          <a:effectLst/>
                        </a:rPr>
                        <a:t>Ohio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1751">
                <a:tc>
                  <a:txBody>
                    <a:bodyPr/>
                    <a:lstStyle/>
                    <a:p>
                      <a:pPr fontAlgn="t"/>
                      <a:r>
                        <a:rPr lang="en-IN">
                          <a:effectLst/>
                        </a:rPr>
                        <a:t>two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 dirty="0">
                          <a:effectLst/>
                        </a:rPr>
                        <a:t>Ohio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1751">
                <a:tc>
                  <a:txBody>
                    <a:bodyPr/>
                    <a:lstStyle/>
                    <a:p>
                      <a:pPr fontAlgn="t"/>
                      <a:r>
                        <a:rPr lang="en-IN" dirty="0">
                          <a:effectLst/>
                        </a:rPr>
                        <a:t>three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>
                          <a:effectLst/>
                        </a:rPr>
                        <a:t>Ohio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1751">
                <a:tc>
                  <a:txBody>
                    <a:bodyPr/>
                    <a:lstStyle/>
                    <a:p>
                      <a:pPr fontAlgn="t"/>
                      <a:r>
                        <a:rPr lang="en-IN">
                          <a:effectLst/>
                        </a:rPr>
                        <a:t>four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>
                          <a:effectLst/>
                        </a:rPr>
                        <a:t>Nevada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1751">
                <a:tc>
                  <a:txBody>
                    <a:bodyPr/>
                    <a:lstStyle/>
                    <a:p>
                      <a:pPr fontAlgn="t"/>
                      <a:r>
                        <a:rPr lang="en-IN">
                          <a:effectLst/>
                        </a:rPr>
                        <a:t>five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>
                          <a:effectLst/>
                        </a:rPr>
                        <a:t>Nevada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1751">
                <a:tc>
                  <a:txBody>
                    <a:bodyPr/>
                    <a:lstStyle/>
                    <a:p>
                      <a:pPr fontAlgn="t"/>
                      <a:r>
                        <a:rPr lang="en-IN" dirty="0">
                          <a:effectLst/>
                        </a:rPr>
                        <a:t>six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 dirty="0">
                          <a:effectLst/>
                        </a:rPr>
                        <a:t>Nevada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2567608" y="3055442"/>
            <a:ext cx="155683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</a:br>
            <a:r>
              <a:rPr kumimoji="0" 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dtype</a:t>
            </a:r>
            <a:r>
              <a:rPr kumimoji="0" 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:</a:t>
            </a: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 object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6597943"/>
              </p:ext>
            </p:extLst>
          </p:nvPr>
        </p:nvGraphicFramePr>
        <p:xfrm>
          <a:off x="2596939" y="3861048"/>
          <a:ext cx="5688632" cy="2560320"/>
        </p:xfrm>
        <a:graphic>
          <a:graphicData uri="http://schemas.openxmlformats.org/drawingml/2006/table">
            <a:tbl>
              <a:tblPr/>
              <a:tblGrid>
                <a:gridCol w="28443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443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32031">
                <a:tc>
                  <a:txBody>
                    <a:bodyPr/>
                    <a:lstStyle/>
                    <a:p>
                      <a:pPr fontAlgn="t"/>
                      <a:endParaRPr lang="en-IN" dirty="0">
                        <a:effectLst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>
                          <a:effectLst/>
                        </a:rPr>
                        <a:t>year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2031">
                <a:tc>
                  <a:txBody>
                    <a:bodyPr/>
                    <a:lstStyle/>
                    <a:p>
                      <a:pPr fontAlgn="t"/>
                      <a:r>
                        <a:rPr lang="en-IN" dirty="0">
                          <a:effectLst/>
                        </a:rPr>
                        <a:t>one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>
                          <a:effectLst/>
                        </a:rPr>
                        <a:t>2000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2031">
                <a:tc>
                  <a:txBody>
                    <a:bodyPr/>
                    <a:lstStyle/>
                    <a:p>
                      <a:pPr fontAlgn="t"/>
                      <a:r>
                        <a:rPr lang="en-IN">
                          <a:effectLst/>
                        </a:rPr>
                        <a:t>two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>
                          <a:effectLst/>
                        </a:rPr>
                        <a:t>2001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2031">
                <a:tc>
                  <a:txBody>
                    <a:bodyPr/>
                    <a:lstStyle/>
                    <a:p>
                      <a:pPr fontAlgn="t"/>
                      <a:r>
                        <a:rPr lang="en-IN" dirty="0">
                          <a:effectLst/>
                        </a:rPr>
                        <a:t>three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>
                          <a:effectLst/>
                        </a:rPr>
                        <a:t>2002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2031">
                <a:tc>
                  <a:txBody>
                    <a:bodyPr/>
                    <a:lstStyle/>
                    <a:p>
                      <a:pPr fontAlgn="t"/>
                      <a:r>
                        <a:rPr lang="en-IN">
                          <a:effectLst/>
                        </a:rPr>
                        <a:t>four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>
                          <a:effectLst/>
                        </a:rPr>
                        <a:t>2001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2031">
                <a:tc>
                  <a:txBody>
                    <a:bodyPr/>
                    <a:lstStyle/>
                    <a:p>
                      <a:pPr fontAlgn="t"/>
                      <a:r>
                        <a:rPr lang="en-IN">
                          <a:effectLst/>
                        </a:rPr>
                        <a:t>five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>
                          <a:effectLst/>
                        </a:rPr>
                        <a:t>2002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2031">
                <a:tc>
                  <a:txBody>
                    <a:bodyPr/>
                    <a:lstStyle/>
                    <a:p>
                      <a:pPr fontAlgn="t"/>
                      <a:r>
                        <a:rPr lang="en-IN">
                          <a:effectLst/>
                        </a:rPr>
                        <a:t>six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 dirty="0">
                          <a:effectLst/>
                        </a:rPr>
                        <a:t>2003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3" name="Rectangle 2"/>
          <p:cNvSpPr>
            <a:spLocks noChangeArrowheads="1"/>
          </p:cNvSpPr>
          <p:nvPr/>
        </p:nvSpPr>
        <p:spPr bwMode="auto">
          <a:xfrm>
            <a:off x="2567608" y="6021288"/>
            <a:ext cx="144142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</a:br>
            <a:r>
              <a:rPr kumimoji="0" 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dtype</a:t>
            </a:r>
            <a:r>
              <a:rPr kumimoji="0" 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:</a:t>
            </a: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 int64</a:t>
            </a:r>
          </a:p>
        </p:txBody>
      </p:sp>
    </p:spTree>
    <p:extLst>
      <p:ext uri="{BB962C8B-B14F-4D97-AF65-F5344CB8AC3E}">
        <p14:creationId xmlns:p14="http://schemas.microsoft.com/office/powerpoint/2010/main" val="35765743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8368060C-F3A5-4600-9262-589A0797613D}" type="datetime1">
              <a:rPr lang="en-IN" smtClean="0"/>
              <a:pPr/>
              <a:t>28-07-2026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Data Science                                                                </a:t>
            </a:r>
            <a:r>
              <a:rPr lang="en-US" dirty="0" err="1"/>
              <a:t>P.Srilatha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326EF2E3-409D-4D76-AD02-397A36B0DAF9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2567608" y="404664"/>
            <a:ext cx="9217024" cy="67403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Rows can also be retrieved by position or name with the special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loc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attribute.</a:t>
            </a:r>
          </a:p>
          <a:p>
            <a:r>
              <a:rPr lang="en-IN" dirty="0">
                <a:latin typeface="Times New Roman" pitchFamily="18" charset="0"/>
                <a:cs typeface="Times New Roman" pitchFamily="18" charset="0"/>
              </a:rPr>
              <a:t>frame2.loc['three']</a:t>
            </a:r>
          </a:p>
          <a:p>
            <a:endParaRPr lang="en-IN" dirty="0">
              <a:latin typeface="Times New Roman" pitchFamily="18" charset="0"/>
              <a:cs typeface="Times New Roman" pitchFamily="18" charset="0"/>
            </a:endParaRPr>
          </a:p>
          <a:p>
            <a:endParaRPr lang="en-IN" dirty="0">
              <a:latin typeface="Times New Roman" pitchFamily="18" charset="0"/>
              <a:cs typeface="Times New Roman" pitchFamily="18" charset="0"/>
            </a:endParaRPr>
          </a:p>
          <a:p>
            <a:endParaRPr lang="en-IN" dirty="0">
              <a:latin typeface="Times New Roman" pitchFamily="18" charset="0"/>
              <a:cs typeface="Times New Roman" pitchFamily="18" charset="0"/>
            </a:endParaRPr>
          </a:p>
          <a:p>
            <a:endParaRPr lang="en-IN" dirty="0">
              <a:latin typeface="Times New Roman" pitchFamily="18" charset="0"/>
              <a:cs typeface="Times New Roman" pitchFamily="18" charset="0"/>
            </a:endParaRPr>
          </a:p>
          <a:p>
            <a:endParaRPr lang="en-IN" dirty="0">
              <a:latin typeface="Times New Roman" pitchFamily="18" charset="0"/>
              <a:cs typeface="Times New Roman" pitchFamily="18" charset="0"/>
            </a:endParaRPr>
          </a:p>
          <a:p>
            <a:endParaRPr lang="en-IN" dirty="0">
              <a:latin typeface="Times New Roman" pitchFamily="18" charset="0"/>
              <a:cs typeface="Times New Roman" pitchFamily="18" charset="0"/>
            </a:endParaRPr>
          </a:p>
          <a:p>
            <a:endParaRPr lang="en-IN" dirty="0">
              <a:latin typeface="Times New Roman" pitchFamily="18" charset="0"/>
              <a:cs typeface="Times New Roman" pitchFamily="18" charset="0"/>
            </a:endParaRPr>
          </a:p>
          <a:p>
            <a:endParaRPr lang="en-IN" dirty="0">
              <a:latin typeface="Times New Roman" pitchFamily="18" charset="0"/>
              <a:cs typeface="Times New Roman" pitchFamily="18" charset="0"/>
            </a:endParaRPr>
          </a:p>
          <a:p>
            <a:pPr fontAlgn="auto"/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fontAlgn="auto"/>
            <a:r>
              <a:rPr lang="en-US" dirty="0">
                <a:latin typeface="Times New Roman" pitchFamily="18" charset="0"/>
                <a:cs typeface="Times New Roman" pitchFamily="18" charset="0"/>
              </a:rPr>
              <a:t>Columns can be modified by assignment. For example, the empty 'debt' column </a:t>
            </a:r>
          </a:p>
          <a:p>
            <a:pPr fontAlgn="auto"/>
            <a:r>
              <a:rPr lang="en-US" dirty="0">
                <a:latin typeface="Times New Roman" pitchFamily="18" charset="0"/>
                <a:cs typeface="Times New Roman" pitchFamily="18" charset="0"/>
              </a:rPr>
              <a:t>could be assigned a scalar value or an array of values</a:t>
            </a:r>
          </a:p>
          <a:p>
            <a:r>
              <a:rPr lang="en-IN" dirty="0">
                <a:latin typeface="Times New Roman" pitchFamily="18" charset="0"/>
                <a:cs typeface="Times New Roman" pitchFamily="18" charset="0"/>
              </a:rPr>
              <a:t>frame2['debt'] = 16.5</a:t>
            </a:r>
          </a:p>
          <a:p>
            <a:r>
              <a:rPr lang="en-IN" dirty="0">
                <a:latin typeface="Times New Roman" pitchFamily="18" charset="0"/>
                <a:cs typeface="Times New Roman" pitchFamily="18" charset="0"/>
              </a:rPr>
              <a:t>print(frame2)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        year state pop debt 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one 2000 Ohio 1.5 16.5 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two 2001 Ohio 1.7 16.5 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three 2002 Ohio 3.6 16.5 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four 2001 Nevada 2.4 16.5  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five 2002 Nevada 2.9 16.5 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six 2003 Nevada 3.2 16.5 </a:t>
            </a:r>
          </a:p>
          <a:p>
            <a:endParaRPr lang="en-IN" dirty="0">
              <a:latin typeface="Times New Roman" pitchFamily="18" charset="0"/>
              <a:cs typeface="Times New Roman" pitchFamily="18" charset="0"/>
            </a:endParaRPr>
          </a:p>
          <a:p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838200" y="272097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36501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11" name="Rectangle 1"/>
          <p:cNvSpPr>
            <a:spLocks noChangeArrowheads="1"/>
          </p:cNvSpPr>
          <p:nvPr/>
        </p:nvSpPr>
        <p:spPr bwMode="auto">
          <a:xfrm>
            <a:off x="838200" y="272097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36501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4046577"/>
              </p:ext>
            </p:extLst>
          </p:nvPr>
        </p:nvGraphicFramePr>
        <p:xfrm>
          <a:off x="2567608" y="1217971"/>
          <a:ext cx="8066112" cy="1828800"/>
        </p:xfrm>
        <a:graphic>
          <a:graphicData uri="http://schemas.openxmlformats.org/drawingml/2006/table">
            <a:tbl>
              <a:tblPr/>
              <a:tblGrid>
                <a:gridCol w="40330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30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fontAlgn="t"/>
                      <a:endParaRPr lang="en-IN" dirty="0">
                        <a:effectLst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>
                          <a:effectLst/>
                        </a:rPr>
                        <a:t>three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t"/>
                      <a:r>
                        <a:rPr lang="en-IN" dirty="0">
                          <a:effectLst/>
                        </a:rPr>
                        <a:t>year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>
                          <a:effectLst/>
                        </a:rPr>
                        <a:t>2002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t"/>
                      <a:r>
                        <a:rPr lang="en-IN" dirty="0">
                          <a:effectLst/>
                        </a:rPr>
                        <a:t>state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>
                          <a:effectLst/>
                        </a:rPr>
                        <a:t>Ohio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t"/>
                      <a:r>
                        <a:rPr lang="en-IN">
                          <a:effectLst/>
                        </a:rPr>
                        <a:t>pop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>
                          <a:effectLst/>
                        </a:rPr>
                        <a:t>3.6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t"/>
                      <a:r>
                        <a:rPr lang="en-IN" dirty="0">
                          <a:effectLst/>
                        </a:rPr>
                        <a:t>debt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 dirty="0" err="1">
                          <a:effectLst/>
                        </a:rPr>
                        <a:t>NaN</a:t>
                      </a:r>
                      <a:endParaRPr lang="en-IN" dirty="0">
                        <a:effectLst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Rectangle 1"/>
          <p:cNvSpPr>
            <a:spLocks noChangeArrowheads="1"/>
          </p:cNvSpPr>
          <p:nvPr/>
        </p:nvSpPr>
        <p:spPr bwMode="auto">
          <a:xfrm>
            <a:off x="2535155" y="2727592"/>
            <a:ext cx="149271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</a:br>
            <a:r>
              <a:rPr kumimoji="0" 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dtype:</a:t>
            </a:r>
            <a:r>
              <a:rPr kumimoji="0" 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object</a:t>
            </a: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58406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8368060C-F3A5-4600-9262-589A0797613D}" type="datetime1">
              <a:rPr lang="en-IN" smtClean="0"/>
              <a:pPr/>
              <a:t>28-07-2026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Data Science                                                                </a:t>
            </a:r>
            <a:r>
              <a:rPr lang="en-US" dirty="0" err="1"/>
              <a:t>P.Srilatha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326EF2E3-409D-4D76-AD02-397A36B0DAF9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838200" y="272097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36501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11" name="Rectangle 1"/>
          <p:cNvSpPr>
            <a:spLocks noChangeArrowheads="1"/>
          </p:cNvSpPr>
          <p:nvPr/>
        </p:nvSpPr>
        <p:spPr bwMode="auto">
          <a:xfrm>
            <a:off x="838200" y="272097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36501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495600" y="836712"/>
            <a:ext cx="8568952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itchFamily="18" charset="0"/>
                <a:cs typeface="Times New Roman" pitchFamily="18" charset="0"/>
              </a:rPr>
              <a:t>frame2['debt'] = </a:t>
            </a:r>
            <a:r>
              <a:rPr lang="en-IN" dirty="0" err="1">
                <a:latin typeface="Times New Roman" pitchFamily="18" charset="0"/>
                <a:cs typeface="Times New Roman" pitchFamily="18" charset="0"/>
              </a:rPr>
              <a:t>np.arange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(6.)</a:t>
            </a:r>
          </a:p>
          <a:p>
            <a:r>
              <a:rPr lang="en-IN" dirty="0">
                <a:latin typeface="Times New Roman" pitchFamily="18" charset="0"/>
                <a:cs typeface="Times New Roman" pitchFamily="18" charset="0"/>
              </a:rPr>
              <a:t>print(frame2)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        year state pop debt 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one 2000 Ohio 1.5 0.0 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two 2001 Ohio 1.7 1.0 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three 2002 Ohio 3.6 2.0  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four 2001 Nevada 2.4 3.0 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five 2002 Nevada 2.9 4.0 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six 2003 Nevada 3.2 5.0 </a:t>
            </a: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446909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8368060C-F3A5-4600-9262-589A0797613D}" type="datetime1">
              <a:rPr lang="en-IN" smtClean="0"/>
              <a:pPr/>
              <a:t>28-07-2026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Data Science                                                                </a:t>
            </a:r>
            <a:r>
              <a:rPr lang="en-US" dirty="0" err="1"/>
              <a:t>P.Srilatha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326EF2E3-409D-4D76-AD02-397A36B0DAF9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1415480" y="1350804"/>
            <a:ext cx="8928992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import pandas as </a:t>
            </a:r>
            <a:r>
              <a:rPr lang="en-IN" sz="2000" dirty="0" err="1">
                <a:latin typeface="Times New Roman" pitchFamily="18" charset="0"/>
                <a:cs typeface="Times New Roman" pitchFamily="18" charset="0"/>
              </a:rPr>
              <a:t>pd</a:t>
            </a:r>
            <a:endParaRPr lang="en-IN" sz="20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IN" sz="2000" dirty="0" err="1">
                <a:latin typeface="Times New Roman" pitchFamily="18" charset="0"/>
                <a:cs typeface="Times New Roman" pitchFamily="18" charset="0"/>
              </a:rPr>
              <a:t>student_data</a:t>
            </a: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 = {</a:t>
            </a:r>
          </a:p>
          <a:p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    '</a:t>
            </a:r>
            <a:r>
              <a:rPr lang="en-IN" sz="2000" dirty="0" err="1">
                <a:latin typeface="Times New Roman" pitchFamily="18" charset="0"/>
                <a:cs typeface="Times New Roman" pitchFamily="18" charset="0"/>
              </a:rPr>
              <a:t>RollNo</a:t>
            </a: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': [101, 102, 103, 104],</a:t>
            </a:r>
          </a:p>
          <a:p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    'Name': ['Alice', 'Bob', 'Charlie', 'David'],</a:t>
            </a:r>
          </a:p>
          <a:p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    'Marks': [85, 72, 91, 67]</a:t>
            </a:r>
          </a:p>
          <a:p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}</a:t>
            </a:r>
          </a:p>
          <a:p>
            <a:r>
              <a:rPr lang="en-IN" sz="2000" dirty="0" err="1">
                <a:latin typeface="Times New Roman" pitchFamily="18" charset="0"/>
                <a:cs typeface="Times New Roman" pitchFamily="18" charset="0"/>
              </a:rPr>
              <a:t>df</a:t>
            </a: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en-IN" sz="2000" dirty="0" err="1">
                <a:latin typeface="Times New Roman" pitchFamily="18" charset="0"/>
                <a:cs typeface="Times New Roman" pitchFamily="18" charset="0"/>
              </a:rPr>
              <a:t>pd.DataFrame</a:t>
            </a: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IN" sz="2000" dirty="0" err="1">
                <a:latin typeface="Times New Roman" pitchFamily="18" charset="0"/>
                <a:cs typeface="Times New Roman" pitchFamily="18" charset="0"/>
              </a:rPr>
              <a:t>student_data</a:t>
            </a: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print("Original </a:t>
            </a:r>
            <a:r>
              <a:rPr lang="en-IN" sz="2000" dirty="0" err="1">
                <a:latin typeface="Times New Roman" pitchFamily="18" charset="0"/>
                <a:cs typeface="Times New Roman" pitchFamily="18" charset="0"/>
              </a:rPr>
              <a:t>DataFrame</a:t>
            </a: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")</a:t>
            </a:r>
          </a:p>
          <a:p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print(</a:t>
            </a:r>
            <a:r>
              <a:rPr lang="en-IN" sz="2000" dirty="0" err="1">
                <a:latin typeface="Times New Roman" pitchFamily="18" charset="0"/>
                <a:cs typeface="Times New Roman" pitchFamily="18" charset="0"/>
              </a:rPr>
              <a:t>df</a:t>
            </a: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endParaRPr lang="en-IN" sz="20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Original </a:t>
            </a:r>
            <a:r>
              <a:rPr lang="en-IN" sz="2000" dirty="0" err="1">
                <a:latin typeface="Times New Roman" pitchFamily="18" charset="0"/>
                <a:cs typeface="Times New Roman" pitchFamily="18" charset="0"/>
              </a:rPr>
              <a:t>DataFrame</a:t>
            </a:r>
            <a:endParaRPr lang="en-IN" sz="20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RollNo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   Name  Marks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0     101    Alice     85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1     102      Bob     72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2     103  Charlie     91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3     104    David     67</a:t>
            </a:r>
            <a:endParaRPr lang="en-IN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862E4AC-212E-43EC-956C-B30F3E8CC9D6}"/>
              </a:ext>
            </a:extLst>
          </p:cNvPr>
          <p:cNvSpPr txBox="1"/>
          <p:nvPr/>
        </p:nvSpPr>
        <p:spPr>
          <a:xfrm>
            <a:off x="1055440" y="642918"/>
            <a:ext cx="1056155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chemeClr val="accent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Creating </a:t>
            </a:r>
            <a:r>
              <a:rPr lang="en-US" sz="4000" dirty="0" err="1">
                <a:solidFill>
                  <a:schemeClr val="accent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DataFrame</a:t>
            </a:r>
            <a:endParaRPr lang="en-IN" sz="4000" dirty="0"/>
          </a:p>
        </p:txBody>
      </p:sp>
    </p:spTree>
    <p:extLst>
      <p:ext uri="{BB962C8B-B14F-4D97-AF65-F5344CB8AC3E}">
        <p14:creationId xmlns:p14="http://schemas.microsoft.com/office/powerpoint/2010/main" val="384208008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8368060C-F3A5-4600-9262-589A0797613D}" type="datetime1">
              <a:rPr lang="en-IN" smtClean="0"/>
              <a:pPr/>
              <a:t>28-07-2026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Data Science                                                                </a:t>
            </a:r>
            <a:r>
              <a:rPr lang="en-US" dirty="0" err="1"/>
              <a:t>P.Srilatha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326EF2E3-409D-4D76-AD02-397A36B0DAF9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1991544" y="1365134"/>
            <a:ext cx="7152456" cy="50167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000" dirty="0" err="1">
                <a:latin typeface="Times New Roman" pitchFamily="18" charset="0"/>
                <a:cs typeface="Times New Roman" pitchFamily="18" charset="0"/>
              </a:rPr>
              <a:t>new_students</a:t>
            </a: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 = { </a:t>
            </a:r>
          </a:p>
          <a:p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'</a:t>
            </a:r>
            <a:r>
              <a:rPr lang="en-IN" sz="2000" dirty="0" err="1">
                <a:latin typeface="Times New Roman" pitchFamily="18" charset="0"/>
                <a:cs typeface="Times New Roman" pitchFamily="18" charset="0"/>
              </a:rPr>
              <a:t>RollNo</a:t>
            </a: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': [105, 106], </a:t>
            </a:r>
          </a:p>
          <a:p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'Name': ['Eva', 'Frank'], </a:t>
            </a:r>
          </a:p>
          <a:p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'Marks': [88, 79] } </a:t>
            </a:r>
          </a:p>
          <a:p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df2 = </a:t>
            </a:r>
            <a:r>
              <a:rPr lang="en-IN" sz="2000" dirty="0" err="1">
                <a:latin typeface="Times New Roman" pitchFamily="18" charset="0"/>
                <a:cs typeface="Times New Roman" pitchFamily="18" charset="0"/>
              </a:rPr>
              <a:t>pd.DataFrame</a:t>
            </a: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IN" sz="2000" dirty="0" err="1">
                <a:latin typeface="Times New Roman" pitchFamily="18" charset="0"/>
                <a:cs typeface="Times New Roman" pitchFamily="18" charset="0"/>
              </a:rPr>
              <a:t>new_students</a:t>
            </a: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) </a:t>
            </a:r>
          </a:p>
          <a:p>
            <a:r>
              <a:rPr lang="en-IN" sz="2000" dirty="0" err="1">
                <a:latin typeface="Times New Roman" pitchFamily="18" charset="0"/>
                <a:cs typeface="Times New Roman" pitchFamily="18" charset="0"/>
              </a:rPr>
              <a:t>combined_df</a:t>
            </a: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en-IN" sz="2000" dirty="0" err="1">
                <a:latin typeface="Times New Roman" pitchFamily="18" charset="0"/>
                <a:cs typeface="Times New Roman" pitchFamily="18" charset="0"/>
              </a:rPr>
              <a:t>pd.concat</a:t>
            </a: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([</a:t>
            </a:r>
            <a:r>
              <a:rPr lang="en-IN" sz="2000" dirty="0" err="1">
                <a:latin typeface="Times New Roman" pitchFamily="18" charset="0"/>
                <a:cs typeface="Times New Roman" pitchFamily="18" charset="0"/>
              </a:rPr>
              <a:t>df</a:t>
            </a: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, df2], </a:t>
            </a:r>
            <a:r>
              <a:rPr lang="en-IN" sz="2000" dirty="0" err="1">
                <a:latin typeface="Times New Roman" pitchFamily="18" charset="0"/>
                <a:cs typeface="Times New Roman" pitchFamily="18" charset="0"/>
              </a:rPr>
              <a:t>ignore_index</a:t>
            </a: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=True) print("\</a:t>
            </a:r>
            <a:r>
              <a:rPr lang="en-IN" sz="2000" dirty="0" err="1">
                <a:latin typeface="Times New Roman" pitchFamily="18" charset="0"/>
                <a:cs typeface="Times New Roman" pitchFamily="18" charset="0"/>
              </a:rPr>
              <a:t>nConcatenated</a:t>
            </a: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sz="2000" dirty="0" err="1">
                <a:latin typeface="Times New Roman" pitchFamily="18" charset="0"/>
                <a:cs typeface="Times New Roman" pitchFamily="18" charset="0"/>
              </a:rPr>
              <a:t>DataFrame</a:t>
            </a: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") </a:t>
            </a:r>
          </a:p>
          <a:p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print(</a:t>
            </a:r>
            <a:r>
              <a:rPr lang="en-IN" sz="2000" dirty="0" err="1">
                <a:latin typeface="Times New Roman" pitchFamily="18" charset="0"/>
                <a:cs typeface="Times New Roman" pitchFamily="18" charset="0"/>
              </a:rPr>
              <a:t>combined_df</a:t>
            </a: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Concatenated </a:t>
            </a:r>
            <a:r>
              <a:rPr lang="en-IN" sz="2000" dirty="0" err="1">
                <a:latin typeface="Times New Roman" pitchFamily="18" charset="0"/>
                <a:cs typeface="Times New Roman" pitchFamily="18" charset="0"/>
              </a:rPr>
              <a:t>DataFrame</a:t>
            </a:r>
            <a:endParaRPr lang="en-IN" sz="20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RollNo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   Name  Marks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0     101    Alice     85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1     102      Bob     72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2     103  Charlie     91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3     104    David     67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4     105      Eva     88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5     106    Frank     79</a:t>
            </a:r>
            <a:endParaRPr lang="en-IN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862E4AC-212E-43EC-956C-B30F3E8CC9D6}"/>
              </a:ext>
            </a:extLst>
          </p:cNvPr>
          <p:cNvSpPr txBox="1"/>
          <p:nvPr/>
        </p:nvSpPr>
        <p:spPr>
          <a:xfrm>
            <a:off x="1055440" y="642918"/>
            <a:ext cx="1056155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chemeClr val="accent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Concatenating </a:t>
            </a:r>
            <a:r>
              <a:rPr lang="en-US" sz="4000" dirty="0" err="1">
                <a:solidFill>
                  <a:schemeClr val="accent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DataFrame</a:t>
            </a:r>
            <a:endParaRPr lang="en-IN" sz="4000" dirty="0"/>
          </a:p>
        </p:txBody>
      </p:sp>
    </p:spTree>
    <p:extLst>
      <p:ext uri="{BB962C8B-B14F-4D97-AF65-F5344CB8AC3E}">
        <p14:creationId xmlns:p14="http://schemas.microsoft.com/office/powerpoint/2010/main" val="232291408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8368060C-F3A5-4600-9262-589A0797613D}" type="datetime1">
              <a:rPr lang="en-IN" smtClean="0"/>
              <a:pPr/>
              <a:t>28-07-2026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Data Science                                                                </a:t>
            </a:r>
            <a:r>
              <a:rPr lang="en-US" dirty="0" err="1"/>
              <a:t>P.Srilatha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326EF2E3-409D-4D76-AD02-397A36B0DAF9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1991544" y="1655789"/>
            <a:ext cx="700844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high_marks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combined_df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[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combined_df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['Marks'] &gt;= 80] print("\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nStudents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Scoring 80 or Above") 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print(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high_marks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) </a:t>
            </a:r>
          </a:p>
          <a:p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Students Scoring 80 or Above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RollNo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   Name  Marks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0     101    Alice     85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2     103  Charlie     91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4     105      Eva     88</a:t>
            </a:r>
            <a:endParaRPr lang="en-IN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862E4AC-212E-43EC-956C-B30F3E8CC9D6}"/>
              </a:ext>
            </a:extLst>
          </p:cNvPr>
          <p:cNvSpPr txBox="1"/>
          <p:nvPr/>
        </p:nvSpPr>
        <p:spPr>
          <a:xfrm>
            <a:off x="1055440" y="642918"/>
            <a:ext cx="1056155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chemeClr val="accent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Setting Conditions</a:t>
            </a:r>
            <a:endParaRPr lang="en-IN" sz="4000" dirty="0"/>
          </a:p>
        </p:txBody>
      </p:sp>
    </p:spTree>
    <p:extLst>
      <p:ext uri="{BB962C8B-B14F-4D97-AF65-F5344CB8AC3E}">
        <p14:creationId xmlns:p14="http://schemas.microsoft.com/office/powerpoint/2010/main" val="292295571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8368060C-F3A5-4600-9262-589A0797613D}" type="datetime1">
              <a:rPr lang="en-IN" smtClean="0"/>
              <a:pPr/>
              <a:t>28-07-2026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Data Science                                                                </a:t>
            </a:r>
            <a:r>
              <a:rPr lang="en-US" dirty="0" err="1"/>
              <a:t>P.Srilatha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326EF2E3-409D-4D76-AD02-397A36B0DAF9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1703512" y="1556792"/>
            <a:ext cx="8928992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 err="1">
                <a:latin typeface="Times New Roman" pitchFamily="18" charset="0"/>
                <a:cs typeface="Times New Roman" pitchFamily="18" charset="0"/>
              </a:rPr>
              <a:t>combined_df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['Result'] = </a:t>
            </a:r>
            <a:r>
              <a:rPr lang="en-IN" dirty="0" err="1">
                <a:latin typeface="Times New Roman" pitchFamily="18" charset="0"/>
                <a:cs typeface="Times New Roman" pitchFamily="18" charset="0"/>
              </a:rPr>
              <a:t>combined_df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['Marks'].apply( lambda x: 'Pass' if x &gt;= 40 else 'Fail' ) </a:t>
            </a:r>
            <a:r>
              <a:rPr lang="en-IN" dirty="0" err="1">
                <a:latin typeface="Times New Roman" pitchFamily="18" charset="0"/>
                <a:cs typeface="Times New Roman" pitchFamily="18" charset="0"/>
              </a:rPr>
              <a:t>combined_df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['Grade'] = </a:t>
            </a:r>
            <a:r>
              <a:rPr lang="en-IN" dirty="0" err="1">
                <a:latin typeface="Times New Roman" pitchFamily="18" charset="0"/>
                <a:cs typeface="Times New Roman" pitchFamily="18" charset="0"/>
              </a:rPr>
              <a:t>combined_df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['Marks'].apply</a:t>
            </a:r>
          </a:p>
          <a:p>
            <a:r>
              <a:rPr lang="en-IN" dirty="0">
                <a:latin typeface="Times New Roman" pitchFamily="18" charset="0"/>
                <a:cs typeface="Times New Roman" pitchFamily="18" charset="0"/>
              </a:rPr>
              <a:t>( lambda x: 'A' if x &gt;= 90 </a:t>
            </a:r>
          </a:p>
          <a:p>
            <a:r>
              <a:rPr lang="en-IN" dirty="0">
                <a:latin typeface="Times New Roman" pitchFamily="18" charset="0"/>
                <a:cs typeface="Times New Roman" pitchFamily="18" charset="0"/>
              </a:rPr>
              <a:t>	    else 'B' if x &gt;= 80 </a:t>
            </a:r>
          </a:p>
          <a:p>
            <a:r>
              <a:rPr lang="en-IN" dirty="0">
                <a:latin typeface="Times New Roman" pitchFamily="18" charset="0"/>
                <a:cs typeface="Times New Roman" pitchFamily="18" charset="0"/>
              </a:rPr>
              <a:t>             else 'C' if x &gt;= 70   </a:t>
            </a:r>
          </a:p>
          <a:p>
            <a:r>
              <a:rPr lang="en-IN" dirty="0">
                <a:latin typeface="Times New Roman" pitchFamily="18" charset="0"/>
                <a:cs typeface="Times New Roman" pitchFamily="18" charset="0"/>
              </a:rPr>
              <a:t>             else 'D' ) </a:t>
            </a:r>
          </a:p>
          <a:p>
            <a:r>
              <a:rPr lang="en-IN" dirty="0">
                <a:latin typeface="Times New Roman" pitchFamily="18" charset="0"/>
                <a:cs typeface="Times New Roman" pitchFamily="18" charset="0"/>
              </a:rPr>
              <a:t>print("\</a:t>
            </a:r>
            <a:r>
              <a:rPr lang="en-IN" dirty="0" err="1">
                <a:latin typeface="Times New Roman" pitchFamily="18" charset="0"/>
                <a:cs typeface="Times New Roman" pitchFamily="18" charset="0"/>
              </a:rPr>
              <a:t>nDataFrame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 After Adding New Columns") </a:t>
            </a:r>
          </a:p>
          <a:p>
            <a:r>
              <a:rPr lang="en-IN" dirty="0">
                <a:latin typeface="Times New Roman" pitchFamily="18" charset="0"/>
                <a:cs typeface="Times New Roman" pitchFamily="18" charset="0"/>
              </a:rPr>
              <a:t>print(</a:t>
            </a:r>
            <a:r>
              <a:rPr lang="en-IN" dirty="0" err="1">
                <a:latin typeface="Times New Roman" pitchFamily="18" charset="0"/>
                <a:cs typeface="Times New Roman" pitchFamily="18" charset="0"/>
              </a:rPr>
              <a:t>combined_df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r>
              <a:rPr lang="en-US" dirty="0" err="1">
                <a:latin typeface="Times New Roman" pitchFamily="18" charset="0"/>
                <a:cs typeface="Times New Roman" pitchFamily="18" charset="0"/>
              </a:rPr>
              <a:t>RollNo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    Name  Marks Result Grade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0     101    Alice     85   Pass     B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1     102      Bob     72   Pass     C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2     103  Charlie     91   Pass     A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3     104    David     67   Pass     D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4     105      Eva     88   Pass     B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5     106    Frank     79   Pass     C</a:t>
            </a:r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862E4AC-212E-43EC-956C-B30F3E8CC9D6}"/>
              </a:ext>
            </a:extLst>
          </p:cNvPr>
          <p:cNvSpPr txBox="1"/>
          <p:nvPr/>
        </p:nvSpPr>
        <p:spPr>
          <a:xfrm>
            <a:off x="1055440" y="642918"/>
            <a:ext cx="1056155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chemeClr val="accent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Adding a New column</a:t>
            </a:r>
            <a:endParaRPr lang="en-IN" sz="4000" dirty="0"/>
          </a:p>
        </p:txBody>
      </p:sp>
    </p:spTree>
    <p:extLst>
      <p:ext uri="{BB962C8B-B14F-4D97-AF65-F5344CB8AC3E}">
        <p14:creationId xmlns:p14="http://schemas.microsoft.com/office/powerpoint/2010/main" val="313089335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/>
          <p:cNvSpPr txBox="1">
            <a:spLocks/>
          </p:cNvSpPr>
          <p:nvPr/>
        </p:nvSpPr>
        <p:spPr>
          <a:xfrm>
            <a:off x="1595406" y="2857496"/>
            <a:ext cx="9215502" cy="136359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514350" indent="-514350" algn="ctr" defTabSz="914400">
              <a:lnSpc>
                <a:spcPct val="170000"/>
              </a:lnSpc>
              <a:spcBef>
                <a:spcPct val="0"/>
              </a:spcBef>
              <a:defRPr/>
            </a:pPr>
            <a:r>
              <a:rPr lang="en-US" sz="7200" b="1" spc="-50" dirty="0">
                <a:solidFill>
                  <a:schemeClr val="accent1">
                    <a:lumMod val="75000"/>
                  </a:schemeClr>
                </a:solidFill>
                <a:latin typeface="Maiandra GD" pitchFamily="34" charset="0"/>
              </a:rPr>
              <a:t>Thank You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214EE3-5496-7B8C-B18E-94D50E1BC7DF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272464" y="6376243"/>
            <a:ext cx="1081336" cy="365125"/>
          </a:xfrm>
        </p:spPr>
        <p:txBody>
          <a:bodyPr/>
          <a:lstStyle/>
          <a:p>
            <a:fld id="{326EF2E3-409D-4D76-AD02-397A36B0DAF9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53D38A-2A8A-779C-9C3F-C2C0B98EADB8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838200" y="6356350"/>
            <a:ext cx="1729408" cy="365125"/>
          </a:xfrm>
        </p:spPr>
        <p:txBody>
          <a:bodyPr/>
          <a:lstStyle/>
          <a:p>
            <a:fld id="{77872B90-8FC8-4DA6-866A-D11AE0759B4E}" type="datetime1">
              <a:rPr lang="en-IN" smtClean="0"/>
              <a:pPr/>
              <a:t>28-07-2026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8D412B-71B5-900C-A48A-B27CD70501C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3287688" y="6356350"/>
            <a:ext cx="6120680" cy="365125"/>
          </a:xfrm>
        </p:spPr>
        <p:txBody>
          <a:bodyPr/>
          <a:lstStyle/>
          <a:p>
            <a:r>
              <a:rPr lang="en-US" dirty="0"/>
              <a:t>DBMS                                                                K </a:t>
            </a:r>
            <a:r>
              <a:rPr lang="en-US" dirty="0" err="1"/>
              <a:t>Vydehi</a:t>
            </a:r>
            <a:r>
              <a:rPr lang="en-US" dirty="0"/>
              <a:t>, </a:t>
            </a:r>
            <a:r>
              <a:rPr lang="en-US" dirty="0" err="1"/>
              <a:t>Asst</a:t>
            </a:r>
            <a:r>
              <a:rPr lang="en-US" dirty="0"/>
              <a:t> </a:t>
            </a:r>
            <a:r>
              <a:rPr lang="en-US" dirty="0" err="1"/>
              <a:t>Professor,CSE</a:t>
            </a:r>
            <a:r>
              <a:rPr lang="en-US" dirty="0"/>
              <a:t>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7860</TotalTime>
  <Words>1524</Words>
  <Application>Microsoft Office PowerPoint</Application>
  <PresentationFormat>Widescreen</PresentationFormat>
  <Paragraphs>426</Paragraphs>
  <Slides>22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0" baseType="lpstr">
      <vt:lpstr>Arial</vt:lpstr>
      <vt:lpstr>Calibri</vt:lpstr>
      <vt:lpstr>Calibri Light</vt:lpstr>
      <vt:lpstr>Eras Bold ITC</vt:lpstr>
      <vt:lpstr>Maiandra GD</vt:lpstr>
      <vt:lpstr>Times New Roman</vt:lpstr>
      <vt:lpstr>Tw Cen MT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admin</dc:creator>
  <cp:lastModifiedBy>sri latha</cp:lastModifiedBy>
  <cp:revision>841</cp:revision>
  <cp:lastPrinted>2023-06-09T04:58:36Z</cp:lastPrinted>
  <dcterms:created xsi:type="dcterms:W3CDTF">2019-12-14T03:50:52Z</dcterms:created>
  <dcterms:modified xsi:type="dcterms:W3CDTF">2026-07-28T04:38:49Z</dcterms:modified>
</cp:coreProperties>
</file>