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Lst>
  <p:notesMasterIdLst>
    <p:notesMasterId r:id="rId38"/>
  </p:notesMasterIdLst>
  <p:sldIdLst>
    <p:sldId id="256" r:id="rId2"/>
    <p:sldId id="267" r:id="rId3"/>
    <p:sldId id="349" r:id="rId4"/>
    <p:sldId id="260" r:id="rId5"/>
    <p:sldId id="305" r:id="rId6"/>
    <p:sldId id="306" r:id="rId7"/>
    <p:sldId id="307" r:id="rId8"/>
    <p:sldId id="350" r:id="rId9"/>
    <p:sldId id="351" r:id="rId10"/>
    <p:sldId id="352" r:id="rId11"/>
    <p:sldId id="353" r:id="rId12"/>
    <p:sldId id="354" r:id="rId13"/>
    <p:sldId id="356" r:id="rId14"/>
    <p:sldId id="359" r:id="rId15"/>
    <p:sldId id="357" r:id="rId16"/>
    <p:sldId id="358" r:id="rId17"/>
    <p:sldId id="360" r:id="rId18"/>
    <p:sldId id="361" r:id="rId19"/>
    <p:sldId id="362" r:id="rId20"/>
    <p:sldId id="363" r:id="rId21"/>
    <p:sldId id="364" r:id="rId22"/>
    <p:sldId id="365" r:id="rId23"/>
    <p:sldId id="366" r:id="rId24"/>
    <p:sldId id="367" r:id="rId25"/>
    <p:sldId id="368" r:id="rId26"/>
    <p:sldId id="369" r:id="rId27"/>
    <p:sldId id="371" r:id="rId28"/>
    <p:sldId id="372" r:id="rId29"/>
    <p:sldId id="373" r:id="rId30"/>
    <p:sldId id="374" r:id="rId31"/>
    <p:sldId id="375" r:id="rId32"/>
    <p:sldId id="376" r:id="rId33"/>
    <p:sldId id="377" r:id="rId34"/>
    <p:sldId id="378" r:id="rId35"/>
    <p:sldId id="379" r:id="rId36"/>
    <p:sldId id="304" r:id="rId3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FF5050"/>
    <a:srgbClr val="CC00CC"/>
    <a:srgbClr val="660066"/>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798" y="-96"/>
      </p:cViewPr>
      <p:guideLst>
        <p:guide orient="horz" pos="2160"/>
        <p:guide pos="384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7EF2DC9-9E6B-4115-80F7-AF3C0B919820}" type="datetimeFigureOut">
              <a:rPr lang="en-US" smtClean="0"/>
              <a:pPr/>
              <a:t>9/17/2022</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BB36BD8-3BE0-4B04-B520-77C1F1F1FB7F}"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BB36BD8-3BE0-4B04-B520-77C1F1F1FB7F}" type="slidenum">
              <a:rPr lang="en-US" smtClean="0"/>
              <a:pPr/>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7" name="Title 1">
            <a:extLst>
              <a:ext uri="{FF2B5EF4-FFF2-40B4-BE49-F238E27FC236}">
                <a16:creationId xmlns="" xmlns:a16="http://schemas.microsoft.com/office/drawing/2014/main" id="{5958E5E2-6682-4BC1-BE42-9B3D8EFAAB0B}"/>
              </a:ext>
            </a:extLst>
          </p:cNvPr>
          <p:cNvSpPr txBox="1">
            <a:spLocks/>
          </p:cNvSpPr>
          <p:nvPr userDrawn="1"/>
        </p:nvSpPr>
        <p:spPr>
          <a:xfrm>
            <a:off x="1809720" y="285728"/>
            <a:ext cx="10072758" cy="642942"/>
          </a:xfrm>
          <a:prstGeom prst="rect">
            <a:avLst/>
          </a:prstGeom>
        </p:spPr>
        <p:txBody>
          <a:bodyPr vert="horz" lIns="91440" tIns="45720" rIns="91440" bIns="45720" rtlCol="0" anchor="b">
            <a:no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r>
              <a:rPr lang="en-IN" sz="4000" dirty="0">
                <a:solidFill>
                  <a:srgbClr val="002060"/>
                </a:solidFill>
                <a:latin typeface="Britannic Bold" panose="020B0903060703020204" pitchFamily="34" charset="0"/>
                <a:cs typeface="Times New Roman" panose="02020603050405020304" pitchFamily="18" charset="0"/>
              </a:rPr>
              <a:t>ADITYA </a:t>
            </a:r>
            <a:r>
              <a:rPr lang="en-IN" sz="4000" dirty="0" smtClean="0">
                <a:solidFill>
                  <a:srgbClr val="002060"/>
                </a:solidFill>
                <a:latin typeface="Britannic Bold" panose="020B0903060703020204" pitchFamily="34" charset="0"/>
                <a:cs typeface="Times New Roman" panose="02020603050405020304" pitchFamily="18" charset="0"/>
              </a:rPr>
              <a:t>ENGINEERING COLLEGE (A)</a:t>
            </a:r>
            <a:endParaRPr lang="en-IN" sz="4000" dirty="0">
              <a:solidFill>
                <a:srgbClr val="002060"/>
              </a:solidFill>
              <a:latin typeface="Britannic Bold" panose="020B0903060703020204" pitchFamily="34" charset="0"/>
              <a:cs typeface="Times New Roman" panose="02020603050405020304" pitchFamily="18" charset="0"/>
            </a:endParaRPr>
          </a:p>
        </p:txBody>
      </p:sp>
      <p:pic>
        <p:nvPicPr>
          <p:cNvPr id="8" name="Picture 7">
            <a:extLst>
              <a:ext uri="{FF2B5EF4-FFF2-40B4-BE49-F238E27FC236}">
                <a16:creationId xmlns="" xmlns:a16="http://schemas.microsoft.com/office/drawing/2014/main" id="{5D981076-ED8C-43FB-A166-D94C61E80896}"/>
              </a:ext>
            </a:extLst>
          </p:cNvPr>
          <p:cNvPicPr>
            <a:picLocks noChangeAspect="1"/>
          </p:cNvPicPr>
          <p:nvPr userDrawn="1"/>
        </p:nvPicPr>
        <p:blipFill>
          <a:blip r:embed="rId2" cstate="print">
            <a:extLst>
              <a:ext uri="{28A0092B-C50C-407E-A947-70E740481C1C}">
                <a14:useLocalDpi xmlns="" xmlns:a14="http://schemas.microsoft.com/office/drawing/2010/main" val="0"/>
              </a:ext>
            </a:extLst>
          </a:blip>
          <a:stretch>
            <a:fillRect/>
          </a:stretch>
        </p:blipFill>
        <p:spPr>
          <a:xfrm>
            <a:off x="309522" y="116632"/>
            <a:ext cx="1578225" cy="936104"/>
          </a:xfrm>
          <a:prstGeom prst="rect">
            <a:avLst/>
          </a:prstGeom>
        </p:spPr>
      </p:pic>
    </p:spTree>
    <p:extLst>
      <p:ext uri="{BB962C8B-B14F-4D97-AF65-F5344CB8AC3E}">
        <p14:creationId xmlns="" xmlns:p14="http://schemas.microsoft.com/office/powerpoint/2010/main" val="41148100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869085" y="1561876"/>
            <a:ext cx="10515600" cy="4531419"/>
          </a:xfrm>
        </p:spPr>
        <p:txBody>
          <a:bodyPr/>
          <a:lstStyle>
            <a:lvl2pPr marL="457200" indent="0">
              <a:buNone/>
              <a:defRPr/>
            </a:lvl2pPr>
            <a:lvl3pPr marL="914400" indent="0">
              <a:buNone/>
              <a:defRPr/>
            </a:lvl3pPr>
            <a:lvl4pPr marL="1371600" indent="0">
              <a:buNone/>
              <a:defRPr/>
            </a:lvl4pPr>
            <a:lvl5pPr marL="1828800" indent="0">
              <a:buNone/>
              <a:defRPr/>
            </a:lvl5pPr>
          </a:lstStyle>
          <a:p>
            <a:pPr lvl="0"/>
            <a:r>
              <a:rPr lang="en-US" smtClean="0"/>
              <a:t>Click to edit Master text styles</a:t>
            </a:r>
          </a:p>
        </p:txBody>
      </p:sp>
      <p:pic>
        <p:nvPicPr>
          <p:cNvPr id="7" name="Picture 6">
            <a:extLst>
              <a:ext uri="{FF2B5EF4-FFF2-40B4-BE49-F238E27FC236}">
                <a16:creationId xmlns="" xmlns:a16="http://schemas.microsoft.com/office/drawing/2014/main" id="{DCD7B29F-4C46-4AE5-A85E-952C6A33758B}"/>
              </a:ext>
            </a:extLst>
          </p:cNvPr>
          <p:cNvPicPr>
            <a:picLocks noChangeAspect="1"/>
          </p:cNvPicPr>
          <p:nvPr userDrawn="1"/>
        </p:nvPicPr>
        <p:blipFill>
          <a:blip r:embed="rId2" cstate="print">
            <a:extLst>
              <a:ext uri="{28A0092B-C50C-407E-A947-70E740481C1C}">
                <a14:useLocalDpi xmlns="" xmlns:a14="http://schemas.microsoft.com/office/drawing/2010/main" val="0"/>
              </a:ext>
            </a:extLst>
          </a:blip>
          <a:stretch>
            <a:fillRect/>
          </a:stretch>
        </p:blipFill>
        <p:spPr>
          <a:xfrm>
            <a:off x="239398" y="136525"/>
            <a:ext cx="784504" cy="465318"/>
          </a:xfrm>
          <a:prstGeom prst="rect">
            <a:avLst/>
          </a:prstGeom>
        </p:spPr>
      </p:pic>
      <p:sp>
        <p:nvSpPr>
          <p:cNvPr id="8" name="Rectangle 7">
            <a:extLst>
              <a:ext uri="{FF2B5EF4-FFF2-40B4-BE49-F238E27FC236}">
                <a16:creationId xmlns="" xmlns:a16="http://schemas.microsoft.com/office/drawing/2014/main" id="{1F423809-851F-402C-8E33-04AEE45A2C34}"/>
              </a:ext>
            </a:extLst>
          </p:cNvPr>
          <p:cNvSpPr/>
          <p:nvPr userDrawn="1"/>
        </p:nvSpPr>
        <p:spPr>
          <a:xfrm>
            <a:off x="8310578" y="132319"/>
            <a:ext cx="3504101" cy="307777"/>
          </a:xfrm>
          <a:prstGeom prst="rect">
            <a:avLst/>
          </a:prstGeom>
        </p:spPr>
        <p:txBody>
          <a:bodyPr wrap="square">
            <a:spAutoFit/>
          </a:bodyPr>
          <a:lstStyle/>
          <a:p>
            <a:pPr algn="ctr"/>
            <a:r>
              <a:rPr lang="en-US" sz="1400" b="1" dirty="0" smtClean="0">
                <a:solidFill>
                  <a:srgbClr val="00B0F0"/>
                </a:solidFill>
              </a:rPr>
              <a:t>Aditya </a:t>
            </a:r>
            <a:r>
              <a:rPr lang="en-US" sz="1400" b="1" baseline="0" dirty="0" smtClean="0">
                <a:solidFill>
                  <a:srgbClr val="00B0F0"/>
                </a:solidFill>
              </a:rPr>
              <a:t>Engineering </a:t>
            </a:r>
            <a:r>
              <a:rPr lang="en-US" sz="1400" b="1" dirty="0" smtClean="0">
                <a:solidFill>
                  <a:srgbClr val="00B0F0"/>
                </a:solidFill>
              </a:rPr>
              <a:t>College  (A)</a:t>
            </a:r>
            <a:endParaRPr lang="en-IN" sz="1400" b="1" dirty="0">
              <a:solidFill>
                <a:srgbClr val="00B0F0"/>
              </a:solidFill>
            </a:endParaRPr>
          </a:p>
        </p:txBody>
      </p:sp>
      <p:sp>
        <p:nvSpPr>
          <p:cNvPr id="10" name="Date Placeholder 2">
            <a:extLst>
              <a:ext uri="{FF2B5EF4-FFF2-40B4-BE49-F238E27FC236}">
                <a16:creationId xmlns="" xmlns:a16="http://schemas.microsoft.com/office/drawing/2014/main" id="{C8CBE8F9-096B-48BD-AF91-C68E84B4AE0C}"/>
              </a:ext>
            </a:extLst>
          </p:cNvPr>
          <p:cNvSpPr>
            <a:spLocks noGrp="1"/>
          </p:cNvSpPr>
          <p:nvPr>
            <p:ph type="dt" sz="half" idx="11"/>
          </p:nvPr>
        </p:nvSpPr>
        <p:spPr>
          <a:xfrm>
            <a:off x="9239272" y="6286520"/>
            <a:ext cx="2104513" cy="365125"/>
          </a:xfrm>
          <a:ln>
            <a:noFill/>
          </a:ln>
        </p:spPr>
        <p:txBody>
          <a:bodyPr/>
          <a:lstStyle>
            <a:lvl1pPr>
              <a:defRPr b="1">
                <a:solidFill>
                  <a:schemeClr val="bg1">
                    <a:lumMod val="50000"/>
                  </a:schemeClr>
                </a:solidFill>
              </a:defRPr>
            </a:lvl1pPr>
          </a:lstStyle>
          <a:p>
            <a:fld id="{7E230104-9C61-4FDC-88A7-02890E61BA9F}" type="datetime2">
              <a:rPr lang="en-US" smtClean="0"/>
              <a:pPr/>
              <a:t>Saturday, September 17, 2022</a:t>
            </a:fld>
            <a:endParaRPr lang="en-US" dirty="0"/>
          </a:p>
        </p:txBody>
      </p:sp>
      <p:sp>
        <p:nvSpPr>
          <p:cNvPr id="11" name="Footer Placeholder 3">
            <a:extLst>
              <a:ext uri="{FF2B5EF4-FFF2-40B4-BE49-F238E27FC236}">
                <a16:creationId xmlns="" xmlns:a16="http://schemas.microsoft.com/office/drawing/2014/main" id="{9B80BD04-4FB9-48ED-8F04-82E1E9B47D6D}"/>
              </a:ext>
            </a:extLst>
          </p:cNvPr>
          <p:cNvSpPr>
            <a:spLocks noGrp="1"/>
          </p:cNvSpPr>
          <p:nvPr>
            <p:ph type="ftr" sz="quarter" idx="12"/>
          </p:nvPr>
        </p:nvSpPr>
        <p:spPr>
          <a:xfrm>
            <a:off x="4138618" y="6286520"/>
            <a:ext cx="2743200" cy="365125"/>
          </a:xfrm>
          <a:ln>
            <a:noFill/>
          </a:ln>
        </p:spPr>
        <p:txBody>
          <a:bodyPr/>
          <a:lstStyle>
            <a:lvl1pPr>
              <a:defRPr b="1">
                <a:solidFill>
                  <a:schemeClr val="bg1">
                    <a:lumMod val="50000"/>
                  </a:schemeClr>
                </a:solidFill>
              </a:defRPr>
            </a:lvl1pPr>
          </a:lstStyle>
          <a:p>
            <a:r>
              <a:rPr lang="en-US" smtClean="0"/>
              <a:t>S. Neelima, Sr. Asst.Prof, Dept.of  IT</a:t>
            </a:r>
            <a:endParaRPr lang="en-US" dirty="0"/>
          </a:p>
        </p:txBody>
      </p:sp>
      <p:sp>
        <p:nvSpPr>
          <p:cNvPr id="13" name="Footer Placeholder 3">
            <a:extLst>
              <a:ext uri="{FF2B5EF4-FFF2-40B4-BE49-F238E27FC236}">
                <a16:creationId xmlns="" xmlns:a16="http://schemas.microsoft.com/office/drawing/2014/main" id="{308BF50B-84FA-461A-853E-B94880E9E727}"/>
              </a:ext>
            </a:extLst>
          </p:cNvPr>
          <p:cNvSpPr txBox="1">
            <a:spLocks/>
          </p:cNvSpPr>
          <p:nvPr userDrawn="1"/>
        </p:nvSpPr>
        <p:spPr>
          <a:xfrm>
            <a:off x="738151" y="6278585"/>
            <a:ext cx="1928825" cy="365125"/>
          </a:xfrm>
          <a:prstGeom prst="rect">
            <a:avLst/>
          </a:prstGeom>
        </p:spPr>
        <p:txBody>
          <a:bodyPr vert="horz" lIns="91440" tIns="45720" rIns="91440" bIns="45720" rtlCol="0" anchor="ctr"/>
          <a:lstStyle>
            <a:defPPr>
              <a:defRPr lang="en-US"/>
            </a:defPPr>
            <a:lvl1pPr marL="0" algn="ctr" defTabSz="457200" rtl="0" eaLnBrk="1" latinLnBrk="0" hangingPunct="1">
              <a:defRPr sz="1200" b="1" kern="1200">
                <a:solidFill>
                  <a:schemeClr val="bg1">
                    <a:lumMod val="50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just"/>
            <a:r>
              <a:rPr lang="sv-SE" dirty="0" smtClean="0"/>
              <a:t>Advanced Data Structures</a:t>
            </a:r>
            <a:endParaRPr lang="en-US" dirty="0"/>
          </a:p>
        </p:txBody>
      </p:sp>
    </p:spTree>
    <p:extLst>
      <p:ext uri="{BB962C8B-B14F-4D97-AF65-F5344CB8AC3E}">
        <p14:creationId xmlns="" xmlns:p14="http://schemas.microsoft.com/office/powerpoint/2010/main" val="37747766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7D6C631-9239-4D11-BA61-09F7181CE1FB}"/>
              </a:ext>
            </a:extLst>
          </p:cNvPr>
          <p:cNvSpPr>
            <a:spLocks noGrp="1"/>
          </p:cNvSpPr>
          <p:nvPr>
            <p:ph type="title"/>
          </p:nvPr>
        </p:nvSpPr>
        <p:spPr/>
        <p:txBody>
          <a:bodyPr/>
          <a:lstStyle/>
          <a:p>
            <a:r>
              <a:rPr lang="en-US" smtClean="0"/>
              <a:t>Click to edit Master title style</a:t>
            </a:r>
            <a:endParaRPr lang="en-IN"/>
          </a:p>
        </p:txBody>
      </p:sp>
      <p:sp>
        <p:nvSpPr>
          <p:cNvPr id="3" name="Date Placeholder 2">
            <a:extLst>
              <a:ext uri="{FF2B5EF4-FFF2-40B4-BE49-F238E27FC236}">
                <a16:creationId xmlns="" xmlns:a16="http://schemas.microsoft.com/office/drawing/2014/main" id="{B03F9D61-4741-4EB6-928C-183F6ED0860B}"/>
              </a:ext>
            </a:extLst>
          </p:cNvPr>
          <p:cNvSpPr>
            <a:spLocks noGrp="1"/>
          </p:cNvSpPr>
          <p:nvPr>
            <p:ph type="dt" sz="half" idx="10"/>
          </p:nvPr>
        </p:nvSpPr>
        <p:spPr/>
        <p:txBody>
          <a:bodyPr/>
          <a:lstStyle/>
          <a:p>
            <a:fld id="{410E6F8B-7B68-42AC-95D2-1532EE6A5416}" type="datetime2">
              <a:rPr lang="en-US" smtClean="0"/>
              <a:pPr/>
              <a:t>Saturday, September 17, 2022</a:t>
            </a:fld>
            <a:endParaRPr lang="en-US"/>
          </a:p>
        </p:txBody>
      </p:sp>
      <p:sp>
        <p:nvSpPr>
          <p:cNvPr id="4" name="Footer Placeholder 3">
            <a:extLst>
              <a:ext uri="{FF2B5EF4-FFF2-40B4-BE49-F238E27FC236}">
                <a16:creationId xmlns="" xmlns:a16="http://schemas.microsoft.com/office/drawing/2014/main" id="{7A5A7B3A-4429-42CF-B646-3FD3F3460B9A}"/>
              </a:ext>
            </a:extLst>
          </p:cNvPr>
          <p:cNvSpPr>
            <a:spLocks noGrp="1"/>
          </p:cNvSpPr>
          <p:nvPr>
            <p:ph type="ftr" sz="quarter" idx="11"/>
          </p:nvPr>
        </p:nvSpPr>
        <p:spPr/>
        <p:txBody>
          <a:bodyPr/>
          <a:lstStyle/>
          <a:p>
            <a:r>
              <a:rPr lang="en-US" smtClean="0"/>
              <a:t>S. Neelima, Sr. Asst.Prof, Dept.of  IT</a:t>
            </a:r>
            <a:endParaRPr lang="en-US"/>
          </a:p>
        </p:txBody>
      </p:sp>
      <p:sp>
        <p:nvSpPr>
          <p:cNvPr id="5" name="Slide Number Placeholder 4">
            <a:extLst>
              <a:ext uri="{FF2B5EF4-FFF2-40B4-BE49-F238E27FC236}">
                <a16:creationId xmlns="" xmlns:a16="http://schemas.microsoft.com/office/drawing/2014/main" id="{83245426-362C-48C8-9EA2-C525ADFA6237}"/>
              </a:ext>
            </a:extLst>
          </p:cNvPr>
          <p:cNvSpPr>
            <a:spLocks noGrp="1"/>
          </p:cNvSpPr>
          <p:nvPr>
            <p:ph type="sldNum" sz="quarter" idx="12"/>
          </p:nvPr>
        </p:nvSpPr>
        <p:spPr/>
        <p:txBody>
          <a:bodyPr/>
          <a:lstStyle/>
          <a:p>
            <a:fld id="{326EF2E3-409D-4D76-AD02-397A36B0DAF9}" type="slidenum">
              <a:rPr lang="en-US" smtClean="0"/>
              <a:pPr/>
              <a:t>‹#›</a:t>
            </a:fld>
            <a:endParaRPr lang="en-US"/>
          </a:p>
        </p:txBody>
      </p:sp>
    </p:spTree>
    <p:extLst>
      <p:ext uri="{BB962C8B-B14F-4D97-AF65-F5344CB8AC3E}">
        <p14:creationId xmlns="" xmlns:p14="http://schemas.microsoft.com/office/powerpoint/2010/main" val="41572227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984D79-7D99-4D24-A266-5900946BBF93}" type="datetime2">
              <a:rPr lang="en-US" smtClean="0"/>
              <a:pPr/>
              <a:t>Saturday, September 17, 2022</a:t>
            </a:fld>
            <a:endParaRPr lang="en-US"/>
          </a:p>
        </p:txBody>
      </p:sp>
      <p:sp>
        <p:nvSpPr>
          <p:cNvPr id="5" name="Footer Placeholder 4"/>
          <p:cNvSpPr>
            <a:spLocks noGrp="1"/>
          </p:cNvSpPr>
          <p:nvPr>
            <p:ph type="ftr" sz="quarter" idx="11"/>
          </p:nvPr>
        </p:nvSpPr>
        <p:spPr/>
        <p:txBody>
          <a:bodyPr/>
          <a:lstStyle/>
          <a:p>
            <a:r>
              <a:rPr lang="en-US" smtClean="0"/>
              <a:t>S. Neelima, Sr. Asst.Prof, Dept.of  IT</a:t>
            </a:r>
            <a:endParaRPr lang="en-US"/>
          </a:p>
        </p:txBody>
      </p:sp>
      <p:sp>
        <p:nvSpPr>
          <p:cNvPr id="6" name="Slide Number Placeholder 5"/>
          <p:cNvSpPr>
            <a:spLocks noGrp="1"/>
          </p:cNvSpPr>
          <p:nvPr>
            <p:ph type="sldNum" sz="quarter" idx="12"/>
          </p:nvPr>
        </p:nvSpPr>
        <p:spPr/>
        <p:txBody>
          <a:bodyPr/>
          <a:lstStyle/>
          <a:p>
            <a:fld id="{326EF2E3-409D-4D76-AD02-397A36B0DAF9}" type="slidenum">
              <a:rPr lang="en-US" smtClean="0"/>
              <a:pPr/>
              <a:t>‹#›</a:t>
            </a:fld>
            <a:endParaRPr lang="en-US"/>
          </a:p>
        </p:txBody>
      </p:sp>
    </p:spTree>
    <p:extLst>
      <p:ext uri="{BB962C8B-B14F-4D97-AF65-F5344CB8AC3E}">
        <p14:creationId xmlns="" xmlns:p14="http://schemas.microsoft.com/office/powerpoint/2010/main" val="33551514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4B9E310-4F3A-4C9F-93AB-A3355C3BA67A}" type="datetime2">
              <a:rPr lang="en-US" smtClean="0"/>
              <a:pPr/>
              <a:t>Saturday, September 17, 2022</a:t>
            </a:fld>
            <a:endParaRPr lang="en-US"/>
          </a:p>
        </p:txBody>
      </p:sp>
      <p:sp>
        <p:nvSpPr>
          <p:cNvPr id="6" name="Footer Placeholder 5"/>
          <p:cNvSpPr>
            <a:spLocks noGrp="1"/>
          </p:cNvSpPr>
          <p:nvPr>
            <p:ph type="ftr" sz="quarter" idx="11"/>
          </p:nvPr>
        </p:nvSpPr>
        <p:spPr/>
        <p:txBody>
          <a:bodyPr/>
          <a:lstStyle/>
          <a:p>
            <a:r>
              <a:rPr lang="en-US" smtClean="0"/>
              <a:t>S. Neelima, Sr. Asst.Prof, Dept.of  IT</a:t>
            </a:r>
            <a:endParaRPr lang="en-US"/>
          </a:p>
        </p:txBody>
      </p:sp>
      <p:sp>
        <p:nvSpPr>
          <p:cNvPr id="7" name="Slide Number Placeholder 6"/>
          <p:cNvSpPr>
            <a:spLocks noGrp="1"/>
          </p:cNvSpPr>
          <p:nvPr>
            <p:ph type="sldNum" sz="quarter" idx="12"/>
          </p:nvPr>
        </p:nvSpPr>
        <p:spPr/>
        <p:txBody>
          <a:bodyPr/>
          <a:lstStyle/>
          <a:p>
            <a:fld id="{326EF2E3-409D-4D76-AD02-397A36B0DAF9}" type="slidenum">
              <a:rPr lang="en-US" smtClean="0"/>
              <a:pPr/>
              <a:t>‹#›</a:t>
            </a:fld>
            <a:endParaRPr lang="en-US"/>
          </a:p>
        </p:txBody>
      </p:sp>
    </p:spTree>
    <p:extLst>
      <p:ext uri="{BB962C8B-B14F-4D97-AF65-F5344CB8AC3E}">
        <p14:creationId xmlns="" xmlns:p14="http://schemas.microsoft.com/office/powerpoint/2010/main" val="21980402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A6867746-6F13-4896-A863-1FD6C798DEA6}" type="datetime2">
              <a:rPr lang="en-US" smtClean="0"/>
              <a:pPr/>
              <a:t>Saturday, September 17, 2022</a:t>
            </a:fld>
            <a:endParaRPr lang="en-US"/>
          </a:p>
        </p:txBody>
      </p:sp>
      <p:sp>
        <p:nvSpPr>
          <p:cNvPr id="8" name="Footer Placeholder 7"/>
          <p:cNvSpPr>
            <a:spLocks noGrp="1"/>
          </p:cNvSpPr>
          <p:nvPr>
            <p:ph type="ftr" sz="quarter" idx="11"/>
          </p:nvPr>
        </p:nvSpPr>
        <p:spPr/>
        <p:txBody>
          <a:bodyPr/>
          <a:lstStyle/>
          <a:p>
            <a:r>
              <a:rPr lang="en-US" smtClean="0"/>
              <a:t>S. Neelima, Sr. Asst.Prof, Dept.of  IT</a:t>
            </a:r>
            <a:endParaRPr lang="en-US"/>
          </a:p>
        </p:txBody>
      </p:sp>
      <p:sp>
        <p:nvSpPr>
          <p:cNvPr id="9" name="Slide Number Placeholder 8"/>
          <p:cNvSpPr>
            <a:spLocks noGrp="1"/>
          </p:cNvSpPr>
          <p:nvPr>
            <p:ph type="sldNum" sz="quarter" idx="12"/>
          </p:nvPr>
        </p:nvSpPr>
        <p:spPr/>
        <p:txBody>
          <a:bodyPr/>
          <a:lstStyle/>
          <a:p>
            <a:fld id="{326EF2E3-409D-4D76-AD02-397A36B0DAF9}" type="slidenum">
              <a:rPr lang="en-US" smtClean="0"/>
              <a:pPr/>
              <a:t>‹#›</a:t>
            </a:fld>
            <a:endParaRPr lang="en-US"/>
          </a:p>
        </p:txBody>
      </p:sp>
    </p:spTree>
    <p:extLst>
      <p:ext uri="{BB962C8B-B14F-4D97-AF65-F5344CB8AC3E}">
        <p14:creationId xmlns="" xmlns:p14="http://schemas.microsoft.com/office/powerpoint/2010/main" val="33719973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23186B56-42A0-497A-89E0-11C8C578C0F0}" type="datetime2">
              <a:rPr lang="en-US" smtClean="0"/>
              <a:pPr/>
              <a:t>Saturday, September 17, 2022</a:t>
            </a:fld>
            <a:endParaRPr lang="en-US"/>
          </a:p>
        </p:txBody>
      </p:sp>
      <p:sp>
        <p:nvSpPr>
          <p:cNvPr id="4" name="Footer Placeholder 3"/>
          <p:cNvSpPr>
            <a:spLocks noGrp="1"/>
          </p:cNvSpPr>
          <p:nvPr>
            <p:ph type="ftr" sz="quarter" idx="11"/>
          </p:nvPr>
        </p:nvSpPr>
        <p:spPr/>
        <p:txBody>
          <a:bodyPr/>
          <a:lstStyle/>
          <a:p>
            <a:r>
              <a:rPr lang="en-US" smtClean="0"/>
              <a:t>S. Neelima, Sr. Asst.Prof, Dept.of  IT</a:t>
            </a:r>
            <a:endParaRPr lang="en-US"/>
          </a:p>
        </p:txBody>
      </p:sp>
      <p:sp>
        <p:nvSpPr>
          <p:cNvPr id="5" name="Slide Number Placeholder 4"/>
          <p:cNvSpPr>
            <a:spLocks noGrp="1"/>
          </p:cNvSpPr>
          <p:nvPr>
            <p:ph type="sldNum" sz="quarter" idx="12"/>
          </p:nvPr>
        </p:nvSpPr>
        <p:spPr/>
        <p:txBody>
          <a:bodyPr/>
          <a:lstStyle/>
          <a:p>
            <a:fld id="{326EF2E3-409D-4D76-AD02-397A36B0DAF9}" type="slidenum">
              <a:rPr lang="en-US" smtClean="0"/>
              <a:pPr/>
              <a:t>‹#›</a:t>
            </a:fld>
            <a:endParaRPr lang="en-US"/>
          </a:p>
        </p:txBody>
      </p:sp>
    </p:spTree>
    <p:extLst>
      <p:ext uri="{BB962C8B-B14F-4D97-AF65-F5344CB8AC3E}">
        <p14:creationId xmlns="" xmlns:p14="http://schemas.microsoft.com/office/powerpoint/2010/main" val="13340350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F87CB66-D570-420B-94C7-381FA987BB2B}" type="datetime2">
              <a:rPr lang="en-US" smtClean="0"/>
              <a:pPr/>
              <a:t>Saturday, September 17, 2022</a:t>
            </a:fld>
            <a:endParaRPr lang="en-US"/>
          </a:p>
        </p:txBody>
      </p:sp>
      <p:sp>
        <p:nvSpPr>
          <p:cNvPr id="3" name="Footer Placeholder 2"/>
          <p:cNvSpPr>
            <a:spLocks noGrp="1"/>
          </p:cNvSpPr>
          <p:nvPr>
            <p:ph type="ftr" sz="quarter" idx="11"/>
          </p:nvPr>
        </p:nvSpPr>
        <p:spPr/>
        <p:txBody>
          <a:bodyPr/>
          <a:lstStyle/>
          <a:p>
            <a:r>
              <a:rPr lang="en-US" smtClean="0"/>
              <a:t>S. Neelima, Sr. Asst.Prof, Dept.of  IT</a:t>
            </a:r>
            <a:endParaRPr lang="en-US"/>
          </a:p>
        </p:txBody>
      </p:sp>
      <p:sp>
        <p:nvSpPr>
          <p:cNvPr id="4" name="Slide Number Placeholder 3"/>
          <p:cNvSpPr>
            <a:spLocks noGrp="1"/>
          </p:cNvSpPr>
          <p:nvPr>
            <p:ph type="sldNum" sz="quarter" idx="12"/>
          </p:nvPr>
        </p:nvSpPr>
        <p:spPr/>
        <p:txBody>
          <a:bodyPr/>
          <a:lstStyle/>
          <a:p>
            <a:fld id="{326EF2E3-409D-4D76-AD02-397A36B0DAF9}" type="slidenum">
              <a:rPr lang="en-US" smtClean="0"/>
              <a:pPr/>
              <a:t>‹#›</a:t>
            </a:fld>
            <a:endParaRPr lang="en-US"/>
          </a:p>
        </p:txBody>
      </p:sp>
    </p:spTree>
    <p:extLst>
      <p:ext uri="{BB962C8B-B14F-4D97-AF65-F5344CB8AC3E}">
        <p14:creationId xmlns="" xmlns:p14="http://schemas.microsoft.com/office/powerpoint/2010/main" val="5480796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F0A08D4-6257-445A-A5F7-3E33381DC77C}" type="datetime2">
              <a:rPr lang="en-US" smtClean="0"/>
              <a:pPr/>
              <a:t>Saturday, September 17, 2022</a:t>
            </a:fld>
            <a:endParaRPr lang="en-US"/>
          </a:p>
        </p:txBody>
      </p:sp>
      <p:sp>
        <p:nvSpPr>
          <p:cNvPr id="6" name="Footer Placeholder 5"/>
          <p:cNvSpPr>
            <a:spLocks noGrp="1"/>
          </p:cNvSpPr>
          <p:nvPr>
            <p:ph type="ftr" sz="quarter" idx="11"/>
          </p:nvPr>
        </p:nvSpPr>
        <p:spPr/>
        <p:txBody>
          <a:bodyPr/>
          <a:lstStyle/>
          <a:p>
            <a:r>
              <a:rPr lang="en-US" smtClean="0"/>
              <a:t>S. Neelima, Sr. Asst.Prof, Dept.of  IT</a:t>
            </a:r>
            <a:endParaRPr lang="en-US"/>
          </a:p>
        </p:txBody>
      </p:sp>
      <p:sp>
        <p:nvSpPr>
          <p:cNvPr id="7" name="Slide Number Placeholder 6"/>
          <p:cNvSpPr>
            <a:spLocks noGrp="1"/>
          </p:cNvSpPr>
          <p:nvPr>
            <p:ph type="sldNum" sz="quarter" idx="12"/>
          </p:nvPr>
        </p:nvSpPr>
        <p:spPr/>
        <p:txBody>
          <a:bodyPr/>
          <a:lstStyle/>
          <a:p>
            <a:fld id="{326EF2E3-409D-4D76-AD02-397A36B0DAF9}" type="slidenum">
              <a:rPr lang="en-US" smtClean="0"/>
              <a:pPr/>
              <a:t>‹#›</a:t>
            </a:fld>
            <a:endParaRPr lang="en-US"/>
          </a:p>
        </p:txBody>
      </p:sp>
    </p:spTree>
    <p:extLst>
      <p:ext uri="{BB962C8B-B14F-4D97-AF65-F5344CB8AC3E}">
        <p14:creationId xmlns="" xmlns:p14="http://schemas.microsoft.com/office/powerpoint/2010/main" val="5773130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1A403FC-11D0-407B-AA88-AAF83819ECC8}" type="datetime2">
              <a:rPr lang="en-US" smtClean="0"/>
              <a:pPr/>
              <a:t>Saturday, September 17, 2022</a:t>
            </a:fld>
            <a:endParaRPr lang="en-US"/>
          </a:p>
        </p:txBody>
      </p:sp>
      <p:sp>
        <p:nvSpPr>
          <p:cNvPr id="6" name="Footer Placeholder 5"/>
          <p:cNvSpPr>
            <a:spLocks noGrp="1"/>
          </p:cNvSpPr>
          <p:nvPr>
            <p:ph type="ftr" sz="quarter" idx="11"/>
          </p:nvPr>
        </p:nvSpPr>
        <p:spPr/>
        <p:txBody>
          <a:bodyPr/>
          <a:lstStyle/>
          <a:p>
            <a:r>
              <a:rPr lang="en-US" smtClean="0"/>
              <a:t>S. Neelima, Sr. Asst.Prof, Dept.of  IT</a:t>
            </a:r>
            <a:endParaRPr lang="en-US"/>
          </a:p>
        </p:txBody>
      </p:sp>
      <p:sp>
        <p:nvSpPr>
          <p:cNvPr id="7" name="Slide Number Placeholder 6"/>
          <p:cNvSpPr>
            <a:spLocks noGrp="1"/>
          </p:cNvSpPr>
          <p:nvPr>
            <p:ph type="sldNum" sz="quarter" idx="12"/>
          </p:nvPr>
        </p:nvSpPr>
        <p:spPr/>
        <p:txBody>
          <a:bodyPr/>
          <a:lstStyle/>
          <a:p>
            <a:fld id="{326EF2E3-409D-4D76-AD02-397A36B0DAF9}" type="slidenum">
              <a:rPr lang="en-US" smtClean="0"/>
              <a:pPr/>
              <a:t>‹#›</a:t>
            </a:fld>
            <a:endParaRPr lang="en-US"/>
          </a:p>
        </p:txBody>
      </p:sp>
    </p:spTree>
    <p:extLst>
      <p:ext uri="{BB962C8B-B14F-4D97-AF65-F5344CB8AC3E}">
        <p14:creationId xmlns="" xmlns:p14="http://schemas.microsoft.com/office/powerpoint/2010/main" val="15013175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48017E2-257D-468C-996A-CE0D58543257}" type="datetime2">
              <a:rPr lang="en-US" smtClean="0"/>
              <a:pPr/>
              <a:t>Saturday, September 17, 2022</a:t>
            </a:fld>
            <a:endParaRPr lang="en-US"/>
          </a:p>
        </p:txBody>
      </p:sp>
      <p:sp>
        <p:nvSpPr>
          <p:cNvPr id="5" name="Footer Placeholder 4"/>
          <p:cNvSpPr>
            <a:spLocks noGrp="1"/>
          </p:cNvSpPr>
          <p:nvPr>
            <p:ph type="ftr" sz="quarter" idx="11"/>
          </p:nvPr>
        </p:nvSpPr>
        <p:spPr/>
        <p:txBody>
          <a:bodyPr/>
          <a:lstStyle/>
          <a:p>
            <a:r>
              <a:rPr lang="en-US" smtClean="0"/>
              <a:t>S. Neelima, Sr. Asst.Prof, Dept.of  IT</a:t>
            </a:r>
            <a:endParaRPr lang="en-US"/>
          </a:p>
        </p:txBody>
      </p:sp>
      <p:sp>
        <p:nvSpPr>
          <p:cNvPr id="6" name="Slide Number Placeholder 5"/>
          <p:cNvSpPr>
            <a:spLocks noGrp="1"/>
          </p:cNvSpPr>
          <p:nvPr>
            <p:ph type="sldNum" sz="quarter" idx="12"/>
          </p:nvPr>
        </p:nvSpPr>
        <p:spPr/>
        <p:txBody>
          <a:bodyPr/>
          <a:lstStyle/>
          <a:p>
            <a:fld id="{326EF2E3-409D-4D76-AD02-397A36B0DAF9}" type="slidenum">
              <a:rPr lang="en-US" smtClean="0"/>
              <a:pPr/>
              <a:t>‹#›</a:t>
            </a:fld>
            <a:endParaRPr lang="en-US"/>
          </a:p>
        </p:txBody>
      </p:sp>
    </p:spTree>
    <p:extLst>
      <p:ext uri="{BB962C8B-B14F-4D97-AF65-F5344CB8AC3E}">
        <p14:creationId xmlns="" xmlns:p14="http://schemas.microsoft.com/office/powerpoint/2010/main" val="13874815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7919322-913B-4C93-8A96-27428384AF92}" type="datetime2">
              <a:rPr lang="en-US" smtClean="0"/>
              <a:pPr/>
              <a:t>Saturday, September 17, 2022</a:t>
            </a:fld>
            <a:endParaRPr lang="en-US"/>
          </a:p>
        </p:txBody>
      </p:sp>
      <p:sp>
        <p:nvSpPr>
          <p:cNvPr id="5" name="Footer Placeholder 4"/>
          <p:cNvSpPr>
            <a:spLocks noGrp="1"/>
          </p:cNvSpPr>
          <p:nvPr>
            <p:ph type="ftr" sz="quarter" idx="11"/>
          </p:nvPr>
        </p:nvSpPr>
        <p:spPr/>
        <p:txBody>
          <a:bodyPr/>
          <a:lstStyle/>
          <a:p>
            <a:r>
              <a:rPr lang="en-US" smtClean="0"/>
              <a:t>S. Neelima, Sr. Asst.Prof, Dept.of  IT</a:t>
            </a:r>
            <a:endParaRPr lang="en-US"/>
          </a:p>
        </p:txBody>
      </p:sp>
      <p:sp>
        <p:nvSpPr>
          <p:cNvPr id="6" name="Slide Number Placeholder 5"/>
          <p:cNvSpPr>
            <a:spLocks noGrp="1"/>
          </p:cNvSpPr>
          <p:nvPr>
            <p:ph type="sldNum" sz="quarter" idx="12"/>
          </p:nvPr>
        </p:nvSpPr>
        <p:spPr/>
        <p:txBody>
          <a:bodyPr/>
          <a:lstStyle/>
          <a:p>
            <a:fld id="{326EF2E3-409D-4D76-AD02-397A36B0DAF9}" type="slidenum">
              <a:rPr lang="en-US" smtClean="0"/>
              <a:pPr/>
              <a:t>‹#›</a:t>
            </a:fld>
            <a:endParaRPr lang="en-US"/>
          </a:p>
        </p:txBody>
      </p:sp>
    </p:spTree>
    <p:extLst>
      <p:ext uri="{BB962C8B-B14F-4D97-AF65-F5344CB8AC3E}">
        <p14:creationId xmlns="" xmlns:p14="http://schemas.microsoft.com/office/powerpoint/2010/main" val="35107880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C974AB3-E57F-47BB-B112-92A4FFCF1FE8}" type="datetime2">
              <a:rPr lang="en-US" smtClean="0"/>
              <a:pPr/>
              <a:t>Saturday, September 17, 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S. Neelima, Sr. Asst.Prof, Dept.of  IT</a:t>
            </a: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26EF2E3-409D-4D76-AD02-397A36B0DAF9}" type="slidenum">
              <a:rPr lang="en-US" smtClean="0"/>
              <a:pPr/>
              <a:t>‹#›</a:t>
            </a:fld>
            <a:endParaRPr lang="en-US"/>
          </a:p>
        </p:txBody>
      </p:sp>
    </p:spTree>
    <p:extLst>
      <p:ext uri="{BB962C8B-B14F-4D97-AF65-F5344CB8AC3E}">
        <p14:creationId xmlns="" xmlns:p14="http://schemas.microsoft.com/office/powerpoint/2010/main" val="342723574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8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Lst>
  <p:hf sldNum="0"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 xmlns:a16="http://schemas.microsoft.com/office/drawing/2014/main" id="{42282911-4A61-4A42-8E73-D723BEBE2DB8}"/>
              </a:ext>
            </a:extLst>
          </p:cNvPr>
          <p:cNvSpPr>
            <a:spLocks noGrp="1"/>
          </p:cNvSpPr>
          <p:nvPr>
            <p:ph type="ctrTitle"/>
          </p:nvPr>
        </p:nvSpPr>
        <p:spPr>
          <a:xfrm>
            <a:off x="1487488" y="1988840"/>
            <a:ext cx="9541060" cy="930313"/>
          </a:xfrm>
        </p:spPr>
        <p:txBody>
          <a:bodyPr>
            <a:normAutofit fontScale="90000"/>
          </a:bodyPr>
          <a:lstStyle/>
          <a:p>
            <a:r>
              <a:rPr lang="en-IN" dirty="0" smtClean="0">
                <a:latin typeface="Eras Bold ITC" panose="020B0907030504020204" pitchFamily="34" charset="0"/>
                <a:cs typeface="Times New Roman" panose="02020603050405020304" pitchFamily="18" charset="0"/>
              </a:rPr>
              <a:t>ADVANCED DATA </a:t>
            </a:r>
            <a:r>
              <a:rPr lang="en-US" dirty="0" smtClean="0">
                <a:latin typeface="Eras Bold ITC" panose="020B0907030504020204" pitchFamily="34" charset="0"/>
                <a:cs typeface="Times New Roman" panose="02020603050405020304" pitchFamily="18" charset="0"/>
              </a:rPr>
              <a:t>STRUCTURES</a:t>
            </a:r>
            <a:endParaRPr lang="en-IN" dirty="0">
              <a:latin typeface="Eras Bold ITC" panose="020B0907030504020204" pitchFamily="34" charset="0"/>
              <a:cs typeface="Times New Roman" panose="02020603050405020304" pitchFamily="18" charset="0"/>
            </a:endParaRPr>
          </a:p>
        </p:txBody>
      </p:sp>
      <p:sp>
        <p:nvSpPr>
          <p:cNvPr id="12" name="Subtitle 2">
            <a:extLst>
              <a:ext uri="{FF2B5EF4-FFF2-40B4-BE49-F238E27FC236}">
                <a16:creationId xmlns="" xmlns:a16="http://schemas.microsoft.com/office/drawing/2014/main" id="{374C6B0C-371A-41E0-BF7D-B301E36AAB91}"/>
              </a:ext>
            </a:extLst>
          </p:cNvPr>
          <p:cNvSpPr>
            <a:spLocks noGrp="1"/>
          </p:cNvSpPr>
          <p:nvPr>
            <p:ph type="subTitle" idx="1"/>
          </p:nvPr>
        </p:nvSpPr>
        <p:spPr>
          <a:xfrm>
            <a:off x="2829018" y="3429000"/>
            <a:ext cx="6858000" cy="2376264"/>
          </a:xfrm>
        </p:spPr>
        <p:txBody>
          <a:bodyPr>
            <a:normAutofit fontScale="77500" lnSpcReduction="20000"/>
          </a:bodyPr>
          <a:lstStyle/>
          <a:p>
            <a:pPr>
              <a:spcBef>
                <a:spcPts val="600"/>
              </a:spcBef>
            </a:pPr>
            <a:r>
              <a:rPr lang="en-IN" dirty="0"/>
              <a:t>By </a:t>
            </a:r>
          </a:p>
          <a:p>
            <a:pPr>
              <a:spcBef>
                <a:spcPts val="600"/>
              </a:spcBef>
            </a:pPr>
            <a:endParaRPr lang="en-IN" sz="1300" dirty="0"/>
          </a:p>
          <a:p>
            <a:pPr>
              <a:spcBef>
                <a:spcPts val="600"/>
              </a:spcBef>
            </a:pPr>
            <a:r>
              <a:rPr lang="en-IN" sz="4000" b="1" dirty="0" smtClean="0">
                <a:solidFill>
                  <a:srgbClr val="660066"/>
                </a:solidFill>
              </a:rPr>
              <a:t>S </a:t>
            </a:r>
            <a:r>
              <a:rPr lang="en-IN" sz="4000" b="1" dirty="0" err="1" smtClean="0">
                <a:solidFill>
                  <a:srgbClr val="660066"/>
                </a:solidFill>
              </a:rPr>
              <a:t>Neelima</a:t>
            </a:r>
            <a:endParaRPr lang="en-IN" sz="4000" b="1" dirty="0" smtClean="0">
              <a:solidFill>
                <a:srgbClr val="660066"/>
              </a:solidFill>
            </a:endParaRPr>
          </a:p>
          <a:p>
            <a:pPr>
              <a:spcBef>
                <a:spcPts val="600"/>
              </a:spcBef>
            </a:pPr>
            <a:r>
              <a:rPr lang="en-IN" sz="4000" b="1" dirty="0" smtClean="0">
                <a:solidFill>
                  <a:srgbClr val="660066"/>
                </a:solidFill>
              </a:rPr>
              <a:t>Sr</a:t>
            </a:r>
            <a:r>
              <a:rPr lang="en-IN" sz="4000" b="1" dirty="0" smtClean="0">
                <a:solidFill>
                  <a:srgbClr val="660066"/>
                </a:solidFill>
              </a:rPr>
              <a:t>. </a:t>
            </a:r>
            <a:r>
              <a:rPr lang="en-IN" sz="4000" b="1" dirty="0" err="1" smtClean="0">
                <a:solidFill>
                  <a:srgbClr val="660066"/>
                </a:solidFill>
              </a:rPr>
              <a:t>Asst.Prof</a:t>
            </a:r>
            <a:r>
              <a:rPr lang="en-IN" sz="4000" b="1" dirty="0" smtClean="0">
                <a:solidFill>
                  <a:srgbClr val="660066"/>
                </a:solidFill>
              </a:rPr>
              <a:t>. </a:t>
            </a:r>
            <a:endParaRPr lang="en-IN" sz="4000" b="1" dirty="0">
              <a:solidFill>
                <a:srgbClr val="660066"/>
              </a:solidFill>
            </a:endParaRPr>
          </a:p>
          <a:p>
            <a:r>
              <a:rPr lang="en-IN" dirty="0" smtClean="0"/>
              <a:t>Dept of Information Technology</a:t>
            </a:r>
          </a:p>
          <a:p>
            <a:r>
              <a:rPr lang="en-IN" dirty="0" err="1" smtClean="0"/>
              <a:t>Aditya</a:t>
            </a:r>
            <a:r>
              <a:rPr lang="en-IN" dirty="0" smtClean="0"/>
              <a:t> Engineering College(A)</a:t>
            </a:r>
          </a:p>
          <a:p>
            <a:r>
              <a:rPr lang="en-IN" dirty="0" err="1" smtClean="0"/>
              <a:t>Surampalem</a:t>
            </a:r>
            <a:r>
              <a:rPr lang="en-IN" dirty="0" smtClean="0"/>
              <a:t>.</a:t>
            </a:r>
          </a:p>
          <a:p>
            <a:pPr>
              <a:spcBef>
                <a:spcPts val="600"/>
              </a:spcBef>
            </a:pPr>
            <a:endParaRPr lang="en-IN" dirty="0"/>
          </a:p>
          <a:p>
            <a:endParaRPr lang="en-IN" dirty="0">
              <a:solidFill>
                <a:srgbClr val="C00000"/>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gn="ctr">
              <a:buNone/>
            </a:pPr>
            <a:endParaRPr lang="en-US" b="1" u="sng" dirty="0" smtClean="0"/>
          </a:p>
          <a:p>
            <a:pPr algn="ctr">
              <a:buNone/>
            </a:pPr>
            <a:endParaRPr lang="en-US" b="1" u="sng" dirty="0" smtClean="0"/>
          </a:p>
          <a:p>
            <a:pPr algn="ctr">
              <a:buNone/>
            </a:pPr>
            <a:r>
              <a:rPr lang="en-US" sz="4800" b="1" dirty="0" smtClean="0">
                <a:latin typeface="Times New Roman" pitchFamily="18" charset="0"/>
                <a:cs typeface="Times New Roman" pitchFamily="18" charset="0"/>
              </a:rPr>
              <a:t>UNIT-I</a:t>
            </a:r>
            <a:endParaRPr lang="en-US" sz="4800" dirty="0">
              <a:latin typeface="Times New Roman" pitchFamily="18" charset="0"/>
              <a:cs typeface="Times New Roman" pitchFamily="18" charset="0"/>
            </a:endParaRPr>
          </a:p>
        </p:txBody>
      </p:sp>
      <p:sp>
        <p:nvSpPr>
          <p:cNvPr id="3" name="Date Placeholder 2"/>
          <p:cNvSpPr>
            <a:spLocks noGrp="1"/>
          </p:cNvSpPr>
          <p:nvPr>
            <p:ph type="dt" sz="half" idx="11"/>
          </p:nvPr>
        </p:nvSpPr>
        <p:spPr/>
        <p:txBody>
          <a:bodyPr/>
          <a:lstStyle/>
          <a:p>
            <a:fld id="{7E230104-9C61-4FDC-88A7-02890E61BA9F}" type="datetime2">
              <a:rPr lang="en-US" smtClean="0"/>
              <a:pPr/>
              <a:t>Saturday, September 17, 2022</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69085" y="1857364"/>
            <a:ext cx="10515600" cy="4235931"/>
          </a:xfrm>
        </p:spPr>
        <p:txBody>
          <a:bodyPr/>
          <a:lstStyle/>
          <a:p>
            <a:r>
              <a:rPr lang="en-US" dirty="0" smtClean="0"/>
              <a:t>A </a:t>
            </a:r>
            <a:r>
              <a:rPr lang="en-US" b="1" i="1" dirty="0" smtClean="0">
                <a:solidFill>
                  <a:srgbClr val="FF0000"/>
                </a:solidFill>
              </a:rPr>
              <a:t>dictionary</a:t>
            </a:r>
            <a:r>
              <a:rPr lang="en-US" dirty="0" smtClean="0"/>
              <a:t> is a container of elements from a totally ordered universe that supports the basic operations of </a:t>
            </a:r>
            <a:r>
              <a:rPr lang="en-US" dirty="0" smtClean="0">
                <a:solidFill>
                  <a:srgbClr val="0070C0"/>
                </a:solidFill>
              </a:rPr>
              <a:t>inserting/deleting elements and searching for a given element</a:t>
            </a:r>
            <a:r>
              <a:rPr lang="en-US" dirty="0" smtClean="0"/>
              <a:t>.</a:t>
            </a:r>
          </a:p>
          <a:p>
            <a:r>
              <a:rPr lang="en-US" dirty="0" smtClean="0"/>
              <a:t>In this chapter, first, we introduce the abstract data type </a:t>
            </a:r>
            <a:r>
              <a:rPr lang="en-US" b="1" dirty="0" smtClean="0"/>
              <a:t>Set</a:t>
            </a:r>
            <a:r>
              <a:rPr lang="en-US" dirty="0" smtClean="0"/>
              <a:t> which includes dictionaries, priority queues, etc. as subclasses.</a:t>
            </a:r>
          </a:p>
          <a:p>
            <a:pPr>
              <a:buNone/>
            </a:pPr>
            <a:endParaRPr lang="en-US" dirty="0"/>
          </a:p>
        </p:txBody>
      </p:sp>
      <p:sp>
        <p:nvSpPr>
          <p:cNvPr id="3" name="Date Placeholder 2"/>
          <p:cNvSpPr>
            <a:spLocks noGrp="1"/>
          </p:cNvSpPr>
          <p:nvPr>
            <p:ph type="dt" sz="half" idx="11"/>
          </p:nvPr>
        </p:nvSpPr>
        <p:spPr/>
        <p:txBody>
          <a:bodyPr/>
          <a:lstStyle/>
          <a:p>
            <a:fld id="{7E230104-9C61-4FDC-88A7-02890E61BA9F}" type="datetime2">
              <a:rPr lang="en-US" smtClean="0"/>
              <a:pPr/>
              <a:t>Saturday, September 17, 2022</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sp>
        <p:nvSpPr>
          <p:cNvPr id="5" name="TextBox 4">
            <a:extLst>
              <a:ext uri="{FF2B5EF4-FFF2-40B4-BE49-F238E27FC236}">
                <a16:creationId xmlns="" xmlns:a16="http://schemas.microsoft.com/office/drawing/2014/main" id="{7862E4AC-212E-43EC-956C-B30F3E8CC9D6}"/>
              </a:ext>
            </a:extLst>
          </p:cNvPr>
          <p:cNvSpPr txBox="1"/>
          <p:nvPr/>
        </p:nvSpPr>
        <p:spPr>
          <a:xfrm>
            <a:off x="809588" y="500042"/>
            <a:ext cx="10561550" cy="769441"/>
          </a:xfrm>
          <a:prstGeom prst="rect">
            <a:avLst/>
          </a:prstGeom>
          <a:noFill/>
        </p:spPr>
        <p:txBody>
          <a:bodyPr wrap="square" rtlCol="0">
            <a:spAutoFit/>
          </a:bodyPr>
          <a:lstStyle/>
          <a:p>
            <a:pPr algn="ctr"/>
            <a:r>
              <a:rPr lang="en-US" sz="4400" dirty="0" smtClean="0">
                <a:solidFill>
                  <a:srgbClr val="FF0000"/>
                </a:solidFill>
                <a:latin typeface="Times New Roman" panose="02020603050405020304" pitchFamily="18" charset="0"/>
                <a:cs typeface="Times New Roman" panose="02020603050405020304" pitchFamily="18" charset="0"/>
              </a:rPr>
              <a:t>Dictionaries and Hashing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 xmlns:a16="http://schemas.microsoft.com/office/drawing/2014/main" id="{C4B12F71-216B-4B4A-9933-2017B3D46F1E}"/>
              </a:ext>
            </a:extLst>
          </p:cNvPr>
          <p:cNvSpPr>
            <a:spLocks noGrp="1"/>
          </p:cNvSpPr>
          <p:nvPr>
            <p:ph idx="1"/>
          </p:nvPr>
        </p:nvSpPr>
        <p:spPr>
          <a:xfrm>
            <a:off x="595274" y="785794"/>
            <a:ext cx="11215766" cy="5429288"/>
          </a:xfrm>
        </p:spPr>
        <p:txBody>
          <a:bodyPr>
            <a:noAutofit/>
          </a:bodyPr>
          <a:lstStyle/>
          <a:p>
            <a:pPr>
              <a:buNone/>
            </a:pPr>
            <a:r>
              <a:rPr lang="en-US" b="1" u="sng" dirty="0" smtClean="0"/>
              <a:t>Sets:</a:t>
            </a:r>
            <a:endParaRPr lang="en-US" u="sng" dirty="0" smtClean="0"/>
          </a:p>
          <a:p>
            <a:r>
              <a:rPr lang="en-US" dirty="0" smtClean="0"/>
              <a:t>The set is the most fundamental data model of mathematics.</a:t>
            </a:r>
          </a:p>
          <a:p>
            <a:r>
              <a:rPr lang="en-US" dirty="0" smtClean="0"/>
              <a:t>A set is a collection of well defined elements. The members of a set are all different. </a:t>
            </a:r>
          </a:p>
          <a:p>
            <a:r>
              <a:rPr lang="en-US" dirty="0" smtClean="0"/>
              <a:t>There are special operations that are commonly performed on sets, such as Union, intersection, difference.</a:t>
            </a:r>
          </a:p>
          <a:p>
            <a:pPr lvl="3">
              <a:buFont typeface="Wingdings" pitchFamily="2" charset="2"/>
              <a:buChar char="Ø"/>
            </a:pPr>
            <a:r>
              <a:rPr lang="en-US" sz="2800" dirty="0" smtClean="0"/>
              <a:t>The </a:t>
            </a:r>
            <a:r>
              <a:rPr lang="en-US" sz="2800" b="1" dirty="0" smtClean="0"/>
              <a:t>union</a:t>
            </a:r>
            <a:r>
              <a:rPr lang="en-US" sz="2800" dirty="0" smtClean="0"/>
              <a:t> of two sets S and T, denoted S ∪ T, is the set containing the</a:t>
            </a:r>
            <a:r>
              <a:rPr lang="en-US" dirty="0" smtClean="0"/>
              <a:t> </a:t>
            </a:r>
            <a:r>
              <a:rPr lang="en-US" sz="2800" dirty="0" smtClean="0"/>
              <a:t>elements that are in S or T, or both.</a:t>
            </a:r>
          </a:p>
          <a:p>
            <a:pPr lvl="3">
              <a:buFont typeface="Wingdings" pitchFamily="2" charset="2"/>
              <a:buChar char="Ø"/>
            </a:pPr>
            <a:r>
              <a:rPr lang="en-US" sz="2800" dirty="0" smtClean="0"/>
              <a:t>The </a:t>
            </a:r>
            <a:r>
              <a:rPr lang="en-US" sz="2800" b="1" dirty="0" smtClean="0"/>
              <a:t>intersection</a:t>
            </a:r>
            <a:r>
              <a:rPr lang="en-US" sz="2800" dirty="0" smtClean="0"/>
              <a:t> of sets S and T, written S ∩ T, is the set containing the elements that are in both S and T.</a:t>
            </a:r>
          </a:p>
          <a:p>
            <a:pPr lvl="3">
              <a:buFont typeface="Wingdings" pitchFamily="2" charset="2"/>
              <a:buChar char="Ø"/>
            </a:pPr>
            <a:r>
              <a:rPr lang="en-US" sz="2800" dirty="0" smtClean="0"/>
              <a:t>The </a:t>
            </a:r>
            <a:r>
              <a:rPr lang="en-US" sz="2800" b="1" dirty="0" smtClean="0"/>
              <a:t>difference </a:t>
            </a:r>
            <a:r>
              <a:rPr lang="en-US" sz="2800" dirty="0" smtClean="0"/>
              <a:t>of sets S and T, denoted S − T, is the set containing those elements that are in S but not in T.</a:t>
            </a:r>
          </a:p>
          <a:p>
            <a:endParaRPr lang="en-US" dirty="0" smtClean="0"/>
          </a:p>
        </p:txBody>
      </p:sp>
      <p:sp>
        <p:nvSpPr>
          <p:cNvPr id="4" name="Date Placeholder 3">
            <a:extLst>
              <a:ext uri="{FF2B5EF4-FFF2-40B4-BE49-F238E27FC236}">
                <a16:creationId xmlns="" xmlns:a16="http://schemas.microsoft.com/office/drawing/2014/main" id="{752E5F56-4C49-4AD5-8536-D2293BBFC811}"/>
              </a:ext>
            </a:extLst>
          </p:cNvPr>
          <p:cNvSpPr>
            <a:spLocks noGrp="1"/>
          </p:cNvSpPr>
          <p:nvPr>
            <p:ph type="dt" sz="half" idx="11"/>
          </p:nvPr>
        </p:nvSpPr>
        <p:spPr/>
        <p:txBody>
          <a:bodyPr/>
          <a:lstStyle/>
          <a:p>
            <a:fld id="{FDBACC77-0679-4A68-A5F0-0BBFFE14E4A0}" type="datetime2">
              <a:rPr lang="en-US" smtClean="0"/>
              <a:pPr/>
              <a:t>Saturday, September 17, 2022</a:t>
            </a:fld>
            <a:endParaRPr lang="en-US" dirty="0"/>
          </a:p>
        </p:txBody>
      </p:sp>
      <p:sp>
        <p:nvSpPr>
          <p:cNvPr id="5" name="Footer Placeholder 4">
            <a:extLst>
              <a:ext uri="{FF2B5EF4-FFF2-40B4-BE49-F238E27FC236}">
                <a16:creationId xmlns="" xmlns:a16="http://schemas.microsoft.com/office/drawing/2014/main" id="{ADC1E6F3-8793-48D4-AEFA-E57DA0132A5D}"/>
              </a:ext>
            </a:extLst>
          </p:cNvPr>
          <p:cNvSpPr>
            <a:spLocks noGrp="1"/>
          </p:cNvSpPr>
          <p:nvPr>
            <p:ph type="ftr" sz="quarter" idx="12"/>
          </p:nvPr>
        </p:nvSpPr>
        <p:spPr/>
        <p:txBody>
          <a:bodyPr/>
          <a:lstStyle/>
          <a:p>
            <a:r>
              <a:rPr lang="en-US" smtClean="0"/>
              <a:t>S. Neelima, Sr. Asst.Prof, Dept.of  IT</a:t>
            </a:r>
            <a:endParaRPr lang="en-US" dirty="0"/>
          </a:p>
        </p:txBody>
      </p:sp>
    </p:spTree>
    <p:extLst>
      <p:ext uri="{BB962C8B-B14F-4D97-AF65-F5344CB8AC3E}">
        <p14:creationId xmlns="" xmlns:p14="http://schemas.microsoft.com/office/powerpoint/2010/main" val="272555847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69085" y="642918"/>
            <a:ext cx="10515600" cy="5450377"/>
          </a:xfrm>
        </p:spPr>
        <p:txBody>
          <a:bodyPr>
            <a:normAutofit/>
          </a:bodyPr>
          <a:lstStyle/>
          <a:p>
            <a:pPr>
              <a:buNone/>
            </a:pPr>
            <a:r>
              <a:rPr lang="en-US" b="1" dirty="0" smtClean="0"/>
              <a:t>For example:</a:t>
            </a:r>
            <a:endParaRPr lang="en-US" dirty="0" smtClean="0"/>
          </a:p>
          <a:p>
            <a:r>
              <a:rPr lang="en-US" dirty="0" smtClean="0"/>
              <a:t>Let S be the set {1, 2, 3} and T the set {3, 4, 5}. 	Then</a:t>
            </a:r>
          </a:p>
          <a:p>
            <a:pPr>
              <a:buNone/>
            </a:pPr>
            <a:r>
              <a:rPr lang="en-US" dirty="0" smtClean="0"/>
              <a:t>S ∪ T = {1, 2, 3, 4, 5}, 		S ∩ T = {3}, 	and 		S − T = {1, 2}</a:t>
            </a:r>
          </a:p>
          <a:p>
            <a:pPr>
              <a:buNone/>
            </a:pPr>
            <a:r>
              <a:rPr lang="en-US" b="1" u="sng" dirty="0" smtClean="0"/>
              <a:t>Set implementation: </a:t>
            </a:r>
            <a:endParaRPr lang="en-US" sz="2400" u="sng" dirty="0" smtClean="0"/>
          </a:p>
          <a:p>
            <a:pPr>
              <a:buNone/>
            </a:pPr>
            <a:r>
              <a:rPr lang="en-US" dirty="0" smtClean="0"/>
              <a:t>Possible data structures include </a:t>
            </a:r>
            <a:endParaRPr lang="en-US" sz="2400" dirty="0" smtClean="0"/>
          </a:p>
          <a:p>
            <a:pPr lvl="0"/>
            <a:r>
              <a:rPr lang="en-US" dirty="0" smtClean="0"/>
              <a:t>Bit Vector </a:t>
            </a:r>
            <a:endParaRPr lang="en-US" sz="2400" dirty="0" smtClean="0"/>
          </a:p>
          <a:p>
            <a:pPr lvl="0"/>
            <a:r>
              <a:rPr lang="en-US" dirty="0" smtClean="0"/>
              <a:t>Array </a:t>
            </a:r>
            <a:endParaRPr lang="en-US" sz="2400" dirty="0" smtClean="0"/>
          </a:p>
          <a:p>
            <a:pPr lvl="0"/>
            <a:r>
              <a:rPr lang="en-US" dirty="0" smtClean="0"/>
              <a:t>Linked List </a:t>
            </a:r>
          </a:p>
          <a:p>
            <a:pPr lvl="2">
              <a:buFont typeface="Wingdings" pitchFamily="2" charset="2"/>
              <a:buChar char="Ø"/>
            </a:pPr>
            <a:r>
              <a:rPr lang="en-US" dirty="0" smtClean="0"/>
              <a:t>   </a:t>
            </a:r>
            <a:r>
              <a:rPr lang="en-US" sz="2800" dirty="0" smtClean="0"/>
              <a:t>Unsorted </a:t>
            </a:r>
          </a:p>
          <a:p>
            <a:pPr lvl="2">
              <a:buFont typeface="Wingdings" pitchFamily="2" charset="2"/>
              <a:buChar char="Ø"/>
            </a:pPr>
            <a:r>
              <a:rPr lang="en-US" sz="2800" dirty="0" smtClean="0"/>
              <a:t> Sorted </a:t>
            </a:r>
          </a:p>
          <a:p>
            <a:pPr lvl="0">
              <a:buNone/>
            </a:pPr>
            <a:endParaRPr lang="en-US" dirty="0" smtClean="0"/>
          </a:p>
          <a:p>
            <a:endParaRPr lang="en-US" dirty="0"/>
          </a:p>
        </p:txBody>
      </p:sp>
      <p:sp>
        <p:nvSpPr>
          <p:cNvPr id="3" name="Date Placeholder 2"/>
          <p:cNvSpPr>
            <a:spLocks noGrp="1"/>
          </p:cNvSpPr>
          <p:nvPr>
            <p:ph type="dt" sz="half" idx="11"/>
          </p:nvPr>
        </p:nvSpPr>
        <p:spPr/>
        <p:txBody>
          <a:bodyPr/>
          <a:lstStyle/>
          <a:p>
            <a:fld id="{7E230104-9C61-4FDC-88A7-02890E61BA9F}" type="datetime2">
              <a:rPr lang="en-US" smtClean="0"/>
              <a:pPr/>
              <a:t>Saturday, September 17, 2022</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69085" y="571480"/>
            <a:ext cx="10515600" cy="5521815"/>
          </a:xfrm>
        </p:spPr>
        <p:txBody>
          <a:bodyPr>
            <a:normAutofit/>
          </a:bodyPr>
          <a:lstStyle/>
          <a:p>
            <a:pPr>
              <a:buNone/>
            </a:pPr>
            <a:r>
              <a:rPr lang="en-US" u="sng" dirty="0" smtClean="0">
                <a:solidFill>
                  <a:srgbClr val="FF0000"/>
                </a:solidFill>
              </a:rPr>
              <a:t> </a:t>
            </a:r>
            <a:r>
              <a:rPr lang="en-US" b="1" u="sng" dirty="0" smtClean="0">
                <a:solidFill>
                  <a:srgbClr val="FF0000"/>
                </a:solidFill>
              </a:rPr>
              <a:t>Dictionaries:</a:t>
            </a:r>
          </a:p>
          <a:p>
            <a:pPr>
              <a:buNone/>
            </a:pPr>
            <a:r>
              <a:rPr lang="en-US" dirty="0" smtClean="0"/>
              <a:t>A dictionary is a dynamic set ADT with the operations:</a:t>
            </a:r>
          </a:p>
          <a:p>
            <a:pPr lvl="0"/>
            <a:r>
              <a:rPr lang="en-US" dirty="0" smtClean="0"/>
              <a:t>Search(S, k) – an access operation that returns a pointer x to an element where </a:t>
            </a:r>
            <a:r>
              <a:rPr lang="en-US" dirty="0" err="1" smtClean="0"/>
              <a:t>x.key</a:t>
            </a:r>
            <a:r>
              <a:rPr lang="en-US" dirty="0" smtClean="0"/>
              <a:t> = k</a:t>
            </a:r>
          </a:p>
          <a:p>
            <a:pPr lvl="0"/>
            <a:r>
              <a:rPr lang="en-US" dirty="0" smtClean="0"/>
              <a:t>Insert(S, x) – a manipulation operation that adds the element pointed to by x to S</a:t>
            </a:r>
          </a:p>
          <a:p>
            <a:pPr lvl="0"/>
            <a:r>
              <a:rPr lang="en-US" dirty="0" smtClean="0"/>
              <a:t>Delete(S, x) – a manipulation operation that removes the element pointed to by x from S</a:t>
            </a:r>
          </a:p>
          <a:p>
            <a:r>
              <a:rPr lang="en-GB" dirty="0" smtClean="0"/>
              <a:t>Dictionaries store elements so that they can be located quickly using </a:t>
            </a:r>
            <a:r>
              <a:rPr lang="en-GB" b="1" dirty="0" smtClean="0"/>
              <a:t>keys</a:t>
            </a:r>
            <a:endParaRPr lang="en-US" dirty="0" smtClean="0"/>
          </a:p>
          <a:p>
            <a:r>
              <a:rPr lang="en-US" dirty="0" smtClean="0"/>
              <a:t>It is useful in implementing symbol tables, text retrieval systems, database systems, page mapping tables, etc.</a:t>
            </a:r>
            <a:endParaRPr lang="en-US" dirty="0"/>
          </a:p>
        </p:txBody>
      </p:sp>
      <p:sp>
        <p:nvSpPr>
          <p:cNvPr id="3" name="Date Placeholder 2"/>
          <p:cNvSpPr>
            <a:spLocks noGrp="1"/>
          </p:cNvSpPr>
          <p:nvPr>
            <p:ph type="dt" sz="half" idx="11"/>
          </p:nvPr>
        </p:nvSpPr>
        <p:spPr/>
        <p:txBody>
          <a:bodyPr/>
          <a:lstStyle/>
          <a:p>
            <a:fld id="{7E230104-9C61-4FDC-88A7-02890E61BA9F}" type="datetime2">
              <a:rPr lang="en-US" smtClean="0"/>
              <a:pPr/>
              <a:t>Saturday, September 17, 2022</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166777" y="500042"/>
            <a:ext cx="10572825" cy="5593253"/>
          </a:xfrm>
        </p:spPr>
        <p:txBody>
          <a:bodyPr>
            <a:normAutofit fontScale="92500" lnSpcReduction="20000"/>
          </a:bodyPr>
          <a:lstStyle/>
          <a:p>
            <a:pPr>
              <a:buNone/>
            </a:pPr>
            <a:r>
              <a:rPr lang="en-US" b="1" u="sng" dirty="0" smtClean="0"/>
              <a:t>Implementation: </a:t>
            </a:r>
            <a:endParaRPr lang="en-US" sz="2400" u="sng" dirty="0" smtClean="0"/>
          </a:p>
          <a:p>
            <a:pPr>
              <a:buNone/>
            </a:pPr>
            <a:r>
              <a:rPr lang="en-US" dirty="0" smtClean="0"/>
              <a:t>1. Fixed Length arrays </a:t>
            </a:r>
            <a:endParaRPr lang="en-US" sz="2400" dirty="0" smtClean="0"/>
          </a:p>
          <a:p>
            <a:pPr>
              <a:buNone/>
            </a:pPr>
            <a:r>
              <a:rPr lang="en-US" dirty="0" smtClean="0"/>
              <a:t>2. Linked lists: sorted, unsorted, skip-lists </a:t>
            </a:r>
            <a:endParaRPr lang="en-US" sz="2400" dirty="0" smtClean="0"/>
          </a:p>
          <a:p>
            <a:pPr>
              <a:buNone/>
            </a:pPr>
            <a:r>
              <a:rPr lang="en-US" dirty="0" smtClean="0"/>
              <a:t>3. Hash Tables: open, closed </a:t>
            </a:r>
            <a:endParaRPr lang="en-US" sz="2400" dirty="0" smtClean="0"/>
          </a:p>
          <a:p>
            <a:pPr>
              <a:buNone/>
            </a:pPr>
            <a:r>
              <a:rPr lang="en-US" dirty="0" smtClean="0"/>
              <a:t>4. Trees </a:t>
            </a:r>
            <a:endParaRPr lang="en-US" sz="2400" dirty="0" smtClean="0"/>
          </a:p>
          <a:p>
            <a:pPr lvl="2">
              <a:buFont typeface="Wingdings" pitchFamily="2" charset="2"/>
              <a:buChar char="v"/>
            </a:pPr>
            <a:r>
              <a:rPr lang="en-US" sz="2800" dirty="0" smtClean="0"/>
              <a:t>Binary Search Trees (BSTs) </a:t>
            </a:r>
          </a:p>
          <a:p>
            <a:pPr lvl="2">
              <a:buFont typeface="Wingdings" pitchFamily="2" charset="2"/>
              <a:buChar char="v"/>
            </a:pPr>
            <a:r>
              <a:rPr lang="en-US" sz="2800" dirty="0" smtClean="0"/>
              <a:t>Balanced BSTs </a:t>
            </a:r>
          </a:p>
          <a:p>
            <a:pPr lvl="3">
              <a:buFont typeface="Wingdings" pitchFamily="2" charset="2"/>
              <a:buChar char="Ø"/>
            </a:pPr>
            <a:r>
              <a:rPr lang="en-US" sz="2800" dirty="0" smtClean="0"/>
              <a:t>AVL Trees </a:t>
            </a:r>
          </a:p>
          <a:p>
            <a:pPr lvl="3">
              <a:buFont typeface="Wingdings" pitchFamily="2" charset="2"/>
              <a:buChar char="Ø"/>
            </a:pPr>
            <a:r>
              <a:rPr lang="en-US" sz="2800" dirty="0" smtClean="0"/>
              <a:t>Red-Black Trees </a:t>
            </a:r>
          </a:p>
          <a:p>
            <a:pPr lvl="0">
              <a:buNone/>
            </a:pPr>
            <a:r>
              <a:rPr lang="en-US" dirty="0" smtClean="0"/>
              <a:t>5.Splay Trees </a:t>
            </a:r>
            <a:endParaRPr lang="en-US" sz="2400" dirty="0" smtClean="0"/>
          </a:p>
          <a:p>
            <a:pPr lvl="0">
              <a:buNone/>
            </a:pPr>
            <a:r>
              <a:rPr lang="en-US" dirty="0" smtClean="0"/>
              <a:t>6.Multiway Search Trees </a:t>
            </a:r>
            <a:endParaRPr lang="en-US" sz="2400" dirty="0" smtClean="0"/>
          </a:p>
          <a:p>
            <a:pPr lvl="2">
              <a:buFont typeface="Wingdings" pitchFamily="2" charset="2"/>
              <a:buChar char="v"/>
            </a:pPr>
            <a:r>
              <a:rPr lang="en-US" sz="2800" dirty="0" smtClean="0"/>
              <a:t>2-3 Trees </a:t>
            </a:r>
          </a:p>
          <a:p>
            <a:pPr lvl="2">
              <a:buFont typeface="Wingdings" pitchFamily="2" charset="2"/>
              <a:buChar char="v"/>
            </a:pPr>
            <a:r>
              <a:rPr lang="en-US" sz="2800" dirty="0" smtClean="0"/>
              <a:t>B Trees </a:t>
            </a:r>
          </a:p>
          <a:p>
            <a:pPr lvl="0">
              <a:buNone/>
            </a:pPr>
            <a:r>
              <a:rPr lang="en-US" dirty="0" smtClean="0"/>
              <a:t>7.Tries </a:t>
            </a:r>
            <a:endParaRPr lang="en-US" sz="2400" dirty="0"/>
          </a:p>
        </p:txBody>
      </p:sp>
      <p:sp>
        <p:nvSpPr>
          <p:cNvPr id="3" name="Date Placeholder 2"/>
          <p:cNvSpPr>
            <a:spLocks noGrp="1"/>
          </p:cNvSpPr>
          <p:nvPr>
            <p:ph type="dt" sz="half" idx="11"/>
          </p:nvPr>
        </p:nvSpPr>
        <p:spPr/>
        <p:txBody>
          <a:bodyPr/>
          <a:lstStyle/>
          <a:p>
            <a:fld id="{7E230104-9C61-4FDC-88A7-02890E61BA9F}" type="datetime2">
              <a:rPr lang="en-US" smtClean="0"/>
              <a:pPr/>
              <a:t>Saturday, September 17, 2022</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95274" y="714356"/>
            <a:ext cx="11215766" cy="5572164"/>
          </a:xfrm>
        </p:spPr>
        <p:txBody>
          <a:bodyPr>
            <a:normAutofit fontScale="92500" lnSpcReduction="10000"/>
          </a:bodyPr>
          <a:lstStyle/>
          <a:p>
            <a:pPr>
              <a:buNone/>
            </a:pPr>
            <a:r>
              <a:rPr lang="en-US" u="sng" dirty="0" smtClean="0">
                <a:solidFill>
                  <a:srgbClr val="FF0000"/>
                </a:solidFill>
              </a:rPr>
              <a:t>HASHING :</a:t>
            </a:r>
            <a:r>
              <a:rPr lang="en-US" dirty="0" smtClean="0"/>
              <a:t>Hashing is a technique that is used to uniquely identify a specific object from a group of similar objects. </a:t>
            </a:r>
          </a:p>
          <a:p>
            <a:pPr>
              <a:buNone/>
            </a:pPr>
            <a:r>
              <a:rPr lang="en-US" dirty="0" smtClean="0"/>
              <a:t>Some examples of how hashing is used in our lives include:</a:t>
            </a:r>
          </a:p>
          <a:p>
            <a:r>
              <a:rPr lang="en-US" dirty="0" smtClean="0"/>
              <a:t>In universities, each student is assigned a unique roll number that can be used to retrieve information about them.</a:t>
            </a:r>
          </a:p>
          <a:p>
            <a:r>
              <a:rPr lang="en-US" dirty="0" smtClean="0"/>
              <a:t>In libraries, each book is assigned a unique number that can be used to determine information about the book, such as its exact position in the library or the users it has been issued to etc.</a:t>
            </a:r>
          </a:p>
          <a:p>
            <a:pPr>
              <a:buNone/>
            </a:pPr>
            <a:r>
              <a:rPr lang="en-US" dirty="0" smtClean="0"/>
              <a:t>In both these examples the students and books were hashed to a unique number.</a:t>
            </a:r>
          </a:p>
          <a:p>
            <a:r>
              <a:rPr lang="en-US" dirty="0" smtClean="0"/>
              <a:t>Assume that you have an object and you want to assign a key to it to make searching easy. To store the key/value pair, you can use a simple array like a data structure where keys (integers) can be used directly as an index to store values. However, in cases where the keys are large and cannot be used directly as an index, you should use </a:t>
            </a:r>
            <a:r>
              <a:rPr lang="en-US" i="1" dirty="0" smtClean="0"/>
              <a:t>hashing</a:t>
            </a:r>
            <a:r>
              <a:rPr lang="en-US" dirty="0" smtClean="0"/>
              <a:t>.</a:t>
            </a:r>
          </a:p>
          <a:p>
            <a:pPr>
              <a:buNone/>
            </a:pPr>
            <a:endParaRPr lang="en-US" dirty="0" smtClean="0"/>
          </a:p>
        </p:txBody>
      </p:sp>
      <p:sp>
        <p:nvSpPr>
          <p:cNvPr id="3" name="Date Placeholder 2"/>
          <p:cNvSpPr>
            <a:spLocks noGrp="1"/>
          </p:cNvSpPr>
          <p:nvPr>
            <p:ph type="dt" sz="half" idx="11"/>
          </p:nvPr>
        </p:nvSpPr>
        <p:spPr/>
        <p:txBody>
          <a:bodyPr/>
          <a:lstStyle/>
          <a:p>
            <a:fld id="{7E230104-9C61-4FDC-88A7-02890E61BA9F}" type="datetime2">
              <a:rPr lang="en-US" smtClean="0"/>
              <a:pPr/>
              <a:t>Saturday, September 17, 2022</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95274" y="785794"/>
            <a:ext cx="11215766" cy="5307501"/>
          </a:xfrm>
        </p:spPr>
        <p:txBody>
          <a:bodyPr>
            <a:normAutofit lnSpcReduction="10000"/>
          </a:bodyPr>
          <a:lstStyle/>
          <a:p>
            <a:r>
              <a:rPr lang="en-US" dirty="0" smtClean="0"/>
              <a:t>In hashing, large keys are converted into small keys by using </a:t>
            </a:r>
            <a:r>
              <a:rPr lang="en-US" b="1" dirty="0" smtClean="0"/>
              <a:t>hash </a:t>
            </a:r>
            <a:r>
              <a:rPr lang="en-US" b="1" dirty="0" err="1" smtClean="0"/>
              <a:t>fnctions</a:t>
            </a:r>
            <a:r>
              <a:rPr lang="en-US" dirty="0" smtClean="0"/>
              <a:t>. The values are then stored in a data structure called </a:t>
            </a:r>
            <a:r>
              <a:rPr lang="en-US" b="1" dirty="0" smtClean="0"/>
              <a:t>hash table</a:t>
            </a:r>
            <a:r>
              <a:rPr lang="en-US" dirty="0" smtClean="0"/>
              <a:t>. </a:t>
            </a:r>
          </a:p>
          <a:p>
            <a:pPr>
              <a:buNone/>
            </a:pPr>
            <a:r>
              <a:rPr lang="en-US" b="1" u="sng" dirty="0" smtClean="0"/>
              <a:t>Hash Table: </a:t>
            </a:r>
            <a:r>
              <a:rPr lang="en-US" dirty="0" smtClean="0"/>
              <a:t>A hash table (hash map) is a data structure that implements an associative array abstract data type, a structure that can map keys to  values. </a:t>
            </a:r>
          </a:p>
          <a:p>
            <a:r>
              <a:rPr lang="en-US" dirty="0" smtClean="0"/>
              <a:t>Using the key, the algorithm (hash function) computes an index that suggests where an entry can be found or inserted.</a:t>
            </a:r>
          </a:p>
          <a:p>
            <a:pPr>
              <a:buNone/>
            </a:pPr>
            <a:r>
              <a:rPr lang="en-US" u="sng" dirty="0" smtClean="0"/>
              <a:t>Hashing is implemented in two steps:</a:t>
            </a:r>
          </a:p>
          <a:p>
            <a:pPr>
              <a:buNone/>
            </a:pPr>
            <a:r>
              <a:rPr lang="en-US" dirty="0" smtClean="0"/>
              <a:t>1.An element is converted into an integer by using a hash function. This element can be used as an index to store the original element, which falls into the hash table.</a:t>
            </a:r>
          </a:p>
          <a:p>
            <a:pPr>
              <a:buNone/>
            </a:pPr>
            <a:r>
              <a:rPr lang="en-US" dirty="0" smtClean="0"/>
              <a:t>2. The element is stored in the hash table where it can be quickly retrieved using hashed key.</a:t>
            </a:r>
          </a:p>
        </p:txBody>
      </p:sp>
      <p:sp>
        <p:nvSpPr>
          <p:cNvPr id="3" name="Date Placeholder 2"/>
          <p:cNvSpPr>
            <a:spLocks noGrp="1"/>
          </p:cNvSpPr>
          <p:nvPr>
            <p:ph type="dt" sz="half" idx="11"/>
          </p:nvPr>
        </p:nvSpPr>
        <p:spPr/>
        <p:txBody>
          <a:bodyPr/>
          <a:lstStyle/>
          <a:p>
            <a:fld id="{7E230104-9C61-4FDC-88A7-02890E61BA9F}" type="datetime2">
              <a:rPr lang="en-US" smtClean="0"/>
              <a:pPr/>
              <a:t>Saturday, September 17, 2022</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69085" y="1000108"/>
            <a:ext cx="10515600" cy="5093187"/>
          </a:xfrm>
        </p:spPr>
        <p:txBody>
          <a:bodyPr/>
          <a:lstStyle/>
          <a:p>
            <a:r>
              <a:rPr lang="en-US" dirty="0" smtClean="0"/>
              <a:t>hash = </a:t>
            </a:r>
            <a:r>
              <a:rPr lang="en-US" dirty="0" err="1" smtClean="0"/>
              <a:t>hashfunc</a:t>
            </a:r>
            <a:r>
              <a:rPr lang="en-US" dirty="0" smtClean="0"/>
              <a:t>(key)</a:t>
            </a:r>
            <a:br>
              <a:rPr lang="en-US" dirty="0" smtClean="0"/>
            </a:br>
            <a:r>
              <a:rPr lang="en-US" dirty="0" smtClean="0"/>
              <a:t>index = hash % </a:t>
            </a:r>
            <a:r>
              <a:rPr lang="en-US" dirty="0" err="1" smtClean="0"/>
              <a:t>array_size</a:t>
            </a:r>
            <a:endParaRPr lang="en-US" dirty="0" smtClean="0"/>
          </a:p>
          <a:p>
            <a:r>
              <a:rPr lang="en-US" dirty="0" smtClean="0"/>
              <a:t>In this method, the hash is independent of the array size and it is then reduced to an index (a number between 0 and </a:t>
            </a:r>
            <a:r>
              <a:rPr lang="en-US" dirty="0" err="1" smtClean="0"/>
              <a:t>array_size</a:t>
            </a:r>
            <a:r>
              <a:rPr lang="en-US" dirty="0" smtClean="0"/>
              <a:t> − 1) by using the modulo operator (%).</a:t>
            </a:r>
          </a:p>
          <a:p>
            <a:r>
              <a:rPr lang="en-US" b="1" u="sng" dirty="0" smtClean="0"/>
              <a:t>Hash function</a:t>
            </a:r>
            <a:r>
              <a:rPr lang="en-US" dirty="0" smtClean="0"/>
              <a:t/>
            </a:r>
            <a:br>
              <a:rPr lang="en-US" dirty="0" smtClean="0"/>
            </a:br>
            <a:r>
              <a:rPr lang="en-US" dirty="0" smtClean="0"/>
              <a:t>A hash function is any function that can be used to map a data set of an arbitrary size to a data set of a fixed size, which falls into the hash table. The values returned by a hash function are called hash values, hash codes, hash sums, or simply hashes.</a:t>
            </a:r>
          </a:p>
          <a:p>
            <a:endParaRPr lang="en-US" dirty="0" smtClean="0"/>
          </a:p>
          <a:p>
            <a:endParaRPr lang="en-US" dirty="0"/>
          </a:p>
        </p:txBody>
      </p:sp>
      <p:sp>
        <p:nvSpPr>
          <p:cNvPr id="3" name="Date Placeholder 2"/>
          <p:cNvSpPr>
            <a:spLocks noGrp="1"/>
          </p:cNvSpPr>
          <p:nvPr>
            <p:ph type="dt" sz="half" idx="11"/>
          </p:nvPr>
        </p:nvSpPr>
        <p:spPr/>
        <p:txBody>
          <a:bodyPr/>
          <a:lstStyle/>
          <a:p>
            <a:fld id="{7E230104-9C61-4FDC-88A7-02890E61BA9F}" type="datetime2">
              <a:rPr lang="en-US" smtClean="0"/>
              <a:pPr/>
              <a:t>Saturday, September 17, 2022</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69085" y="714356"/>
            <a:ext cx="10515600" cy="5378939"/>
          </a:xfrm>
        </p:spPr>
        <p:txBody>
          <a:bodyPr>
            <a:normAutofit/>
          </a:bodyPr>
          <a:lstStyle/>
          <a:p>
            <a:pPr>
              <a:buNone/>
            </a:pPr>
            <a:r>
              <a:rPr lang="en-US" dirty="0" smtClean="0">
                <a:solidFill>
                  <a:srgbClr val="FF0000"/>
                </a:solidFill>
              </a:rPr>
              <a:t>Types of hash function</a:t>
            </a:r>
          </a:p>
          <a:p>
            <a:r>
              <a:rPr lang="en-US" dirty="0" smtClean="0"/>
              <a:t>There are various types of hash function which are used to place the data in a hash table,</a:t>
            </a:r>
          </a:p>
          <a:p>
            <a:pPr>
              <a:buNone/>
            </a:pPr>
            <a:r>
              <a:rPr lang="en-US" b="1" dirty="0" smtClean="0">
                <a:solidFill>
                  <a:srgbClr val="00B0F0"/>
                </a:solidFill>
              </a:rPr>
              <a:t>1. Division method</a:t>
            </a:r>
            <a:endParaRPr lang="en-US" dirty="0" smtClean="0">
              <a:solidFill>
                <a:srgbClr val="00B0F0"/>
              </a:solidFill>
            </a:endParaRPr>
          </a:p>
          <a:p>
            <a:pPr>
              <a:buNone/>
            </a:pPr>
            <a:r>
              <a:rPr lang="en-US" dirty="0" smtClean="0"/>
              <a:t>In this the hash function is dependent upon the remainder of a division. </a:t>
            </a:r>
          </a:p>
          <a:p>
            <a:pPr>
              <a:buNone/>
            </a:pPr>
            <a:r>
              <a:rPr lang="en-US" b="1" dirty="0" smtClean="0"/>
              <a:t>Then:</a:t>
            </a:r>
            <a:endParaRPr lang="en-US" dirty="0" smtClean="0"/>
          </a:p>
          <a:p>
            <a:pPr>
              <a:buNone/>
            </a:pPr>
            <a:r>
              <a:rPr lang="en-US" dirty="0" smtClean="0"/>
              <a:t>		h(key)=Key% table size. </a:t>
            </a:r>
          </a:p>
          <a:p>
            <a:pPr>
              <a:buNone/>
            </a:pPr>
            <a:r>
              <a:rPr lang="en-US" dirty="0" smtClean="0"/>
              <a:t>2=52%10 8=68%10 9=99%10 4=84%10</a:t>
            </a:r>
          </a:p>
          <a:p>
            <a:endParaRPr lang="en-US" dirty="0"/>
          </a:p>
        </p:txBody>
      </p:sp>
      <p:sp>
        <p:nvSpPr>
          <p:cNvPr id="3" name="Date Placeholder 2"/>
          <p:cNvSpPr>
            <a:spLocks noGrp="1"/>
          </p:cNvSpPr>
          <p:nvPr>
            <p:ph type="dt" sz="half" idx="11"/>
          </p:nvPr>
        </p:nvSpPr>
        <p:spPr/>
        <p:txBody>
          <a:bodyPr/>
          <a:lstStyle/>
          <a:p>
            <a:fld id="{7E230104-9C61-4FDC-88A7-02890E61BA9F}" type="datetime2">
              <a:rPr lang="en-US" smtClean="0"/>
              <a:pPr/>
              <a:t>Saturday, September 17, 2022</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1"/>
          </p:nvPr>
        </p:nvSpPr>
        <p:spPr/>
        <p:txBody>
          <a:bodyPr/>
          <a:lstStyle/>
          <a:p>
            <a:fld id="{7E230104-9C61-4FDC-88A7-02890E61BA9F}" type="datetime2">
              <a:rPr lang="en-US" smtClean="0"/>
              <a:pPr/>
              <a:t>Saturday, September 17, 2022</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pic>
        <p:nvPicPr>
          <p:cNvPr id="5" name="Picture 3"/>
          <p:cNvPicPr>
            <a:picLocks noGrp="1" noChangeAspect="1" noChangeArrowheads="1"/>
          </p:cNvPicPr>
          <p:nvPr>
            <p:ph idx="1"/>
          </p:nvPr>
        </p:nvPicPr>
        <p:blipFill>
          <a:blip r:embed="rId2"/>
          <a:srcRect/>
          <a:stretch>
            <a:fillRect/>
          </a:stretch>
        </p:blipFill>
        <p:spPr bwMode="auto">
          <a:xfrm>
            <a:off x="8524892" y="1857364"/>
            <a:ext cx="2486028" cy="3929090"/>
          </a:xfrm>
          <a:prstGeom prst="rect">
            <a:avLst/>
          </a:prstGeom>
          <a:noFill/>
          <a:ln w="9525">
            <a:noFill/>
            <a:miter lim="800000"/>
            <a:headEnd/>
            <a:tailEnd/>
          </a:ln>
          <a:effectLst/>
        </p:spPr>
      </p:pic>
      <p:sp>
        <p:nvSpPr>
          <p:cNvPr id="9" name="Rectangle 8"/>
          <p:cNvSpPr/>
          <p:nvPr/>
        </p:nvSpPr>
        <p:spPr>
          <a:xfrm>
            <a:off x="595274" y="928670"/>
            <a:ext cx="9929882" cy="3970318"/>
          </a:xfrm>
          <a:prstGeom prst="rect">
            <a:avLst/>
          </a:prstGeom>
        </p:spPr>
        <p:txBody>
          <a:bodyPr wrap="square">
            <a:spAutoFit/>
          </a:bodyPr>
          <a:lstStyle/>
          <a:p>
            <a:r>
              <a:rPr lang="en-US" sz="2800" dirty="0" smtClean="0">
                <a:solidFill>
                  <a:srgbClr val="00B0F0"/>
                </a:solidFill>
              </a:rPr>
              <a:t>For example:-</a:t>
            </a:r>
          </a:p>
          <a:p>
            <a:pPr lvl="0"/>
            <a:r>
              <a:rPr lang="en-US" sz="2800" dirty="0" smtClean="0"/>
              <a:t>if the record 52,68,99,84 is to be placed in a hash table and let us take the table size is 10.</a:t>
            </a:r>
          </a:p>
          <a:p>
            <a:r>
              <a:rPr lang="en-US" sz="2800" b="1" dirty="0" smtClean="0"/>
              <a:t>Then:</a:t>
            </a:r>
            <a:r>
              <a:rPr lang="en-US" sz="2800" dirty="0" smtClean="0"/>
              <a:t> </a:t>
            </a:r>
          </a:p>
          <a:p>
            <a:r>
              <a:rPr lang="en-US" sz="2800" dirty="0" smtClean="0"/>
              <a:t>	    h(key)=key% table size. </a:t>
            </a:r>
          </a:p>
          <a:p>
            <a:r>
              <a:rPr lang="en-US" sz="2800" dirty="0" smtClean="0"/>
              <a:t>          h(52)=52%10=2</a:t>
            </a:r>
          </a:p>
          <a:p>
            <a:r>
              <a:rPr lang="en-US" sz="2800" dirty="0" smtClean="0"/>
              <a:t>	    h(68)=68%10=8</a:t>
            </a:r>
          </a:p>
          <a:p>
            <a:r>
              <a:rPr lang="en-US" sz="2800" dirty="0" smtClean="0"/>
              <a:t>	    h(99)=99%10=9</a:t>
            </a:r>
          </a:p>
          <a:p>
            <a:r>
              <a:rPr lang="en-US" sz="2800" dirty="0" smtClean="0"/>
              <a:t>	    h(84)=84%10=4</a:t>
            </a:r>
            <a:endParaRPr lang="en-US" sz="2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69085" y="642918"/>
            <a:ext cx="10515600" cy="5450377"/>
          </a:xfrm>
        </p:spPr>
        <p:txBody>
          <a:bodyPr>
            <a:normAutofit/>
          </a:bodyPr>
          <a:lstStyle/>
          <a:p>
            <a:pPr>
              <a:buNone/>
            </a:pPr>
            <a:r>
              <a:rPr lang="en-US" b="1" dirty="0" smtClean="0">
                <a:solidFill>
                  <a:srgbClr val="FF0000"/>
                </a:solidFill>
              </a:rPr>
              <a:t>2.Multiplication method:</a:t>
            </a:r>
            <a:endParaRPr lang="en-US" dirty="0" smtClean="0">
              <a:solidFill>
                <a:srgbClr val="FF0000"/>
              </a:solidFill>
            </a:endParaRPr>
          </a:p>
          <a:p>
            <a:r>
              <a:rPr lang="en-US" dirty="0" smtClean="0"/>
              <a:t>The simplest situation when the keys are floating –point numbers known to be in affixed range.</a:t>
            </a:r>
          </a:p>
          <a:p>
            <a:pPr>
              <a:buNone/>
            </a:pPr>
            <a:r>
              <a:rPr lang="en-US" b="1" dirty="0" smtClean="0"/>
              <a:t>Algorithm:</a:t>
            </a:r>
            <a:endParaRPr lang="en-US" dirty="0" smtClean="0"/>
          </a:p>
          <a:p>
            <a:pPr marL="514350" lvl="0" indent="-514350">
              <a:buFont typeface="+mj-lt"/>
              <a:buAutoNum type="arabicPeriod"/>
            </a:pPr>
            <a:r>
              <a:rPr lang="en-US" dirty="0" smtClean="0"/>
              <a:t>Choose constant A in the range 0 &lt; A &lt; 1.</a:t>
            </a:r>
          </a:p>
          <a:p>
            <a:pPr marL="514350" lvl="0" indent="-514350">
              <a:buFont typeface="+mj-lt"/>
              <a:buAutoNum type="arabicPeriod"/>
            </a:pPr>
            <a:r>
              <a:rPr lang="en-US" dirty="0" smtClean="0"/>
              <a:t>Multiply key k by A.</a:t>
            </a:r>
          </a:p>
          <a:p>
            <a:pPr marL="514350" lvl="0" indent="-514350">
              <a:buFont typeface="+mj-lt"/>
              <a:buAutoNum type="arabicPeriod"/>
            </a:pPr>
            <a:r>
              <a:rPr lang="en-US" dirty="0" smtClean="0"/>
              <a:t>Extract the fractional part of </a:t>
            </a:r>
            <a:r>
              <a:rPr lang="en-US" i="1" dirty="0" smtClean="0"/>
              <a:t>k*A</a:t>
            </a:r>
            <a:endParaRPr lang="en-US" dirty="0" smtClean="0"/>
          </a:p>
          <a:p>
            <a:pPr marL="514350" lvl="0" indent="-514350">
              <a:buFont typeface="+mj-lt"/>
              <a:buAutoNum type="arabicPeriod"/>
            </a:pPr>
            <a:r>
              <a:rPr lang="en-US" dirty="0" smtClean="0"/>
              <a:t>Multiply the fractional part by number of slots</a:t>
            </a:r>
            <a:r>
              <a:rPr lang="en-US" i="1" dirty="0" smtClean="0"/>
              <a:t>, m</a:t>
            </a:r>
            <a:r>
              <a:rPr lang="en-US" dirty="0" smtClean="0"/>
              <a:t>.</a:t>
            </a:r>
          </a:p>
          <a:p>
            <a:pPr marL="514350" lvl="0" indent="-514350">
              <a:buFont typeface="+mj-lt"/>
              <a:buAutoNum type="arabicPeriod"/>
            </a:pPr>
            <a:r>
              <a:rPr lang="en-US" dirty="0" smtClean="0"/>
              <a:t>Take the floor of the result.</a:t>
            </a:r>
          </a:p>
          <a:p>
            <a:endParaRPr lang="en-US" dirty="0" smtClean="0"/>
          </a:p>
        </p:txBody>
      </p:sp>
      <p:sp>
        <p:nvSpPr>
          <p:cNvPr id="3" name="Date Placeholder 2"/>
          <p:cNvSpPr>
            <a:spLocks noGrp="1"/>
          </p:cNvSpPr>
          <p:nvPr>
            <p:ph type="dt" sz="half" idx="11"/>
          </p:nvPr>
        </p:nvSpPr>
        <p:spPr/>
        <p:txBody>
          <a:bodyPr/>
          <a:lstStyle/>
          <a:p>
            <a:fld id="{7E230104-9C61-4FDC-88A7-02890E61BA9F}" type="datetime2">
              <a:rPr lang="en-US" smtClean="0"/>
              <a:pPr/>
              <a:t>Saturday, September 17, 2022</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69085" y="714356"/>
            <a:ext cx="10515600" cy="5378939"/>
          </a:xfrm>
        </p:spPr>
        <p:txBody>
          <a:bodyPr/>
          <a:lstStyle/>
          <a:p>
            <a:r>
              <a:rPr lang="en-US" dirty="0" smtClean="0"/>
              <a:t>Mathematically</a:t>
            </a:r>
          </a:p>
          <a:p>
            <a:pPr>
              <a:buNone/>
            </a:pPr>
            <a:r>
              <a:rPr lang="en-US" dirty="0" smtClean="0"/>
              <a:t>		h( k ) = ⌊m · (</a:t>
            </a:r>
            <a:r>
              <a:rPr lang="en-US" dirty="0" err="1" smtClean="0"/>
              <a:t>k·A</a:t>
            </a:r>
            <a:r>
              <a:rPr lang="en-US" dirty="0" smtClean="0"/>
              <a:t> mod 1)⌋ </a:t>
            </a:r>
          </a:p>
          <a:p>
            <a:pPr>
              <a:buNone/>
            </a:pPr>
            <a:r>
              <a:rPr lang="en-US" dirty="0" smtClean="0"/>
              <a:t>where </a:t>
            </a:r>
            <a:r>
              <a:rPr lang="en-US" i="1" dirty="0" err="1" smtClean="0"/>
              <a:t>k</a:t>
            </a:r>
            <a:r>
              <a:rPr lang="en-US" dirty="0" err="1" smtClean="0"/>
              <a:t>·</a:t>
            </a:r>
            <a:r>
              <a:rPr lang="en-US" i="1" dirty="0" err="1" smtClean="0"/>
              <a:t>A</a:t>
            </a:r>
            <a:r>
              <a:rPr lang="en-US" dirty="0" smtClean="0"/>
              <a:t> mod 1 = </a:t>
            </a:r>
            <a:r>
              <a:rPr lang="en-US" dirty="0" err="1" smtClean="0"/>
              <a:t>k·A</a:t>
            </a:r>
            <a:r>
              <a:rPr lang="en-US" dirty="0" smtClean="0"/>
              <a:t> − ⌊</a:t>
            </a:r>
            <a:r>
              <a:rPr lang="en-US" dirty="0" err="1" smtClean="0"/>
              <a:t>k·A</a:t>
            </a:r>
            <a:r>
              <a:rPr lang="en-US" dirty="0" smtClean="0"/>
              <a:t>⌋ = fractional part of </a:t>
            </a:r>
            <a:r>
              <a:rPr lang="en-US" dirty="0" err="1" smtClean="0"/>
              <a:t>k·A</a:t>
            </a:r>
            <a:endParaRPr lang="en-US" dirty="0" smtClean="0"/>
          </a:p>
          <a:p>
            <a:r>
              <a:rPr lang="en-US" dirty="0" smtClean="0"/>
              <a:t>In this case, the value of </a:t>
            </a:r>
            <a:r>
              <a:rPr lang="en-US" b="1" dirty="0" smtClean="0"/>
              <a:t>m</a:t>
            </a:r>
            <a:r>
              <a:rPr lang="en-US" dirty="0" smtClean="0"/>
              <a:t> is not critical and we typically choose a power of 2</a:t>
            </a:r>
          </a:p>
          <a:p>
            <a:r>
              <a:rPr lang="en-US" dirty="0" smtClean="0"/>
              <a:t>Choose </a:t>
            </a:r>
            <a:r>
              <a:rPr lang="en-US" b="1" dirty="0" smtClean="0"/>
              <a:t>m</a:t>
            </a:r>
            <a:r>
              <a:rPr lang="en-US" dirty="0" smtClean="0"/>
              <a:t> = 2</a:t>
            </a:r>
            <a:r>
              <a:rPr lang="en-US" b="1" baseline="30000" dirty="0" smtClean="0"/>
              <a:t>p</a:t>
            </a:r>
            <a:r>
              <a:rPr lang="en-US" dirty="0" smtClean="0"/>
              <a:t>.</a:t>
            </a:r>
          </a:p>
          <a:p>
            <a:r>
              <a:rPr lang="en-US" dirty="0" smtClean="0"/>
              <a:t>Multiply the </a:t>
            </a:r>
            <a:r>
              <a:rPr lang="en-US" b="1" dirty="0" smtClean="0"/>
              <a:t>w</a:t>
            </a:r>
            <a:r>
              <a:rPr lang="en-US" dirty="0" smtClean="0"/>
              <a:t> bits of </a:t>
            </a:r>
            <a:r>
              <a:rPr lang="en-US" b="1" dirty="0" smtClean="0"/>
              <a:t>k</a:t>
            </a:r>
            <a:r>
              <a:rPr lang="en-US" dirty="0" smtClean="0"/>
              <a:t> by </a:t>
            </a:r>
            <a:r>
              <a:rPr lang="en-US" b="1" dirty="0" smtClean="0"/>
              <a:t>floor(A * 2</a:t>
            </a:r>
            <a:r>
              <a:rPr lang="en-US" b="1" baseline="30000" dirty="0" smtClean="0"/>
              <a:t>w</a:t>
            </a:r>
            <a:r>
              <a:rPr lang="en-US" b="1" dirty="0" smtClean="0"/>
              <a:t>)</a:t>
            </a:r>
            <a:r>
              <a:rPr lang="en-US" dirty="0" smtClean="0"/>
              <a:t> to obtain a 2</a:t>
            </a:r>
            <a:r>
              <a:rPr lang="en-US" b="1" dirty="0" smtClean="0"/>
              <a:t>w</a:t>
            </a:r>
            <a:r>
              <a:rPr lang="en-US" dirty="0" smtClean="0"/>
              <a:t> bit product.</a:t>
            </a:r>
          </a:p>
          <a:p>
            <a:r>
              <a:rPr lang="en-US" dirty="0" smtClean="0"/>
              <a:t>Extract the </a:t>
            </a:r>
            <a:r>
              <a:rPr lang="en-US" b="1" dirty="0" smtClean="0"/>
              <a:t>p</a:t>
            </a:r>
            <a:r>
              <a:rPr lang="en-US" dirty="0" smtClean="0"/>
              <a:t> most significant bits of the lower half of this product.</a:t>
            </a:r>
          </a:p>
          <a:p>
            <a:pPr>
              <a:buNone/>
            </a:pPr>
            <a:r>
              <a:rPr lang="en-US" b="1" dirty="0" smtClean="0"/>
              <a:t>It seems that:</a:t>
            </a:r>
          </a:p>
          <a:p>
            <a:pPr>
              <a:buNone/>
            </a:pPr>
            <a:r>
              <a:rPr lang="en-US" b="1" dirty="0" smtClean="0"/>
              <a:t>	A</a:t>
            </a:r>
            <a:r>
              <a:rPr lang="en-US" dirty="0" smtClean="0"/>
              <a:t> = (</a:t>
            </a:r>
            <a:r>
              <a:rPr lang="en-US" dirty="0" err="1" smtClean="0"/>
              <a:t>sqrt</a:t>
            </a:r>
            <a:r>
              <a:rPr lang="en-US" dirty="0" smtClean="0"/>
              <a:t>(5)-1)/2 = 0.6180339887</a:t>
            </a:r>
          </a:p>
          <a:p>
            <a:endParaRPr lang="en-US" dirty="0"/>
          </a:p>
        </p:txBody>
      </p:sp>
      <p:sp>
        <p:nvSpPr>
          <p:cNvPr id="3" name="Date Placeholder 2"/>
          <p:cNvSpPr>
            <a:spLocks noGrp="1"/>
          </p:cNvSpPr>
          <p:nvPr>
            <p:ph type="dt" sz="half" idx="11"/>
          </p:nvPr>
        </p:nvSpPr>
        <p:spPr/>
        <p:txBody>
          <a:bodyPr/>
          <a:lstStyle/>
          <a:p>
            <a:fld id="{7E230104-9C61-4FDC-88A7-02890E61BA9F}" type="datetime2">
              <a:rPr lang="en-US" smtClean="0"/>
              <a:pPr/>
              <a:t>Saturday, September 17, 2022</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69085" y="785794"/>
            <a:ext cx="10515600" cy="5307501"/>
          </a:xfrm>
        </p:spPr>
        <p:txBody>
          <a:bodyPr>
            <a:normAutofit lnSpcReduction="10000"/>
          </a:bodyPr>
          <a:lstStyle/>
          <a:p>
            <a:pPr>
              <a:buNone/>
            </a:pPr>
            <a:r>
              <a:rPr lang="en-US" b="1" dirty="0" smtClean="0">
                <a:solidFill>
                  <a:srgbClr val="0070C0"/>
                </a:solidFill>
              </a:rPr>
              <a:t>Example:</a:t>
            </a:r>
            <a:endParaRPr lang="en-US" dirty="0" smtClean="0">
              <a:solidFill>
                <a:srgbClr val="0070C0"/>
              </a:solidFill>
            </a:endParaRPr>
          </a:p>
          <a:p>
            <a:pPr>
              <a:buNone/>
            </a:pPr>
            <a:r>
              <a:rPr lang="en-US" dirty="0" smtClean="0"/>
              <a:t>m = 8 (implies m =  2</a:t>
            </a:r>
            <a:r>
              <a:rPr lang="en-US" baseline="30000" dirty="0" smtClean="0"/>
              <a:t>3</a:t>
            </a:r>
            <a:r>
              <a:rPr lang="en-US" dirty="0" smtClean="0"/>
              <a:t>, p = 3)</a:t>
            </a:r>
          </a:p>
          <a:p>
            <a:pPr>
              <a:buNone/>
            </a:pPr>
            <a:r>
              <a:rPr lang="en-US" dirty="0" smtClean="0"/>
              <a:t>w = 5</a:t>
            </a:r>
          </a:p>
          <a:p>
            <a:pPr>
              <a:buNone/>
            </a:pPr>
            <a:r>
              <a:rPr lang="en-US" dirty="0" smtClean="0"/>
              <a:t>k = 21 </a:t>
            </a:r>
          </a:p>
          <a:p>
            <a:r>
              <a:rPr lang="en-US" dirty="0" smtClean="0"/>
              <a:t>Must have 0 &lt; s &lt; 2</a:t>
            </a:r>
            <a:r>
              <a:rPr lang="en-US" baseline="30000" dirty="0" smtClean="0"/>
              <a:t>5</a:t>
            </a:r>
            <a:r>
              <a:rPr lang="en-US" dirty="0" smtClean="0"/>
              <a:t>; choose s = 13 → A = 13/32.</a:t>
            </a:r>
          </a:p>
          <a:p>
            <a:pPr lvl="0">
              <a:buNone/>
            </a:pPr>
            <a:r>
              <a:rPr lang="en-US" dirty="0" smtClean="0"/>
              <a:t>		h(k) = ⌊m · (</a:t>
            </a:r>
            <a:r>
              <a:rPr lang="en-US" dirty="0" err="1" smtClean="0"/>
              <a:t>k·A</a:t>
            </a:r>
            <a:r>
              <a:rPr lang="en-US" dirty="0" smtClean="0"/>
              <a:t> mod 1)⌋  </a:t>
            </a:r>
          </a:p>
          <a:p>
            <a:pPr>
              <a:buNone/>
            </a:pPr>
            <a:r>
              <a:rPr lang="en-US" dirty="0" smtClean="0"/>
              <a:t>		h( 21 ) = ⌊8 · (21·13/32 mod 1)⌋  = 4</a:t>
            </a:r>
          </a:p>
          <a:p>
            <a:pPr>
              <a:buNone/>
            </a:pPr>
            <a:r>
              <a:rPr lang="en-US" dirty="0" err="1" smtClean="0"/>
              <a:t>k·A</a:t>
            </a:r>
            <a:r>
              <a:rPr lang="en-US" dirty="0" smtClean="0"/>
              <a:t> = 21 · 13/32 = 273/32 = 8 17/32 → </a:t>
            </a:r>
            <a:r>
              <a:rPr lang="en-US" dirty="0" err="1" smtClean="0"/>
              <a:t>k·A</a:t>
            </a:r>
            <a:r>
              <a:rPr lang="en-US" dirty="0" smtClean="0"/>
              <a:t> mod 1 = 17/32</a:t>
            </a:r>
          </a:p>
          <a:p>
            <a:pPr>
              <a:buNone/>
            </a:pPr>
            <a:r>
              <a:rPr lang="en-US" dirty="0" smtClean="0"/>
              <a:t>                                                        → m · ( </a:t>
            </a:r>
            <a:r>
              <a:rPr lang="en-US" dirty="0" err="1" smtClean="0"/>
              <a:t>k·A</a:t>
            </a:r>
            <a:r>
              <a:rPr lang="en-US" dirty="0" smtClean="0"/>
              <a:t> mod 1) = 8 · 17/32 = 17/4 = </a:t>
            </a:r>
            <a:r>
              <a:rPr lang="en-US" dirty="0" smtClean="0">
                <a:sym typeface="Wingdings"/>
              </a:rPr>
              <a:t></a:t>
            </a:r>
            <a:r>
              <a:rPr lang="en-US" dirty="0" smtClean="0"/>
              <a:t>4  1/4                                                         → ⌊m · ( </a:t>
            </a:r>
            <a:r>
              <a:rPr lang="en-US" dirty="0" err="1" smtClean="0"/>
              <a:t>k·A</a:t>
            </a:r>
            <a:r>
              <a:rPr lang="en-US" dirty="0" smtClean="0"/>
              <a:t> mod 1)⌋  = 4</a:t>
            </a:r>
          </a:p>
          <a:p>
            <a:r>
              <a:rPr lang="en-US" dirty="0" smtClean="0"/>
              <a:t>So that h(21) = 4.</a:t>
            </a:r>
          </a:p>
          <a:p>
            <a:endParaRPr lang="en-US" dirty="0"/>
          </a:p>
        </p:txBody>
      </p:sp>
      <p:sp>
        <p:nvSpPr>
          <p:cNvPr id="3" name="Date Placeholder 2"/>
          <p:cNvSpPr>
            <a:spLocks noGrp="1"/>
          </p:cNvSpPr>
          <p:nvPr>
            <p:ph type="dt" sz="half" idx="11"/>
          </p:nvPr>
        </p:nvSpPr>
        <p:spPr/>
        <p:txBody>
          <a:bodyPr/>
          <a:lstStyle/>
          <a:p>
            <a:fld id="{7E230104-9C61-4FDC-88A7-02890E61BA9F}" type="datetime2">
              <a:rPr lang="en-US" smtClean="0"/>
              <a:pPr/>
              <a:t>Saturday, September 17, 2022</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69085" y="714356"/>
            <a:ext cx="10515600" cy="5378939"/>
          </a:xfrm>
        </p:spPr>
        <p:txBody>
          <a:bodyPr/>
          <a:lstStyle/>
          <a:p>
            <a:pPr>
              <a:buNone/>
            </a:pPr>
            <a:r>
              <a:rPr lang="en-US" b="1" dirty="0" smtClean="0">
                <a:solidFill>
                  <a:srgbClr val="FF0000"/>
                </a:solidFill>
              </a:rPr>
              <a:t>3. Mid square method</a:t>
            </a:r>
            <a:endParaRPr lang="en-US" dirty="0" smtClean="0">
              <a:solidFill>
                <a:srgbClr val="FF0000"/>
              </a:solidFill>
            </a:endParaRPr>
          </a:p>
          <a:p>
            <a:r>
              <a:rPr lang="en-US" dirty="0" smtClean="0"/>
              <a:t>In this method firstly key is squared and then mid part of the result is taken as the index. </a:t>
            </a:r>
          </a:p>
          <a:p>
            <a:pPr>
              <a:buNone/>
            </a:pPr>
            <a:r>
              <a:rPr lang="en-US" dirty="0" smtClean="0">
                <a:solidFill>
                  <a:srgbClr val="0070C0"/>
                </a:solidFill>
              </a:rPr>
              <a:t>For example: </a:t>
            </a:r>
          </a:p>
          <a:p>
            <a:pPr>
              <a:buNone/>
            </a:pPr>
            <a:r>
              <a:rPr lang="en-US" dirty="0" smtClean="0"/>
              <a:t>1.consider that if we want to place a record of 3101 and the size of table is 1000. </a:t>
            </a:r>
          </a:p>
          <a:p>
            <a:pPr>
              <a:buNone/>
            </a:pPr>
            <a:r>
              <a:rPr lang="en-US" dirty="0" smtClean="0"/>
              <a:t>		So 3101*3101=9616201 </a:t>
            </a:r>
          </a:p>
          <a:p>
            <a:pPr>
              <a:buNone/>
            </a:pPr>
            <a:r>
              <a:rPr lang="en-US" dirty="0" smtClean="0"/>
              <a:t>		i.e. </a:t>
            </a:r>
            <a:r>
              <a:rPr lang="en-US" b="1" dirty="0" smtClean="0"/>
              <a:t>h (3101) = 162 (middle 3 digit)</a:t>
            </a:r>
            <a:endParaRPr lang="en-US" dirty="0" smtClean="0"/>
          </a:p>
          <a:p>
            <a:endParaRPr lang="en-US" dirty="0"/>
          </a:p>
        </p:txBody>
      </p:sp>
      <p:sp>
        <p:nvSpPr>
          <p:cNvPr id="3" name="Date Placeholder 2"/>
          <p:cNvSpPr>
            <a:spLocks noGrp="1"/>
          </p:cNvSpPr>
          <p:nvPr>
            <p:ph type="dt" sz="half" idx="11"/>
          </p:nvPr>
        </p:nvSpPr>
        <p:spPr/>
        <p:txBody>
          <a:bodyPr/>
          <a:lstStyle/>
          <a:p>
            <a:fld id="{7E230104-9C61-4FDC-88A7-02890E61BA9F}" type="datetime2">
              <a:rPr lang="en-US" smtClean="0"/>
              <a:pPr/>
              <a:t>Saturday, September 17, 2022</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69085" y="785794"/>
            <a:ext cx="10515600" cy="5307501"/>
          </a:xfrm>
        </p:spPr>
        <p:txBody>
          <a:bodyPr/>
          <a:lstStyle/>
          <a:p>
            <a:pPr>
              <a:buNone/>
            </a:pPr>
            <a:r>
              <a:rPr lang="en-US" b="1" dirty="0" smtClean="0">
                <a:solidFill>
                  <a:srgbClr val="FF0000"/>
                </a:solidFill>
              </a:rPr>
              <a:t>4. Digit folding method</a:t>
            </a:r>
            <a:endParaRPr lang="en-US" dirty="0" smtClean="0">
              <a:solidFill>
                <a:srgbClr val="FF0000"/>
              </a:solidFill>
            </a:endParaRPr>
          </a:p>
          <a:p>
            <a:r>
              <a:rPr lang="en-US" dirty="0" smtClean="0"/>
              <a:t>In this method the key is divided into separate parts and by using some simple operations these parts are combined to produce a hash key. </a:t>
            </a:r>
          </a:p>
          <a:p>
            <a:pPr>
              <a:buNone/>
            </a:pPr>
            <a:r>
              <a:rPr lang="en-US" dirty="0" smtClean="0">
                <a:solidFill>
                  <a:srgbClr val="0070C0"/>
                </a:solidFill>
              </a:rPr>
              <a:t>For example: </a:t>
            </a:r>
          </a:p>
          <a:p>
            <a:pPr>
              <a:buNone/>
            </a:pPr>
            <a:r>
              <a:rPr lang="en-US" dirty="0" smtClean="0"/>
              <a:t>1.consider a record of 12465512 then it will be divided into parts i.e. 124, 655, 12. After dividing the parts combine these parts by adding it.</a:t>
            </a:r>
          </a:p>
          <a:p>
            <a:pPr>
              <a:buNone/>
            </a:pPr>
            <a:r>
              <a:rPr lang="en-US" dirty="0" smtClean="0"/>
              <a:t>			H(key)=124+655+12 =791</a:t>
            </a:r>
          </a:p>
        </p:txBody>
      </p:sp>
      <p:sp>
        <p:nvSpPr>
          <p:cNvPr id="3" name="Date Placeholder 2"/>
          <p:cNvSpPr>
            <a:spLocks noGrp="1"/>
          </p:cNvSpPr>
          <p:nvPr>
            <p:ph type="dt" sz="half" idx="11"/>
          </p:nvPr>
        </p:nvSpPr>
        <p:spPr/>
        <p:txBody>
          <a:bodyPr/>
          <a:lstStyle/>
          <a:p>
            <a:fld id="{7E230104-9C61-4FDC-88A7-02890E61BA9F}" type="datetime2">
              <a:rPr lang="en-US" smtClean="0"/>
              <a:pPr/>
              <a:t>Saturday, September 17, 2022</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69085" y="714356"/>
            <a:ext cx="10515600" cy="5378939"/>
          </a:xfrm>
        </p:spPr>
        <p:txBody>
          <a:bodyPr/>
          <a:lstStyle/>
          <a:p>
            <a:pPr>
              <a:buNone/>
            </a:pPr>
            <a:r>
              <a:rPr lang="en-US" b="1" dirty="0" smtClean="0">
                <a:solidFill>
                  <a:srgbClr val="FF0000"/>
                </a:solidFill>
              </a:rPr>
              <a:t>5.Universal method:</a:t>
            </a:r>
            <a:endParaRPr lang="en-US" dirty="0" smtClean="0">
              <a:solidFill>
                <a:srgbClr val="FF0000"/>
              </a:solidFill>
            </a:endParaRPr>
          </a:p>
          <a:p>
            <a:r>
              <a:rPr lang="en-US" dirty="0" smtClean="0"/>
              <a:t>Hashing is a fun idea that has lots of unexpected uses. Here, we look at a novel type of hash function that makes it easy to create a family of universal hash functions. The method is based on a random binary matrix and is very simple to implement.</a:t>
            </a:r>
          </a:p>
          <a:p>
            <a:r>
              <a:rPr lang="en-US" dirty="0" smtClean="0"/>
              <a:t>The idea is very simple. Suppose you have an input data item that you have input data with m – bits and you want a hash function that produces n – bits then first generate a random binary matrix (M) of order </a:t>
            </a:r>
            <a:r>
              <a:rPr lang="en-US" dirty="0" err="1" smtClean="0"/>
              <a:t>nxm</a:t>
            </a:r>
            <a:r>
              <a:rPr lang="en-US" dirty="0" smtClean="0"/>
              <a:t>.</a:t>
            </a:r>
          </a:p>
          <a:p>
            <a:r>
              <a:rPr lang="en-US" dirty="0" smtClean="0"/>
              <a:t>The hash function is 	h(x) = </a:t>
            </a:r>
            <a:r>
              <a:rPr lang="en-US" dirty="0" err="1" smtClean="0"/>
              <a:t>Mx</a:t>
            </a:r>
            <a:r>
              <a:rPr lang="en-US" dirty="0" smtClean="0"/>
              <a:t>     Where x to be a binary vector</a:t>
            </a:r>
          </a:p>
          <a:p>
            <a:endParaRPr lang="en-US" dirty="0"/>
          </a:p>
        </p:txBody>
      </p:sp>
      <p:sp>
        <p:nvSpPr>
          <p:cNvPr id="3" name="Date Placeholder 2"/>
          <p:cNvSpPr>
            <a:spLocks noGrp="1"/>
          </p:cNvSpPr>
          <p:nvPr>
            <p:ph type="dt" sz="half" idx="11"/>
          </p:nvPr>
        </p:nvSpPr>
        <p:spPr/>
        <p:txBody>
          <a:bodyPr/>
          <a:lstStyle/>
          <a:p>
            <a:fld id="{7E230104-9C61-4FDC-88A7-02890E61BA9F}" type="datetime2">
              <a:rPr lang="en-US" smtClean="0"/>
              <a:pPr/>
              <a:t>Saturday, September 17, 2022</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69085" y="714356"/>
            <a:ext cx="10515600" cy="5378939"/>
          </a:xfrm>
        </p:spPr>
        <p:txBody>
          <a:bodyPr>
            <a:normAutofit/>
          </a:bodyPr>
          <a:lstStyle/>
          <a:p>
            <a:pPr>
              <a:buNone/>
            </a:pPr>
            <a:r>
              <a:rPr lang="en-US" dirty="0" smtClean="0">
                <a:solidFill>
                  <a:srgbClr val="00B0F0"/>
                </a:solidFill>
              </a:rPr>
              <a:t>For example</a:t>
            </a:r>
            <a:endParaRPr lang="en-US" dirty="0" smtClean="0"/>
          </a:p>
          <a:p>
            <a:r>
              <a:rPr lang="en-US" dirty="0" smtClean="0"/>
              <a:t>Suppose you have a key 11, the binary form is 1011 and it is a four bit input value(m) and want to generate output a three bit hash value(n).</a:t>
            </a:r>
          </a:p>
          <a:p>
            <a:r>
              <a:rPr lang="en-US" dirty="0" smtClean="0"/>
              <a:t>Then generate a random matrix gives say:</a:t>
            </a:r>
          </a:p>
          <a:p>
            <a:r>
              <a:rPr lang="en-US" dirty="0" smtClean="0"/>
              <a:t>   		( 0 1 0 0 )</a:t>
            </a:r>
            <a:br>
              <a:rPr lang="en-US" dirty="0" smtClean="0"/>
            </a:br>
            <a:r>
              <a:rPr lang="en-US" dirty="0" smtClean="0"/>
              <a:t> M	=  	( 1 0 1 1 )</a:t>
            </a:r>
            <a:br>
              <a:rPr lang="en-US" dirty="0" smtClean="0"/>
            </a:br>
            <a:r>
              <a:rPr lang="en-US" dirty="0" smtClean="0"/>
              <a:t>     		( 1 1 0 1 )</a:t>
            </a:r>
          </a:p>
          <a:p>
            <a:r>
              <a:rPr lang="en-US" dirty="0" smtClean="0"/>
              <a:t>and if the data value was 1011 the hash value would be computed as:</a:t>
            </a:r>
          </a:p>
          <a:p>
            <a:r>
              <a:rPr lang="en-US" dirty="0" smtClean="0"/>
              <a:t>		  ( 0 1 0 0 )  (1)    		(0)</a:t>
            </a:r>
            <a:br>
              <a:rPr lang="en-US" dirty="0" smtClean="0"/>
            </a:br>
            <a:r>
              <a:rPr lang="en-US" dirty="0" smtClean="0"/>
              <a:t>h(x) = </a:t>
            </a:r>
            <a:r>
              <a:rPr lang="en-US" dirty="0" err="1" smtClean="0"/>
              <a:t>Mx</a:t>
            </a:r>
            <a:r>
              <a:rPr lang="en-US" dirty="0" smtClean="0"/>
              <a:t> =  ( 1 0 1 1 )  (0)  	= 	(1)</a:t>
            </a:r>
            <a:br>
              <a:rPr lang="en-US" dirty="0" smtClean="0"/>
            </a:br>
            <a:r>
              <a:rPr lang="en-US" dirty="0" smtClean="0"/>
              <a:t>     		  ( 1 1 0 1 )  (1)    		(0)</a:t>
            </a:r>
            <a:br>
              <a:rPr lang="en-US" dirty="0" smtClean="0"/>
            </a:br>
            <a:r>
              <a:rPr lang="en-US" dirty="0" smtClean="0"/>
              <a:t>                                        (1)</a:t>
            </a:r>
          </a:p>
          <a:p>
            <a:endParaRPr lang="en-US" dirty="0"/>
          </a:p>
        </p:txBody>
      </p:sp>
      <p:sp>
        <p:nvSpPr>
          <p:cNvPr id="3" name="Date Placeholder 2"/>
          <p:cNvSpPr>
            <a:spLocks noGrp="1"/>
          </p:cNvSpPr>
          <p:nvPr>
            <p:ph type="dt" sz="half" idx="11"/>
          </p:nvPr>
        </p:nvSpPr>
        <p:spPr/>
        <p:txBody>
          <a:bodyPr/>
          <a:lstStyle/>
          <a:p>
            <a:fld id="{7E230104-9C61-4FDC-88A7-02890E61BA9F}" type="datetime2">
              <a:rPr lang="en-US" smtClean="0"/>
              <a:pPr/>
              <a:t>Saturday, September 17, 2022</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69085" y="857232"/>
            <a:ext cx="10515600" cy="5236063"/>
          </a:xfrm>
        </p:spPr>
        <p:txBody>
          <a:bodyPr>
            <a:normAutofit/>
          </a:bodyPr>
          <a:lstStyle/>
          <a:p>
            <a:r>
              <a:rPr lang="en-US" dirty="0" smtClean="0"/>
              <a:t>There are a number of other ways to look at the way the arithmetic is done that suggest different ways of implementing the algorithm.</a:t>
            </a:r>
          </a:p>
          <a:p>
            <a:r>
              <a:rPr lang="en-US" dirty="0" smtClean="0"/>
              <a:t>The first is to notice that what you are doing is </a:t>
            </a:r>
            <a:r>
              <a:rPr lang="en-US" dirty="0" err="1" smtClean="0"/>
              <a:t>anding</a:t>
            </a:r>
            <a:r>
              <a:rPr lang="en-US" dirty="0" smtClean="0"/>
              <a:t> each row with the data column vector. That is taking the second row as an</a:t>
            </a:r>
          </a:p>
          <a:p>
            <a:pPr>
              <a:buNone/>
            </a:pPr>
            <a:r>
              <a:rPr lang="en-US" dirty="0" smtClean="0"/>
              <a:t>   example: ( 1 0 1 1 )And (1 0 1 1)  = (1 0 1 1) </a:t>
            </a:r>
          </a:p>
          <a:p>
            <a:pPr>
              <a:buNone/>
            </a:pPr>
            <a:r>
              <a:rPr lang="en-US" dirty="0" smtClean="0"/>
              <a:t>   and then you add up the bits in the result:   1+0+1+1=1</a:t>
            </a:r>
          </a:p>
          <a:p>
            <a:r>
              <a:rPr lang="en-US" dirty="0" smtClean="0"/>
              <a:t>now the index is 010, convert that into decimal is 2.</a:t>
            </a:r>
          </a:p>
          <a:p>
            <a:r>
              <a:rPr lang="en-US" dirty="0" smtClean="0"/>
              <a:t> There is </a:t>
            </a:r>
            <a:r>
              <a:rPr lang="en-US" dirty="0" err="1" smtClean="0"/>
              <a:t>no.of</a:t>
            </a:r>
            <a:r>
              <a:rPr lang="en-US" dirty="0" smtClean="0"/>
              <a:t> other ways to look at the way the arithmetic is done that suggest different ways of implementing the algorithm.</a:t>
            </a:r>
          </a:p>
          <a:p>
            <a:endParaRPr lang="en-US" dirty="0"/>
          </a:p>
        </p:txBody>
      </p:sp>
      <p:sp>
        <p:nvSpPr>
          <p:cNvPr id="3" name="Date Placeholder 2"/>
          <p:cNvSpPr>
            <a:spLocks noGrp="1"/>
          </p:cNvSpPr>
          <p:nvPr>
            <p:ph type="dt" sz="half" idx="11"/>
          </p:nvPr>
        </p:nvSpPr>
        <p:spPr/>
        <p:txBody>
          <a:bodyPr/>
          <a:lstStyle/>
          <a:p>
            <a:fld id="{7E230104-9C61-4FDC-88A7-02890E61BA9F}" type="datetime2">
              <a:rPr lang="en-US" smtClean="0"/>
              <a:pPr/>
              <a:t>Saturday, September 17, 2022</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69085" y="571480"/>
            <a:ext cx="10515600" cy="5521815"/>
          </a:xfrm>
        </p:spPr>
        <p:txBody>
          <a:bodyPr>
            <a:normAutofit/>
          </a:bodyPr>
          <a:lstStyle/>
          <a:p>
            <a:pPr>
              <a:buNone/>
            </a:pPr>
            <a:r>
              <a:rPr lang="en-US" b="1" dirty="0" smtClean="0">
                <a:solidFill>
                  <a:srgbClr val="FF0000"/>
                </a:solidFill>
              </a:rPr>
              <a:t>Collision Resolution Techniques:</a:t>
            </a:r>
            <a:endParaRPr lang="en-US" dirty="0" smtClean="0">
              <a:solidFill>
                <a:srgbClr val="FF0000"/>
              </a:solidFill>
            </a:endParaRPr>
          </a:p>
          <a:p>
            <a:r>
              <a:rPr lang="en-US" dirty="0" smtClean="0"/>
              <a:t>In general, a hashing function can map several keys into the same address. That leads to a </a:t>
            </a:r>
            <a:r>
              <a:rPr lang="en-US" b="1" i="1" dirty="0" smtClean="0"/>
              <a:t>collision</a:t>
            </a:r>
            <a:r>
              <a:rPr lang="en-US" dirty="0" smtClean="0"/>
              <a:t>. The colliding records must be stored and accessed as determined by a </a:t>
            </a:r>
            <a:r>
              <a:rPr lang="en-US" i="1" dirty="0" smtClean="0"/>
              <a:t>collision – resolution techniques.</a:t>
            </a:r>
            <a:endParaRPr lang="en-US" dirty="0" smtClean="0"/>
          </a:p>
          <a:p>
            <a:r>
              <a:rPr lang="en-US" dirty="0" smtClean="0"/>
              <a:t>There are two broad classes of such techniques:</a:t>
            </a:r>
          </a:p>
          <a:p>
            <a:pPr>
              <a:buNone/>
            </a:pPr>
            <a:r>
              <a:rPr lang="en-US" b="1" dirty="0" smtClean="0"/>
              <a:t>		Open Hashing </a:t>
            </a:r>
            <a:r>
              <a:rPr lang="en-US" dirty="0" smtClean="0"/>
              <a:t>(also called separate chaining) and </a:t>
            </a:r>
          </a:p>
          <a:p>
            <a:pPr>
              <a:buNone/>
            </a:pPr>
            <a:r>
              <a:rPr lang="en-US" b="1" dirty="0" smtClean="0"/>
              <a:t>		Closed Hashing </a:t>
            </a:r>
            <a:r>
              <a:rPr lang="en-US" dirty="0" smtClean="0"/>
              <a:t>(also called open addressing)</a:t>
            </a:r>
          </a:p>
          <a:p>
            <a:r>
              <a:rPr lang="en-US" dirty="0" smtClean="0"/>
              <a:t>The difference between the two has to do with whether collision are stored outside the table (open hashing), or whether collision result in storing and of the records at another slot in the table (closed hashing).</a:t>
            </a:r>
          </a:p>
          <a:p>
            <a:endParaRPr lang="en-US" dirty="0"/>
          </a:p>
        </p:txBody>
      </p:sp>
      <p:sp>
        <p:nvSpPr>
          <p:cNvPr id="3" name="Date Placeholder 2"/>
          <p:cNvSpPr>
            <a:spLocks noGrp="1"/>
          </p:cNvSpPr>
          <p:nvPr>
            <p:ph type="dt" sz="half" idx="11"/>
          </p:nvPr>
        </p:nvSpPr>
        <p:spPr/>
        <p:txBody>
          <a:bodyPr/>
          <a:lstStyle/>
          <a:p>
            <a:fld id="{7E230104-9C61-4FDC-88A7-02890E61BA9F}" type="datetime2">
              <a:rPr lang="en-US" smtClean="0"/>
              <a:pPr/>
              <a:t>Saturday, September 17, 2022</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69085" y="857232"/>
            <a:ext cx="10515600" cy="5236063"/>
          </a:xfrm>
        </p:spPr>
        <p:txBody>
          <a:bodyPr/>
          <a:lstStyle/>
          <a:p>
            <a:pPr>
              <a:buNone/>
            </a:pPr>
            <a:r>
              <a:rPr lang="en-US" b="1" dirty="0" smtClean="0">
                <a:solidFill>
                  <a:srgbClr val="FF0000"/>
                </a:solidFill>
              </a:rPr>
              <a:t>Open Hashing:</a:t>
            </a:r>
            <a:endParaRPr lang="en-US" dirty="0" smtClean="0"/>
          </a:p>
          <a:p>
            <a:r>
              <a:rPr lang="en-US" dirty="0" smtClean="0"/>
              <a:t>The simplest form of open hashing defines each slot in the hash table to be the head of a linked list. All records that hash to a particular slot are placed on that slot’s linked list.</a:t>
            </a:r>
          </a:p>
          <a:p>
            <a:pPr>
              <a:buNone/>
            </a:pPr>
            <a:endParaRPr lang="en-US" dirty="0" smtClean="0"/>
          </a:p>
          <a:p>
            <a:r>
              <a:rPr lang="en-US" dirty="0" smtClean="0"/>
              <a:t>The below figure illustrates a hash table where each slot stores one record and a link pointer to the rest of the list.</a:t>
            </a:r>
          </a:p>
          <a:p>
            <a:endParaRPr lang="en-US" dirty="0"/>
          </a:p>
        </p:txBody>
      </p:sp>
      <p:sp>
        <p:nvSpPr>
          <p:cNvPr id="3" name="Date Placeholder 2"/>
          <p:cNvSpPr>
            <a:spLocks noGrp="1"/>
          </p:cNvSpPr>
          <p:nvPr>
            <p:ph type="dt" sz="half" idx="11"/>
          </p:nvPr>
        </p:nvSpPr>
        <p:spPr/>
        <p:txBody>
          <a:bodyPr/>
          <a:lstStyle/>
          <a:p>
            <a:fld id="{7E230104-9C61-4FDC-88A7-02890E61BA9F}" type="datetime2">
              <a:rPr lang="en-US" smtClean="0"/>
              <a:pPr/>
              <a:t>Saturday, September 17, 2022</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1"/>
          </p:nvPr>
        </p:nvSpPr>
        <p:spPr/>
        <p:txBody>
          <a:bodyPr/>
          <a:lstStyle/>
          <a:p>
            <a:fld id="{7E230104-9C61-4FDC-88A7-02890E61BA9F}" type="datetime2">
              <a:rPr lang="en-US" smtClean="0"/>
              <a:pPr/>
              <a:t>Saturday, September 17, 2022</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pic>
        <p:nvPicPr>
          <p:cNvPr id="2050" name="Picture 2"/>
          <p:cNvPicPr>
            <a:picLocks noGrp="1" noChangeAspect="1" noChangeArrowheads="1"/>
          </p:cNvPicPr>
          <p:nvPr>
            <p:ph idx="1"/>
          </p:nvPr>
        </p:nvPicPr>
        <p:blipFill>
          <a:blip r:embed="rId2"/>
          <a:srcRect/>
          <a:stretch>
            <a:fillRect/>
          </a:stretch>
        </p:blipFill>
        <p:spPr bwMode="auto">
          <a:xfrm>
            <a:off x="809588" y="785794"/>
            <a:ext cx="10072759" cy="53578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69085" y="1214422"/>
            <a:ext cx="10515600" cy="4878873"/>
          </a:xfrm>
        </p:spPr>
        <p:txBody>
          <a:bodyPr/>
          <a:lstStyle/>
          <a:p>
            <a:r>
              <a:rPr lang="en-US" dirty="0" smtClean="0"/>
              <a:t>Any key that hash to the same index are simply added to the linked list; there is no need to search for empty cells in the array. This method is called separating chaining.</a:t>
            </a:r>
          </a:p>
          <a:p>
            <a:endParaRPr lang="en-US" dirty="0"/>
          </a:p>
        </p:txBody>
      </p:sp>
      <p:sp>
        <p:nvSpPr>
          <p:cNvPr id="3" name="Date Placeholder 2"/>
          <p:cNvSpPr>
            <a:spLocks noGrp="1"/>
          </p:cNvSpPr>
          <p:nvPr>
            <p:ph type="dt" sz="half" idx="11"/>
          </p:nvPr>
        </p:nvSpPr>
        <p:spPr/>
        <p:txBody>
          <a:bodyPr/>
          <a:lstStyle/>
          <a:p>
            <a:fld id="{7E230104-9C61-4FDC-88A7-02890E61BA9F}" type="datetime2">
              <a:rPr lang="en-US" smtClean="0"/>
              <a:pPr/>
              <a:t>Saturday, September 17, 2022</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69085" y="785794"/>
            <a:ext cx="10515600" cy="5307501"/>
          </a:xfrm>
        </p:spPr>
        <p:txBody>
          <a:bodyPr/>
          <a:lstStyle/>
          <a:p>
            <a:pPr>
              <a:buNone/>
            </a:pPr>
            <a:r>
              <a:rPr lang="en-US" b="1" dirty="0" smtClean="0">
                <a:solidFill>
                  <a:srgbClr val="FF0000"/>
                </a:solidFill>
              </a:rPr>
              <a:t>Open Addressing or Closed Hashing:</a:t>
            </a:r>
            <a:r>
              <a:rPr lang="en-US" dirty="0" smtClean="0"/>
              <a:t/>
            </a:r>
            <a:br>
              <a:rPr lang="en-US" dirty="0" smtClean="0"/>
            </a:br>
            <a:r>
              <a:rPr lang="en-US" dirty="0" smtClean="0"/>
              <a:t>Like separate chaining, open addressing is a method for handling collisions. In Open Addressing, all elements are stored in the hash table itself. </a:t>
            </a:r>
          </a:p>
          <a:p>
            <a:r>
              <a:rPr lang="en-US" dirty="0" smtClean="0"/>
              <a:t>So at any point, size of the table must be greater than or equal to the total number of keys (Note that we can increase table size by copying old data if needed).</a:t>
            </a:r>
            <a:endParaRPr lang="en-US" dirty="0"/>
          </a:p>
        </p:txBody>
      </p:sp>
      <p:sp>
        <p:nvSpPr>
          <p:cNvPr id="3" name="Date Placeholder 2"/>
          <p:cNvSpPr>
            <a:spLocks noGrp="1"/>
          </p:cNvSpPr>
          <p:nvPr>
            <p:ph type="dt" sz="half" idx="11"/>
          </p:nvPr>
        </p:nvSpPr>
        <p:spPr/>
        <p:txBody>
          <a:bodyPr/>
          <a:lstStyle/>
          <a:p>
            <a:fld id="{7E230104-9C61-4FDC-88A7-02890E61BA9F}" type="datetime2">
              <a:rPr lang="en-US" smtClean="0"/>
              <a:pPr/>
              <a:t>Saturday, September 17, 2022</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69085" y="785794"/>
            <a:ext cx="10515600" cy="5307501"/>
          </a:xfrm>
        </p:spPr>
        <p:txBody>
          <a:bodyPr/>
          <a:lstStyle/>
          <a:p>
            <a:pPr>
              <a:buNone/>
            </a:pPr>
            <a:r>
              <a:rPr lang="en-US" b="1" i="1" dirty="0" smtClean="0">
                <a:solidFill>
                  <a:srgbClr val="0070C0"/>
                </a:solidFill>
              </a:rPr>
              <a:t>a) Linear Probing:</a:t>
            </a:r>
          </a:p>
          <a:p>
            <a:r>
              <a:rPr lang="en-US" dirty="0" smtClean="0"/>
              <a:t> In linear probing, we linearly probe for next slot.</a:t>
            </a:r>
          </a:p>
          <a:p>
            <a:pPr fontAlgn="base"/>
            <a:r>
              <a:rPr lang="en-US" dirty="0" smtClean="0"/>
              <a:t>let </a:t>
            </a:r>
            <a:r>
              <a:rPr lang="en-US" b="1" dirty="0" smtClean="0"/>
              <a:t>hash(x)</a:t>
            </a:r>
            <a:r>
              <a:rPr lang="en-US" dirty="0" smtClean="0"/>
              <a:t> be the slot index computed using hash function and </a:t>
            </a:r>
            <a:r>
              <a:rPr lang="en-US" b="1" dirty="0" smtClean="0"/>
              <a:t>S</a:t>
            </a:r>
            <a:r>
              <a:rPr lang="en-US" dirty="0" smtClean="0"/>
              <a:t> be the table size</a:t>
            </a:r>
          </a:p>
          <a:p>
            <a:r>
              <a:rPr lang="en-US" dirty="0" smtClean="0"/>
              <a:t>If slot hash(x) % S is full, then we try (hash(x) + 1) % S</a:t>
            </a:r>
          </a:p>
          <a:p>
            <a:r>
              <a:rPr lang="en-US" dirty="0" smtClean="0"/>
              <a:t> If (hash(x) + 1) % S is also full, then we try (hash(x) + 2) % S</a:t>
            </a:r>
          </a:p>
          <a:p>
            <a:r>
              <a:rPr lang="en-US" dirty="0" smtClean="0"/>
              <a:t> If (hash(x) + 2) % S is also full, then we try (hash(x) + 3) % S and so on</a:t>
            </a:r>
            <a:endParaRPr lang="en-US" dirty="0"/>
          </a:p>
        </p:txBody>
      </p:sp>
      <p:sp>
        <p:nvSpPr>
          <p:cNvPr id="3" name="Date Placeholder 2"/>
          <p:cNvSpPr>
            <a:spLocks noGrp="1"/>
          </p:cNvSpPr>
          <p:nvPr>
            <p:ph type="dt" sz="half" idx="11"/>
          </p:nvPr>
        </p:nvSpPr>
        <p:spPr/>
        <p:txBody>
          <a:bodyPr/>
          <a:lstStyle/>
          <a:p>
            <a:fld id="{7E230104-9C61-4FDC-88A7-02890E61BA9F}" type="datetime2">
              <a:rPr lang="en-US" smtClean="0"/>
              <a:pPr/>
              <a:t>Saturday, September 17, 2022</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1"/>
          </p:nvPr>
        </p:nvSpPr>
        <p:spPr/>
        <p:txBody>
          <a:bodyPr/>
          <a:lstStyle/>
          <a:p>
            <a:fld id="{7E230104-9C61-4FDC-88A7-02890E61BA9F}" type="datetime2">
              <a:rPr lang="en-US" smtClean="0"/>
              <a:pPr/>
              <a:t>Saturday, September 17, 2022</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pic>
        <p:nvPicPr>
          <p:cNvPr id="1026" name="Picture 2"/>
          <p:cNvPicPr>
            <a:picLocks noGrp="1" noChangeAspect="1" noChangeArrowheads="1"/>
          </p:cNvPicPr>
          <p:nvPr>
            <p:ph idx="1"/>
          </p:nvPr>
        </p:nvPicPr>
        <p:blipFill>
          <a:blip r:embed="rId2"/>
          <a:srcRect/>
          <a:stretch>
            <a:fillRect/>
          </a:stretch>
        </p:blipFill>
        <p:spPr bwMode="auto">
          <a:xfrm>
            <a:off x="1523968" y="1357298"/>
            <a:ext cx="8572560" cy="4857784"/>
          </a:xfrm>
          <a:prstGeom prst="rect">
            <a:avLst/>
          </a:prstGeom>
          <a:noFill/>
          <a:ln w="9525">
            <a:noFill/>
            <a:miter lim="800000"/>
            <a:headEnd/>
            <a:tailEnd/>
          </a:ln>
          <a:effectLst/>
        </p:spPr>
      </p:pic>
      <p:sp>
        <p:nvSpPr>
          <p:cNvPr id="6" name="Rectangle 5"/>
          <p:cNvSpPr/>
          <p:nvPr/>
        </p:nvSpPr>
        <p:spPr>
          <a:xfrm>
            <a:off x="1095340" y="500043"/>
            <a:ext cx="9572692" cy="954107"/>
          </a:xfrm>
          <a:prstGeom prst="rect">
            <a:avLst/>
          </a:prstGeom>
        </p:spPr>
        <p:txBody>
          <a:bodyPr wrap="square">
            <a:spAutoFit/>
          </a:bodyPr>
          <a:lstStyle/>
          <a:p>
            <a:r>
              <a:rPr lang="en-US" sz="2800" dirty="0" smtClean="0"/>
              <a:t>Let us consider a simple hash function as “key mod 7” and sequence of keys as 50, 700, 76, 85, 92, 73, 101.</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b="1" dirty="0" smtClean="0"/>
              <a:t>Clustering:</a:t>
            </a:r>
            <a:r>
              <a:rPr lang="en-US" dirty="0" smtClean="0"/>
              <a:t> The main problem with linear probing is clustering, many consecutive elements form groups and it starts taking time to find a free slot or to search an element</a:t>
            </a:r>
            <a:endParaRPr lang="en-US" dirty="0"/>
          </a:p>
        </p:txBody>
      </p:sp>
      <p:sp>
        <p:nvSpPr>
          <p:cNvPr id="3" name="Date Placeholder 2"/>
          <p:cNvSpPr>
            <a:spLocks noGrp="1"/>
          </p:cNvSpPr>
          <p:nvPr>
            <p:ph type="dt" sz="half" idx="11"/>
          </p:nvPr>
        </p:nvSpPr>
        <p:spPr/>
        <p:txBody>
          <a:bodyPr/>
          <a:lstStyle/>
          <a:p>
            <a:fld id="{7E230104-9C61-4FDC-88A7-02890E61BA9F}" type="datetime2">
              <a:rPr lang="en-US" smtClean="0"/>
              <a:pPr/>
              <a:t>Saturday, September 17, 2022</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69085" y="785794"/>
            <a:ext cx="10515600" cy="5307501"/>
          </a:xfrm>
        </p:spPr>
        <p:txBody>
          <a:bodyPr>
            <a:normAutofit lnSpcReduction="10000"/>
          </a:bodyPr>
          <a:lstStyle/>
          <a:p>
            <a:pPr>
              <a:buNone/>
            </a:pPr>
            <a:r>
              <a:rPr lang="en-US" dirty="0" smtClean="0">
                <a:solidFill>
                  <a:srgbClr val="0070C0"/>
                </a:solidFill>
              </a:rPr>
              <a:t>Quadratic Probing</a:t>
            </a:r>
          </a:p>
          <a:p>
            <a:pPr>
              <a:buNone/>
            </a:pPr>
            <a:r>
              <a:rPr lang="en-US" dirty="0" smtClean="0"/>
              <a:t>To resolve the primary clustering problem, </a:t>
            </a:r>
            <a:r>
              <a:rPr lang="en-US" b="1" dirty="0" smtClean="0"/>
              <a:t>quadratic probing</a:t>
            </a:r>
            <a:r>
              <a:rPr lang="en-US" dirty="0" smtClean="0"/>
              <a:t> can be used. With quadratic probing, rather than always moving one spot, move i</a:t>
            </a:r>
            <a:r>
              <a:rPr lang="en-US" baseline="30000" dirty="0" smtClean="0"/>
              <a:t>2</a:t>
            </a:r>
            <a:r>
              <a:rPr lang="en-US" dirty="0" smtClean="0"/>
              <a:t> spots from the point of collision, where </a:t>
            </a:r>
            <a:r>
              <a:rPr lang="en-US" dirty="0" err="1" smtClean="0"/>
              <a:t>i</a:t>
            </a:r>
            <a:r>
              <a:rPr lang="en-US" dirty="0" smtClean="0"/>
              <a:t> is the number of attempts to resolve the collision.</a:t>
            </a:r>
            <a:endParaRPr lang="en-US" dirty="0" smtClean="0">
              <a:solidFill>
                <a:srgbClr val="0070C0"/>
              </a:solidFill>
            </a:endParaRPr>
          </a:p>
          <a:p>
            <a:r>
              <a:rPr lang="en-US" dirty="0" smtClean="0"/>
              <a:t>The probe sequence of quadratic probing is </a:t>
            </a:r>
          </a:p>
          <a:p>
            <a:pPr>
              <a:buNone/>
            </a:pPr>
            <a:r>
              <a:rPr lang="en-US" dirty="0" smtClean="0"/>
              <a:t>		hash(key) </a:t>
            </a:r>
          </a:p>
          <a:p>
            <a:pPr>
              <a:buNone/>
            </a:pPr>
            <a:r>
              <a:rPr lang="en-US" dirty="0" smtClean="0"/>
              <a:t>		( hash(key) + 1 ) % m</a:t>
            </a:r>
          </a:p>
          <a:p>
            <a:pPr>
              <a:buNone/>
            </a:pPr>
            <a:r>
              <a:rPr lang="en-US" dirty="0" smtClean="0"/>
              <a:t>		 ( hash(key) + 4 ) % m </a:t>
            </a:r>
          </a:p>
          <a:p>
            <a:pPr>
              <a:buNone/>
            </a:pPr>
            <a:r>
              <a:rPr lang="en-US" dirty="0" smtClean="0"/>
              <a:t>		( hash(key) + 9 ) % m</a:t>
            </a:r>
          </a:p>
          <a:p>
            <a:pPr>
              <a:buNone/>
            </a:pPr>
            <a:r>
              <a:rPr lang="en-US" dirty="0" smtClean="0"/>
              <a:t>		 ⁞ </a:t>
            </a:r>
          </a:p>
          <a:p>
            <a:pPr>
              <a:buNone/>
            </a:pPr>
            <a:r>
              <a:rPr lang="en-US" dirty="0" smtClean="0"/>
              <a:t>		( hash(key) + k2 ) % m</a:t>
            </a:r>
            <a:endParaRPr lang="en-US" dirty="0">
              <a:solidFill>
                <a:srgbClr val="0070C0"/>
              </a:solidFill>
            </a:endParaRPr>
          </a:p>
        </p:txBody>
      </p:sp>
      <p:sp>
        <p:nvSpPr>
          <p:cNvPr id="3" name="Date Placeholder 2"/>
          <p:cNvSpPr>
            <a:spLocks noGrp="1"/>
          </p:cNvSpPr>
          <p:nvPr>
            <p:ph type="dt" sz="half" idx="11"/>
          </p:nvPr>
        </p:nvSpPr>
        <p:spPr/>
        <p:txBody>
          <a:bodyPr/>
          <a:lstStyle/>
          <a:p>
            <a:fld id="{7E230104-9C61-4FDC-88A7-02890E61BA9F}" type="datetime2">
              <a:rPr lang="en-US" smtClean="0"/>
              <a:pPr/>
              <a:t>Saturday, September 17, 2022</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1"/>
          </p:nvPr>
        </p:nvSpPr>
        <p:spPr/>
        <p:txBody>
          <a:bodyPr/>
          <a:lstStyle/>
          <a:p>
            <a:fld id="{7E230104-9C61-4FDC-88A7-02890E61BA9F}" type="datetime2">
              <a:rPr lang="en-US" smtClean="0"/>
              <a:pPr/>
              <a:t>Saturday, September 17, 2022</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pic>
        <p:nvPicPr>
          <p:cNvPr id="3074" name="Picture 2"/>
          <p:cNvPicPr>
            <a:picLocks noGrp="1" noChangeAspect="1" noChangeArrowheads="1"/>
          </p:cNvPicPr>
          <p:nvPr>
            <p:ph idx="1"/>
          </p:nvPr>
        </p:nvPicPr>
        <p:blipFill>
          <a:blip r:embed="rId2"/>
          <a:srcRect/>
          <a:stretch>
            <a:fillRect/>
          </a:stretch>
        </p:blipFill>
        <p:spPr bwMode="auto">
          <a:xfrm>
            <a:off x="1666844" y="1071546"/>
            <a:ext cx="8643998" cy="5021279"/>
          </a:xfrm>
          <a:prstGeom prst="rect">
            <a:avLst/>
          </a:prstGeom>
          <a:noFill/>
          <a:ln w="9525">
            <a:noFill/>
            <a:miter lim="800000"/>
            <a:headEnd/>
            <a:tailEnd/>
          </a:ln>
          <a:effectLst/>
        </p:spPr>
      </p:pic>
      <p:sp>
        <p:nvSpPr>
          <p:cNvPr id="7" name="Rectangle 6"/>
          <p:cNvSpPr/>
          <p:nvPr/>
        </p:nvSpPr>
        <p:spPr>
          <a:xfrm>
            <a:off x="1452530" y="642918"/>
            <a:ext cx="5310832" cy="584775"/>
          </a:xfrm>
          <a:prstGeom prst="rect">
            <a:avLst/>
          </a:prstGeom>
        </p:spPr>
        <p:txBody>
          <a:bodyPr wrap="square">
            <a:spAutoFit/>
          </a:bodyPr>
          <a:lstStyle/>
          <a:p>
            <a:r>
              <a:rPr lang="en-US" sz="3200" dirty="0" smtClean="0"/>
              <a:t>For Example</a:t>
            </a:r>
            <a:endParaRPr lang="en-US" sz="3200"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69085" y="928670"/>
            <a:ext cx="10515600" cy="5164625"/>
          </a:xfrm>
        </p:spPr>
        <p:txBody>
          <a:bodyPr>
            <a:normAutofit/>
          </a:bodyPr>
          <a:lstStyle/>
          <a:p>
            <a:pPr>
              <a:buNone/>
            </a:pPr>
            <a:r>
              <a:rPr lang="en-US" dirty="0" smtClean="0"/>
              <a:t>H(49)=49%10=9</a:t>
            </a:r>
          </a:p>
          <a:p>
            <a:pPr>
              <a:buNone/>
            </a:pPr>
            <a:r>
              <a:rPr lang="en-US" dirty="0" smtClean="0"/>
              <a:t>9+1*1=10%10=0 free so insert 49 in 0</a:t>
            </a:r>
            <a:r>
              <a:rPr lang="en-US" baseline="30000" dirty="0" smtClean="0"/>
              <a:t>th</a:t>
            </a:r>
            <a:r>
              <a:rPr lang="en-US" dirty="0" smtClean="0"/>
              <a:t> index</a:t>
            </a:r>
          </a:p>
          <a:p>
            <a:pPr>
              <a:buNone/>
            </a:pPr>
            <a:endParaRPr lang="en-US" dirty="0" smtClean="0"/>
          </a:p>
          <a:p>
            <a:pPr>
              <a:buNone/>
            </a:pPr>
            <a:r>
              <a:rPr lang="en-US" dirty="0" smtClean="0"/>
              <a:t>H(58)=58%10=8 collision</a:t>
            </a:r>
          </a:p>
          <a:p>
            <a:pPr>
              <a:buNone/>
            </a:pPr>
            <a:r>
              <a:rPr lang="en-US" dirty="0" smtClean="0"/>
              <a:t>8+1*1=9%10=9 not free</a:t>
            </a:r>
          </a:p>
          <a:p>
            <a:pPr>
              <a:buNone/>
            </a:pPr>
            <a:r>
              <a:rPr lang="en-US" dirty="0" smtClean="0"/>
              <a:t>8+2*2=12%10=2 free</a:t>
            </a:r>
          </a:p>
          <a:p>
            <a:pPr>
              <a:buNone/>
            </a:pPr>
            <a:endParaRPr lang="en-US" dirty="0" smtClean="0"/>
          </a:p>
          <a:p>
            <a:pPr>
              <a:buNone/>
            </a:pPr>
            <a:r>
              <a:rPr lang="en-US" dirty="0" smtClean="0"/>
              <a:t>H(69)=69%10=9 collision</a:t>
            </a:r>
          </a:p>
          <a:p>
            <a:pPr>
              <a:buNone/>
            </a:pPr>
            <a:r>
              <a:rPr lang="en-US" dirty="0" smtClean="0"/>
              <a:t>9+1*1=10%10=0 not free</a:t>
            </a:r>
          </a:p>
          <a:p>
            <a:pPr>
              <a:buNone/>
            </a:pPr>
            <a:r>
              <a:rPr lang="en-US" dirty="0" smtClean="0"/>
              <a:t>9+2*2=13%10=3 free</a:t>
            </a:r>
          </a:p>
          <a:p>
            <a:pPr>
              <a:buNone/>
            </a:pPr>
            <a:endParaRPr lang="en-US" dirty="0"/>
          </a:p>
        </p:txBody>
      </p:sp>
      <p:sp>
        <p:nvSpPr>
          <p:cNvPr id="3" name="Date Placeholder 2"/>
          <p:cNvSpPr>
            <a:spLocks noGrp="1"/>
          </p:cNvSpPr>
          <p:nvPr>
            <p:ph type="dt" sz="half" idx="11"/>
          </p:nvPr>
        </p:nvSpPr>
        <p:spPr/>
        <p:txBody>
          <a:bodyPr/>
          <a:lstStyle/>
          <a:p>
            <a:fld id="{7E230104-9C61-4FDC-88A7-02890E61BA9F}" type="datetime2">
              <a:rPr lang="en-US" smtClean="0"/>
              <a:pPr/>
              <a:t>Saturday, September 17, 2022</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0960" y="714356"/>
            <a:ext cx="11501518" cy="5378939"/>
          </a:xfrm>
        </p:spPr>
        <p:txBody>
          <a:bodyPr/>
          <a:lstStyle/>
          <a:p>
            <a:pPr>
              <a:buNone/>
            </a:pPr>
            <a:r>
              <a:rPr lang="en-US" dirty="0" smtClean="0">
                <a:solidFill>
                  <a:srgbClr val="0070C0"/>
                </a:solidFill>
              </a:rPr>
              <a:t>Double Hashing</a:t>
            </a:r>
          </a:p>
          <a:p>
            <a:r>
              <a:rPr lang="en-US" dirty="0" smtClean="0"/>
              <a:t>Double hashing uses the idea of applying a second hash function to the key when a collision occurs. The result of the second hash function will be the number of positions from the point of collision to insert.</a:t>
            </a:r>
          </a:p>
          <a:p>
            <a:endParaRPr lang="en-US" dirty="0" smtClean="0"/>
          </a:p>
          <a:p>
            <a:r>
              <a:rPr lang="en-US" dirty="0" smtClean="0"/>
              <a:t>There are a couple of requirements for the second function:</a:t>
            </a:r>
          </a:p>
          <a:p>
            <a:pPr marL="514350" lvl="0" indent="-514350">
              <a:buFont typeface="+mj-lt"/>
              <a:buAutoNum type="arabicPeriod"/>
            </a:pPr>
            <a:r>
              <a:rPr lang="en-US" dirty="0" smtClean="0"/>
              <a:t>It must never evaluate to 0</a:t>
            </a:r>
          </a:p>
          <a:p>
            <a:pPr marL="514350" lvl="0" indent="-514350">
              <a:buFont typeface="+mj-lt"/>
              <a:buAutoNum type="arabicPeriod"/>
            </a:pPr>
            <a:r>
              <a:rPr lang="en-US" dirty="0" smtClean="0"/>
              <a:t>Must make sure that all cells can be probed</a:t>
            </a:r>
          </a:p>
          <a:p>
            <a:r>
              <a:rPr lang="en-US" dirty="0" smtClean="0"/>
              <a:t>A popular second hash function is :	H</a:t>
            </a:r>
            <a:r>
              <a:rPr lang="en-US" baseline="-25000" dirty="0" smtClean="0"/>
              <a:t>2</a:t>
            </a:r>
            <a:r>
              <a:rPr lang="en-US" dirty="0" smtClean="0"/>
              <a:t>(key) = R – (key % R)</a:t>
            </a:r>
          </a:p>
          <a:p>
            <a:r>
              <a:rPr lang="en-US" dirty="0" smtClean="0"/>
              <a:t>Where R is a prime number that is similar than the size of the table</a:t>
            </a:r>
          </a:p>
          <a:p>
            <a:pPr fontAlgn="base"/>
            <a:endParaRPr lang="en-US" dirty="0" smtClean="0"/>
          </a:p>
          <a:p>
            <a:pPr>
              <a:buNone/>
            </a:pPr>
            <a:endParaRPr lang="en-US" dirty="0">
              <a:solidFill>
                <a:srgbClr val="0070C0"/>
              </a:solidFill>
            </a:endParaRPr>
          </a:p>
        </p:txBody>
      </p:sp>
      <p:sp>
        <p:nvSpPr>
          <p:cNvPr id="3" name="Date Placeholder 2"/>
          <p:cNvSpPr>
            <a:spLocks noGrp="1"/>
          </p:cNvSpPr>
          <p:nvPr>
            <p:ph type="dt" sz="half" idx="11"/>
          </p:nvPr>
        </p:nvSpPr>
        <p:spPr/>
        <p:txBody>
          <a:bodyPr/>
          <a:lstStyle/>
          <a:p>
            <a:fld id="{7E230104-9C61-4FDC-88A7-02890E61BA9F}" type="datetime2">
              <a:rPr lang="en-US" smtClean="0"/>
              <a:pPr/>
              <a:t>Saturday, September 17, 2022</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1"/>
          </p:nvPr>
        </p:nvSpPr>
        <p:spPr/>
        <p:txBody>
          <a:bodyPr/>
          <a:lstStyle/>
          <a:p>
            <a:fld id="{7E230104-9C61-4FDC-88A7-02890E61BA9F}" type="datetime2">
              <a:rPr lang="en-US" smtClean="0"/>
              <a:pPr/>
              <a:t>Saturday, September 17, 2022</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pic>
        <p:nvPicPr>
          <p:cNvPr id="1026" name="Picture 2"/>
          <p:cNvPicPr>
            <a:picLocks noGrp="1" noChangeAspect="1" noChangeArrowheads="1"/>
          </p:cNvPicPr>
          <p:nvPr>
            <p:ph idx="1"/>
          </p:nvPr>
        </p:nvPicPr>
        <p:blipFill>
          <a:blip r:embed="rId2"/>
          <a:srcRect/>
          <a:stretch>
            <a:fillRect/>
          </a:stretch>
        </p:blipFill>
        <p:spPr bwMode="auto">
          <a:xfrm>
            <a:off x="1381092" y="3357562"/>
            <a:ext cx="9286940" cy="1285884"/>
          </a:xfrm>
          <a:prstGeom prst="rect">
            <a:avLst/>
          </a:prstGeom>
          <a:noFill/>
          <a:ln w="9525">
            <a:noFill/>
            <a:miter lim="800000"/>
            <a:headEnd/>
            <a:tailEnd/>
          </a:ln>
          <a:effectLst/>
        </p:spPr>
      </p:pic>
      <p:sp>
        <p:nvSpPr>
          <p:cNvPr id="1027" name="Rectangle 3"/>
          <p:cNvSpPr>
            <a:spLocks noChangeArrowheads="1"/>
          </p:cNvSpPr>
          <p:nvPr/>
        </p:nvSpPr>
        <p:spPr bwMode="auto">
          <a:xfrm>
            <a:off x="1523968" y="428604"/>
            <a:ext cx="9286940" cy="181588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sz="2800" b="0" i="0" u="none" strike="noStrike" cap="none" normalizeH="0" baseline="0" dirty="0" smtClean="0">
                <a:ln>
                  <a:noFill/>
                </a:ln>
                <a:solidFill>
                  <a:schemeClr val="tx1"/>
                </a:solidFill>
                <a:effectLst/>
                <a:latin typeface="Arial" pitchFamily="34" charset="0"/>
                <a:ea typeface="Times New Roman" pitchFamily="18" charset="0"/>
                <a:cs typeface="Calibri" pitchFamily="34" charset="0"/>
              </a:rPr>
              <a:t>Table size = 10 </a:t>
            </a:r>
            <a:endParaRPr kumimoji="0" lang="en-US" sz="28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sz="2800" b="0" i="0" u="none" strike="noStrike" cap="none" normalizeH="0" baseline="0" dirty="0" smtClean="0">
                <a:ln>
                  <a:noFill/>
                </a:ln>
                <a:solidFill>
                  <a:schemeClr val="tx1"/>
                </a:solidFill>
                <a:effectLst/>
                <a:latin typeface="Arial" pitchFamily="34" charset="0"/>
                <a:ea typeface="Times New Roman" pitchFamily="18" charset="0"/>
                <a:cs typeface="Calibri" pitchFamily="34" charset="0"/>
              </a:rPr>
              <a:t>Hash</a:t>
            </a:r>
            <a:r>
              <a:rPr kumimoji="0" lang="en-US" sz="2800" b="0" i="0" u="none" strike="noStrike" cap="none" normalizeH="0" baseline="-30000" dirty="0" smtClean="0">
                <a:ln>
                  <a:noFill/>
                </a:ln>
                <a:solidFill>
                  <a:schemeClr val="tx1"/>
                </a:solidFill>
                <a:effectLst/>
                <a:latin typeface="Arial" pitchFamily="34" charset="0"/>
                <a:ea typeface="Times New Roman" pitchFamily="18" charset="0"/>
                <a:cs typeface="Calibri" pitchFamily="34" charset="0"/>
              </a:rPr>
              <a:t>1 </a:t>
            </a:r>
            <a:r>
              <a:rPr kumimoji="0" lang="en-US" sz="2800" b="0" i="0" u="none" strike="noStrike" cap="none" normalizeH="0" baseline="0" dirty="0" smtClean="0">
                <a:ln>
                  <a:noFill/>
                </a:ln>
                <a:solidFill>
                  <a:schemeClr val="tx1"/>
                </a:solidFill>
                <a:effectLst/>
                <a:latin typeface="Arial" pitchFamily="34" charset="0"/>
                <a:ea typeface="Times New Roman" pitchFamily="18" charset="0"/>
                <a:cs typeface="Calibri" pitchFamily="34" charset="0"/>
              </a:rPr>
              <a:t>(key) = key % 10</a:t>
            </a:r>
            <a:endParaRPr kumimoji="0" lang="en-US" sz="28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sz="2800" b="0" i="0" u="none" strike="noStrike" cap="none" normalizeH="0" baseline="0" dirty="0" smtClean="0">
                <a:ln>
                  <a:noFill/>
                </a:ln>
                <a:solidFill>
                  <a:schemeClr val="tx1"/>
                </a:solidFill>
                <a:effectLst/>
                <a:latin typeface="Arial" pitchFamily="34" charset="0"/>
                <a:ea typeface="Times New Roman" pitchFamily="18" charset="0"/>
                <a:cs typeface="Calibri" pitchFamily="34" charset="0"/>
              </a:rPr>
              <a:t>Hash</a:t>
            </a:r>
            <a:r>
              <a:rPr kumimoji="0" lang="en-US" sz="2800" b="0" i="0" u="none" strike="noStrike" cap="none" normalizeH="0" baseline="-30000" dirty="0" smtClean="0">
                <a:ln>
                  <a:noFill/>
                </a:ln>
                <a:solidFill>
                  <a:schemeClr val="tx1"/>
                </a:solidFill>
                <a:effectLst/>
                <a:latin typeface="Arial" pitchFamily="34" charset="0"/>
                <a:ea typeface="Times New Roman" pitchFamily="18" charset="0"/>
                <a:cs typeface="Calibri" pitchFamily="34" charset="0"/>
              </a:rPr>
              <a:t>2 </a:t>
            </a:r>
            <a:r>
              <a:rPr kumimoji="0" lang="en-US" sz="2800" b="0" i="0" u="none" strike="noStrike" cap="none" normalizeH="0" baseline="0" dirty="0" smtClean="0">
                <a:ln>
                  <a:noFill/>
                </a:ln>
                <a:solidFill>
                  <a:schemeClr val="tx1"/>
                </a:solidFill>
                <a:effectLst/>
                <a:latin typeface="Arial" pitchFamily="34" charset="0"/>
                <a:ea typeface="Times New Roman" pitchFamily="18" charset="0"/>
                <a:cs typeface="Calibri" pitchFamily="34" charset="0"/>
              </a:rPr>
              <a:t>(key) = 7 – (key % 7)</a:t>
            </a:r>
            <a:endParaRPr kumimoji="0" lang="en-US" sz="28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kumimoji="0" lang="en-US" sz="2800" b="0" i="0" u="none" strike="noStrike" cap="none" normalizeH="0" baseline="0" dirty="0" smtClean="0">
                <a:ln>
                  <a:noFill/>
                </a:ln>
                <a:solidFill>
                  <a:schemeClr val="tx1"/>
                </a:solidFill>
                <a:effectLst/>
                <a:latin typeface="Arial" pitchFamily="34" charset="0"/>
                <a:ea typeface="Times New Roman" pitchFamily="18" charset="0"/>
                <a:cs typeface="Calibri" pitchFamily="34" charset="0"/>
              </a:rPr>
              <a:t>Because 7 is a prime number than the size of the table</a:t>
            </a:r>
            <a:endParaRPr kumimoji="0" lang="en-US" sz="28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69085" y="714356"/>
            <a:ext cx="10515600" cy="5378939"/>
          </a:xfrm>
        </p:spPr>
        <p:txBody>
          <a:bodyPr>
            <a:normAutofit/>
          </a:bodyPr>
          <a:lstStyle/>
          <a:p>
            <a:r>
              <a:rPr lang="en-US" dirty="0" smtClean="0"/>
              <a:t>Insert keys: 89, 18, 49, 58, 69</a:t>
            </a:r>
          </a:p>
          <a:p>
            <a:endParaRPr lang="en-US" dirty="0" smtClean="0"/>
          </a:p>
          <a:p>
            <a:r>
              <a:rPr lang="en-US" dirty="0" smtClean="0"/>
              <a:t>Hash (89) = 89 % 10 = 9</a:t>
            </a:r>
          </a:p>
          <a:p>
            <a:r>
              <a:rPr lang="en-US" dirty="0" smtClean="0"/>
              <a:t>Hash (18) = 18 % 10 = 8</a:t>
            </a:r>
          </a:p>
          <a:p>
            <a:pPr>
              <a:buNone/>
            </a:pPr>
            <a:r>
              <a:rPr lang="en-US" dirty="0" smtClean="0"/>
              <a:t> </a:t>
            </a:r>
          </a:p>
          <a:p>
            <a:r>
              <a:rPr lang="en-US" dirty="0" smtClean="0"/>
              <a:t>Hash</a:t>
            </a:r>
            <a:r>
              <a:rPr lang="en-US" baseline="-25000" dirty="0" smtClean="0"/>
              <a:t>1</a:t>
            </a:r>
            <a:r>
              <a:rPr lang="en-US" dirty="0" smtClean="0"/>
              <a:t> (49) = 49 % 10 = 9;  it’s a collision</a:t>
            </a:r>
          </a:p>
          <a:p>
            <a:r>
              <a:rPr lang="en-US" dirty="0" smtClean="0"/>
              <a:t>Hash</a:t>
            </a:r>
            <a:r>
              <a:rPr lang="en-US" baseline="-25000" dirty="0" smtClean="0"/>
              <a:t>2 </a:t>
            </a:r>
            <a:r>
              <a:rPr lang="en-US" dirty="0" smtClean="0"/>
              <a:t>(49) = 7 – (49 % 7) = 7; positions from location 9</a:t>
            </a:r>
          </a:p>
          <a:p>
            <a:pPr>
              <a:buNone/>
            </a:pPr>
            <a:r>
              <a:rPr lang="en-US" dirty="0" smtClean="0"/>
              <a:t> </a:t>
            </a:r>
          </a:p>
          <a:p>
            <a:r>
              <a:rPr lang="en-US" dirty="0" smtClean="0"/>
              <a:t>Hash</a:t>
            </a:r>
            <a:r>
              <a:rPr lang="en-US" baseline="-25000" dirty="0" smtClean="0"/>
              <a:t>1</a:t>
            </a:r>
            <a:r>
              <a:rPr lang="en-US" dirty="0" smtClean="0"/>
              <a:t> (58) = 58 % 10 =8; it’s a collision</a:t>
            </a:r>
          </a:p>
          <a:p>
            <a:r>
              <a:rPr lang="en-US" dirty="0" smtClean="0"/>
              <a:t>Hash</a:t>
            </a:r>
            <a:r>
              <a:rPr lang="en-US" baseline="-25000" dirty="0" smtClean="0"/>
              <a:t>2</a:t>
            </a:r>
            <a:r>
              <a:rPr lang="en-US" dirty="0" smtClean="0"/>
              <a:t> (58) = 7 – (58 % 7) = 5; positions from location 8</a:t>
            </a:r>
          </a:p>
          <a:p>
            <a:endParaRPr lang="en-US" dirty="0"/>
          </a:p>
        </p:txBody>
      </p:sp>
      <p:sp>
        <p:nvSpPr>
          <p:cNvPr id="3" name="Date Placeholder 2"/>
          <p:cNvSpPr>
            <a:spLocks noGrp="1"/>
          </p:cNvSpPr>
          <p:nvPr>
            <p:ph type="dt" sz="half" idx="11"/>
          </p:nvPr>
        </p:nvSpPr>
        <p:spPr/>
        <p:txBody>
          <a:bodyPr/>
          <a:lstStyle/>
          <a:p>
            <a:fld id="{7E230104-9C61-4FDC-88A7-02890E61BA9F}" type="datetime2">
              <a:rPr lang="en-US" smtClean="0"/>
              <a:pPr/>
              <a:t>Saturday, September 17, 2022</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1"/>
          </p:nvPr>
        </p:nvSpPr>
        <p:spPr/>
        <p:txBody>
          <a:bodyPr/>
          <a:lstStyle/>
          <a:p>
            <a:fld id="{7E230104-9C61-4FDC-88A7-02890E61BA9F}" type="datetime2">
              <a:rPr lang="en-US" smtClean="0"/>
              <a:pPr/>
              <a:t>Saturday, September 17, 2022</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pic>
        <p:nvPicPr>
          <p:cNvPr id="52226" name="Picture 2"/>
          <p:cNvPicPr>
            <a:picLocks noGrp="1" noChangeAspect="1" noChangeArrowheads="1"/>
          </p:cNvPicPr>
          <p:nvPr>
            <p:ph idx="1"/>
          </p:nvPr>
        </p:nvPicPr>
        <p:blipFill>
          <a:blip r:embed="rId2"/>
          <a:srcRect/>
          <a:stretch>
            <a:fillRect/>
          </a:stretch>
        </p:blipFill>
        <p:spPr bwMode="auto">
          <a:xfrm>
            <a:off x="1166778" y="214290"/>
            <a:ext cx="11025221" cy="664371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69085" y="1214422"/>
            <a:ext cx="10515600" cy="4878873"/>
          </a:xfrm>
        </p:spPr>
        <p:txBody>
          <a:bodyPr>
            <a:normAutofit/>
            <a:scene3d>
              <a:camera prst="orthographicFront"/>
              <a:lightRig rig="threePt" dir="t"/>
            </a:scene3d>
            <a:sp3d extrusionH="31750">
              <a:bevelT w="25400" h="69850"/>
              <a:bevelB w="12700"/>
            </a:sp3d>
          </a:bodyPr>
          <a:lstStyle/>
          <a:p>
            <a:pPr algn="ctr">
              <a:buNone/>
            </a:pPr>
            <a:endParaRPr lang="en-US" sz="8000" dirty="0" smtClean="0">
              <a:ln>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endParaRPr>
          </a:p>
          <a:p>
            <a:pPr algn="ctr">
              <a:buNone/>
            </a:pPr>
            <a:r>
              <a:rPr lang="en-US" sz="9600" dirty="0" smtClean="0">
                <a:ln>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solidFill>
                  <a:srgbClr val="FF5050"/>
                </a:solidFill>
                <a:latin typeface="Brush Script MT" pitchFamily="66" charset="0"/>
              </a:rPr>
              <a:t>Thank You</a:t>
            </a:r>
            <a:endParaRPr lang="en-US" sz="9600" dirty="0">
              <a:ln>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solidFill>
                <a:srgbClr val="FF5050"/>
              </a:solidFill>
              <a:latin typeface="Brush Script MT" pitchFamily="66" charset="0"/>
            </a:endParaRPr>
          </a:p>
        </p:txBody>
      </p:sp>
      <p:sp>
        <p:nvSpPr>
          <p:cNvPr id="3" name="Date Placeholder 2"/>
          <p:cNvSpPr>
            <a:spLocks noGrp="1"/>
          </p:cNvSpPr>
          <p:nvPr>
            <p:ph type="dt" sz="half" idx="11"/>
          </p:nvPr>
        </p:nvSpPr>
        <p:spPr/>
        <p:txBody>
          <a:bodyPr/>
          <a:lstStyle/>
          <a:p>
            <a:fld id="{7E230104-9C61-4FDC-88A7-02890E61BA9F}" type="datetime2">
              <a:rPr lang="en-US" smtClean="0"/>
              <a:pPr/>
              <a:t>Saturday, September 17, 2022</a:t>
            </a:fld>
            <a:endParaRPr lang="en-US" dirty="0"/>
          </a:p>
        </p:txBody>
      </p:sp>
      <p:sp>
        <p:nvSpPr>
          <p:cNvPr id="4" name="Footer Placeholder 3"/>
          <p:cNvSpPr>
            <a:spLocks noGrp="1"/>
          </p:cNvSpPr>
          <p:nvPr>
            <p:ph type="ftr" sz="quarter" idx="12"/>
          </p:nvPr>
        </p:nvSpPr>
        <p:spPr/>
        <p:txBody>
          <a:bodyPr/>
          <a:lstStyle/>
          <a:p>
            <a:r>
              <a:rPr lang="en-US" smtClean="0"/>
              <a:t>S. Neelima, Sr. Asst.Prof, Dept.of  IT</a:t>
            </a:r>
            <a:endParaRPr lang="en-U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web techno">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web techno</Template>
  <TotalTime>582</TotalTime>
  <Words>1850</Words>
  <Application>Microsoft Office PowerPoint</Application>
  <PresentationFormat>Custom</PresentationFormat>
  <Paragraphs>272</Paragraphs>
  <Slides>36</Slides>
  <Notes>1</Notes>
  <HiddenSlides>0</HiddenSlides>
  <MMClips>0</MMClips>
  <ScaleCrop>false</ScaleCrop>
  <HeadingPairs>
    <vt:vector size="4" baseType="variant">
      <vt:variant>
        <vt:lpstr>Theme</vt:lpstr>
      </vt:variant>
      <vt:variant>
        <vt:i4>1</vt:i4>
      </vt:variant>
      <vt:variant>
        <vt:lpstr>Slide Titles</vt:lpstr>
      </vt:variant>
      <vt:variant>
        <vt:i4>36</vt:i4>
      </vt:variant>
    </vt:vector>
  </HeadingPairs>
  <TitlesOfParts>
    <vt:vector size="37" baseType="lpstr">
      <vt:lpstr>web techno</vt:lpstr>
      <vt:lpstr>ADVANCED DATA STRUCTURES</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 TECHNOLOGIES</dc:title>
  <dc:creator>sai</dc:creator>
  <cp:lastModifiedBy>admin</cp:lastModifiedBy>
  <cp:revision>63</cp:revision>
  <dcterms:created xsi:type="dcterms:W3CDTF">2020-05-07T03:43:33Z</dcterms:created>
  <dcterms:modified xsi:type="dcterms:W3CDTF">2022-09-17T06:03:36Z</dcterms:modified>
</cp:coreProperties>
</file>