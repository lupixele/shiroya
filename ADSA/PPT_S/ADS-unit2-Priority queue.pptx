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3"/>
  </p:notesMasterIdLst>
  <p:sldIdLst>
    <p:sldId id="256" r:id="rId2"/>
    <p:sldId id="267" r:id="rId3"/>
    <p:sldId id="414" r:id="rId4"/>
    <p:sldId id="415" r:id="rId5"/>
    <p:sldId id="416" r:id="rId6"/>
    <p:sldId id="417" r:id="rId7"/>
    <p:sldId id="418" r:id="rId8"/>
    <p:sldId id="419" r:id="rId9"/>
    <p:sldId id="420" r:id="rId10"/>
    <p:sldId id="421" r:id="rId11"/>
    <p:sldId id="422" r:id="rId12"/>
    <p:sldId id="423" r:id="rId13"/>
    <p:sldId id="424" r:id="rId14"/>
    <p:sldId id="425" r:id="rId15"/>
    <p:sldId id="426" r:id="rId16"/>
    <p:sldId id="427" r:id="rId17"/>
    <p:sldId id="428" r:id="rId18"/>
    <p:sldId id="429" r:id="rId19"/>
    <p:sldId id="430" r:id="rId20"/>
    <p:sldId id="431"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5050"/>
    <a:srgbClr val="CC00CC"/>
    <a:srgbClr val="660066"/>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0" d="100"/>
          <a:sy n="70" d="100"/>
        </p:scale>
        <p:origin x="-720" y="-54"/>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11/5/2022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Title 1">
            <a:extLst>
              <a:ext uri="{FF2B5EF4-FFF2-40B4-BE49-F238E27FC236}">
                <a16:creationId xmlns="" xmlns:a16="http://schemas.microsoft.com/office/drawing/2014/main" id="{5958E5E2-6682-4BC1-BE42-9B3D8EFAAB0B}"/>
              </a:ext>
            </a:extLst>
          </p:cNvPr>
          <p:cNvSpPr txBox="1">
            <a:spLocks/>
          </p:cNvSpPr>
          <p:nvPr userDrawn="1"/>
        </p:nvSpPr>
        <p:spPr>
          <a:xfrm>
            <a:off x="1809720" y="285728"/>
            <a:ext cx="10072758" cy="642942"/>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IN" sz="4000" dirty="0">
                <a:solidFill>
                  <a:srgbClr val="002060"/>
                </a:solidFill>
                <a:latin typeface="Britannic Bold" panose="020B0903060703020204" pitchFamily="34" charset="0"/>
                <a:cs typeface="Times New Roman" panose="02020603050405020304" pitchFamily="18" charset="0"/>
              </a:rPr>
              <a:t>ADITYA </a:t>
            </a:r>
            <a:r>
              <a:rPr lang="en-IN" sz="4000" dirty="0" smtClean="0">
                <a:solidFill>
                  <a:srgbClr val="002060"/>
                </a:solidFill>
                <a:latin typeface="Britannic Bold" panose="020B0903060703020204" pitchFamily="34" charset="0"/>
                <a:cs typeface="Times New Roman" panose="02020603050405020304" pitchFamily="18" charset="0"/>
              </a:rPr>
              <a:t>ENGINEERING COLLEGE (A)</a:t>
            </a:r>
            <a:endParaRPr lang="en-IN" sz="4000" dirty="0">
              <a:solidFill>
                <a:srgbClr val="002060"/>
              </a:solidFill>
              <a:latin typeface="Britannic Bold" panose="020B0903060703020204" pitchFamily="34" charset="0"/>
              <a:cs typeface="Times New Roman" panose="02020603050405020304" pitchFamily="18" charset="0"/>
            </a:endParaRPr>
          </a:p>
        </p:txBody>
      </p:sp>
      <p:pic>
        <p:nvPicPr>
          <p:cNvPr id="8" name="Picture 7">
            <a:extLst>
              <a:ext uri="{FF2B5EF4-FFF2-40B4-BE49-F238E27FC236}">
                <a16:creationId xmlns="" xmlns:a16="http://schemas.microsoft.com/office/drawing/2014/main" id="{5D981076-ED8C-43FB-A166-D94C61E80896}"/>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309522" y="116632"/>
            <a:ext cx="1578225" cy="936104"/>
          </a:xfrm>
          <a:prstGeom prst="rect">
            <a:avLst/>
          </a:prstGeom>
        </p:spPr>
      </p:pic>
    </p:spTree>
    <p:extLst>
      <p:ext uri="{BB962C8B-B14F-4D97-AF65-F5344CB8AC3E}">
        <p14:creationId xmlns=""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smtClean="0"/>
              <a:t>Click to edit Master text styles</a:t>
            </a:r>
          </a:p>
        </p:txBody>
      </p:sp>
      <p:pic>
        <p:nvPicPr>
          <p:cNvPr id="7" name="Picture 6">
            <a:extLst>
              <a:ext uri="{FF2B5EF4-FFF2-40B4-BE49-F238E27FC236}">
                <a16:creationId xmlns="" xmlns:a16="http://schemas.microsoft.com/office/drawing/2014/main" id="{DCD7B29F-4C46-4AE5-A85E-952C6A33758B}"/>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39398" y="136525"/>
            <a:ext cx="784504" cy="465318"/>
          </a:xfrm>
          <a:prstGeom prst="rect">
            <a:avLst/>
          </a:prstGeom>
        </p:spPr>
      </p:pic>
      <p:sp>
        <p:nvSpPr>
          <p:cNvPr id="8" name="Rectangle 7">
            <a:extLst>
              <a:ext uri="{FF2B5EF4-FFF2-40B4-BE49-F238E27FC236}">
                <a16:creationId xmlns="" xmlns:a16="http://schemas.microsoft.com/office/drawing/2014/main" id="{1F423809-851F-402C-8E33-04AEE45A2C34}"/>
              </a:ext>
            </a:extLst>
          </p:cNvPr>
          <p:cNvSpPr/>
          <p:nvPr userDrawn="1"/>
        </p:nvSpPr>
        <p:spPr>
          <a:xfrm>
            <a:off x="8310578" y="132319"/>
            <a:ext cx="3504101" cy="307777"/>
          </a:xfrm>
          <a:prstGeom prst="rect">
            <a:avLst/>
          </a:prstGeom>
        </p:spPr>
        <p:txBody>
          <a:bodyPr wrap="square">
            <a:spAutoFit/>
          </a:bodyPr>
          <a:lstStyle/>
          <a:p>
            <a:pPr algn="ctr"/>
            <a:r>
              <a:rPr lang="en-US" sz="1400" b="1" dirty="0" smtClean="0">
                <a:solidFill>
                  <a:srgbClr val="00B0F0"/>
                </a:solidFill>
              </a:rPr>
              <a:t>Aditya </a:t>
            </a:r>
            <a:r>
              <a:rPr lang="en-US" sz="1400" b="1" baseline="0" dirty="0" smtClean="0">
                <a:solidFill>
                  <a:srgbClr val="00B0F0"/>
                </a:solidFill>
              </a:rPr>
              <a:t>Engineering </a:t>
            </a:r>
            <a:r>
              <a:rPr lang="en-US" sz="1400" b="1" dirty="0" smtClean="0">
                <a:solidFill>
                  <a:srgbClr val="00B0F0"/>
                </a:solidFill>
              </a:rPr>
              <a:t>College  (A)</a:t>
            </a:r>
            <a:endParaRPr lang="en-IN" sz="1400" b="1" dirty="0">
              <a:solidFill>
                <a:srgbClr val="00B0F0"/>
              </a:solidFill>
            </a:endParaRPr>
          </a:p>
        </p:txBody>
      </p:sp>
      <p:sp>
        <p:nvSpPr>
          <p:cNvPr id="10" name="Date Placeholder 2">
            <a:extLst>
              <a:ext uri="{FF2B5EF4-FFF2-40B4-BE49-F238E27FC236}">
                <a16:creationId xmlns="" xmlns:a16="http://schemas.microsoft.com/office/drawing/2014/main" id="{C8CBE8F9-096B-48BD-AF91-C68E84B4AE0C}"/>
              </a:ext>
            </a:extLst>
          </p:cNvPr>
          <p:cNvSpPr>
            <a:spLocks noGrp="1"/>
          </p:cNvSpPr>
          <p:nvPr>
            <p:ph type="dt" sz="half" idx="11"/>
          </p:nvPr>
        </p:nvSpPr>
        <p:spPr>
          <a:xfrm>
            <a:off x="9239272" y="6286520"/>
            <a:ext cx="2104513" cy="365125"/>
          </a:xfrm>
          <a:ln>
            <a:noFill/>
          </a:ln>
        </p:spPr>
        <p:txBody>
          <a:bodyPr/>
          <a:lstStyle>
            <a:lvl1pPr>
              <a:defRPr b="1">
                <a:solidFill>
                  <a:schemeClr val="bg1">
                    <a:lumMod val="50000"/>
                  </a:schemeClr>
                </a:solidFill>
              </a:defRPr>
            </a:lvl1pPr>
          </a:lstStyle>
          <a:p>
            <a:fld id="{7E230104-9C61-4FDC-88A7-02890E61BA9F}" type="datetime2">
              <a:rPr lang="en-US" smtClean="0"/>
              <a:pPr/>
              <a:t>Saturday, November 5, 2022</a:t>
            </a:fld>
            <a:endParaRPr lang="en-US" dirty="0"/>
          </a:p>
        </p:txBody>
      </p:sp>
      <p:sp>
        <p:nvSpPr>
          <p:cNvPr id="11" name="Footer Placeholder 3">
            <a:extLst>
              <a:ext uri="{FF2B5EF4-FFF2-40B4-BE49-F238E27FC236}">
                <a16:creationId xmlns="" xmlns:a16="http://schemas.microsoft.com/office/drawing/2014/main" id="{9B80BD04-4FB9-48ED-8F04-82E1E9B47D6D}"/>
              </a:ext>
            </a:extLst>
          </p:cNvPr>
          <p:cNvSpPr>
            <a:spLocks noGrp="1"/>
          </p:cNvSpPr>
          <p:nvPr>
            <p:ph type="ftr" sz="quarter" idx="12"/>
          </p:nvPr>
        </p:nvSpPr>
        <p:spPr>
          <a:xfrm>
            <a:off x="4138618" y="6286520"/>
            <a:ext cx="2743200" cy="365125"/>
          </a:xfrm>
          <a:ln>
            <a:noFill/>
          </a:ln>
        </p:spPr>
        <p:txBody>
          <a:bodyPr/>
          <a:lstStyle>
            <a:lvl1pPr>
              <a:defRPr b="1">
                <a:solidFill>
                  <a:schemeClr val="bg1">
                    <a:lumMod val="50000"/>
                  </a:schemeClr>
                </a:solidFill>
              </a:defRPr>
            </a:lvl1pPr>
          </a:lstStyle>
          <a:p>
            <a:r>
              <a:rPr lang="en-US" smtClean="0"/>
              <a:t>S. Neelima, Sr. Asst.Prof, Dept.of  IT</a:t>
            </a:r>
            <a:endParaRPr lang="en-US" dirty="0"/>
          </a:p>
        </p:txBody>
      </p:sp>
      <p:sp>
        <p:nvSpPr>
          <p:cNvPr id="13" name="Footer Placeholder 3">
            <a:extLst>
              <a:ext uri="{FF2B5EF4-FFF2-40B4-BE49-F238E27FC236}">
                <a16:creationId xmlns="" xmlns:a16="http://schemas.microsoft.com/office/drawing/2014/main" id="{308BF50B-84FA-461A-853E-B94880E9E727}"/>
              </a:ext>
            </a:extLst>
          </p:cNvPr>
          <p:cNvSpPr txBox="1">
            <a:spLocks/>
          </p:cNvSpPr>
          <p:nvPr userDrawn="1"/>
        </p:nvSpPr>
        <p:spPr>
          <a:xfrm>
            <a:off x="738151" y="6278585"/>
            <a:ext cx="1928825" cy="365125"/>
          </a:xfrm>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lumMod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sv-SE" dirty="0" smtClean="0"/>
              <a:t>Advanced Data Structures</a:t>
            </a:r>
            <a:endParaRPr lang="en-US" dirty="0"/>
          </a:p>
        </p:txBody>
      </p:sp>
    </p:spTree>
    <p:extLst>
      <p:ext uri="{BB962C8B-B14F-4D97-AF65-F5344CB8AC3E}">
        <p14:creationId xmlns=""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D6C631-9239-4D11-BA61-09F7181CE1FB}"/>
              </a:ext>
            </a:extLst>
          </p:cNvPr>
          <p:cNvSpPr>
            <a:spLocks noGrp="1"/>
          </p:cNvSpPr>
          <p:nvPr>
            <p:ph type="title"/>
          </p:nvPr>
        </p:nvSpPr>
        <p:spPr/>
        <p:txBody>
          <a:bodyPr/>
          <a:lstStyle/>
          <a:p>
            <a:r>
              <a:rPr lang="en-US" smtClean="0"/>
              <a:t>Click to edit Master title style</a:t>
            </a:r>
            <a:endParaRPr lang="en-IN"/>
          </a:p>
        </p:txBody>
      </p:sp>
      <p:sp>
        <p:nvSpPr>
          <p:cNvPr id="3" name="Date Placeholder 2">
            <a:extLst>
              <a:ext uri="{FF2B5EF4-FFF2-40B4-BE49-F238E27FC236}">
                <a16:creationId xmlns="" xmlns:a16="http://schemas.microsoft.com/office/drawing/2014/main" id="{B03F9D61-4741-4EB6-928C-183F6ED0860B}"/>
              </a:ext>
            </a:extLst>
          </p:cNvPr>
          <p:cNvSpPr>
            <a:spLocks noGrp="1"/>
          </p:cNvSpPr>
          <p:nvPr>
            <p:ph type="dt" sz="half" idx="10"/>
          </p:nvPr>
        </p:nvSpPr>
        <p:spPr/>
        <p:txBody>
          <a:bodyPr/>
          <a:lstStyle/>
          <a:p>
            <a:fld id="{410E6F8B-7B68-42AC-95D2-1532EE6A5416}" type="datetime2">
              <a:rPr lang="en-US" smtClean="0"/>
              <a:pPr/>
              <a:t>Saturday, November 5, 2022</a:t>
            </a:fld>
            <a:endParaRPr lang="en-US"/>
          </a:p>
        </p:txBody>
      </p:sp>
      <p:sp>
        <p:nvSpPr>
          <p:cNvPr id="4" name="Footer Placeholder 3">
            <a:extLst>
              <a:ext uri="{FF2B5EF4-FFF2-40B4-BE49-F238E27FC236}">
                <a16:creationId xmlns="" xmlns:a16="http://schemas.microsoft.com/office/drawing/2014/main" id="{7A5A7B3A-4429-42CF-B646-3FD3F3460B9A}"/>
              </a:ext>
            </a:extLst>
          </p:cNvPr>
          <p:cNvSpPr>
            <a:spLocks noGrp="1"/>
          </p:cNvSpPr>
          <p:nvPr>
            <p:ph type="ftr" sz="quarter" idx="11"/>
          </p:nvPr>
        </p:nvSpPr>
        <p:spPr/>
        <p:txBody>
          <a:bodyPr/>
          <a:lstStyle/>
          <a:p>
            <a:r>
              <a:rPr lang="en-US" smtClean="0"/>
              <a:t>S. Neelima, Sr. Asst.Prof, Dept.of  IT</a:t>
            </a:r>
            <a:endParaRPr lang="en-US"/>
          </a:p>
        </p:txBody>
      </p:sp>
      <p:sp>
        <p:nvSpPr>
          <p:cNvPr id="5" name="Slide Number Placeholder 4">
            <a:extLst>
              <a:ext uri="{FF2B5EF4-FFF2-40B4-BE49-F238E27FC236}">
                <a16:creationId xmlns="" xmlns:a16="http://schemas.microsoft.com/office/drawing/2014/main" id="{83245426-362C-48C8-9EA2-C525ADFA6237}"/>
              </a:ext>
            </a:extLst>
          </p:cNvPr>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415722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984D79-7D99-4D24-A266-5900946BBF93}" type="datetime2">
              <a:rPr lang="en-US" smtClean="0"/>
              <a:pPr/>
              <a:t>Saturday, November 5, 2022</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35515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B9E310-4F3A-4C9F-93AB-A3355C3BA67A}" type="datetime2">
              <a:rPr lang="en-US" smtClean="0"/>
              <a:pPr/>
              <a:t>Saturday, November 5, 2022</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219804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6867746-6F13-4896-A863-1FD6C798DEA6}" type="datetime2">
              <a:rPr lang="en-US" smtClean="0"/>
              <a:pPr/>
              <a:t>Saturday, November 5, 2022</a:t>
            </a:fld>
            <a:endParaRPr lang="en-US"/>
          </a:p>
        </p:txBody>
      </p:sp>
      <p:sp>
        <p:nvSpPr>
          <p:cNvPr id="8" name="Footer Placeholder 7"/>
          <p:cNvSpPr>
            <a:spLocks noGrp="1"/>
          </p:cNvSpPr>
          <p:nvPr>
            <p:ph type="ftr" sz="quarter" idx="11"/>
          </p:nvPr>
        </p:nvSpPr>
        <p:spPr/>
        <p:txBody>
          <a:bodyPr/>
          <a:lstStyle/>
          <a:p>
            <a:r>
              <a:rPr lang="en-US" smtClean="0"/>
              <a:t>S. Neelima, Sr. Asst.Prof, Dept.of  IT</a:t>
            </a:r>
            <a:endParaRPr lang="en-US"/>
          </a:p>
        </p:txBody>
      </p:sp>
      <p:sp>
        <p:nvSpPr>
          <p:cNvPr id="9" name="Slide Number Placeholder 8"/>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371997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3186B56-42A0-497A-89E0-11C8C578C0F0}" type="datetime2">
              <a:rPr lang="en-US" smtClean="0"/>
              <a:pPr/>
              <a:t>Saturday, November 5, 2022</a:t>
            </a:fld>
            <a:endParaRPr lang="en-US"/>
          </a:p>
        </p:txBody>
      </p:sp>
      <p:sp>
        <p:nvSpPr>
          <p:cNvPr id="4" name="Footer Placeholder 3"/>
          <p:cNvSpPr>
            <a:spLocks noGrp="1"/>
          </p:cNvSpPr>
          <p:nvPr>
            <p:ph type="ftr" sz="quarter" idx="11"/>
          </p:nvPr>
        </p:nvSpPr>
        <p:spPr/>
        <p:txBody>
          <a:bodyPr/>
          <a:lstStyle/>
          <a:p>
            <a:r>
              <a:rPr lang="en-US" smtClean="0"/>
              <a:t>S. Neelima, Sr. Asst.Prof, Dept.of  IT</a:t>
            </a:r>
            <a:endParaRPr lang="en-US"/>
          </a:p>
        </p:txBody>
      </p:sp>
      <p:sp>
        <p:nvSpPr>
          <p:cNvPr id="5" name="Slide Number Placeholder 4"/>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1334035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87CB66-D570-420B-94C7-381FA987BB2B}" type="datetime2">
              <a:rPr lang="en-US" smtClean="0"/>
              <a:pPr/>
              <a:t>Saturday, November 5, 2022</a:t>
            </a:fld>
            <a:endParaRPr lang="en-US"/>
          </a:p>
        </p:txBody>
      </p:sp>
      <p:sp>
        <p:nvSpPr>
          <p:cNvPr id="3" name="Footer Placeholder 2"/>
          <p:cNvSpPr>
            <a:spLocks noGrp="1"/>
          </p:cNvSpPr>
          <p:nvPr>
            <p:ph type="ftr" sz="quarter" idx="11"/>
          </p:nvPr>
        </p:nvSpPr>
        <p:spPr/>
        <p:txBody>
          <a:bodyPr/>
          <a:lstStyle/>
          <a:p>
            <a:r>
              <a:rPr lang="en-US" smtClean="0"/>
              <a:t>S. Neelima, Sr. Asst.Prof, Dept.of  IT</a:t>
            </a:r>
            <a:endParaRPr lang="en-US"/>
          </a:p>
        </p:txBody>
      </p:sp>
      <p:sp>
        <p:nvSpPr>
          <p:cNvPr id="4" name="Slide Number Placeholder 3"/>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548079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0A08D4-6257-445A-A5F7-3E33381DC77C}" type="datetime2">
              <a:rPr lang="en-US" smtClean="0"/>
              <a:pPr/>
              <a:t>Saturday, November 5, 2022</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57731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A403FC-11D0-407B-AA88-AAF83819ECC8}" type="datetime2">
              <a:rPr lang="en-US" smtClean="0"/>
              <a:pPr/>
              <a:t>Saturday, November 5, 2022</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150131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8017E2-257D-468C-996A-CE0D58543257}" type="datetime2">
              <a:rPr lang="en-US" smtClean="0"/>
              <a:pPr/>
              <a:t>Saturday, November 5, 2022</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1387481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919322-913B-4C93-8A96-27428384AF92}" type="datetime2">
              <a:rPr lang="en-US" smtClean="0"/>
              <a:pPr/>
              <a:t>Saturday, November 5, 2022</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510788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974AB3-E57F-47BB-B112-92A4FFCF1FE8}" type="datetime2">
              <a:rPr lang="en-US" smtClean="0"/>
              <a:pPr/>
              <a:t>Saturday, November 5, 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 Neelima, Sr. Asst.Prof, Dept.of  IT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 xmlns:a16="http://schemas.microsoft.com/office/drawing/2014/main" id="{42282911-4A61-4A42-8E73-D723BEBE2DB8}"/>
              </a:ext>
            </a:extLst>
          </p:cNvPr>
          <p:cNvSpPr>
            <a:spLocks noGrp="1"/>
          </p:cNvSpPr>
          <p:nvPr>
            <p:ph type="ctrTitle"/>
          </p:nvPr>
        </p:nvSpPr>
        <p:spPr>
          <a:xfrm>
            <a:off x="1487488" y="1988840"/>
            <a:ext cx="9541060" cy="930313"/>
          </a:xfrm>
        </p:spPr>
        <p:txBody>
          <a:bodyPr>
            <a:normAutofit fontScale="90000"/>
          </a:bodyPr>
          <a:lstStyle/>
          <a:p>
            <a:r>
              <a:rPr lang="en-IN" dirty="0" smtClean="0">
                <a:latin typeface="Eras Bold ITC" panose="020B0907030504020204" pitchFamily="34" charset="0"/>
                <a:cs typeface="Times New Roman" panose="02020603050405020304" pitchFamily="18" charset="0"/>
              </a:rPr>
              <a:t>ADVANCED DATA </a:t>
            </a:r>
            <a:r>
              <a:rPr lang="en-US" dirty="0" smtClean="0">
                <a:latin typeface="Eras Bold ITC" panose="020B0907030504020204" pitchFamily="34" charset="0"/>
                <a:cs typeface="Times New Roman" panose="02020603050405020304" pitchFamily="18" charset="0"/>
              </a:rPr>
              <a:t>STRUCTURES</a:t>
            </a:r>
            <a:endParaRPr lang="en-IN" dirty="0">
              <a:latin typeface="Eras Bold ITC" panose="020B0907030504020204" pitchFamily="34" charset="0"/>
              <a:cs typeface="Times New Roman" panose="02020603050405020304" pitchFamily="18" charset="0"/>
            </a:endParaRPr>
          </a:p>
        </p:txBody>
      </p:sp>
      <p:sp>
        <p:nvSpPr>
          <p:cNvPr id="12" name="Subtitle 2">
            <a:extLst>
              <a:ext uri="{FF2B5EF4-FFF2-40B4-BE49-F238E27FC236}">
                <a16:creationId xmlns="" xmlns:a16="http://schemas.microsoft.com/office/drawing/2014/main" id="{374C6B0C-371A-41E0-BF7D-B301E36AAB91}"/>
              </a:ext>
            </a:extLst>
          </p:cNvPr>
          <p:cNvSpPr>
            <a:spLocks noGrp="1"/>
          </p:cNvSpPr>
          <p:nvPr>
            <p:ph type="subTitle" idx="1"/>
          </p:nvPr>
        </p:nvSpPr>
        <p:spPr>
          <a:xfrm>
            <a:off x="2829018" y="3429000"/>
            <a:ext cx="6858000" cy="2376264"/>
          </a:xfrm>
        </p:spPr>
        <p:txBody>
          <a:bodyPr>
            <a:normAutofit fontScale="92500" lnSpcReduction="10000"/>
          </a:bodyPr>
          <a:lstStyle/>
          <a:p>
            <a:pPr>
              <a:spcBef>
                <a:spcPts val="600"/>
              </a:spcBef>
            </a:pPr>
            <a:r>
              <a:rPr lang="en-IN" dirty="0"/>
              <a:t>By </a:t>
            </a:r>
          </a:p>
          <a:p>
            <a:pPr>
              <a:spcBef>
                <a:spcPts val="600"/>
              </a:spcBef>
            </a:pPr>
            <a:endParaRPr lang="en-IN" sz="1300" dirty="0"/>
          </a:p>
          <a:p>
            <a:pPr>
              <a:spcBef>
                <a:spcPts val="600"/>
              </a:spcBef>
            </a:pPr>
            <a:r>
              <a:rPr lang="en-IN" sz="4000" b="1" dirty="0" smtClean="0">
                <a:solidFill>
                  <a:srgbClr val="660066"/>
                </a:solidFill>
              </a:rPr>
              <a:t>Sr. </a:t>
            </a:r>
            <a:r>
              <a:rPr lang="en-IN" sz="4000" b="1" dirty="0" err="1" smtClean="0">
                <a:solidFill>
                  <a:srgbClr val="660066"/>
                </a:solidFill>
              </a:rPr>
              <a:t>Asst.Prof</a:t>
            </a:r>
            <a:r>
              <a:rPr lang="en-IN" sz="4000" b="1" dirty="0" smtClean="0">
                <a:solidFill>
                  <a:srgbClr val="660066"/>
                </a:solidFill>
              </a:rPr>
              <a:t>. S </a:t>
            </a:r>
            <a:r>
              <a:rPr lang="en-IN" sz="4000" b="1" dirty="0" err="1" smtClean="0">
                <a:solidFill>
                  <a:srgbClr val="660066"/>
                </a:solidFill>
              </a:rPr>
              <a:t>Neelima</a:t>
            </a:r>
            <a:endParaRPr lang="en-IN" sz="4000" b="1" dirty="0">
              <a:solidFill>
                <a:srgbClr val="660066"/>
              </a:solidFill>
            </a:endParaRPr>
          </a:p>
          <a:p>
            <a:r>
              <a:rPr lang="en-IN" dirty="0" smtClean="0"/>
              <a:t>Dept of Information Technology</a:t>
            </a:r>
          </a:p>
          <a:p>
            <a:r>
              <a:rPr lang="en-IN" dirty="0" err="1" smtClean="0"/>
              <a:t>Aditya</a:t>
            </a:r>
            <a:r>
              <a:rPr lang="en-IN" dirty="0" smtClean="0"/>
              <a:t> Engineering College(A)</a:t>
            </a:r>
          </a:p>
          <a:p>
            <a:r>
              <a:rPr lang="en-IN" dirty="0" err="1" smtClean="0"/>
              <a:t>Surampalem</a:t>
            </a:r>
            <a:r>
              <a:rPr lang="en-IN" dirty="0" smtClean="0"/>
              <a:t>.</a:t>
            </a:r>
          </a:p>
          <a:p>
            <a:pPr>
              <a:spcBef>
                <a:spcPts val="600"/>
              </a:spcBef>
            </a:pPr>
            <a:endParaRPr lang="en-IN" dirty="0"/>
          </a:p>
          <a:p>
            <a:endParaRPr lang="en-IN"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buNone/>
            </a:pPr>
            <a:endParaRPr lang="en-US" b="1" u="sng" dirty="0" smtClean="0"/>
          </a:p>
          <a:p>
            <a:pPr algn="ctr">
              <a:buNone/>
            </a:pPr>
            <a:endParaRPr lang="en-US" b="1" u="sng" dirty="0" smtClean="0"/>
          </a:p>
          <a:p>
            <a:pPr algn="ctr">
              <a:buNone/>
            </a:pPr>
            <a:r>
              <a:rPr lang="en-US" sz="4800" b="1" dirty="0" smtClean="0">
                <a:latin typeface="Times New Roman" pitchFamily="18" charset="0"/>
                <a:cs typeface="Times New Roman" pitchFamily="18" charset="0"/>
              </a:rPr>
              <a:t>UNIT-II</a:t>
            </a:r>
            <a:endParaRPr lang="en-US" sz="4800" dirty="0">
              <a:latin typeface="Times New Roman" pitchFamily="18" charset="0"/>
              <a:cs typeface="Times New Roman" pitchFamily="18" charset="0"/>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81026" y="857232"/>
            <a:ext cx="10515600" cy="5164625"/>
          </a:xfrm>
        </p:spPr>
        <p:txBody>
          <a:bodyPr>
            <a:normAutofit/>
          </a:bodyPr>
          <a:lstStyle/>
          <a:p>
            <a:pPr>
              <a:buNone/>
            </a:pPr>
            <a:r>
              <a:rPr lang="en-US" dirty="0" smtClean="0">
                <a:solidFill>
                  <a:srgbClr val="FF0000"/>
                </a:solidFill>
              </a:rPr>
              <a:t>Priority Queues </a:t>
            </a:r>
          </a:p>
          <a:p>
            <a:r>
              <a:rPr lang="en-US" dirty="0" smtClean="0"/>
              <a:t>Apriority queue is a data structure in which each element is assigned a priority. </a:t>
            </a:r>
          </a:p>
          <a:p>
            <a:r>
              <a:rPr lang="en-US" dirty="0" smtClean="0"/>
              <a:t>The priority of the element will be used to determine the order in which the elements will be processed. </a:t>
            </a:r>
          </a:p>
          <a:p>
            <a:r>
              <a:rPr lang="en-US" dirty="0" smtClean="0"/>
              <a:t>The general rules of processing the elements of a priority queue are </a:t>
            </a:r>
          </a:p>
          <a:p>
            <a:pPr marL="514350" indent="-514350">
              <a:buFont typeface="+mj-lt"/>
              <a:buAutoNum type="arabicPeriod"/>
            </a:pPr>
            <a:r>
              <a:rPr lang="en-US" dirty="0" smtClean="0"/>
              <a:t> An element with higher priority is processed before an element with a lower priority.</a:t>
            </a:r>
          </a:p>
          <a:p>
            <a:pPr marL="514350" indent="-514350">
              <a:buFont typeface="+mj-lt"/>
              <a:buAutoNum type="arabicPeriod"/>
            </a:pPr>
            <a:r>
              <a:rPr lang="en-US" dirty="0" smtClean="0"/>
              <a:t> Two elements with the same priority are processed on a first-come-first-served (FCFS) basis. </a:t>
            </a:r>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normAutofit/>
          </a:bodyPr>
          <a:lstStyle/>
          <a:p>
            <a:pPr marL="514350" indent="-514350">
              <a:buNone/>
            </a:pPr>
            <a:r>
              <a:rPr lang="en-US" dirty="0" smtClean="0"/>
              <a:t>Priority Queue - PQ is a queue that is ordered by priority </a:t>
            </a:r>
          </a:p>
          <a:p>
            <a:pPr marL="514350" indent="-514350">
              <a:buNone/>
            </a:pPr>
            <a:r>
              <a:rPr lang="en-US" dirty="0" smtClean="0"/>
              <a:t>• Priority Queues have the following functions associated with them: – </a:t>
            </a:r>
          </a:p>
          <a:p>
            <a:pPr marL="514350" indent="-514350">
              <a:buFont typeface="+mj-lt"/>
              <a:buAutoNum type="arabicPeriod"/>
            </a:pPr>
            <a:r>
              <a:rPr lang="en-US" dirty="0" smtClean="0"/>
              <a:t>	Initialize PQ to be empty </a:t>
            </a:r>
          </a:p>
          <a:p>
            <a:pPr marL="514350" indent="-514350">
              <a:buFont typeface="+mj-lt"/>
              <a:buAutoNum type="arabicPeriod"/>
            </a:pPr>
            <a:r>
              <a:rPr lang="en-US" dirty="0" smtClean="0"/>
              <a:t>	Test whether PQ is empty </a:t>
            </a:r>
          </a:p>
          <a:p>
            <a:pPr marL="514350" indent="-514350">
              <a:buFont typeface="+mj-lt"/>
              <a:buAutoNum type="arabicPeriod"/>
            </a:pPr>
            <a:r>
              <a:rPr lang="en-US" dirty="0" smtClean="0"/>
              <a:t>	Test whether PQ is full </a:t>
            </a:r>
          </a:p>
          <a:p>
            <a:pPr marL="514350" indent="-514350">
              <a:buFont typeface="+mj-lt"/>
              <a:buAutoNum type="arabicPeriod"/>
            </a:pPr>
            <a:r>
              <a:rPr lang="en-US" dirty="0" smtClean="0"/>
              <a:t>	 Insert a new item into the PQ</a:t>
            </a:r>
          </a:p>
          <a:p>
            <a:pPr marL="514350" indent="-514350">
              <a:buFont typeface="+mj-lt"/>
              <a:buAutoNum type="arabicPeriod"/>
            </a:pPr>
            <a:r>
              <a:rPr lang="en-US" dirty="0" smtClean="0"/>
              <a:t>      Delete item of highest priority</a:t>
            </a:r>
          </a:p>
          <a:p>
            <a:pPr marL="514350" indent="-514350">
              <a:buNone/>
            </a:pPr>
            <a:r>
              <a:rPr lang="en-US" dirty="0" smtClean="0"/>
              <a:t>	</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23836" y="571480"/>
            <a:ext cx="11287204" cy="5786478"/>
          </a:xfrm>
        </p:spPr>
        <p:txBody>
          <a:bodyPr>
            <a:normAutofit fontScale="92500" lnSpcReduction="10000"/>
          </a:bodyPr>
          <a:lstStyle/>
          <a:p>
            <a:pPr>
              <a:buNone/>
            </a:pPr>
            <a:r>
              <a:rPr lang="en-US" dirty="0" smtClean="0"/>
              <a:t>• There are many ways to implement PQ’s. </a:t>
            </a:r>
          </a:p>
          <a:p>
            <a:pPr marL="514350" indent="-514350">
              <a:buFont typeface="+mj-lt"/>
              <a:buAutoNum type="arabicPeriod"/>
            </a:pPr>
            <a:r>
              <a:rPr lang="en-US" dirty="0" smtClean="0"/>
              <a:t>If we use an array, we can just insert any item into the PQ at the end. </a:t>
            </a:r>
          </a:p>
          <a:p>
            <a:pPr marL="514350" indent="-514350">
              <a:buFont typeface="+mj-lt"/>
              <a:buAutoNum type="arabicPeriod"/>
            </a:pPr>
            <a:r>
              <a:rPr lang="en-US" dirty="0" smtClean="0"/>
              <a:t>Then a delete will need to search the entire array to find the highest priority item. </a:t>
            </a:r>
          </a:p>
          <a:p>
            <a:pPr marL="514350" indent="-514350">
              <a:buNone/>
            </a:pPr>
            <a:r>
              <a:rPr lang="en-US" dirty="0" smtClean="0"/>
              <a:t>	Cost: Insert: O(1), Delete: O(N). </a:t>
            </a:r>
          </a:p>
          <a:p>
            <a:pPr marL="514350" indent="-514350">
              <a:buNone/>
            </a:pPr>
            <a:r>
              <a:rPr lang="en-US" dirty="0" smtClean="0"/>
              <a:t>• If we do inserts into the array to preserve priority ordering, we will need to: </a:t>
            </a:r>
          </a:p>
          <a:p>
            <a:pPr marL="514350" indent="-514350">
              <a:buAutoNum type="arabicPeriod"/>
            </a:pPr>
            <a:r>
              <a:rPr lang="en-US" dirty="0" smtClean="0"/>
              <a:t>Find the spot in the array where the new insertion occurs </a:t>
            </a:r>
          </a:p>
          <a:p>
            <a:pPr marL="514350" indent="-514350">
              <a:buAutoNum type="arabicPeriod"/>
            </a:pPr>
            <a:r>
              <a:rPr lang="en-US" dirty="0" smtClean="0"/>
              <a:t>Shuffle all the array elements to adjust the array for the new element</a:t>
            </a:r>
          </a:p>
          <a:p>
            <a:pPr marL="514350" indent="-514350">
              <a:buNone/>
            </a:pPr>
            <a:r>
              <a:rPr lang="en-US" dirty="0" smtClean="0"/>
              <a:t>	 Cost of an insert is now O(N) - we may have to shuffle all the elements if insertion is at beginning of array.</a:t>
            </a:r>
          </a:p>
          <a:p>
            <a:pPr marL="514350" indent="-514350">
              <a:buNone/>
            </a:pPr>
            <a:r>
              <a:rPr lang="en-US" dirty="0" smtClean="0"/>
              <a:t>	 Delete is now O(1) since the first element in the array is the highest priority item </a:t>
            </a:r>
          </a:p>
          <a:p>
            <a:pPr marL="514350" indent="-514350">
              <a:buNone/>
            </a:pPr>
            <a:r>
              <a:rPr lang="en-US" dirty="0" smtClean="0"/>
              <a:t>• The same analysis applies if we use a linked list, sorted by priority. Insertion will be O(N) and deletion O(1). </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357166"/>
            <a:ext cx="10515600" cy="5736129"/>
          </a:xfrm>
        </p:spPr>
        <p:txBody>
          <a:bodyPr/>
          <a:lstStyle/>
          <a:p>
            <a:endParaRPr lang="en-US" dirty="0" smtClean="0"/>
          </a:p>
          <a:p>
            <a:r>
              <a:rPr lang="en-US" dirty="0" smtClean="0">
                <a:solidFill>
                  <a:srgbClr val="0070C0"/>
                </a:solidFill>
              </a:rPr>
              <a:t>Our goal is to find an implementation that guarantees better than O(N) performance. This is where the heap data structure comes in</a:t>
            </a:r>
          </a:p>
          <a:p>
            <a:endParaRPr lang="en-US" dirty="0" smtClean="0">
              <a:solidFill>
                <a:srgbClr val="0070C0"/>
              </a:solidFill>
            </a:endParaRPr>
          </a:p>
          <a:p>
            <a:pPr>
              <a:buNone/>
            </a:pPr>
            <a:r>
              <a:rPr lang="en-US" dirty="0" smtClean="0"/>
              <a:t>		A </a:t>
            </a:r>
            <a:r>
              <a:rPr lang="en-US" dirty="0" smtClean="0">
                <a:solidFill>
                  <a:srgbClr val="0070C0"/>
                </a:solidFill>
              </a:rPr>
              <a:t>Heap</a:t>
            </a:r>
            <a:r>
              <a:rPr lang="en-US" dirty="0" smtClean="0"/>
              <a:t> is a complete binary tree with values stored in its nodes such that no child has a value smaller then the value of its parent. Put another way, every node has a smaller value than its children.</a:t>
            </a:r>
          </a:p>
          <a:p>
            <a:pPr>
              <a:buNone/>
            </a:pPr>
            <a:endParaRPr lang="en-US" dirty="0" smtClean="0"/>
          </a:p>
          <a:p>
            <a:r>
              <a:rPr lang="en-US" dirty="0" smtClean="0"/>
              <a:t>Binary heap has 2 types:  min-heap and  max-heap. </a:t>
            </a:r>
          </a:p>
          <a:p>
            <a:endParaRPr lang="en-US" dirty="0">
              <a:solidFill>
                <a:srgbClr val="0070C0"/>
              </a:solidFill>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7" name="Picture 3"/>
          <p:cNvPicPr>
            <a:picLocks noGrp="1" noChangeAspect="1" noChangeArrowheads="1"/>
          </p:cNvPicPr>
          <p:nvPr>
            <p:ph idx="1"/>
          </p:nvPr>
        </p:nvPicPr>
        <p:blipFill>
          <a:blip r:embed="rId2"/>
          <a:srcRect/>
          <a:stretch>
            <a:fillRect/>
          </a:stretch>
        </p:blipFill>
        <p:spPr bwMode="auto">
          <a:xfrm>
            <a:off x="3238480" y="2071678"/>
            <a:ext cx="6267450" cy="4000528"/>
          </a:xfrm>
          <a:prstGeom prst="rect">
            <a:avLst/>
          </a:prstGeom>
          <a:noFill/>
          <a:ln w="9525">
            <a:noFill/>
            <a:miter lim="800000"/>
            <a:headEnd/>
            <a:tailEnd/>
          </a:ln>
          <a:effectLst/>
        </p:spPr>
      </p:pic>
      <p:sp>
        <p:nvSpPr>
          <p:cNvPr id="7" name="Rectangle 6"/>
          <p:cNvSpPr/>
          <p:nvPr/>
        </p:nvSpPr>
        <p:spPr>
          <a:xfrm>
            <a:off x="738150" y="785794"/>
            <a:ext cx="10429948" cy="1384995"/>
          </a:xfrm>
          <a:prstGeom prst="rect">
            <a:avLst/>
          </a:prstGeom>
        </p:spPr>
        <p:txBody>
          <a:bodyPr wrap="square">
            <a:spAutoFit/>
          </a:bodyPr>
          <a:lstStyle/>
          <a:p>
            <a:r>
              <a:rPr lang="en-US" sz="2800" dirty="0" smtClean="0">
                <a:solidFill>
                  <a:srgbClr val="0070C0"/>
                </a:solidFill>
              </a:rPr>
              <a:t>Max-heap: </a:t>
            </a:r>
            <a:r>
              <a:rPr lang="en-US" sz="2800" dirty="0" smtClean="0"/>
              <a:t>Binary max-heap is a binary tree(each node has zero, one or two children) where the value of each node is at least the values of its children.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00108"/>
            <a:ext cx="10515600" cy="5093187"/>
          </a:xfrm>
        </p:spPr>
        <p:txBody>
          <a:bodyPr/>
          <a:lstStyle/>
          <a:p>
            <a:pPr>
              <a:buNone/>
            </a:pPr>
            <a:r>
              <a:rPr lang="en-US" dirty="0" smtClean="0"/>
              <a:t>Max-Heap has some basic operations:</a:t>
            </a:r>
          </a:p>
          <a:p>
            <a:r>
              <a:rPr lang="en-US" b="1" dirty="0" err="1" smtClean="0"/>
              <a:t>GetMax</a:t>
            </a:r>
            <a:r>
              <a:rPr lang="en-US" dirty="0" smtClean="0"/>
              <a:t>: just return the root value. Cost O(1).</a:t>
            </a:r>
          </a:p>
          <a:p>
            <a:r>
              <a:rPr lang="en-US" b="1" dirty="0" smtClean="0"/>
              <a:t>Insert</a:t>
            </a:r>
            <a:r>
              <a:rPr lang="en-US" dirty="0" smtClean="0"/>
              <a:t>: We will attach a new node to any leaf. If it violate the heap property, we will bubble up(called </a:t>
            </a:r>
            <a:r>
              <a:rPr lang="en-US" b="1" dirty="0" err="1" smtClean="0"/>
              <a:t>SiftUp</a:t>
            </a:r>
            <a:r>
              <a:rPr lang="en-US" dirty="0" smtClean="0"/>
              <a:t>) new node until the heap property is satisfied.</a:t>
            </a:r>
          </a:p>
          <a:p>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738150" y="285728"/>
            <a:ext cx="11453850" cy="4641871"/>
          </a:xfrm>
          <a:prstGeom prst="rect">
            <a:avLst/>
          </a:prstGeom>
          <a:noFill/>
          <a:ln w="9525">
            <a:noFill/>
            <a:miter lim="800000"/>
            <a:headEnd/>
            <a:tailEnd/>
          </a:ln>
          <a:effectLst/>
        </p:spPr>
      </p:pic>
      <p:sp>
        <p:nvSpPr>
          <p:cNvPr id="6" name="Rectangle 5"/>
          <p:cNvSpPr/>
          <p:nvPr/>
        </p:nvSpPr>
        <p:spPr>
          <a:xfrm>
            <a:off x="1166778" y="4786322"/>
            <a:ext cx="7977222" cy="954107"/>
          </a:xfrm>
          <a:prstGeom prst="rect">
            <a:avLst/>
          </a:prstGeom>
        </p:spPr>
        <p:txBody>
          <a:bodyPr wrap="square">
            <a:spAutoFit/>
          </a:bodyPr>
          <a:lstStyle/>
          <a:p>
            <a:r>
              <a:rPr lang="en-US" sz="2800" dirty="0" smtClean="0"/>
              <a:t>As you see, we attach new node 32 to node 7, and we bubble it to node 29.</a:t>
            </a:r>
            <a:endParaRPr 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b="1" dirty="0" err="1" smtClean="0"/>
              <a:t>ExtractMax</a:t>
            </a:r>
            <a:r>
              <a:rPr lang="en-US" dirty="0" smtClean="0"/>
              <a:t>: Root node R is the max value of max-heap. To pop out the root node, we just swap root node R to any leaf node A and remove node R. It may violate the property of heap. We will do </a:t>
            </a:r>
            <a:r>
              <a:rPr lang="en-US" b="1" dirty="0" err="1" smtClean="0"/>
              <a:t>SiftDown</a:t>
            </a:r>
            <a:r>
              <a:rPr lang="en-US" dirty="0" smtClean="0"/>
              <a:t> operation. As a parent node A, we want to </a:t>
            </a:r>
            <a:r>
              <a:rPr lang="en-US" b="1" dirty="0" err="1" smtClean="0"/>
              <a:t>SiftDown</a:t>
            </a:r>
            <a:r>
              <a:rPr lang="en-US" dirty="0" smtClean="0"/>
              <a:t> to children B and C, we will choose the max value of children B and C, and swap it to node A. We </a:t>
            </a:r>
            <a:r>
              <a:rPr lang="en-US" dirty="0" err="1" smtClean="0"/>
              <a:t>SiftDown</a:t>
            </a:r>
            <a:r>
              <a:rPr lang="en-US" dirty="0" smtClean="0"/>
              <a:t> until the property of heap is satisfied.</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809588" y="0"/>
            <a:ext cx="11001452" cy="4779962"/>
          </a:xfrm>
          <a:prstGeom prst="rect">
            <a:avLst/>
          </a:prstGeom>
          <a:noFill/>
          <a:ln w="9525">
            <a:noFill/>
            <a:miter lim="800000"/>
            <a:headEnd/>
            <a:tailEnd/>
          </a:ln>
          <a:effectLst/>
        </p:spPr>
      </p:pic>
      <p:sp>
        <p:nvSpPr>
          <p:cNvPr id="6" name="Rectangle 5"/>
          <p:cNvSpPr/>
          <p:nvPr/>
        </p:nvSpPr>
        <p:spPr>
          <a:xfrm>
            <a:off x="1023902" y="4357694"/>
            <a:ext cx="10715700" cy="1200329"/>
          </a:xfrm>
          <a:prstGeom prst="rect">
            <a:avLst/>
          </a:prstGeom>
        </p:spPr>
        <p:txBody>
          <a:bodyPr wrap="square">
            <a:spAutoFit/>
          </a:bodyPr>
          <a:lstStyle/>
          <a:p>
            <a:r>
              <a:rPr lang="en-US" sz="2400" dirty="0" smtClean="0"/>
              <a:t>We swap root node 42 and random leaf node 12 first, and remove node 42. The max-heap is violated now, we need to sift down node 12 as root down to children. At the final step, we have node 29 is root node.</a:t>
            </a:r>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lstStyle/>
          <a:p>
            <a:r>
              <a:rPr lang="en-US" b="1" dirty="0" err="1" smtClean="0"/>
              <a:t>ChangePriority</a:t>
            </a:r>
            <a:r>
              <a:rPr lang="en-US" dirty="0" smtClean="0"/>
              <a:t>: We need to change priority of a node. Depend on the value of new priority we will do </a:t>
            </a:r>
            <a:r>
              <a:rPr lang="en-US" dirty="0" err="1" smtClean="0"/>
              <a:t>SiftDown</a:t>
            </a:r>
            <a:r>
              <a:rPr lang="en-US" dirty="0" smtClean="0"/>
              <a:t> or </a:t>
            </a:r>
            <a:r>
              <a:rPr lang="en-US" dirty="0" err="1" smtClean="0"/>
              <a:t>SiftUp</a:t>
            </a:r>
            <a:r>
              <a:rPr lang="en-US" dirty="0" smtClean="0"/>
              <a:t> to qualify the heap property.</a:t>
            </a:r>
          </a:p>
          <a:p>
            <a:r>
              <a:rPr lang="en-US" b="1" dirty="0" smtClean="0"/>
              <a:t>Remove</a:t>
            </a:r>
            <a:r>
              <a:rPr lang="en-US" dirty="0" smtClean="0"/>
              <a:t>: To remove a node A. We do it by 2 steps:</a:t>
            </a:r>
          </a:p>
          <a:p>
            <a:r>
              <a:rPr lang="en-US" b="1" dirty="0" smtClean="0"/>
              <a:t>Step 1:</a:t>
            </a:r>
            <a:r>
              <a:rPr lang="en-US" dirty="0" smtClean="0"/>
              <a:t> Make that value of node A becomes biggest(infinity). We will do </a:t>
            </a:r>
            <a:r>
              <a:rPr lang="en-US" b="1" dirty="0" err="1" smtClean="0"/>
              <a:t>SiftUp</a:t>
            </a:r>
            <a:r>
              <a:rPr lang="en-US" dirty="0" smtClean="0"/>
              <a:t> operation to make node A become a root node.</a:t>
            </a:r>
          </a:p>
          <a:p>
            <a:r>
              <a:rPr lang="en-US" b="1" dirty="0" smtClean="0"/>
              <a:t>Step 2:</a:t>
            </a:r>
            <a:r>
              <a:rPr lang="en-US" dirty="0" smtClean="0"/>
              <a:t> We do </a:t>
            </a:r>
            <a:r>
              <a:rPr lang="en-US" b="1" dirty="0" err="1" smtClean="0"/>
              <a:t>ExtractMax</a:t>
            </a:r>
            <a:r>
              <a:rPr lang="en-US" dirty="0" smtClean="0"/>
              <a:t> operation that describes above.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0" y="428604"/>
            <a:ext cx="3667108" cy="335758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024298" y="357166"/>
            <a:ext cx="3500462" cy="321471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8024826" y="357166"/>
            <a:ext cx="3643338" cy="3000396"/>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7453322" y="3714752"/>
            <a:ext cx="4738678" cy="3143248"/>
          </a:xfrm>
          <a:prstGeom prst="rect">
            <a:avLst/>
          </a:prstGeom>
          <a:noFill/>
          <a:ln w="9525">
            <a:noFill/>
            <a:miter lim="800000"/>
            <a:headEnd/>
            <a:tailEnd/>
          </a:ln>
          <a:effectLst/>
        </p:spPr>
      </p:pic>
      <p:cxnSp>
        <p:nvCxnSpPr>
          <p:cNvPr id="10" name="Straight Arrow Connector 9"/>
          <p:cNvCxnSpPr/>
          <p:nvPr/>
        </p:nvCxnSpPr>
        <p:spPr>
          <a:xfrm>
            <a:off x="3238480" y="1643050"/>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381884" y="1714488"/>
            <a:ext cx="78581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029" idx="0"/>
          </p:cNvCxnSpPr>
          <p:nvPr/>
        </p:nvCxnSpPr>
        <p:spPr>
          <a:xfrm rot="16200000" flipH="1">
            <a:off x="9566686" y="3458777"/>
            <a:ext cx="500064" cy="118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a:buNone/>
            </a:pPr>
            <a:r>
              <a:rPr lang="en-US" b="1" dirty="0" smtClean="0">
                <a:solidFill>
                  <a:srgbClr val="FF0000"/>
                </a:solidFill>
              </a:rPr>
              <a:t>Building Heap</a:t>
            </a:r>
          </a:p>
          <a:p>
            <a:r>
              <a:rPr lang="en-US" dirty="0" smtClean="0"/>
              <a:t>We know how heap works, we need to find out the way to build a heap. To build a heap and keep a binary heap-tree shallows, we have to fill the new node from left to right on last level. It’s called </a:t>
            </a:r>
            <a:r>
              <a:rPr lang="en-US" b="1" dirty="0" smtClean="0"/>
              <a:t>complete binary tree</a:t>
            </a:r>
            <a:r>
              <a:rPr lang="en-US" dirty="0" smtClean="0"/>
              <a:t>. Formally:</a:t>
            </a:r>
          </a:p>
          <a:p>
            <a:r>
              <a:rPr lang="en-US" dirty="0" smtClean="0"/>
              <a:t>A binary tree is complete if all its levels are filled except possibly the last one which is filled from left to right</a:t>
            </a:r>
            <a:r>
              <a:rPr lang="en-US" smtClean="0"/>
              <a:t>. </a:t>
            </a:r>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00108"/>
            <a:ext cx="10515600" cy="5093187"/>
          </a:xfrm>
        </p:spPr>
        <p:txBody>
          <a:bodyPr>
            <a:normAutofit lnSpcReduction="10000"/>
          </a:bodyPr>
          <a:lstStyle/>
          <a:p>
            <a:pPr fontAlgn="base"/>
            <a:r>
              <a:rPr lang="en-US" b="1" dirty="0" smtClean="0"/>
              <a:t>How to build the heap?</a:t>
            </a:r>
            <a:r>
              <a:rPr lang="en-US" dirty="0" smtClean="0"/>
              <a:t/>
            </a:r>
            <a:br>
              <a:rPr lang="en-US" dirty="0" smtClean="0"/>
            </a:br>
            <a:r>
              <a:rPr lang="en-US" dirty="0" err="1" smtClean="0"/>
              <a:t>Heapify</a:t>
            </a:r>
            <a:r>
              <a:rPr lang="en-US" dirty="0" smtClean="0"/>
              <a:t> procedure can be applied to a node only if its children nodes are </a:t>
            </a:r>
            <a:r>
              <a:rPr lang="en-US" dirty="0" err="1" smtClean="0"/>
              <a:t>heapified</a:t>
            </a:r>
            <a:r>
              <a:rPr lang="en-US" dirty="0" smtClean="0"/>
              <a:t>. So the </a:t>
            </a:r>
            <a:r>
              <a:rPr lang="en-US" dirty="0" err="1" smtClean="0"/>
              <a:t>heapification</a:t>
            </a:r>
            <a:r>
              <a:rPr lang="en-US" dirty="0" smtClean="0"/>
              <a:t> must be performed in the bottom-up order.</a:t>
            </a:r>
          </a:p>
          <a:p>
            <a:pPr fontAlgn="base"/>
            <a:r>
              <a:rPr lang="en-US" dirty="0" smtClean="0"/>
              <a:t>Lets understand with the help of an example:</a:t>
            </a:r>
          </a:p>
          <a:p>
            <a:r>
              <a:rPr lang="en-US" dirty="0" smtClean="0"/>
              <a:t>Input data: 4, 10, 3, 5, 1 </a:t>
            </a:r>
          </a:p>
          <a:p>
            <a:pPr>
              <a:buNone/>
            </a:pPr>
            <a:r>
              <a:rPr lang="en-US" dirty="0" smtClean="0"/>
              <a:t>			  4                        </a:t>
            </a:r>
          </a:p>
          <a:p>
            <a:pPr>
              <a:buNone/>
            </a:pPr>
            <a:r>
              <a:rPr lang="en-US" dirty="0" smtClean="0"/>
              <a:t>			/  \ 	</a:t>
            </a:r>
          </a:p>
          <a:p>
            <a:pPr>
              <a:buNone/>
            </a:pPr>
            <a:r>
              <a:rPr lang="en-US" dirty="0" smtClean="0"/>
              <a:t>		    10 	      3 </a:t>
            </a:r>
          </a:p>
          <a:p>
            <a:pPr>
              <a:buNone/>
            </a:pPr>
            <a:r>
              <a:rPr lang="en-US" dirty="0" smtClean="0"/>
              <a:t>		   / \ </a:t>
            </a:r>
          </a:p>
          <a:p>
            <a:pPr>
              <a:buNone/>
            </a:pPr>
            <a:r>
              <a:rPr lang="en-US" dirty="0" smtClean="0"/>
              <a:t>	        5      1</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dirty="0" smtClean="0"/>
              <a:t>The numbers in bracket represent the indices in the array representation of data. </a:t>
            </a:r>
          </a:p>
          <a:p>
            <a:r>
              <a:rPr lang="en-US" dirty="0" smtClean="0"/>
              <a:t>Applying </a:t>
            </a:r>
            <a:r>
              <a:rPr lang="en-US" dirty="0" err="1" smtClean="0"/>
              <a:t>heapify</a:t>
            </a:r>
            <a:r>
              <a:rPr lang="en-US" dirty="0" smtClean="0"/>
              <a:t> procedure to index 1:</a:t>
            </a:r>
          </a:p>
          <a:p>
            <a:pPr>
              <a:buNone/>
            </a:pPr>
            <a:r>
              <a:rPr lang="en-US" dirty="0" smtClean="0"/>
              <a:t>  					   10(0)</a:t>
            </a:r>
          </a:p>
          <a:p>
            <a:pPr>
              <a:buNone/>
            </a:pPr>
            <a:r>
              <a:rPr lang="en-US" dirty="0" smtClean="0"/>
              <a:t>					 /    \ </a:t>
            </a:r>
          </a:p>
          <a:p>
            <a:pPr>
              <a:buNone/>
            </a:pPr>
            <a:r>
              <a:rPr lang="en-US" dirty="0" smtClean="0"/>
              <a:t>				        4 (1)       3(2)</a:t>
            </a:r>
          </a:p>
          <a:p>
            <a:pPr>
              <a:buNone/>
            </a:pPr>
            <a:r>
              <a:rPr lang="en-US" dirty="0" smtClean="0"/>
              <a:t>				      /    \ </a:t>
            </a:r>
          </a:p>
          <a:p>
            <a:pPr>
              <a:buNone/>
            </a:pPr>
            <a:r>
              <a:rPr lang="en-US" dirty="0" smtClean="0"/>
              <a:t>				    5(3)  1(4)</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28670"/>
            <a:ext cx="10515600" cy="5164625"/>
          </a:xfrm>
        </p:spPr>
        <p:txBody>
          <a:bodyPr/>
          <a:lstStyle/>
          <a:p>
            <a:r>
              <a:rPr lang="en-US" dirty="0" smtClean="0"/>
              <a:t>Applying </a:t>
            </a:r>
            <a:r>
              <a:rPr lang="en-US" dirty="0" err="1" smtClean="0"/>
              <a:t>heapify</a:t>
            </a:r>
            <a:r>
              <a:rPr lang="en-US" dirty="0" smtClean="0"/>
              <a:t> procedure to index 0: </a:t>
            </a:r>
          </a:p>
          <a:p>
            <a:pPr>
              <a:buNone/>
            </a:pPr>
            <a:r>
              <a:rPr lang="en-US" dirty="0" smtClean="0"/>
              <a:t>					10(0) </a:t>
            </a:r>
          </a:p>
          <a:p>
            <a:pPr>
              <a:buNone/>
            </a:pPr>
            <a:r>
              <a:rPr lang="en-US" dirty="0" smtClean="0"/>
              <a:t>					 /   \ </a:t>
            </a:r>
          </a:p>
          <a:p>
            <a:pPr>
              <a:buNone/>
            </a:pPr>
            <a:r>
              <a:rPr lang="en-US" dirty="0" smtClean="0"/>
              <a:t>				      5(1)     3(2)</a:t>
            </a:r>
          </a:p>
          <a:p>
            <a:pPr>
              <a:buNone/>
            </a:pPr>
            <a:r>
              <a:rPr lang="en-US" dirty="0" smtClean="0"/>
              <a:t>				       /  \ </a:t>
            </a:r>
          </a:p>
          <a:p>
            <a:pPr>
              <a:buNone/>
            </a:pPr>
            <a:r>
              <a:rPr lang="en-US" dirty="0" smtClean="0"/>
              <a:t>				4(3)    1(4)</a:t>
            </a:r>
          </a:p>
          <a:p>
            <a:pPr>
              <a:buNone/>
            </a:pPr>
            <a:r>
              <a:rPr lang="en-US" dirty="0" smtClean="0"/>
              <a:t> The </a:t>
            </a:r>
            <a:r>
              <a:rPr lang="en-US" dirty="0" err="1" smtClean="0"/>
              <a:t>heapify</a:t>
            </a:r>
            <a:r>
              <a:rPr lang="en-US" dirty="0" smtClean="0"/>
              <a:t> procedure calls itself recursively to build heap in top down manner.</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00108"/>
            <a:ext cx="10515600" cy="5093187"/>
          </a:xfrm>
        </p:spPr>
        <p:txBody>
          <a:bodyPr>
            <a:normAutofit lnSpcReduction="10000"/>
          </a:bodyPr>
          <a:lstStyle/>
          <a:p>
            <a:pPr>
              <a:buNone/>
            </a:pPr>
            <a:r>
              <a:rPr lang="en-US" dirty="0" smtClean="0">
                <a:solidFill>
                  <a:srgbClr val="FF0000"/>
                </a:solidFill>
              </a:rPr>
              <a:t>Applications of Priority Queue</a:t>
            </a:r>
          </a:p>
          <a:p>
            <a:r>
              <a:rPr lang="en-US" b="1" dirty="0" smtClean="0"/>
              <a:t>Prim's algorithm</a:t>
            </a:r>
            <a:r>
              <a:rPr lang="en-US" dirty="0" smtClean="0"/>
              <a:t> implementation can be done using priority queues.</a:t>
            </a:r>
          </a:p>
          <a:p>
            <a:r>
              <a:rPr lang="en-US" b="1" dirty="0" err="1" smtClean="0"/>
              <a:t>Dijkstra's</a:t>
            </a:r>
            <a:r>
              <a:rPr lang="en-US" b="1" dirty="0" smtClean="0"/>
              <a:t> shortest path algorithm</a:t>
            </a:r>
            <a:r>
              <a:rPr lang="en-US" dirty="0" smtClean="0"/>
              <a:t> implementation can be done using priority queues.</a:t>
            </a:r>
          </a:p>
          <a:p>
            <a:r>
              <a:rPr lang="en-US" b="1" dirty="0" smtClean="0"/>
              <a:t>A* Search algorithm</a:t>
            </a:r>
            <a:r>
              <a:rPr lang="en-US" dirty="0" smtClean="0"/>
              <a:t> implementation can be done using priority queues.</a:t>
            </a:r>
          </a:p>
          <a:p>
            <a:r>
              <a:rPr lang="en-US" dirty="0" smtClean="0"/>
              <a:t>Priority queues are used to sort heaps.</a:t>
            </a:r>
          </a:p>
          <a:p>
            <a:r>
              <a:rPr lang="en-US" dirty="0" smtClean="0"/>
              <a:t>Priority queues are used in operating system for </a:t>
            </a:r>
            <a:r>
              <a:rPr lang="en-US" b="1" dirty="0" smtClean="0"/>
              <a:t>load balancing</a:t>
            </a:r>
            <a:r>
              <a:rPr lang="en-US" dirty="0" smtClean="0"/>
              <a:t> and </a:t>
            </a:r>
            <a:r>
              <a:rPr lang="en-US" b="1" dirty="0" smtClean="0"/>
              <a:t>interrupt handling</a:t>
            </a:r>
            <a:r>
              <a:rPr lang="en-US" dirty="0" smtClean="0"/>
              <a:t>.</a:t>
            </a:r>
          </a:p>
          <a:p>
            <a:r>
              <a:rPr lang="en-US" dirty="0" smtClean="0"/>
              <a:t>Priority queues are used in </a:t>
            </a:r>
            <a:r>
              <a:rPr lang="en-US" b="1" dirty="0" err="1" smtClean="0"/>
              <a:t>huffman</a:t>
            </a:r>
            <a:r>
              <a:rPr lang="en-US" dirty="0" smtClean="0"/>
              <a:t> codes for data compression.</a:t>
            </a:r>
          </a:p>
          <a:p>
            <a:r>
              <a:rPr lang="en-US" dirty="0" smtClean="0"/>
              <a:t>In traffic light, depending upon the traffic, the colors will be given priority.</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28670"/>
            <a:ext cx="10515600" cy="5164625"/>
          </a:xfrm>
        </p:spPr>
        <p:txBody>
          <a:bodyPr/>
          <a:lstStyle/>
          <a:p>
            <a:r>
              <a:rPr lang="en-US" b="1" dirty="0" smtClean="0"/>
              <a:t>Heap Sort Algorithm for sorting in increasing order:</a:t>
            </a:r>
            <a:r>
              <a:rPr lang="en-US" dirty="0" smtClean="0"/>
              <a:t/>
            </a:r>
            <a:br>
              <a:rPr lang="en-US" dirty="0" smtClean="0"/>
            </a:br>
            <a:r>
              <a:rPr lang="en-US" b="1" dirty="0" smtClean="0"/>
              <a:t>1.</a:t>
            </a:r>
            <a:r>
              <a:rPr lang="en-US" dirty="0" smtClean="0"/>
              <a:t> Build a max heap from the input data.</a:t>
            </a:r>
            <a:br>
              <a:rPr lang="en-US" dirty="0" smtClean="0"/>
            </a:br>
            <a:r>
              <a:rPr lang="en-US" b="1" dirty="0" smtClean="0"/>
              <a:t>2.</a:t>
            </a:r>
            <a:r>
              <a:rPr lang="en-US" dirty="0" smtClean="0"/>
              <a:t> At this point, the largest item is stored at the root of the heap. Replace it with the last item of the heap followed by reducing the size of heap by 1. Finally, </a:t>
            </a:r>
            <a:r>
              <a:rPr lang="en-US" dirty="0" err="1" smtClean="0"/>
              <a:t>heapify</a:t>
            </a:r>
            <a:r>
              <a:rPr lang="en-US" dirty="0" smtClean="0"/>
              <a:t> the root of the tree.</a:t>
            </a:r>
            <a:br>
              <a:rPr lang="en-US" dirty="0" smtClean="0"/>
            </a:br>
            <a:r>
              <a:rPr lang="en-US" b="1" dirty="0" smtClean="0"/>
              <a:t>3.</a:t>
            </a:r>
            <a:r>
              <a:rPr lang="en-US" dirty="0" smtClean="0"/>
              <a:t> Repeat step 2 while size of heap is greater than 1.</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214422"/>
            <a:ext cx="10515600" cy="4878873"/>
          </a:xfrm>
        </p:spPr>
        <p:txBody>
          <a:bodyPr>
            <a:normAutofit/>
            <a:scene3d>
              <a:camera prst="orthographicFront"/>
              <a:lightRig rig="threePt" dir="t"/>
            </a:scene3d>
            <a:sp3d extrusionH="31750">
              <a:bevelT w="25400" h="69850"/>
              <a:bevelB w="12700"/>
            </a:sp3d>
          </a:bodyPr>
          <a:lstStyle/>
          <a:p>
            <a:pPr algn="ctr">
              <a:buNone/>
            </a:pPr>
            <a:endParaRPr lang="en-US" sz="8000" dirty="0" smtClean="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endParaRPr>
          </a:p>
          <a:p>
            <a:pPr algn="ctr">
              <a:buNone/>
            </a:pPr>
            <a:r>
              <a:rPr lang="en-US" sz="9600" dirty="0" smtClean="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rgbClr val="FF5050"/>
                </a:solidFill>
                <a:latin typeface="Brush Script MT" pitchFamily="66" charset="0"/>
              </a:rPr>
              <a:t>Thank You</a:t>
            </a:r>
            <a:endParaRPr lang="en-US" sz="960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rgbClr val="FF5050"/>
              </a:solidFill>
              <a:latin typeface="Brush Script MT" pitchFamily="66" charset="0"/>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November 5,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eb techn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web techno</Template>
  <TotalTime>943</TotalTime>
  <Words>753</Words>
  <Application>Microsoft Office PowerPoint</Application>
  <PresentationFormat>Custom</PresentationFormat>
  <Paragraphs>129</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web techno</vt:lpstr>
      <vt:lpstr>ADVANCED DATA STRUCTURES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sai</dc:creator>
  <cp:lastModifiedBy>admin</cp:lastModifiedBy>
  <cp:revision>94</cp:revision>
  <dcterms:created xsi:type="dcterms:W3CDTF">2020-05-07T03:43:33Z</dcterms:created>
  <dcterms:modified xsi:type="dcterms:W3CDTF">2022-11-05T15:48:46Z</dcterms:modified>
</cp:coreProperties>
</file>